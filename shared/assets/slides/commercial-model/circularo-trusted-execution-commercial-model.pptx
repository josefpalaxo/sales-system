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d46d1300c4489e" /><Relationship Type="http://schemas.openxmlformats.org/officeDocument/2006/relationships/extended-properties" Target="/docProps/app.xml" Id="Rc435604a4fa4433b" /><Relationship Type="http://schemas.openxmlformats.org/officeDocument/2006/relationships/officeDocument" Target="/ppt/presentation.xml" Id="R86cd6bf5595942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c6b5f349954466"/>
  </p:sldMasterIdLst>
  <p:notesMasterIdLst>
    <p:notesMasterId xmlns:r="http://schemas.openxmlformats.org/officeDocument/2006/relationships" r:id="R6ffff0ef881e4afa"/>
  </p:notesMasterIdLst>
  <p:sldIdLst>
    <p:sldId xmlns:r="http://schemas.openxmlformats.org/officeDocument/2006/relationships" id="256" r:id="R7d124f2fd4f84ca8"/>
    <p:sldId xmlns:r="http://schemas.openxmlformats.org/officeDocument/2006/relationships" id="257" r:id="Refeeb843f4754d70"/>
    <p:sldId xmlns:r="http://schemas.openxmlformats.org/officeDocument/2006/relationships" id="258" r:id="R6b61230f266b482d"/>
    <p:sldId xmlns:r="http://schemas.openxmlformats.org/officeDocument/2006/relationships" id="259" r:id="Rc690daa0e64546bf"/>
    <p:sldId xmlns:r="http://schemas.openxmlformats.org/officeDocument/2006/relationships" id="260" r:id="R8c80036b78e946f0"/>
    <p:sldId xmlns:r="http://schemas.openxmlformats.org/officeDocument/2006/relationships" id="261" r:id="R2424ef78dee24775"/>
    <p:sldId xmlns:r="http://schemas.openxmlformats.org/officeDocument/2006/relationships" id="262" r:id="Rdda04c9800c14957"/>
    <p:sldId xmlns:r="http://schemas.openxmlformats.org/officeDocument/2006/relationships" id="263" r:id="R857b3110951b4c51"/>
    <p:sldId xmlns:r="http://schemas.openxmlformats.org/officeDocument/2006/relationships" id="264" r:id="R76997fd4e96844f5"/>
    <p:sldId xmlns:r="http://schemas.openxmlformats.org/officeDocument/2006/relationships" id="265" r:id="Rf8ad72905fe14ec0"/>
    <p:sldId xmlns:r="http://schemas.openxmlformats.org/officeDocument/2006/relationships" id="266" r:id="R613823f4d2574ebb"/>
    <p:sldId xmlns:r="http://schemas.openxmlformats.org/officeDocument/2006/relationships" id="267" r:id="R5a759b157a5641c8"/>
    <p:sldId xmlns:r="http://schemas.openxmlformats.org/officeDocument/2006/relationships" id="268" r:id="Rd5113e7341f84d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6c8ce5a1034c3f" /><Relationship Type="http://schemas.openxmlformats.org/officeDocument/2006/relationships/slideMaster" Target="/ppt/slideMasters/slideMaster1.xml" Id="Rffc6b5f349954466" /><Relationship Type="http://schemas.openxmlformats.org/officeDocument/2006/relationships/notesMaster" Target="/ppt/notesMasters/notesMaster1.xml" Id="R6ffff0ef881e4afa" /><Relationship Type="http://schemas.openxmlformats.org/officeDocument/2006/relationships/presProps" Target="/ppt/presProps.xml" Id="R503a85d99c9a43a3" /><Relationship Type="http://schemas.openxmlformats.org/officeDocument/2006/relationships/tableStyles" Target="/ppt/tableStyles.xml" Id="R0407adc6d2344c00" /><Relationship Type="http://schemas.openxmlformats.org/officeDocument/2006/relationships/slide" Target="/ppt/slides/slide1.xml" Id="R7d124f2fd4f84ca8" /><Relationship Type="http://schemas.openxmlformats.org/officeDocument/2006/relationships/slide" Target="/ppt/slides/slide2.xml" Id="Refeeb843f4754d70" /><Relationship Type="http://schemas.openxmlformats.org/officeDocument/2006/relationships/slide" Target="/ppt/slides/slide3.xml" Id="R6b61230f266b482d" /><Relationship Type="http://schemas.openxmlformats.org/officeDocument/2006/relationships/slide" Target="/ppt/slides/slide4.xml" Id="Rc690daa0e64546bf" /><Relationship Type="http://schemas.openxmlformats.org/officeDocument/2006/relationships/slide" Target="/ppt/slides/slide5.xml" Id="R8c80036b78e946f0" /><Relationship Type="http://schemas.openxmlformats.org/officeDocument/2006/relationships/slide" Target="/ppt/slides/slide6.xml" Id="R2424ef78dee24775" /><Relationship Type="http://schemas.openxmlformats.org/officeDocument/2006/relationships/slide" Target="/ppt/slides/slide7.xml" Id="Rdda04c9800c14957" /><Relationship Type="http://schemas.openxmlformats.org/officeDocument/2006/relationships/slide" Target="/ppt/slides/slide8.xml" Id="R857b3110951b4c51" /><Relationship Type="http://schemas.openxmlformats.org/officeDocument/2006/relationships/slide" Target="/ppt/slides/slide9.xml" Id="R76997fd4e96844f5" /><Relationship Type="http://schemas.openxmlformats.org/officeDocument/2006/relationships/slide" Target="/ppt/slides/slide10.xml" Id="Rf8ad72905fe14ec0" /><Relationship Type="http://schemas.openxmlformats.org/officeDocument/2006/relationships/slide" Target="/ppt/slides/slide11.xml" Id="R613823f4d2574ebb" /><Relationship Type="http://schemas.openxmlformats.org/officeDocument/2006/relationships/slide" Target="/ppt/slides/slide12.xml" Id="R5a759b157a5641c8" /><Relationship Type="http://schemas.openxmlformats.org/officeDocument/2006/relationships/slide" Target="/ppt/slides/slide13.xml" Id="Rd5113e7341f84d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3a29d0f1bc4a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774de200b9407d" /><Relationship Type="http://schemas.openxmlformats.org/officeDocument/2006/relationships/notesMaster" Target="/ppt/notesMasters/notesMaster1.xml" Id="R19525229fb314b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4b2dce805b4df1" /><Relationship Type="http://schemas.openxmlformats.org/officeDocument/2006/relationships/notesMaster" Target="/ppt/notesMasters/notesMaster1.xml" Id="Rccce051019bc47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25f01ab6524f1c" /><Relationship Type="http://schemas.openxmlformats.org/officeDocument/2006/relationships/notesMaster" Target="/ppt/notesMasters/notesMaster1.xml" Id="R0aece5d64c0a47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26371dad7345c0" /><Relationship Type="http://schemas.openxmlformats.org/officeDocument/2006/relationships/notesMaster" Target="/ppt/notesMasters/notesMaster1.xml" Id="Rc69e9b9b9bdc49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a620f2ddbf45b9" /><Relationship Type="http://schemas.openxmlformats.org/officeDocument/2006/relationships/notesMaster" Target="/ppt/notesMasters/notesMaster1.xml" Id="R4ca81bba591c47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9ef64b55fc467d" /><Relationship Type="http://schemas.openxmlformats.org/officeDocument/2006/relationships/notesMaster" Target="/ppt/notesMasters/notesMaster1.xml" Id="Reef73d98e1b14f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386d7b32bd45a6" /><Relationship Type="http://schemas.openxmlformats.org/officeDocument/2006/relationships/notesMaster" Target="/ppt/notesMasters/notesMaster1.xml" Id="R8924ae8530b742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6049a8300547fe" /><Relationship Type="http://schemas.openxmlformats.org/officeDocument/2006/relationships/notesMaster" Target="/ppt/notesMasters/notesMaster1.xml" Id="R92c022d5dfdd41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a4fef7fd9a428d" /><Relationship Type="http://schemas.openxmlformats.org/officeDocument/2006/relationships/notesMaster" Target="/ppt/notesMasters/notesMaster1.xml" Id="Rfa8ade95411f44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a420484d9b4b31" /><Relationship Type="http://schemas.openxmlformats.org/officeDocument/2006/relationships/notesMaster" Target="/ppt/notesMasters/notesMaster1.xml" Id="R3c34b269af7849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8e1b2ac2fe4500" /><Relationship Type="http://schemas.openxmlformats.org/officeDocument/2006/relationships/notesMaster" Target="/ppt/notesMasters/notesMaster1.xml" Id="R032bb03216384c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a80df661174192" /><Relationship Type="http://schemas.openxmlformats.org/officeDocument/2006/relationships/notesMaster" Target="/ppt/notesMasters/notesMaster1.xml" Id="R1697b2bd998949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694848f3a34c92" /><Relationship Type="http://schemas.openxmlformats.org/officeDocument/2006/relationships/notesMaster" Target="/ppt/notesMasters/notesMaster1.xml" Id="R0577da6c3f174e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a commercial direction to validate—not a final price list or migration announcement.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CPQ/trusted-execution-commercial-model.md</a:t>
            </a:r>
          </a:p>
          <a:p xmlns:a="http://schemas.openxmlformats.org/drawingml/2006/main">
            <a:r>
              <a:t>- Internal: CPQ/recommended-circularo-commercial-model.md</a:t>
            </a:r>
          </a:p>
          <a:p xmlns:a="http://schemas.openxmlformats.org/drawingml/2006/main">
            <a:r>
              <a:t>- Internal: CPQ/trusted-execution-vs-trust-events-sales-catalog.md</a:t>
            </a:r>
          </a:p>
          <a:p xmlns:a="http://schemas.openxmlformats.org/drawingml/2006/main">
            <a:r>
              <a:t>- Visual system: local circularo-slides 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claim is not that seats disappear tomorrow. The claim is that seats should stop defining the commercial foundation.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CPQ/trusted-execution-commercial-model.md — AI weakens seat-based value logic</a:t>
            </a:r>
          </a:p>
          <a:p xmlns:a="http://schemas.openxmlformats.org/drawingml/2006/main">
            <a:r>
              <a:t>- Internal: CPQ/recommended-circularo-commercial-model.md — access inexpensive, execution drives value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CPQ/trusted-execution-commercial-model.md — strategic pricing architecture</a:t>
            </a:r>
          </a:p>
          <a:p xmlns:a="http://schemas.openxmlformats.org/drawingml/2006/main">
            <a:r>
              <a:t>- Internal: CPQ/recommended-circularo-commercial-model.md — core proposition and commercial layers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CPQ/recommended-circularo-commercial-model.md — commercial architecture and packages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CPQ/recommended-circularo-commercial-model.md — critical distinction and failed-consumption example</a:t>
            </a:r>
          </a:p>
          <a:p xmlns:a="http://schemas.openxmlformats.org/drawingml/2006/main">
            <a:r>
              <a:t>- Internal: CPQ/trusted-execution-vs-trust-events-sales-catalog.md — anatomy of a Trusted Execution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CPQ/trusted-execution-vs-trust-events-sales-catalog.md — execution families and assurance matrix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CPQ/trusted-execution-vs-trust-events-sales-catalog.md — Execution Profiles between sales catalogue and Trust Events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CPQ/recommended-circularo-commercial-model.md — credit engine and COGS separation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CPQ/recommended-circularo-commercial-model.md — Circularo Business structure and committed consumption</a:t>
            </a:r>
          </a:p>
          <a:p xmlns:a="http://schemas.openxmlformats.org/drawingml/2006/main">
            <a:r>
              <a:t>- Internal: CPQ/trusted-execution-vs-trust-events-sales-catalog.md — platform access bands and unlimited external participants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CPQ/trusted-execution-commercial-model.md — land-for-free growth mechanism and automatic volume economics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CPQ/trusted-execution-commercial-model.md — land for free, monetize trust and incumbent response challenge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CPQ/trusted-execution-commercial-model.md — avoid pure outcome pricing and use committed consumption</a:t>
            </a:r>
          </a:p>
          <a:p xmlns:a="http://schemas.openxmlformats.org/drawingml/2006/main">
            <a:r>
              <a:t>- Internal: CPQ/recommended-circularo-commercial-model.md — charge consumption when incurred and keep COGS independent</a:t>
            </a:r>
          </a:p>
          <a:p xmlns:a="http://schemas.openxmlformats.org/drawingml/2006/main">
            <a:r>
              <a:t>- Internal: CPQ/trusted-execution-vs-trust-events-sales-catalog.md — access-band guardrail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sought: approve the structured commercial replay and pilot design—not final pricing or immediate migration.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CPQ/trusted-execution-commercial-model.md — replay top 20–30 customers before launch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18c9674eba44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38a247821f4b42" /><Relationship Type="http://schemas.openxmlformats.org/officeDocument/2006/relationships/slideLayout" Target="/ppt/slideLayouts/slideLayout1.xml" Id="R8e626995d3a149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626995d3a149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fc3f3b77b4304" /><Relationship Type="http://schemas.openxmlformats.org/officeDocument/2006/relationships/image" Target="/ppt/media/image.png" Id="Rabc27850fe854bb8" /><Relationship Type="http://schemas.openxmlformats.org/officeDocument/2006/relationships/notesSlide" Target="/ppt/notesSlides/notesSlide1.xml" Id="R087ba657e67c42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784c4b2534755" /><Relationship Type="http://schemas.openxmlformats.org/officeDocument/2006/relationships/image" Target="/ppt/media/image2.png" Id="Rb551b848fd0b4d85" /><Relationship Type="http://schemas.openxmlformats.org/officeDocument/2006/relationships/notesSlide" Target="/ppt/notesSlides/notesSlide2.xml" Id="R06771a82372343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87a99d0c9417c" /><Relationship Type="http://schemas.openxmlformats.org/officeDocument/2006/relationships/image" Target="/ppt/media/image3.png" Id="Rdd37290f933e4c38" /><Relationship Type="http://schemas.openxmlformats.org/officeDocument/2006/relationships/notesSlide" Target="/ppt/notesSlides/notesSlide3.xml" Id="R398859de17ba4a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af7f3a5094301" /><Relationship Type="http://schemas.openxmlformats.org/officeDocument/2006/relationships/image" Target="/ppt/media/image4.png" Id="R78b39e2a394f4f46" /><Relationship Type="http://schemas.openxmlformats.org/officeDocument/2006/relationships/notesSlide" Target="/ppt/notesSlides/notesSlide4.xml" Id="Rd2178675416944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cddd29a75412d" /><Relationship Type="http://schemas.openxmlformats.org/officeDocument/2006/relationships/image" Target="/ppt/media/image5.png" Id="R032932c2df5c44c5" /><Relationship Type="http://schemas.openxmlformats.org/officeDocument/2006/relationships/notesSlide" Target="/ppt/notesSlides/notesSlide5.xml" Id="Ra2a79535cea046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53ad5b06c4ee1" /><Relationship Type="http://schemas.openxmlformats.org/officeDocument/2006/relationships/image" Target="/ppt/media/image6.png" Id="Rba4d81d8b6264392" /><Relationship Type="http://schemas.openxmlformats.org/officeDocument/2006/relationships/notesSlide" Target="/ppt/notesSlides/notesSlide6.xml" Id="Rfba7b614e1014d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ca63b54c4421c" /><Relationship Type="http://schemas.openxmlformats.org/officeDocument/2006/relationships/image" Target="/ppt/media/image7.png" Id="Rd8215a2cbb294dd8" /><Relationship Type="http://schemas.openxmlformats.org/officeDocument/2006/relationships/notesSlide" Target="/ppt/notesSlides/notesSlide7.xml" Id="R8f018be4d65c44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758f22bec4b67" /><Relationship Type="http://schemas.openxmlformats.org/officeDocument/2006/relationships/image" Target="/ppt/media/image8.png" Id="R29c9394f67804f48" /><Relationship Type="http://schemas.openxmlformats.org/officeDocument/2006/relationships/notesSlide" Target="/ppt/notesSlides/notesSlide8.xml" Id="Rf5c80535d5d140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05fbda9a044d6" /><Relationship Type="http://schemas.openxmlformats.org/officeDocument/2006/relationships/image" Target="/ppt/media/image9.png" Id="Rb6364aec204148a6" /><Relationship Type="http://schemas.openxmlformats.org/officeDocument/2006/relationships/notesSlide" Target="/ppt/notesSlides/notesSlide9.xml" Id="R02b8696d145b4c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87baddfe5461a" /><Relationship Type="http://schemas.openxmlformats.org/officeDocument/2006/relationships/image" Target="/ppt/media/image10.png" Id="R442b64c8b1cb4ada" /><Relationship Type="http://schemas.openxmlformats.org/officeDocument/2006/relationships/notesSlide" Target="/ppt/notesSlides/notesSlide10.xml" Id="Rc1ca92efff164c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2db72fcb04432" /><Relationship Type="http://schemas.openxmlformats.org/officeDocument/2006/relationships/image" Target="/ppt/media/image11.png" Id="R7b344cd3f2784562" /><Relationship Type="http://schemas.openxmlformats.org/officeDocument/2006/relationships/notesSlide" Target="/ppt/notesSlides/notesSlide11.xml" Id="Ra392b60165ae4a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b8bcc32784867" /><Relationship Type="http://schemas.openxmlformats.org/officeDocument/2006/relationships/image" Target="/ppt/media/image12.png" Id="Ra2011ab6e5a44451" /><Relationship Type="http://schemas.openxmlformats.org/officeDocument/2006/relationships/notesSlide" Target="/ppt/notesSlides/notesSlide12.xml" Id="Rb450c01d5af743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60bdbe7ef4840" /><Relationship Type="http://schemas.openxmlformats.org/officeDocument/2006/relationships/image" Target="/ppt/media/image13.png" Id="R6134d083dc1948ad" /><Relationship Type="http://schemas.openxmlformats.org/officeDocument/2006/relationships/notesSlide" Target="/ppt/notesSlides/notesSlide13.xml" Id="Rbddc03e0ea8549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27850fe854bb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A92BAB9-9CE6-49B5-B91A-06BE541C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cover-purple">
            <a:extLst xmlns:a="http://schemas.openxmlformats.org/drawingml/2006/main">
              <a:ext uri="{FF2B5EF4-FFF2-40B4-BE49-F238E27FC236}">
                <a16:creationId xmlns:a16="http://schemas.microsoft.com/office/drawing/2014/main" id="{C334D4E8-D83F-4539-B3D2-ABF0EE63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blue">
            <a:extLst xmlns:a="http://schemas.openxmlformats.org/drawingml/2006/main">
              <a:ext uri="{FF2B5EF4-FFF2-40B4-BE49-F238E27FC236}">
                <a16:creationId xmlns:a16="http://schemas.microsoft.com/office/drawing/2014/main" id="{6A5210FA-CAD8-4075-A8B8-9260CBD3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171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E8CAC4F-0D85-4BE8-A52A-9DD0B12E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INTERNAL STRATEGY · WIP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08CA394-12C6-48BD-A463-C1381B01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695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Circularo’s Next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Commercial Model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000F440-B1DA-4815-9572-FBC5484D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148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1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Trusted Execution, Trust Events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1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and Autonomous Work</a:t>
            </a:r>
          </a:p>
        </p:txBody>
      </p:sp>
      <p:sp>
        <p:nvSpPr>
          <p:cNvPr id="8" name="cover-line">
            <a:extLst xmlns:a="http://schemas.openxmlformats.org/drawingml/2006/main">
              <a:ext uri="{FF2B5EF4-FFF2-40B4-BE49-F238E27FC236}">
                <a16:creationId xmlns:a16="http://schemas.microsoft.com/office/drawing/2014/main" id="{451D3D64-A181-4BEA-9B6F-2A05D739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48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date">
            <a:extLst xmlns:a="http://schemas.openxmlformats.org/drawingml/2006/main">
              <a:ext uri="{FF2B5EF4-FFF2-40B4-BE49-F238E27FC236}">
                <a16:creationId xmlns:a16="http://schemas.microsoft.com/office/drawing/2014/main" id="{AF5B3E06-BF68-4857-9D29-4580DD34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667085"/>
                </a:solidFill>
                <a:latin typeface="Mulish"/>
                <a:ea typeface="Mulish"/>
                <a:cs typeface="Mulish"/>
              </a:rPr>
              <a:t>Commercial strategy working proposal · August 2026</a:t>
            </a:r>
          </a:p>
        </p:txBody>
      </p:sp>
    </p:spTree>
    <p:extLst>
      <p:ext uri="{BB962C8B-B14F-4D97-AF65-F5344CB8AC3E}">
        <p14:creationId xmlns:p14="http://schemas.microsoft.com/office/powerpoint/2010/main" val="1195652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eft-field">
            <a:extLst xmlns:a="http://schemas.openxmlformats.org/drawingml/2006/main">
              <a:ext uri="{FF2B5EF4-FFF2-40B4-BE49-F238E27FC236}">
                <a16:creationId xmlns:a16="http://schemas.microsoft.com/office/drawing/2014/main" id="{CB9FB5DA-C822-4976-99A3-3A23B30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1b848fd0b4d85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41EC868-2479-4A9F-85BF-A5DEBF9B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4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B24DA99-2F75-47EC-BD22-BBE5D239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pening-kicker">
            <a:extLst xmlns:a="http://schemas.openxmlformats.org/drawingml/2006/main">
              <a:ext uri="{FF2B5EF4-FFF2-40B4-BE49-F238E27FC236}">
                <a16:creationId xmlns:a16="http://schemas.microsoft.com/office/drawing/2014/main" id="{179FC497-F3C4-4BE3-8A3B-7FB0E7B7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THE STRATEGIC OPENING</a:t>
            </a:r>
          </a:p>
        </p:txBody>
      </p:sp>
      <p:sp>
        <p:nvSpPr>
          <p:cNvPr id="6" name="opening-left">
            <a:extLst xmlns:a="http://schemas.openxmlformats.org/drawingml/2006/main">
              <a:ext uri="{FF2B5EF4-FFF2-40B4-BE49-F238E27FC236}">
                <a16:creationId xmlns:a16="http://schemas.microsoft.com/office/drawing/2014/main" id="{0356729B-E1AA-4341-9AF8-9407BCD0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429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3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Seats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3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price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3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access.</a:t>
            </a:r>
          </a:p>
        </p:txBody>
      </p:sp>
      <p:sp>
        <p:nvSpPr>
          <p:cNvPr id="7" name="opening-left-note">
            <a:extLst xmlns:a="http://schemas.openxmlformats.org/drawingml/2006/main">
              <a:ext uri="{FF2B5EF4-FFF2-40B4-BE49-F238E27FC236}">
                <a16:creationId xmlns:a16="http://schemas.microsoft.com/office/drawing/2014/main" id="{FEEB2725-A3AA-40A6-A2F6-91A7496D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E2D7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E2D7FF"/>
                </a:solidFill>
                <a:latin typeface="Mulish"/>
                <a:ea typeface="Mulish"/>
                <a:cs typeface="Mulish"/>
              </a:rPr>
              <a:t>More employees. More licenses. More negotiation.</a:t>
            </a:r>
          </a:p>
        </p:txBody>
      </p:sp>
      <p:sp>
        <p:nvSpPr>
          <p:cNvPr id="8" name="opening-right">
            <a:extLst xmlns:a="http://schemas.openxmlformats.org/drawingml/2006/main">
              <a:ext uri="{FF2B5EF4-FFF2-40B4-BE49-F238E27FC236}">
                <a16:creationId xmlns:a16="http://schemas.microsoft.com/office/drawing/2014/main" id="{389B60B5-5EBB-4DD2-B375-D4C814F3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91440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9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Execution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9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prices value.</a:t>
            </a:r>
          </a:p>
        </p:txBody>
      </p:sp>
      <p:sp>
        <p:nvSpPr>
          <p:cNvPr id="9" name="number-1-540-334">
            <a:extLst xmlns:a="http://schemas.openxmlformats.org/drawingml/2006/main">
              <a:ext uri="{FF2B5EF4-FFF2-40B4-BE49-F238E27FC236}">
                <a16:creationId xmlns:a16="http://schemas.microsoft.com/office/drawing/2014/main" id="{3E899881-616B-4FAF-B243-48B5EE61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81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0" name="opening-point-0">
            <a:extLst xmlns:a="http://schemas.openxmlformats.org/drawingml/2006/main">
              <a:ext uri="{FF2B5EF4-FFF2-40B4-BE49-F238E27FC236}">
                <a16:creationId xmlns:a16="http://schemas.microsoft.com/office/drawing/2014/main" id="{0EBFAF6F-7065-4B67-9E5E-C023485C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62300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AI and automation perform work with fewer traditional users.</a:t>
            </a:r>
          </a:p>
        </p:txBody>
      </p:sp>
      <p:sp>
        <p:nvSpPr>
          <p:cNvPr id="11" name="number-2-540-426">
            <a:extLst xmlns:a="http://schemas.openxmlformats.org/drawingml/2006/main">
              <a:ext uri="{FF2B5EF4-FFF2-40B4-BE49-F238E27FC236}">
                <a16:creationId xmlns:a16="http://schemas.microsoft.com/office/drawing/2014/main" id="{10E759BA-8C5B-4BB2-9A52-823AF46C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57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2" name="opening-point-1">
            <a:extLst xmlns:a="http://schemas.openxmlformats.org/drawingml/2006/main">
              <a:ext uri="{FF2B5EF4-FFF2-40B4-BE49-F238E27FC236}">
                <a16:creationId xmlns:a16="http://schemas.microsoft.com/office/drawing/2014/main" id="{10F893CF-CAAA-4F7E-9E37-D58D844A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38600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Identity, authority and evidence remain valuable and defensible.</a:t>
            </a:r>
          </a:p>
        </p:txBody>
      </p:sp>
      <p:sp>
        <p:nvSpPr>
          <p:cNvPr id="13" name="number-3-540-518">
            <a:extLst xmlns:a="http://schemas.openxmlformats.org/drawingml/2006/main">
              <a:ext uri="{FF2B5EF4-FFF2-40B4-BE49-F238E27FC236}">
                <a16:creationId xmlns:a16="http://schemas.microsoft.com/office/drawing/2014/main" id="{B0D08EEB-DF39-4803-8CB4-000DDA1A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33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4" name="opening-point-2">
            <a:extLst xmlns:a="http://schemas.openxmlformats.org/drawingml/2006/main">
              <a:ext uri="{FF2B5EF4-FFF2-40B4-BE49-F238E27FC236}">
                <a16:creationId xmlns:a16="http://schemas.microsoft.com/office/drawing/2014/main" id="{6BDEE1A6-9D28-49EB-9529-1A155625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14900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Charging every participant creates friction where adoption must spread.</a:t>
            </a:r>
          </a:p>
        </p:txBody>
      </p:sp>
    </p:spTree>
    <p:extLst>
      <p:ext uri="{BB962C8B-B14F-4D97-AF65-F5344CB8AC3E}">
        <p14:creationId xmlns:p14="http://schemas.microsoft.com/office/powerpoint/2010/main" val="14485598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7290f933e4c3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EB86D4-F095-4199-B6D8-D221444E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D50D11A0-2E57-4FAD-8706-7AA721A7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3">
            <a:extLst xmlns:a="http://schemas.openxmlformats.org/drawingml/2006/main">
              <a:ext uri="{FF2B5EF4-FFF2-40B4-BE49-F238E27FC236}">
                <a16:creationId xmlns:a16="http://schemas.microsoft.com/office/drawing/2014/main" id="{980374DB-9561-4E47-9FA6-6002759F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CATEGORY STRATEGY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EB36B45C-1E4F-4736-96BD-109CE5E6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Redefine the category around trusted digital execution</a:t>
            </a:r>
          </a:p>
        </p:txBody>
      </p:sp>
      <p:sp>
        <p:nvSpPr>
          <p:cNvPr id="6" name="subtitle-3">
            <a:extLst xmlns:a="http://schemas.openxmlformats.org/drawingml/2006/main">
              <a:ext uri="{FF2B5EF4-FFF2-40B4-BE49-F238E27FC236}">
                <a16:creationId xmlns:a16="http://schemas.microsoft.com/office/drawing/2014/main" id="{F909C052-602F-4EA8-986B-95EA104D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Circularo earns more when it delivers more valuable work, assurance and evidence.</a:t>
            </a:r>
          </a:p>
        </p:txBody>
      </p:sp>
      <p:sp>
        <p:nvSpPr>
          <p:cNvPr id="7" name="thesis-0">
            <a:extLst xmlns:a="http://schemas.openxmlformats.org/drawingml/2006/main">
              <a:ext uri="{FF2B5EF4-FFF2-40B4-BE49-F238E27FC236}">
                <a16:creationId xmlns:a16="http://schemas.microsoft.com/office/drawing/2014/main" id="{0CCB4353-A053-46BF-B1CF-E6758DBE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3429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hesis-head-0">
            <a:extLst xmlns:a="http://schemas.openxmlformats.org/drawingml/2006/main">
              <a:ext uri="{FF2B5EF4-FFF2-40B4-BE49-F238E27FC236}">
                <a16:creationId xmlns:a16="http://schemas.microsoft.com/office/drawing/2014/main" id="{9DC1047A-B8CD-4B89-BA75-22C4A914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ACCESS</a:t>
            </a:r>
          </a:p>
        </p:txBody>
      </p:sp>
      <p:sp>
        <p:nvSpPr>
          <p:cNvPr id="9" name="thesis-body-0">
            <a:extLst xmlns:a="http://schemas.openxmlformats.org/drawingml/2006/main">
              <a:ext uri="{FF2B5EF4-FFF2-40B4-BE49-F238E27FC236}">
                <a16:creationId xmlns:a16="http://schemas.microsoft.com/office/drawing/2014/main" id="{2CAD07F0-FC0A-462B-8907-58E4BD62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914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1D0090"/>
                </a:solidFill>
                <a:latin typeface="Mulish"/>
                <a:ea typeface="Mulish"/>
                <a:cs typeface="Mulish"/>
              </a:rPr>
              <a:t>Make participation broad and inexpensive.</a:t>
            </a:r>
          </a:p>
        </p:txBody>
      </p:sp>
      <p:sp>
        <p:nvSpPr>
          <p:cNvPr id="10" name="thesis-1">
            <a:extLst xmlns:a="http://schemas.openxmlformats.org/drawingml/2006/main">
              <a:ext uri="{FF2B5EF4-FFF2-40B4-BE49-F238E27FC236}">
                <a16:creationId xmlns:a16="http://schemas.microsoft.com/office/drawing/2014/main" id="{57E9DD55-BEFD-471E-98A1-5AABBE45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3429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hesis-head-1">
            <a:extLst xmlns:a="http://schemas.openxmlformats.org/drawingml/2006/main">
              <a:ext uri="{FF2B5EF4-FFF2-40B4-BE49-F238E27FC236}">
                <a16:creationId xmlns:a16="http://schemas.microsoft.com/office/drawing/2014/main" id="{F6365C4C-0207-4DCD-B12A-D495EF5E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099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EXECUTION</a:t>
            </a:r>
          </a:p>
        </p:txBody>
      </p:sp>
      <p:sp>
        <p:nvSpPr>
          <p:cNvPr id="12" name="thesis-body-1">
            <a:extLst xmlns:a="http://schemas.openxmlformats.org/drawingml/2006/main">
              <a:ext uri="{FF2B5EF4-FFF2-40B4-BE49-F238E27FC236}">
                <a16:creationId xmlns:a16="http://schemas.microsoft.com/office/drawing/2014/main" id="{0C0AF190-EE81-4529-AAE5-34413A0D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00500"/>
            <a:ext cx="2914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7000FF"/>
                </a:solidFill>
                <a:latin typeface="Mulish"/>
                <a:ea typeface="Mulish"/>
                <a:cs typeface="Mulish"/>
              </a:rPr>
              <a:t>Monetize AI, API, workflow and document work.</a:t>
            </a:r>
          </a:p>
        </p:txBody>
      </p:sp>
      <p:sp>
        <p:nvSpPr>
          <p:cNvPr id="13" name="thesis-2">
            <a:extLst xmlns:a="http://schemas.openxmlformats.org/drawingml/2006/main">
              <a:ext uri="{FF2B5EF4-FFF2-40B4-BE49-F238E27FC236}">
                <a16:creationId xmlns:a16="http://schemas.microsoft.com/office/drawing/2014/main" id="{E3A9A4BD-234F-4D91-98DA-63C8087D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43250"/>
            <a:ext cx="3429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hesis-head-2">
            <a:extLst xmlns:a="http://schemas.openxmlformats.org/drawingml/2006/main">
              <a:ext uri="{FF2B5EF4-FFF2-40B4-BE49-F238E27FC236}">
                <a16:creationId xmlns:a16="http://schemas.microsoft.com/office/drawing/2014/main" id="{90217678-E84B-48D2-9576-946F35F4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</a:t>
            </a:r>
          </a:p>
        </p:txBody>
      </p:sp>
      <p:sp>
        <p:nvSpPr>
          <p:cNvPr id="15" name="thesis-body-2">
            <a:extLst xmlns:a="http://schemas.openxmlformats.org/drawingml/2006/main">
              <a:ext uri="{FF2B5EF4-FFF2-40B4-BE49-F238E27FC236}">
                <a16:creationId xmlns:a16="http://schemas.microsoft.com/office/drawing/2014/main" id="{5C1C0076-6273-4585-BBFE-EEC2C42E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2914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6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Command a premium for identity, authority and evidence.</a:t>
            </a:r>
          </a:p>
        </p:txBody>
      </p:sp>
      <p:sp>
        <p:nvSpPr>
          <p:cNvPr id="16" name="thesis-line">
            <a:extLst xmlns:a="http://schemas.openxmlformats.org/drawingml/2006/main">
              <a:ext uri="{FF2B5EF4-FFF2-40B4-BE49-F238E27FC236}">
                <a16:creationId xmlns:a16="http://schemas.microsoft.com/office/drawing/2014/main" id="{7059538B-6183-41B6-8806-A2A7C38F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1059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Preserve premium economics for sovereign deployment and autonomous execution.</a:t>
            </a:r>
          </a:p>
        </p:txBody>
      </p:sp>
    </p:spTree>
    <p:extLst>
      <p:ext uri="{BB962C8B-B14F-4D97-AF65-F5344CB8AC3E}">
        <p14:creationId xmlns:p14="http://schemas.microsoft.com/office/powerpoint/2010/main" val="11010509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39e2a394f4f46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A581B87-EF28-4C4E-9A28-B1098A2C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94DD0066-44B2-483B-8EE0-B4AEB573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4">
            <a:extLst xmlns:a="http://schemas.openxmlformats.org/drawingml/2006/main">
              <a:ext uri="{FF2B5EF4-FFF2-40B4-BE49-F238E27FC236}">
                <a16:creationId xmlns:a16="http://schemas.microsoft.com/office/drawing/2014/main" id="{B3F9A53F-BAB8-4410-B024-FE14875A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COMMERCIAL ARCHITECTURE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9E2E3418-96ED-4438-BEB6-32BAB3A1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Separate access, work and trust</a:t>
            </a:r>
          </a:p>
        </p:txBody>
      </p:sp>
      <p:sp>
        <p:nvSpPr>
          <p:cNvPr id="6" name="subtitle-4">
            <a:extLst xmlns:a="http://schemas.openxmlformats.org/drawingml/2006/main">
              <a:ext uri="{FF2B5EF4-FFF2-40B4-BE49-F238E27FC236}">
                <a16:creationId xmlns:a16="http://schemas.microsoft.com/office/drawing/2014/main" id="{DCEA5E15-9D72-4684-888E-ECD9D120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 predictable base funds the relationship. Consumption scales with delivered value.</a:t>
            </a:r>
          </a:p>
        </p:txBody>
      </p:sp>
      <p:sp>
        <p:nvSpPr>
          <p:cNvPr id="7" name="layer-01">
            <a:extLst xmlns:a="http://schemas.openxmlformats.org/drawingml/2006/main">
              <a:ext uri="{FF2B5EF4-FFF2-40B4-BE49-F238E27FC236}">
                <a16:creationId xmlns:a16="http://schemas.microsoft.com/office/drawing/2014/main" id="{8C250D93-958C-427F-8F78-2CB8E8CF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11277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yer-number-01">
            <a:extLst xmlns:a="http://schemas.openxmlformats.org/drawingml/2006/main">
              <a:ext uri="{FF2B5EF4-FFF2-40B4-BE49-F238E27FC236}">
                <a16:creationId xmlns:a16="http://schemas.microsoft.com/office/drawing/2014/main" id="{81B35C5B-3F21-423B-8C9A-76BA5EAE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layer-head-01">
            <a:extLst xmlns:a="http://schemas.openxmlformats.org/drawingml/2006/main">
              <a:ext uri="{FF2B5EF4-FFF2-40B4-BE49-F238E27FC236}">
                <a16:creationId xmlns:a16="http://schemas.microsoft.com/office/drawing/2014/main" id="{C6795141-27CF-418E-87E9-5BF0B372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PLATFORM ACCESS</a:t>
            </a:r>
          </a:p>
        </p:txBody>
      </p:sp>
      <p:sp>
        <p:nvSpPr>
          <p:cNvPr id="10" name="layer-body-01">
            <a:extLst xmlns:a="http://schemas.openxmlformats.org/drawingml/2006/main">
              <a:ext uri="{FF2B5EF4-FFF2-40B4-BE49-F238E27FC236}">
                <a16:creationId xmlns:a16="http://schemas.microsoft.com/office/drawing/2014/main" id="{C460788A-BC6C-4249-B254-246A17AC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00" b="0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1D0090"/>
                </a:solidFill>
                <a:latin typeface="Mulish"/>
                <a:ea typeface="Mulish"/>
                <a:cs typeface="Mulish"/>
              </a:rPr>
              <a:t>Low annual organization or access-band fee</a:t>
            </a:r>
          </a:p>
        </p:txBody>
      </p:sp>
      <p:sp>
        <p:nvSpPr>
          <p:cNvPr id="11" name="layer-02">
            <a:extLst xmlns:a="http://schemas.openxmlformats.org/drawingml/2006/main">
              <a:ext uri="{FF2B5EF4-FFF2-40B4-BE49-F238E27FC236}">
                <a16:creationId xmlns:a16="http://schemas.microsoft.com/office/drawing/2014/main" id="{41B83526-AF6B-445D-9A2D-C346FCF3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089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yer-number-02">
            <a:extLst xmlns:a="http://schemas.openxmlformats.org/drawingml/2006/main">
              <a:ext uri="{FF2B5EF4-FFF2-40B4-BE49-F238E27FC236}">
                <a16:creationId xmlns:a16="http://schemas.microsoft.com/office/drawing/2014/main" id="{8B8B1715-FDB4-45F5-82A7-B9AED5A1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3" name="layer-head-02">
            <a:extLst xmlns:a="http://schemas.openxmlformats.org/drawingml/2006/main">
              <a:ext uri="{FF2B5EF4-FFF2-40B4-BE49-F238E27FC236}">
                <a16:creationId xmlns:a16="http://schemas.microsoft.com/office/drawing/2014/main" id="{3B854764-88C5-4CF9-82A0-22E23B83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195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DIGITAL EXECUTION</a:t>
            </a:r>
          </a:p>
        </p:txBody>
      </p:sp>
      <p:sp>
        <p:nvSpPr>
          <p:cNvPr id="14" name="layer-body-02">
            <a:extLst xmlns:a="http://schemas.openxmlformats.org/drawingml/2006/main">
              <a:ext uri="{FF2B5EF4-FFF2-40B4-BE49-F238E27FC236}">
                <a16:creationId xmlns:a16="http://schemas.microsoft.com/office/drawing/2014/main" id="{9D8E9DC7-AAEE-4205-AB35-73BF7B25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29050"/>
            <a:ext cx="582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00" b="0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 · API · automation · document processing</a:t>
            </a:r>
          </a:p>
        </p:txBody>
      </p:sp>
      <p:sp>
        <p:nvSpPr>
          <p:cNvPr id="15" name="layer-03">
            <a:extLst xmlns:a="http://schemas.openxmlformats.org/drawingml/2006/main">
              <a:ext uri="{FF2B5EF4-FFF2-40B4-BE49-F238E27FC236}">
                <a16:creationId xmlns:a16="http://schemas.microsoft.com/office/drawing/2014/main" id="{A2A74754-AC77-4DBE-898E-60D21292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1051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ayer-number-03">
            <a:extLst xmlns:a="http://schemas.openxmlformats.org/drawingml/2006/main">
              <a:ext uri="{FF2B5EF4-FFF2-40B4-BE49-F238E27FC236}">
                <a16:creationId xmlns:a16="http://schemas.microsoft.com/office/drawing/2014/main" id="{F0AC03DA-4DF8-4A9C-8313-A29E9D89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243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7" name="layer-head-03">
            <a:extLst xmlns:a="http://schemas.openxmlformats.org/drawingml/2006/main">
              <a:ext uri="{FF2B5EF4-FFF2-40B4-BE49-F238E27FC236}">
                <a16:creationId xmlns:a16="http://schemas.microsoft.com/office/drawing/2014/main" id="{DEE5C580-05A9-4DB0-B379-4626093B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053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 SERVICES</a:t>
            </a:r>
          </a:p>
        </p:txBody>
      </p:sp>
      <p:sp>
        <p:nvSpPr>
          <p:cNvPr id="18" name="layer-body-03">
            <a:extLst xmlns:a="http://schemas.openxmlformats.org/drawingml/2006/main">
              <a:ext uri="{FF2B5EF4-FFF2-40B4-BE49-F238E27FC236}">
                <a16:creationId xmlns:a16="http://schemas.microsoft.com/office/drawing/2014/main" id="{E83161BC-2659-4EB1-92D8-178E03D7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514850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00" b="0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 · OTP · signature · seal · timestamp</a:t>
            </a:r>
          </a:p>
        </p:txBody>
      </p:sp>
      <p:sp>
        <p:nvSpPr>
          <p:cNvPr id="19" name="layer-04">
            <a:extLst xmlns:a="http://schemas.openxmlformats.org/drawingml/2006/main">
              <a:ext uri="{FF2B5EF4-FFF2-40B4-BE49-F238E27FC236}">
                <a16:creationId xmlns:a16="http://schemas.microsoft.com/office/drawing/2014/main" id="{3416048C-3E72-4AD8-807A-652FFB8C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10134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ayer-number-04">
            <a:extLst xmlns:a="http://schemas.openxmlformats.org/drawingml/2006/main">
              <a:ext uri="{FF2B5EF4-FFF2-40B4-BE49-F238E27FC236}">
                <a16:creationId xmlns:a16="http://schemas.microsoft.com/office/drawing/2014/main" id="{09A24C8B-789D-4B1F-8749-0E5BAA1A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01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1" name="layer-head-04">
            <a:extLst xmlns:a="http://schemas.openxmlformats.org/drawingml/2006/main">
              <a:ext uri="{FF2B5EF4-FFF2-40B4-BE49-F238E27FC236}">
                <a16:creationId xmlns:a16="http://schemas.microsoft.com/office/drawing/2014/main" id="{EA15BEF2-4096-4119-AB92-7BE9AB1F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911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ENTERPRISE / SOVEREIGN</a:t>
            </a:r>
          </a:p>
        </p:txBody>
      </p:sp>
      <p:sp>
        <p:nvSpPr>
          <p:cNvPr id="22" name="layer-body-04">
            <a:extLst xmlns:a="http://schemas.openxmlformats.org/drawingml/2006/main">
              <a:ext uri="{FF2B5EF4-FFF2-40B4-BE49-F238E27FC236}">
                <a16:creationId xmlns:a16="http://schemas.microsoft.com/office/drawing/2014/main" id="{731CF582-3748-4544-AE49-C079FCB8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0065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0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Hosting · HSM · residency · SLA · premium support</a:t>
            </a:r>
          </a:p>
        </p:txBody>
      </p:sp>
      <p:sp>
        <p:nvSpPr>
          <p:cNvPr id="23" name="architecture-bottom">
            <a:extLst xmlns:a="http://schemas.openxmlformats.org/drawingml/2006/main">
              <a:ext uri="{FF2B5EF4-FFF2-40B4-BE49-F238E27FC236}">
                <a16:creationId xmlns:a16="http://schemas.microsoft.com/office/drawing/2014/main" id="{AD00B648-9D31-49ED-8F00-36B17571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43600"/>
            <a:ext cx="994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Predictable base  +  committed consumption  +  actual usage  +  premium deployment</a:t>
            </a:r>
          </a:p>
        </p:txBody>
      </p:sp>
    </p:spTree>
    <p:extLst>
      <p:ext uri="{BB962C8B-B14F-4D97-AF65-F5344CB8AC3E}">
        <p14:creationId xmlns:p14="http://schemas.microsoft.com/office/powerpoint/2010/main" val="5546579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932c2df5c44c5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DC453F7-EEB5-4575-8490-2BA20811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C649EA3A-12EF-4BE0-965B-EC3EB32B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5">
            <a:extLst xmlns:a="http://schemas.openxmlformats.org/drawingml/2006/main">
              <a:ext uri="{FF2B5EF4-FFF2-40B4-BE49-F238E27FC236}">
                <a16:creationId xmlns:a16="http://schemas.microsoft.com/office/drawing/2014/main" id="{FE559A3D-8034-49E5-BA4A-CA265231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VALUE VERSUS CONSUMPTION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B789CCEF-88ED-4649-8EB4-707817B7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3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3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One customer value object. Many atomic trust events.</a:t>
            </a:r>
          </a:p>
        </p:txBody>
      </p:sp>
      <p:sp>
        <p:nvSpPr>
          <p:cNvPr id="6" name="subtitle-5">
            <a:extLst xmlns:a="http://schemas.openxmlformats.org/drawingml/2006/main">
              <a:ext uri="{FF2B5EF4-FFF2-40B4-BE49-F238E27FC236}">
                <a16:creationId xmlns:a16="http://schemas.microsoft.com/office/drawing/2014/main" id="{C98AFF4A-30AA-4F86-B856-A30C0C52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Trusted Execution is what the customer achieves. Trust Events are what the platform consumes.</a:t>
            </a:r>
          </a:p>
        </p:txBody>
      </p:sp>
      <p:sp>
        <p:nvSpPr>
          <p:cNvPr id="7" name="execution-object">
            <a:extLst xmlns:a="http://schemas.openxmlformats.org/drawingml/2006/main">
              <a:ext uri="{FF2B5EF4-FFF2-40B4-BE49-F238E27FC236}">
                <a16:creationId xmlns:a16="http://schemas.microsoft.com/office/drawing/2014/main" id="{0A5B5378-4E99-4B44-A0BE-F8D5E0A4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4200"/>
            <a:ext cx="40005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xecution-label">
            <a:extLst xmlns:a="http://schemas.openxmlformats.org/drawingml/2006/main">
              <a:ext uri="{FF2B5EF4-FFF2-40B4-BE49-F238E27FC236}">
                <a16:creationId xmlns:a16="http://schemas.microsoft.com/office/drawing/2014/main" id="{22072279-23FD-429D-9C35-7217F434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</a:t>
            </a:r>
          </a:p>
        </p:txBody>
      </p:sp>
      <p:sp>
        <p:nvSpPr>
          <p:cNvPr id="9" name="execution-example">
            <a:extLst xmlns:a="http://schemas.openxmlformats.org/drawingml/2006/main">
              <a:ext uri="{FF2B5EF4-FFF2-40B4-BE49-F238E27FC236}">
                <a16:creationId xmlns:a16="http://schemas.microsoft.com/office/drawing/2014/main" id="{D0E737CB-9DB3-428A-B2EB-966A5615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335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7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Agreement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27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executed</a:t>
            </a:r>
          </a:p>
        </p:txBody>
      </p:sp>
      <p:sp>
        <p:nvSpPr>
          <p:cNvPr id="10" name="execution-caption">
            <a:extLst xmlns:a="http://schemas.openxmlformats.org/drawingml/2006/main">
              <a:ext uri="{FF2B5EF4-FFF2-40B4-BE49-F238E27FC236}">
                <a16:creationId xmlns:a16="http://schemas.microsoft.com/office/drawing/2014/main" id="{92CAD128-AA16-40D4-AAD6-D80C2081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Meaningful business action</a:t>
            </a:r>
          </a:p>
        </p:txBody>
      </p:sp>
      <p:sp>
        <p:nvSpPr>
          <p:cNvPr id="11" name="through">
            <a:extLst xmlns:a="http://schemas.openxmlformats.org/drawingml/2006/main">
              <a:ext uri="{FF2B5EF4-FFF2-40B4-BE49-F238E27FC236}">
                <a16:creationId xmlns:a16="http://schemas.microsoft.com/office/drawing/2014/main" id="{9995D8F2-1B58-4F2C-B735-A7C958CB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862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DELIVERED THROUGH</a:t>
            </a:r>
          </a:p>
        </p:txBody>
      </p:sp>
      <p:sp>
        <p:nvSpPr>
          <p:cNvPr id="12" name="arrow-shaft">
            <a:extLst xmlns:a="http://schemas.openxmlformats.org/drawingml/2006/main">
              <a:ext uri="{FF2B5EF4-FFF2-40B4-BE49-F238E27FC236}">
                <a16:creationId xmlns:a16="http://schemas.microsoft.com/office/drawing/2014/main" id="{F30398B2-7E2C-4B40-92FF-6B8A49F4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62450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row-head">
            <a:extLst xmlns:a="http://schemas.openxmlformats.org/drawingml/2006/main">
              <a:ext uri="{FF2B5EF4-FFF2-40B4-BE49-F238E27FC236}">
                <a16:creationId xmlns:a16="http://schemas.microsoft.com/office/drawing/2014/main" id="{8C7B77A9-8110-4FAE-9A25-5AAB2404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vent-0">
            <a:extLst xmlns:a="http://schemas.openxmlformats.org/drawingml/2006/main">
              <a:ext uri="{FF2B5EF4-FFF2-40B4-BE49-F238E27FC236}">
                <a16:creationId xmlns:a16="http://schemas.microsoft.com/office/drawing/2014/main" id="{DB0C142F-45ED-469D-8442-D4BAC848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485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vent-name-0">
            <a:extLst xmlns:a="http://schemas.openxmlformats.org/drawingml/2006/main">
              <a:ext uri="{FF2B5EF4-FFF2-40B4-BE49-F238E27FC236}">
                <a16:creationId xmlns:a16="http://schemas.microsoft.com/office/drawing/2014/main" id="{724F933C-8EF7-46B1-99B7-5DE4ED15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004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KYC attempt</a:t>
            </a:r>
          </a:p>
        </p:txBody>
      </p:sp>
      <p:sp>
        <p:nvSpPr>
          <p:cNvPr id="16" name="event-kind-0">
            <a:extLst xmlns:a="http://schemas.openxmlformats.org/drawingml/2006/main">
              <a:ext uri="{FF2B5EF4-FFF2-40B4-BE49-F238E27FC236}">
                <a16:creationId xmlns:a16="http://schemas.microsoft.com/office/drawing/2014/main" id="{75FE0F74-A846-4EBF-8590-D63108C3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667085"/>
                </a:solidFill>
                <a:latin typeface="Mulish"/>
                <a:ea typeface="Mulish"/>
                <a:cs typeface="Mulish"/>
              </a:rPr>
              <a:t>atomic Trust Event</a:t>
            </a:r>
          </a:p>
        </p:txBody>
      </p:sp>
      <p:sp>
        <p:nvSpPr>
          <p:cNvPr id="17" name="event-1">
            <a:extLst xmlns:a="http://schemas.openxmlformats.org/drawingml/2006/main">
              <a:ext uri="{FF2B5EF4-FFF2-40B4-BE49-F238E27FC236}">
                <a16:creationId xmlns:a16="http://schemas.microsoft.com/office/drawing/2014/main" id="{44CBB22D-F0EA-4F70-BC4E-18BFE581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76650"/>
            <a:ext cx="485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vent-name-1">
            <a:extLst xmlns:a="http://schemas.openxmlformats.org/drawingml/2006/main">
              <a:ext uri="{FF2B5EF4-FFF2-40B4-BE49-F238E27FC236}">
                <a16:creationId xmlns:a16="http://schemas.microsoft.com/office/drawing/2014/main" id="{34A4B080-44A1-4067-B5BB-FD0E56D8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71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SMS OTP</a:t>
            </a:r>
          </a:p>
        </p:txBody>
      </p:sp>
      <p:sp>
        <p:nvSpPr>
          <p:cNvPr id="19" name="event-kind-1">
            <a:extLst xmlns:a="http://schemas.openxmlformats.org/drawingml/2006/main">
              <a:ext uri="{FF2B5EF4-FFF2-40B4-BE49-F238E27FC236}">
                <a16:creationId xmlns:a16="http://schemas.microsoft.com/office/drawing/2014/main" id="{86172220-A2D4-4983-8241-FC1EB94D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814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667085"/>
                </a:solidFill>
                <a:latin typeface="Mulish"/>
                <a:ea typeface="Mulish"/>
                <a:cs typeface="Mulish"/>
              </a:rPr>
              <a:t>atomic Trust Event</a:t>
            </a:r>
          </a:p>
        </p:txBody>
      </p:sp>
      <p:sp>
        <p:nvSpPr>
          <p:cNvPr id="20" name="event-2">
            <a:extLst xmlns:a="http://schemas.openxmlformats.org/drawingml/2006/main">
              <a:ext uri="{FF2B5EF4-FFF2-40B4-BE49-F238E27FC236}">
                <a16:creationId xmlns:a16="http://schemas.microsoft.com/office/drawing/2014/main" id="{386C2DA0-CCF4-4585-972A-EE5D0DAD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48150"/>
            <a:ext cx="485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vent-name-2">
            <a:extLst xmlns:a="http://schemas.openxmlformats.org/drawingml/2006/main">
              <a:ext uri="{FF2B5EF4-FFF2-40B4-BE49-F238E27FC236}">
                <a16:creationId xmlns:a16="http://schemas.microsoft.com/office/drawing/2014/main" id="{D5C3EA79-0352-4C26-A6BB-B538E921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434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Signature</a:t>
            </a:r>
          </a:p>
        </p:txBody>
      </p:sp>
      <p:sp>
        <p:nvSpPr>
          <p:cNvPr id="22" name="event-kind-2">
            <a:extLst xmlns:a="http://schemas.openxmlformats.org/drawingml/2006/main">
              <a:ext uri="{FF2B5EF4-FFF2-40B4-BE49-F238E27FC236}">
                <a16:creationId xmlns:a16="http://schemas.microsoft.com/office/drawing/2014/main" id="{FE8E6761-A13B-4F89-B236-6480F7D7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52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667085"/>
                </a:solidFill>
                <a:latin typeface="Mulish"/>
                <a:ea typeface="Mulish"/>
                <a:cs typeface="Mulish"/>
              </a:rPr>
              <a:t>atomic Trust Event</a:t>
            </a:r>
          </a:p>
        </p:txBody>
      </p:sp>
      <p:sp>
        <p:nvSpPr>
          <p:cNvPr id="23" name="event-3">
            <a:extLst xmlns:a="http://schemas.openxmlformats.org/drawingml/2006/main">
              <a:ext uri="{FF2B5EF4-FFF2-40B4-BE49-F238E27FC236}">
                <a16:creationId xmlns:a16="http://schemas.microsoft.com/office/drawing/2014/main" id="{75EC6F77-F63F-452D-9E3C-FA5F9505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9650"/>
            <a:ext cx="485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event-name-3">
            <a:extLst xmlns:a="http://schemas.openxmlformats.org/drawingml/2006/main">
              <a:ext uri="{FF2B5EF4-FFF2-40B4-BE49-F238E27FC236}">
                <a16:creationId xmlns:a16="http://schemas.microsoft.com/office/drawing/2014/main" id="{7ED65A16-2340-40DD-AED5-4926ED1F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Timestamp</a:t>
            </a:r>
          </a:p>
        </p:txBody>
      </p:sp>
      <p:sp>
        <p:nvSpPr>
          <p:cNvPr id="25" name="event-kind-3">
            <a:extLst xmlns:a="http://schemas.openxmlformats.org/drawingml/2006/main">
              <a:ext uri="{FF2B5EF4-FFF2-40B4-BE49-F238E27FC236}">
                <a16:creationId xmlns:a16="http://schemas.microsoft.com/office/drawing/2014/main" id="{42A7E04D-8827-4537-B0CB-09A921C6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244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667085"/>
                </a:solidFill>
                <a:latin typeface="Mulish"/>
                <a:ea typeface="Mulish"/>
                <a:cs typeface="Mulish"/>
              </a:rPr>
              <a:t>atomic Trust Event</a:t>
            </a:r>
          </a:p>
        </p:txBody>
      </p:sp>
      <p:sp>
        <p:nvSpPr>
          <p:cNvPr id="26" name="event-rule">
            <a:extLst xmlns:a="http://schemas.openxmlformats.org/drawingml/2006/main">
              <a:ext uri="{FF2B5EF4-FFF2-40B4-BE49-F238E27FC236}">
                <a16:creationId xmlns:a16="http://schemas.microsoft.com/office/drawing/2014/main" id="{0C888F4A-502B-4A35-8FF8-963A429F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19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7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Zero, one or many events · failed attempts may still be billable</a:t>
            </a:r>
          </a:p>
        </p:txBody>
      </p:sp>
    </p:spTree>
    <p:extLst>
      <p:ext uri="{BB962C8B-B14F-4D97-AF65-F5344CB8AC3E}">
        <p14:creationId xmlns:p14="http://schemas.microsoft.com/office/powerpoint/2010/main" val="17684001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d81d8b626439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D45648-5493-4861-A97E-EBFF07E8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15B411D-7C64-48C9-843D-CCA8CFE4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6">
            <a:extLst xmlns:a="http://schemas.openxmlformats.org/drawingml/2006/main">
              <a:ext uri="{FF2B5EF4-FFF2-40B4-BE49-F238E27FC236}">
                <a16:creationId xmlns:a16="http://schemas.microsoft.com/office/drawing/2014/main" id="{7FA2734B-30E0-4834-BF2C-8CC3879D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SALES CATALOGUE</a:t>
            </a:r>
          </a:p>
        </p:txBody>
      </p:sp>
      <p:sp>
        <p:nvSpPr>
          <p:cNvPr id="5" name="title-6">
            <a:extLst xmlns:a="http://schemas.openxmlformats.org/drawingml/2006/main">
              <a:ext uri="{FF2B5EF4-FFF2-40B4-BE49-F238E27FC236}">
                <a16:creationId xmlns:a16="http://schemas.microsoft.com/office/drawing/2014/main" id="{90B620A0-B12D-4428-B231-7A4DCE08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Sell Business Action × Assurance Level</a:t>
            </a:r>
          </a:p>
        </p:txBody>
      </p:sp>
      <p:sp>
        <p:nvSpPr>
          <p:cNvPr id="6" name="subtitle-6">
            <a:extLst xmlns:a="http://schemas.openxmlformats.org/drawingml/2006/main">
              <a:ext uri="{FF2B5EF4-FFF2-40B4-BE49-F238E27FC236}">
                <a16:creationId xmlns:a16="http://schemas.microsoft.com/office/drawing/2014/main" id="{C151E438-882D-4F64-99D8-29FADAEA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Two understandable customer choices configure the trust recipe underneath.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57200" y="3028950"/>
          <a:ext xmlns:a="http://schemas.openxmlformats.org/drawingml/2006/main" cx="11277600" cy="2609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95600"/>
                <a:gridCol w="1695450"/>
                <a:gridCol w="1866900"/>
                <a:gridCol w="2457450"/>
                <a:gridCol w="2362200"/>
              </a:tblGrid>
              <a:tr h="4349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Spartan"/>
                          <a:ea typeface="Spartan"/>
                          <a:cs typeface="Spartan"/>
                        </a:rPr>
                        <a:t>Business action</a:t>
                      </a:r>
                    </a:p>
                  </a:txBody>
                  <a:tcPr marL="91440" marR="91440" marT="45720" marB="45720" anchor="ctr">
                    <a:solidFill>
                      <a:srgbClr val="1D009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Spartan"/>
                          <a:ea typeface="Spartan"/>
                          <a:cs typeface="Spartan"/>
                        </a:rPr>
                        <a:t>Standard</a:t>
                      </a:r>
                    </a:p>
                  </a:txBody>
                  <a:tcPr marL="91440" marR="91440" marT="45720" marB="45720" anchor="ctr">
                    <a:solidFill>
                      <a:srgbClr val="1D009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Spartan"/>
                          <a:ea typeface="Spartan"/>
                          <a:cs typeface="Spartan"/>
                        </a:rPr>
                        <a:t>Verified</a:t>
                      </a:r>
                    </a:p>
                  </a:txBody>
                  <a:tcPr marL="91440" marR="91440" marT="45720" marB="45720" anchor="ctr">
                    <a:solidFill>
                      <a:srgbClr val="1D009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Spartan"/>
                          <a:ea typeface="Spartan"/>
                          <a:cs typeface="Spartan"/>
                        </a:rPr>
                        <a:t>Identity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Spartan"/>
                          <a:ea typeface="Spartan"/>
                          <a:cs typeface="Spartan"/>
                        </a:rPr>
                        <a:t>verified</a:t>
                      </a:r>
                    </a:p>
                  </a:txBody>
                  <a:tcPr marL="91440" marR="91440" marT="45720" marB="45720" anchor="ctr">
                    <a:solidFill>
                      <a:srgbClr val="1D009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Spartan"/>
                          <a:ea typeface="Spartan"/>
                          <a:cs typeface="Spartan"/>
                        </a:rPr>
                        <a:t>Qualified</a:t>
                      </a:r>
                    </a:p>
                  </a:txBody>
                  <a:tcPr marL="91440" marR="91440" marT="45720" marB="45720" anchor="ctr">
                    <a:solidFill>
                      <a:srgbClr val="1D0090"/>
                    </a:solidFill>
                  </a:tcPr>
                </a:tc>
              </a:tr>
              <a:tr h="4349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D0090"/>
                          </a:solidFill>
                          <a:latin typeface="Spartan"/>
                          <a:ea typeface="Spartan"/>
                          <a:cs typeface="Spartan"/>
                        </a:rPr>
                        <a:t>Internal approval</a:t>
                      </a:r>
                    </a:p>
                  </a:txBody>
                  <a:tcPr marL="91440" marR="91440" marT="45720" marB="45720" anchor="ctr">
                    <a:solidFill>
                      <a:srgbClr val="F5ED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7000FF"/>
                          </a:solidFill>
                          <a:latin typeface="Mulish"/>
                          <a:ea typeface="Mulish"/>
                          <a:cs typeface="Mulish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7000FF"/>
                          </a:solidFill>
                          <a:latin typeface="Mulish"/>
                          <a:ea typeface="Mulish"/>
                          <a:cs typeface="Mulish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D0090"/>
                          </a:solidFill>
                          <a:latin typeface="Mulish"/>
                          <a:ea typeface="Mulish"/>
                          <a:cs typeface="Mulish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D0090"/>
                          </a:solidFill>
                          <a:latin typeface="Mulish"/>
                          <a:ea typeface="Mulish"/>
                          <a:cs typeface="Mulish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49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D0090"/>
                          </a:solidFill>
                          <a:latin typeface="Spartan"/>
                          <a:ea typeface="Spartan"/>
                          <a:cs typeface="Spartan"/>
                        </a:rPr>
                        <a:t>External agreement</a:t>
                      </a:r>
                    </a:p>
                  </a:txBody>
                  <a:tcPr marL="91440" marR="91440" marT="45720" marB="45720" anchor="ctr">
                    <a:solidFill>
                      <a:srgbClr val="F5ED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7000FF"/>
                          </a:solidFill>
                          <a:latin typeface="Mulish"/>
                          <a:ea typeface="Mulish"/>
                          <a:cs typeface="Mulish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7000FF"/>
                          </a:solidFill>
                          <a:latin typeface="Mulish"/>
                          <a:ea typeface="Mulish"/>
                          <a:cs typeface="Mulish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7000FF"/>
                          </a:solidFill>
                          <a:latin typeface="Mulish"/>
                          <a:ea typeface="Mulish"/>
                          <a:cs typeface="Mulish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7000FF"/>
                          </a:solidFill>
                          <a:latin typeface="Mulish"/>
                          <a:ea typeface="Mulish"/>
                          <a:cs typeface="Mulish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49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D0090"/>
                          </a:solidFill>
                          <a:latin typeface="Spartan"/>
                          <a:ea typeface="Spartan"/>
                          <a:cs typeface="Spartan"/>
                        </a:rPr>
                        <a:t>Organizational execution</a:t>
                      </a:r>
                    </a:p>
                  </a:txBody>
                  <a:tcPr marL="91440" marR="91440" marT="45720" marB="45720" anchor="ctr">
                    <a:solidFill>
                      <a:srgbClr val="F5ED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7000FF"/>
                          </a:solidFill>
                          <a:latin typeface="Mulish"/>
                          <a:ea typeface="Mulish"/>
                          <a:cs typeface="Mulish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7000FF"/>
                          </a:solidFill>
                          <a:latin typeface="Mulish"/>
                          <a:ea typeface="Mulish"/>
                          <a:cs typeface="Mulish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D0090"/>
                          </a:solidFill>
                          <a:latin typeface="Mulish"/>
                          <a:ea typeface="Mulish"/>
                          <a:cs typeface="Mulish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7000FF"/>
                          </a:solidFill>
                          <a:latin typeface="Mulish"/>
                          <a:ea typeface="Mulish"/>
                          <a:cs typeface="Mulish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49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D0090"/>
                          </a:solidFill>
                          <a:latin typeface="Spartan"/>
                          <a:ea typeface="Spartan"/>
                          <a:cs typeface="Spartan"/>
                        </a:rPr>
                        <a:t>Identity verification</a:t>
                      </a:r>
                    </a:p>
                  </a:txBody>
                  <a:tcPr marL="91440" marR="91440" marT="45720" marB="45720" anchor="ctr">
                    <a:solidFill>
                      <a:srgbClr val="F5ED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D0090"/>
                          </a:solidFill>
                          <a:latin typeface="Mulish"/>
                          <a:ea typeface="Mulish"/>
                          <a:cs typeface="Mulish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D0090"/>
                          </a:solidFill>
                          <a:latin typeface="Mulish"/>
                          <a:ea typeface="Mulish"/>
                          <a:cs typeface="Mulish"/>
                        </a:rPr>
                        <a:t>Auth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D0090"/>
                          </a:solidFill>
                          <a:latin typeface="Mulish"/>
                          <a:ea typeface="Mulish"/>
                          <a:cs typeface="Mulish"/>
                        </a:rPr>
                        <a:t>KYC / IDV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D0090"/>
                          </a:solidFill>
                          <a:latin typeface="Mulish"/>
                          <a:ea typeface="Mulish"/>
                          <a:cs typeface="Mulish"/>
                        </a:rPr>
                        <a:t>Regulated 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49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D0090"/>
                          </a:solidFill>
                          <a:latin typeface="Spartan"/>
                          <a:ea typeface="Spartan"/>
                          <a:cs typeface="Spartan"/>
                        </a:rPr>
                        <a:t>Autonomous execution</a:t>
                      </a:r>
                    </a:p>
                  </a:txBody>
                  <a:tcPr marL="91440" marR="91440" marT="45720" marB="45720" anchor="ctr">
                    <a:solidFill>
                      <a:srgbClr val="F5ED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7000FF"/>
                          </a:solidFill>
                          <a:latin typeface="Mulish"/>
                          <a:ea typeface="Mulish"/>
                          <a:cs typeface="Mulish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7000FF"/>
                          </a:solidFill>
                          <a:latin typeface="Mulish"/>
                          <a:ea typeface="Mulish"/>
                          <a:cs typeface="Mulish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7000FF"/>
                          </a:solidFill>
                          <a:latin typeface="Mulish"/>
                          <a:ea typeface="Mulish"/>
                          <a:cs typeface="Mulish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7000FF"/>
                          </a:solidFill>
                          <a:latin typeface="Mulish"/>
                          <a:ea typeface="Mulish"/>
                          <a:cs typeface="Mulish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matrix-question">
            <a:extLst xmlns:a="http://schemas.openxmlformats.org/drawingml/2006/main">
              <a:ext uri="{FF2B5EF4-FFF2-40B4-BE49-F238E27FC236}">
                <a16:creationId xmlns:a16="http://schemas.microsoft.com/office/drawing/2014/main" id="{D9BDF90C-FCC8-400E-9CF9-D764C412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What are you executing—and how certain must we be about identity, authority and integrity?</a:t>
            </a:r>
          </a:p>
        </p:txBody>
      </p:sp>
    </p:spTree>
    <p:extLst>
      <p:ext uri="{BB962C8B-B14F-4D97-AF65-F5344CB8AC3E}">
        <p14:creationId xmlns:p14="http://schemas.microsoft.com/office/powerpoint/2010/main" val="439079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15a2cbb294dd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84AD31E-286A-4DB3-80D5-B3268C7E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C09D5832-3F60-445C-927D-7E164543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7">
            <a:extLst xmlns:a="http://schemas.openxmlformats.org/drawingml/2006/main">
              <a:ext uri="{FF2B5EF4-FFF2-40B4-BE49-F238E27FC236}">
                <a16:creationId xmlns:a16="http://schemas.microsoft.com/office/drawing/2014/main" id="{FF798EB4-D700-4973-B226-7B17EE36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CATALOGUE DESIGN</a:t>
            </a:r>
          </a:p>
        </p:txBody>
      </p:sp>
      <p:sp>
        <p:nvSpPr>
          <p:cNvPr id="5" name="title-7">
            <a:extLst xmlns:a="http://schemas.openxmlformats.org/drawingml/2006/main">
              <a:ext uri="{FF2B5EF4-FFF2-40B4-BE49-F238E27FC236}">
                <a16:creationId xmlns:a16="http://schemas.microsoft.com/office/drawing/2014/main" id="{09125381-15B7-4721-8084-A53359BD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Execution Profiles absorb the complexity</a:t>
            </a:r>
          </a:p>
        </p:txBody>
      </p:sp>
      <p:sp>
        <p:nvSpPr>
          <p:cNvPr id="6" name="subtitle-7">
            <a:extLst xmlns:a="http://schemas.openxmlformats.org/drawingml/2006/main">
              <a:ext uri="{FF2B5EF4-FFF2-40B4-BE49-F238E27FC236}">
                <a16:creationId xmlns:a16="http://schemas.microsoft.com/office/drawing/2014/main" id="{265AF7A1-62E4-458E-BD0A-B4DA65C6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Keep the commercial promise stable while providers, recipes and jurisdictions change.</a:t>
            </a:r>
          </a:p>
        </p:txBody>
      </p:sp>
      <p:sp>
        <p:nvSpPr>
          <p:cNvPr id="7" name="profile-0">
            <a:extLst xmlns:a="http://schemas.openxmlformats.org/drawingml/2006/main">
              <a:ext uri="{FF2B5EF4-FFF2-40B4-BE49-F238E27FC236}">
                <a16:creationId xmlns:a16="http://schemas.microsoft.com/office/drawing/2014/main" id="{03613C95-B47C-4D90-A3ED-85A86A77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33528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file-number-0">
            <a:extLst xmlns:a="http://schemas.openxmlformats.org/drawingml/2006/main">
              <a:ext uri="{FF2B5EF4-FFF2-40B4-BE49-F238E27FC236}">
                <a16:creationId xmlns:a16="http://schemas.microsoft.com/office/drawing/2014/main" id="{4DB8CEC7-5253-4780-BF0A-DFC9259C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profile-label-0">
            <a:extLst xmlns:a="http://schemas.openxmlformats.org/drawingml/2006/main">
              <a:ext uri="{FF2B5EF4-FFF2-40B4-BE49-F238E27FC236}">
                <a16:creationId xmlns:a16="http://schemas.microsoft.com/office/drawing/2014/main" id="{532FAB05-C56C-4A85-84D7-3A9A118A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SALES CATALOGUE</a:t>
            </a:r>
          </a:p>
        </p:txBody>
      </p:sp>
      <p:sp>
        <p:nvSpPr>
          <p:cNvPr id="10" name="profile-body-0">
            <a:extLst xmlns:a="http://schemas.openxmlformats.org/drawingml/2006/main">
              <a:ext uri="{FF2B5EF4-FFF2-40B4-BE49-F238E27FC236}">
                <a16:creationId xmlns:a16="http://schemas.microsoft.com/office/drawing/2014/main" id="{67DFDE72-3341-444D-9835-2DDD84FB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89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External Agreement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 Verified</a:t>
            </a:r>
          </a:p>
        </p:txBody>
      </p:sp>
      <p:sp>
        <p:nvSpPr>
          <p:cNvPr id="11" name="profile-arrow-0">
            <a:extLst xmlns:a="http://schemas.openxmlformats.org/drawingml/2006/main">
              <a:ext uri="{FF2B5EF4-FFF2-40B4-BE49-F238E27FC236}">
                <a16:creationId xmlns:a16="http://schemas.microsoft.com/office/drawing/2014/main" id="{366C7080-D85B-490C-BA05-8327AC2C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00500"/>
            <a:ext cx="38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→</a:t>
            </a:r>
          </a:p>
        </p:txBody>
      </p:sp>
      <p:sp>
        <p:nvSpPr>
          <p:cNvPr id="12" name="profile-1">
            <a:extLst xmlns:a="http://schemas.openxmlformats.org/drawingml/2006/main">
              <a:ext uri="{FF2B5EF4-FFF2-40B4-BE49-F238E27FC236}">
                <a16:creationId xmlns:a16="http://schemas.microsoft.com/office/drawing/2014/main" id="{FDC321DC-6D11-463C-8514-9E7F412C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19450"/>
            <a:ext cx="33528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file-number-1">
            <a:extLst xmlns:a="http://schemas.openxmlformats.org/drawingml/2006/main">
              <a:ext uri="{FF2B5EF4-FFF2-40B4-BE49-F238E27FC236}">
                <a16:creationId xmlns:a16="http://schemas.microsoft.com/office/drawing/2014/main" id="{24A708F4-127E-4979-8B1D-03E8CD05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profile-label-1">
            <a:extLst xmlns:a="http://schemas.openxmlformats.org/drawingml/2006/main">
              <a:ext uri="{FF2B5EF4-FFF2-40B4-BE49-F238E27FC236}">
                <a16:creationId xmlns:a16="http://schemas.microsoft.com/office/drawing/2014/main" id="{D2FA4334-80A9-4F81-A35A-A5106090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433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EXECUTION PROFILE</a:t>
            </a:r>
          </a:p>
        </p:txBody>
      </p:sp>
      <p:sp>
        <p:nvSpPr>
          <p:cNvPr id="15" name="profile-body-1">
            <a:extLst xmlns:a="http://schemas.openxmlformats.org/drawingml/2006/main">
              <a:ext uri="{FF2B5EF4-FFF2-40B4-BE49-F238E27FC236}">
                <a16:creationId xmlns:a16="http://schemas.microsoft.com/office/drawing/2014/main" id="{06A33606-71A8-460D-BB71-BB5C89D9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00550"/>
            <a:ext cx="289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UAE high-assurance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employment agreement</a:t>
            </a:r>
          </a:p>
        </p:txBody>
      </p:sp>
      <p:sp>
        <p:nvSpPr>
          <p:cNvPr id="16" name="profile-arrow-1">
            <a:extLst xmlns:a="http://schemas.openxmlformats.org/drawingml/2006/main">
              <a:ext uri="{FF2B5EF4-FFF2-40B4-BE49-F238E27FC236}">
                <a16:creationId xmlns:a16="http://schemas.microsoft.com/office/drawing/2014/main" id="{B861C24C-980C-42A1-9CF9-CB8127F5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00500"/>
            <a:ext cx="38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→</a:t>
            </a:r>
          </a:p>
        </p:txBody>
      </p:sp>
      <p:sp>
        <p:nvSpPr>
          <p:cNvPr id="17" name="profile-2">
            <a:extLst xmlns:a="http://schemas.openxmlformats.org/drawingml/2006/main">
              <a:ext uri="{FF2B5EF4-FFF2-40B4-BE49-F238E27FC236}">
                <a16:creationId xmlns:a16="http://schemas.microsoft.com/office/drawing/2014/main" id="{2D70D56A-9C57-4F44-BE05-E95EDCC0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19450"/>
            <a:ext cx="33528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ofile-number-2">
            <a:extLst xmlns:a="http://schemas.openxmlformats.org/drawingml/2006/main">
              <a:ext uri="{FF2B5EF4-FFF2-40B4-BE49-F238E27FC236}">
                <a16:creationId xmlns:a16="http://schemas.microsoft.com/office/drawing/2014/main" id="{9027B62F-73FF-48A3-86B2-3B8FDE7D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48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9" name="profile-label-2">
            <a:extLst xmlns:a="http://schemas.openxmlformats.org/drawingml/2006/main">
              <a:ext uri="{FF2B5EF4-FFF2-40B4-BE49-F238E27FC236}">
                <a16:creationId xmlns:a16="http://schemas.microsoft.com/office/drawing/2014/main" id="{F46C4932-B9C8-4FD5-840C-76FCDC8F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433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 EVENTS</a:t>
            </a:r>
          </a:p>
        </p:txBody>
      </p:sp>
      <p:sp>
        <p:nvSpPr>
          <p:cNvPr id="20" name="profile-body-2">
            <a:extLst xmlns:a="http://schemas.openxmlformats.org/drawingml/2006/main">
              <a:ext uri="{FF2B5EF4-FFF2-40B4-BE49-F238E27FC236}">
                <a16:creationId xmlns:a16="http://schemas.microsoft.com/office/drawing/2014/main" id="{6727E864-3DBD-4D0C-9E86-6B26931D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289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UAE PASS or KYC · OTP fallback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signature · timestamp · evidence</a:t>
            </a:r>
          </a:p>
        </p:txBody>
      </p:sp>
      <p:sp>
        <p:nvSpPr>
          <p:cNvPr id="21" name="profile-benefit">
            <a:extLst xmlns:a="http://schemas.openxmlformats.org/drawingml/2006/main">
              <a:ext uri="{FF2B5EF4-FFF2-40B4-BE49-F238E27FC236}">
                <a16:creationId xmlns:a16="http://schemas.microsoft.com/office/drawing/2014/main" id="{EC99CB97-15F7-40FF-8D56-CE472F90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15000"/>
            <a:ext cx="994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12–15 understandable SKUs can support many regional and technical combinations.</a:t>
            </a:r>
          </a:p>
        </p:txBody>
      </p:sp>
    </p:spTree>
    <p:extLst>
      <p:ext uri="{BB962C8B-B14F-4D97-AF65-F5344CB8AC3E}">
        <p14:creationId xmlns:p14="http://schemas.microsoft.com/office/powerpoint/2010/main" val="13412688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9394f67804f4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ACC4B88-2F43-4B30-9455-C913383E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AF10C8DB-88B7-484F-A4BC-AB8D225D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8">
            <a:extLst xmlns:a="http://schemas.openxmlformats.org/drawingml/2006/main">
              <a:ext uri="{FF2B5EF4-FFF2-40B4-BE49-F238E27FC236}">
                <a16:creationId xmlns:a16="http://schemas.microsoft.com/office/drawing/2014/main" id="{BA2FB96F-CD51-4754-AC8B-DB01F0F4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ECONOMIC ENGINE</a:t>
            </a:r>
          </a:p>
        </p:txBody>
      </p:sp>
      <p:sp>
        <p:nvSpPr>
          <p:cNvPr id="5" name="title-8">
            <a:extLst xmlns:a="http://schemas.openxmlformats.org/drawingml/2006/main">
              <a:ext uri="{FF2B5EF4-FFF2-40B4-BE49-F238E27FC236}">
                <a16:creationId xmlns:a16="http://schemas.microsoft.com/office/drawing/2014/main" id="{90B54270-AC74-4B4A-811E-ADDA985B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Credits power the engine—not the story</a:t>
            </a:r>
          </a:p>
        </p:txBody>
      </p:sp>
      <p:sp>
        <p:nvSpPr>
          <p:cNvPr id="6" name="subtitle-8">
            <a:extLst xmlns:a="http://schemas.openxmlformats.org/drawingml/2006/main">
              <a:ext uri="{FF2B5EF4-FFF2-40B4-BE49-F238E27FC236}">
                <a16:creationId xmlns:a16="http://schemas.microsoft.com/office/drawing/2014/main" id="{C8B9046E-37BB-451F-B879-0F394511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Customers buy understandable work. Credits normalize variable consumption underneath.</a:t>
            </a:r>
          </a:p>
        </p:txBody>
      </p:sp>
      <p:sp>
        <p:nvSpPr>
          <p:cNvPr id="7" name="credit-0">
            <a:extLst xmlns:a="http://schemas.openxmlformats.org/drawingml/2006/main">
              <a:ext uri="{FF2B5EF4-FFF2-40B4-BE49-F238E27FC236}">
                <a16:creationId xmlns:a16="http://schemas.microsoft.com/office/drawing/2014/main" id="{10B514FC-7820-4D5B-BFE2-6F925B79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24003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redit-head-0">
            <a:extLst xmlns:a="http://schemas.openxmlformats.org/drawingml/2006/main">
              <a:ext uri="{FF2B5EF4-FFF2-40B4-BE49-F238E27FC236}">
                <a16:creationId xmlns:a16="http://schemas.microsoft.com/office/drawing/2014/main" id="{A36CA523-ADDB-47E0-89AE-1D119ACB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CUSTOMER OFFER</a:t>
            </a:r>
          </a:p>
        </p:txBody>
      </p:sp>
      <p:sp>
        <p:nvSpPr>
          <p:cNvPr id="9" name="credit-body-0">
            <a:extLst xmlns:a="http://schemas.openxmlformats.org/drawingml/2006/main">
              <a:ext uri="{FF2B5EF4-FFF2-40B4-BE49-F238E27FC236}">
                <a16:creationId xmlns:a16="http://schemas.microsoft.com/office/drawing/2014/main" id="{4F26874A-C922-4CC4-9E3F-A8C78C77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Platform + commitment</a:t>
            </a:r>
          </a:p>
        </p:txBody>
      </p:sp>
      <p:sp>
        <p:nvSpPr>
          <p:cNvPr id="10" name="credit-arrow-0">
            <a:extLst xmlns:a="http://schemas.openxmlformats.org/drawingml/2006/main">
              <a:ext uri="{FF2B5EF4-FFF2-40B4-BE49-F238E27FC236}">
                <a16:creationId xmlns:a16="http://schemas.microsoft.com/office/drawing/2014/main" id="{6E861C8F-02CA-4B5E-8F83-ACBA2D6C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5285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→</a:t>
            </a:r>
          </a:p>
        </p:txBody>
      </p:sp>
      <p:sp>
        <p:nvSpPr>
          <p:cNvPr id="11" name="credit-1">
            <a:extLst xmlns:a="http://schemas.openxmlformats.org/drawingml/2006/main">
              <a:ext uri="{FF2B5EF4-FFF2-40B4-BE49-F238E27FC236}">
                <a16:creationId xmlns:a16="http://schemas.microsoft.com/office/drawing/2014/main" id="{54DDC4BF-9312-40DA-B5E2-0301163B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33750"/>
            <a:ext cx="24003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redit-head-1">
            <a:extLst xmlns:a="http://schemas.openxmlformats.org/drawingml/2006/main">
              <a:ext uri="{FF2B5EF4-FFF2-40B4-BE49-F238E27FC236}">
                <a16:creationId xmlns:a16="http://schemas.microsoft.com/office/drawing/2014/main" id="{72CE24EC-A04E-4372-A9A5-D6F2047B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19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CREDIT ENGINE</a:t>
            </a:r>
          </a:p>
        </p:txBody>
      </p:sp>
      <p:sp>
        <p:nvSpPr>
          <p:cNvPr id="13" name="credit-body-1">
            <a:extLst xmlns:a="http://schemas.openxmlformats.org/drawingml/2006/main">
              <a:ext uri="{FF2B5EF4-FFF2-40B4-BE49-F238E27FC236}">
                <a16:creationId xmlns:a16="http://schemas.microsoft.com/office/drawing/2014/main" id="{8005F6C2-BB7D-4654-A787-0836A51C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957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Flexible wallet</a:t>
            </a:r>
          </a:p>
        </p:txBody>
      </p:sp>
      <p:sp>
        <p:nvSpPr>
          <p:cNvPr id="14" name="credit-arrow-1">
            <a:extLst xmlns:a="http://schemas.openxmlformats.org/drawingml/2006/main">
              <a:ext uri="{FF2B5EF4-FFF2-40B4-BE49-F238E27FC236}">
                <a16:creationId xmlns:a16="http://schemas.microsoft.com/office/drawing/2014/main" id="{AD7D6571-3E18-4F76-AAB4-2E803F81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5285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→</a:t>
            </a:r>
          </a:p>
        </p:txBody>
      </p:sp>
      <p:sp>
        <p:nvSpPr>
          <p:cNvPr id="15" name="credit-2">
            <a:extLst xmlns:a="http://schemas.openxmlformats.org/drawingml/2006/main">
              <a:ext uri="{FF2B5EF4-FFF2-40B4-BE49-F238E27FC236}">
                <a16:creationId xmlns:a16="http://schemas.microsoft.com/office/drawing/2014/main" id="{267D3459-2EAD-444E-A839-3BC3E158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33750"/>
            <a:ext cx="24003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redit-head-2">
            <a:extLst xmlns:a="http://schemas.openxmlformats.org/drawingml/2006/main">
              <a:ext uri="{FF2B5EF4-FFF2-40B4-BE49-F238E27FC236}">
                <a16:creationId xmlns:a16="http://schemas.microsoft.com/office/drawing/2014/main" id="{90EC1790-D653-4CC2-BBDB-19102A94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19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ATOMIC EVENTS</a:t>
            </a:r>
          </a:p>
        </p:txBody>
      </p:sp>
      <p:sp>
        <p:nvSpPr>
          <p:cNvPr id="17" name="credit-body-2">
            <a:extLst xmlns:a="http://schemas.openxmlformats.org/drawingml/2006/main">
              <a:ext uri="{FF2B5EF4-FFF2-40B4-BE49-F238E27FC236}">
                <a16:creationId xmlns:a16="http://schemas.microsoft.com/office/drawing/2014/main" id="{F9CCD039-D29F-49B3-BE98-FD56C0DF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Actual consumption</a:t>
            </a:r>
          </a:p>
        </p:txBody>
      </p:sp>
      <p:sp>
        <p:nvSpPr>
          <p:cNvPr id="18" name="credit-arrow-2">
            <a:extLst xmlns:a="http://schemas.openxmlformats.org/drawingml/2006/main">
              <a:ext uri="{FF2B5EF4-FFF2-40B4-BE49-F238E27FC236}">
                <a16:creationId xmlns:a16="http://schemas.microsoft.com/office/drawing/2014/main" id="{D1653C1D-AE89-449C-B273-9114F964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5285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→</a:t>
            </a:r>
          </a:p>
        </p:txBody>
      </p:sp>
      <p:sp>
        <p:nvSpPr>
          <p:cNvPr id="19" name="credit-3">
            <a:extLst xmlns:a="http://schemas.openxmlformats.org/drawingml/2006/main">
              <a:ext uri="{FF2B5EF4-FFF2-40B4-BE49-F238E27FC236}">
                <a16:creationId xmlns:a16="http://schemas.microsoft.com/office/drawing/2014/main" id="{DAAF868D-46C4-4F2C-8593-D4016ECC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24003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redit-head-3">
            <a:extLst xmlns:a="http://schemas.openxmlformats.org/drawingml/2006/main">
              <a:ext uri="{FF2B5EF4-FFF2-40B4-BE49-F238E27FC236}">
                <a16:creationId xmlns:a16="http://schemas.microsoft.com/office/drawing/2014/main" id="{D6756FB2-AFDE-4E4E-B2B7-98D1F23D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ECONOMICS</a:t>
            </a:r>
          </a:p>
        </p:txBody>
      </p:sp>
      <p:sp>
        <p:nvSpPr>
          <p:cNvPr id="21" name="credit-body-3">
            <a:extLst xmlns:a="http://schemas.openxmlformats.org/drawingml/2006/main">
              <a:ext uri="{FF2B5EF4-FFF2-40B4-BE49-F238E27FC236}">
                <a16:creationId xmlns:a16="http://schemas.microsoft.com/office/drawing/2014/main" id="{347C6966-A31C-405D-94BB-C79C2A7E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Revenue + COGS</a:t>
            </a:r>
          </a:p>
        </p:txBody>
      </p:sp>
      <p:sp>
        <p:nvSpPr>
          <p:cNvPr id="22" name="credit-divider">
            <a:extLst xmlns:a="http://schemas.openxmlformats.org/drawingml/2006/main">
              <a:ext uri="{FF2B5EF4-FFF2-40B4-BE49-F238E27FC236}">
                <a16:creationId xmlns:a16="http://schemas.microsoft.com/office/drawing/2014/main" id="{14B70500-070E-4687-8573-777DAB95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38750"/>
            <a:ext cx="922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redit-left">
            <a:extLst xmlns:a="http://schemas.openxmlformats.org/drawingml/2006/main">
              <a:ext uri="{FF2B5EF4-FFF2-40B4-BE49-F238E27FC236}">
                <a16:creationId xmlns:a16="http://schemas.microsoft.com/office/drawing/2014/main" id="{5C9142B7-3290-4455-803D-9A6BEE8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Execution = customer value metric</a:t>
            </a:r>
          </a:p>
        </p:txBody>
      </p:sp>
      <p:sp>
        <p:nvSpPr>
          <p:cNvPr id="24" name="credit-right">
            <a:extLst xmlns:a="http://schemas.openxmlformats.org/drawingml/2006/main">
              <a:ext uri="{FF2B5EF4-FFF2-40B4-BE49-F238E27FC236}">
                <a16:creationId xmlns:a16="http://schemas.microsoft.com/office/drawing/2014/main" id="{0148EA2F-B0E2-440A-97ED-43E1877B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673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 Events = atomic consumption events</a:t>
            </a:r>
          </a:p>
        </p:txBody>
      </p:sp>
      <p:sp>
        <p:nvSpPr>
          <p:cNvPr id="25" name="credit-rule">
            <a:extLst xmlns:a="http://schemas.openxmlformats.org/drawingml/2006/main">
              <a:ext uri="{FF2B5EF4-FFF2-40B4-BE49-F238E27FC236}">
                <a16:creationId xmlns:a16="http://schemas.microsoft.com/office/drawing/2014/main" id="{E9DA30B7-6F64-4BB9-A9FE-BB4E3831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43600"/>
            <a:ext cx="861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Credits ≠ COGS · Trusted Execution ≠ universal billing meter</a:t>
            </a:r>
          </a:p>
        </p:txBody>
      </p:sp>
    </p:spTree>
    <p:extLst>
      <p:ext uri="{BB962C8B-B14F-4D97-AF65-F5344CB8AC3E}">
        <p14:creationId xmlns:p14="http://schemas.microsoft.com/office/powerpoint/2010/main" val="16669656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64aec204148a6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A5E49A-A3D5-42E1-B21F-9406C70A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36FFDC9F-8205-4298-889B-55BE6031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9">
            <a:extLst xmlns:a="http://schemas.openxmlformats.org/drawingml/2006/main">
              <a:ext uri="{FF2B5EF4-FFF2-40B4-BE49-F238E27FC236}">
                <a16:creationId xmlns:a16="http://schemas.microsoft.com/office/drawing/2014/main" id="{84E798D9-D082-4398-B036-6AD1DE20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CUSTOMER OFFER</a:t>
            </a:r>
          </a:p>
        </p:txBody>
      </p:sp>
      <p:sp>
        <p:nvSpPr>
          <p:cNvPr id="5" name="title-9">
            <a:extLst xmlns:a="http://schemas.openxmlformats.org/drawingml/2006/main">
              <a:ext uri="{FF2B5EF4-FFF2-40B4-BE49-F238E27FC236}">
                <a16:creationId xmlns:a16="http://schemas.microsoft.com/office/drawing/2014/main" id="{0DA20D4D-2F29-408F-BC9E-23D9C1DB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Make the offer simpler to buy</a:t>
            </a:r>
          </a:p>
        </p:txBody>
      </p:sp>
      <p:sp>
        <p:nvSpPr>
          <p:cNvPr id="6" name="subtitle-9">
            <a:extLst xmlns:a="http://schemas.openxmlformats.org/drawingml/2006/main">
              <a:ext uri="{FF2B5EF4-FFF2-40B4-BE49-F238E27FC236}">
                <a16:creationId xmlns:a16="http://schemas.microsoft.com/office/drawing/2014/main" id="{8131CE37-F970-45BE-990B-8BF4FA22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Broad access, predictable commitment and flexible usage in one commercial construct.</a:t>
            </a:r>
          </a:p>
        </p:txBody>
      </p:sp>
      <p:sp>
        <p:nvSpPr>
          <p:cNvPr id="7" name="offer-0">
            <a:extLst xmlns:a="http://schemas.openxmlformats.org/drawingml/2006/main">
              <a:ext uri="{FF2B5EF4-FFF2-40B4-BE49-F238E27FC236}">
                <a16:creationId xmlns:a16="http://schemas.microsoft.com/office/drawing/2014/main" id="{8FA8AC06-BCFA-4008-9A3F-EA96B6F5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33528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ffer-number-0">
            <a:extLst xmlns:a="http://schemas.openxmlformats.org/drawingml/2006/main">
              <a:ext uri="{FF2B5EF4-FFF2-40B4-BE49-F238E27FC236}">
                <a16:creationId xmlns:a16="http://schemas.microsoft.com/office/drawing/2014/main" id="{054163C1-245B-46C2-B853-57F8AB95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offer-head-0">
            <a:extLst xmlns:a="http://schemas.openxmlformats.org/drawingml/2006/main">
              <a:ext uri="{FF2B5EF4-FFF2-40B4-BE49-F238E27FC236}">
                <a16:creationId xmlns:a16="http://schemas.microsoft.com/office/drawing/2014/main" id="{1D5B7ABB-CAC4-401F-B803-FDEB2ED0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PLATFORM ACCESS</a:t>
            </a:r>
          </a:p>
        </p:txBody>
      </p:sp>
      <p:sp>
        <p:nvSpPr>
          <p:cNvPr id="10" name="offer-bullet-0-0">
            <a:extLst xmlns:a="http://schemas.openxmlformats.org/drawingml/2006/main">
              <a:ext uri="{FF2B5EF4-FFF2-40B4-BE49-F238E27FC236}">
                <a16:creationId xmlns:a16="http://schemas.microsoft.com/office/drawing/2014/main" id="{35F420DF-60B7-4954-B1F4-F4A0803F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ffer-item-0-0">
            <a:extLst xmlns:a="http://schemas.openxmlformats.org/drawingml/2006/main">
              <a:ext uri="{FF2B5EF4-FFF2-40B4-BE49-F238E27FC236}">
                <a16:creationId xmlns:a16="http://schemas.microsoft.com/office/drawing/2014/main" id="{F417C954-37D9-495A-AA70-EA130254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Regular-user access band</a:t>
            </a:r>
          </a:p>
        </p:txBody>
      </p:sp>
      <p:sp>
        <p:nvSpPr>
          <p:cNvPr id="12" name="offer-bullet-0-1">
            <a:extLst xmlns:a="http://schemas.openxmlformats.org/drawingml/2006/main">
              <a:ext uri="{FF2B5EF4-FFF2-40B4-BE49-F238E27FC236}">
                <a16:creationId xmlns:a16="http://schemas.microsoft.com/office/drawing/2014/main" id="{5AB18637-1EB1-4214-92F1-7A511BD1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ffer-item-0-1">
            <a:extLst xmlns:a="http://schemas.openxmlformats.org/drawingml/2006/main">
              <a:ext uri="{FF2B5EF4-FFF2-40B4-BE49-F238E27FC236}">
                <a16:creationId xmlns:a16="http://schemas.microsoft.com/office/drawing/2014/main" id="{DC8DA9CE-00F8-4E64-BEA9-41A81706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Unlimited external participants</a:t>
            </a:r>
          </a:p>
        </p:txBody>
      </p:sp>
      <p:sp>
        <p:nvSpPr>
          <p:cNvPr id="14" name="offer-bullet-0-2">
            <a:extLst xmlns:a="http://schemas.openxmlformats.org/drawingml/2006/main">
              <a:ext uri="{FF2B5EF4-FFF2-40B4-BE49-F238E27FC236}">
                <a16:creationId xmlns:a16="http://schemas.microsoft.com/office/drawing/2014/main" id="{96FBBD91-9038-414E-9407-7AD2E1C9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ffer-item-0-2">
            <a:extLst xmlns:a="http://schemas.openxmlformats.org/drawingml/2006/main">
              <a:ext uri="{FF2B5EF4-FFF2-40B4-BE49-F238E27FC236}">
                <a16:creationId xmlns:a16="http://schemas.microsoft.com/office/drawing/2014/main" id="{EFE6DC87-F778-4DF4-A3C9-8EB272D2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Standard collaboration included</a:t>
            </a:r>
          </a:p>
        </p:txBody>
      </p:sp>
      <p:sp>
        <p:nvSpPr>
          <p:cNvPr id="16" name="offer-1">
            <a:extLst xmlns:a="http://schemas.openxmlformats.org/drawingml/2006/main">
              <a:ext uri="{FF2B5EF4-FFF2-40B4-BE49-F238E27FC236}">
                <a16:creationId xmlns:a16="http://schemas.microsoft.com/office/drawing/2014/main" id="{1D630997-E7DC-4417-B535-B8AB372E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62300"/>
            <a:ext cx="33528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ffer-number-1">
            <a:extLst xmlns:a="http://schemas.openxmlformats.org/drawingml/2006/main">
              <a:ext uri="{FF2B5EF4-FFF2-40B4-BE49-F238E27FC236}">
                <a16:creationId xmlns:a16="http://schemas.microsoft.com/office/drawing/2014/main" id="{25DCC8A3-6A0A-4460-9414-89785973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71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8" name="offer-head-1">
            <a:extLst xmlns:a="http://schemas.openxmlformats.org/drawingml/2006/main">
              <a:ext uri="{FF2B5EF4-FFF2-40B4-BE49-F238E27FC236}">
                <a16:creationId xmlns:a16="http://schemas.microsoft.com/office/drawing/2014/main" id="{368668E8-5A5B-4D91-9BE3-47514172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671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 CONSUMPTION</a:t>
            </a:r>
          </a:p>
        </p:txBody>
      </p:sp>
      <p:sp>
        <p:nvSpPr>
          <p:cNvPr id="19" name="offer-bullet-1-0">
            <a:extLst xmlns:a="http://schemas.openxmlformats.org/drawingml/2006/main">
              <a:ext uri="{FF2B5EF4-FFF2-40B4-BE49-F238E27FC236}">
                <a16:creationId xmlns:a16="http://schemas.microsoft.com/office/drawing/2014/main" id="{6140119D-8613-4304-82D0-2F43EA14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148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ffer-item-1-0">
            <a:extLst xmlns:a="http://schemas.openxmlformats.org/drawingml/2006/main">
              <a:ext uri="{FF2B5EF4-FFF2-40B4-BE49-F238E27FC236}">
                <a16:creationId xmlns:a16="http://schemas.microsoft.com/office/drawing/2014/main" id="{B902565B-B8F7-4958-BDE6-B493C4AF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Annual flexible commitment</a:t>
            </a:r>
          </a:p>
        </p:txBody>
      </p:sp>
      <p:sp>
        <p:nvSpPr>
          <p:cNvPr id="21" name="offer-bullet-1-1">
            <a:extLst xmlns:a="http://schemas.openxmlformats.org/drawingml/2006/main">
              <a:ext uri="{FF2B5EF4-FFF2-40B4-BE49-F238E27FC236}">
                <a16:creationId xmlns:a16="http://schemas.microsoft.com/office/drawing/2014/main" id="{43DFF76F-516A-4035-BD99-78BC3276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76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ffer-item-1-1">
            <a:extLst xmlns:a="http://schemas.openxmlformats.org/drawingml/2006/main">
              <a:ext uri="{FF2B5EF4-FFF2-40B4-BE49-F238E27FC236}">
                <a16:creationId xmlns:a16="http://schemas.microsoft.com/office/drawing/2014/main" id="{A9E7691B-5554-40BB-825F-160DEF03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815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AI, identity and trust events</a:t>
            </a:r>
          </a:p>
        </p:txBody>
      </p:sp>
      <p:sp>
        <p:nvSpPr>
          <p:cNvPr id="23" name="offer-bullet-1-2">
            <a:extLst xmlns:a="http://schemas.openxmlformats.org/drawingml/2006/main">
              <a:ext uri="{FF2B5EF4-FFF2-40B4-BE49-F238E27FC236}">
                <a16:creationId xmlns:a16="http://schemas.microsoft.com/office/drawing/2014/main" id="{0B8F1171-5BE3-4C05-903F-DD7769F6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387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offer-item-1-2">
            <a:extLst xmlns:a="http://schemas.openxmlformats.org/drawingml/2006/main">
              <a:ext uri="{FF2B5EF4-FFF2-40B4-BE49-F238E27FC236}">
                <a16:creationId xmlns:a16="http://schemas.microsoft.com/office/drawing/2014/main" id="{EA5AA5AF-564F-49C6-B983-D84BF711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435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Published overage economics</a:t>
            </a:r>
          </a:p>
        </p:txBody>
      </p:sp>
      <p:sp>
        <p:nvSpPr>
          <p:cNvPr id="25" name="offer-2">
            <a:extLst xmlns:a="http://schemas.openxmlformats.org/drawingml/2006/main">
              <a:ext uri="{FF2B5EF4-FFF2-40B4-BE49-F238E27FC236}">
                <a16:creationId xmlns:a16="http://schemas.microsoft.com/office/drawing/2014/main" id="{EE4F3B42-9CB5-4F56-9D5A-D30AC947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62300"/>
            <a:ext cx="33528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ffer-number-2">
            <a:extLst xmlns:a="http://schemas.openxmlformats.org/drawingml/2006/main">
              <a:ext uri="{FF2B5EF4-FFF2-40B4-BE49-F238E27FC236}">
                <a16:creationId xmlns:a16="http://schemas.microsoft.com/office/drawing/2014/main" id="{F01C3F33-2FCF-4358-9CFF-9AED7ABC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27" name="offer-head-2">
            <a:extLst xmlns:a="http://schemas.openxmlformats.org/drawingml/2006/main">
              <a:ext uri="{FF2B5EF4-FFF2-40B4-BE49-F238E27FC236}">
                <a16:creationId xmlns:a16="http://schemas.microsoft.com/office/drawing/2014/main" id="{B8C086E7-ED16-407D-BD09-53652E81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PREMIUM OPTIONS</a:t>
            </a:r>
          </a:p>
        </p:txBody>
      </p:sp>
      <p:sp>
        <p:nvSpPr>
          <p:cNvPr id="28" name="offer-bullet-2-0">
            <a:extLst xmlns:a="http://schemas.openxmlformats.org/drawingml/2006/main">
              <a:ext uri="{FF2B5EF4-FFF2-40B4-BE49-F238E27FC236}">
                <a16:creationId xmlns:a16="http://schemas.microsoft.com/office/drawing/2014/main" id="{1A4DA8FF-8B71-4EB0-AF71-F0AE639A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148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offer-item-2-0">
            <a:extLst xmlns:a="http://schemas.openxmlformats.org/drawingml/2006/main">
              <a:ext uri="{FF2B5EF4-FFF2-40B4-BE49-F238E27FC236}">
                <a16:creationId xmlns:a16="http://schemas.microsoft.com/office/drawing/2014/main" id="{B27E4492-4796-4D20-A227-11985111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196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Sovereign deployment</a:t>
            </a:r>
          </a:p>
        </p:txBody>
      </p:sp>
      <p:sp>
        <p:nvSpPr>
          <p:cNvPr id="30" name="offer-bullet-2-1">
            <a:extLst xmlns:a="http://schemas.openxmlformats.org/drawingml/2006/main">
              <a:ext uri="{FF2B5EF4-FFF2-40B4-BE49-F238E27FC236}">
                <a16:creationId xmlns:a16="http://schemas.microsoft.com/office/drawing/2014/main" id="{73233292-20C0-4F0A-974D-6795315E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76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offer-item-2-1">
            <a:extLst xmlns:a="http://schemas.openxmlformats.org/drawingml/2006/main">
              <a:ext uri="{FF2B5EF4-FFF2-40B4-BE49-F238E27FC236}">
                <a16:creationId xmlns:a16="http://schemas.microsoft.com/office/drawing/2014/main" id="{EF868368-AE7B-43CD-B544-AA280B12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815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HSM, residency and SLA</a:t>
            </a:r>
          </a:p>
        </p:txBody>
      </p:sp>
      <p:sp>
        <p:nvSpPr>
          <p:cNvPr id="32" name="offer-bullet-2-2">
            <a:extLst xmlns:a="http://schemas.openxmlformats.org/drawingml/2006/main">
              <a:ext uri="{FF2B5EF4-FFF2-40B4-BE49-F238E27FC236}">
                <a16:creationId xmlns:a16="http://schemas.microsoft.com/office/drawing/2014/main" id="{0E9AB5F3-B16E-4EAC-A251-C0946356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387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offer-item-2-2">
            <a:extLst xmlns:a="http://schemas.openxmlformats.org/drawingml/2006/main">
              <a:ext uri="{FF2B5EF4-FFF2-40B4-BE49-F238E27FC236}">
                <a16:creationId xmlns:a16="http://schemas.microsoft.com/office/drawing/2014/main" id="{9589C297-AE26-4A5C-B414-65D5D4F9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435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Premium support</a:t>
            </a:r>
          </a:p>
        </p:txBody>
      </p:sp>
      <p:sp>
        <p:nvSpPr>
          <p:cNvPr id="34" name="offer-note">
            <a:extLst xmlns:a="http://schemas.openxmlformats.org/drawingml/2006/main">
              <a:ext uri="{FF2B5EF4-FFF2-40B4-BE49-F238E27FC236}">
                <a16:creationId xmlns:a16="http://schemas.microsoft.com/office/drawing/2014/main" id="{6CF214A4-4B8B-4D4C-B544-085554B2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905500"/>
            <a:ext cx="640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667085"/>
                </a:solidFill>
                <a:latin typeface="Mulish"/>
                <a:ea typeface="Mulish"/>
                <a:cs typeface="Mulish"/>
              </a:rPr>
              <a:t>Architecture example—not a proposed price list.</a:t>
            </a:r>
          </a:p>
        </p:txBody>
      </p:sp>
    </p:spTree>
    <p:extLst>
      <p:ext uri="{BB962C8B-B14F-4D97-AF65-F5344CB8AC3E}">
        <p14:creationId xmlns:p14="http://schemas.microsoft.com/office/powerpoint/2010/main" val="5086191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b64c8b1cb4ada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F18D43A-8DC4-427A-9442-B124DD18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E5667BD9-7D0B-4835-A2B1-6F25672E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10">
            <a:extLst xmlns:a="http://schemas.openxmlformats.org/drawingml/2006/main">
              <a:ext uri="{FF2B5EF4-FFF2-40B4-BE49-F238E27FC236}">
                <a16:creationId xmlns:a16="http://schemas.microsoft.com/office/drawing/2014/main" id="{FD054E90-1905-430E-B913-F04FC33D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EXPANSION MECHANISM</a:t>
            </a:r>
          </a:p>
        </p:txBody>
      </p:sp>
      <p:sp>
        <p:nvSpPr>
          <p:cNvPr id="5" name="title-10">
            <a:extLst xmlns:a="http://schemas.openxmlformats.org/drawingml/2006/main">
              <a:ext uri="{FF2B5EF4-FFF2-40B4-BE49-F238E27FC236}">
                <a16:creationId xmlns:a16="http://schemas.microsoft.com/office/drawing/2014/main" id="{D20CC218-EF64-4EEA-9A08-BD5C87BD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3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3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Revenue expands as Circularo becomes embedded</a:t>
            </a:r>
          </a:p>
        </p:txBody>
      </p:sp>
      <p:sp>
        <p:nvSpPr>
          <p:cNvPr id="6" name="subtitle-10">
            <a:extLst xmlns:a="http://schemas.openxmlformats.org/drawingml/2006/main">
              <a:ext uri="{FF2B5EF4-FFF2-40B4-BE49-F238E27FC236}">
                <a16:creationId xmlns:a16="http://schemas.microsoft.com/office/drawing/2014/main" id="{E59C6B1C-E6AB-42D2-BB8B-FB5CBA83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Growth comes from process coverage and trust consumption—not repeated seat negotiations.</a:t>
            </a:r>
          </a:p>
        </p:txBody>
      </p:sp>
      <p:sp>
        <p:nvSpPr>
          <p:cNvPr id="7" name="expansion-0">
            <a:extLst xmlns:a="http://schemas.openxmlformats.org/drawingml/2006/main">
              <a:ext uri="{FF2B5EF4-FFF2-40B4-BE49-F238E27FC236}">
                <a16:creationId xmlns:a16="http://schemas.microsoft.com/office/drawing/2014/main" id="{57EEFB85-7A3F-496C-AB98-B857951F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xpansion-label-0">
            <a:extLst xmlns:a="http://schemas.openxmlformats.org/drawingml/2006/main">
              <a:ext uri="{FF2B5EF4-FFF2-40B4-BE49-F238E27FC236}">
                <a16:creationId xmlns:a16="http://schemas.microsoft.com/office/drawing/2014/main" id="{1DD28B22-6D74-453A-A76E-E3FDCBF0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ACCESS</a:t>
            </a:r>
          </a:p>
        </p:txBody>
      </p:sp>
      <p:sp>
        <p:nvSpPr>
          <p:cNvPr id="9" name="expansion-arrow-0">
            <a:extLst xmlns:a="http://schemas.openxmlformats.org/drawingml/2006/main">
              <a:ext uri="{FF2B5EF4-FFF2-40B4-BE49-F238E27FC236}">
                <a16:creationId xmlns:a16="http://schemas.microsoft.com/office/drawing/2014/main" id="{07BFF05B-D3E0-428D-97FA-FE81C5BE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7207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→</a:t>
            </a:r>
          </a:p>
        </p:txBody>
      </p:sp>
      <p:sp>
        <p:nvSpPr>
          <p:cNvPr id="10" name="expansion-1">
            <a:extLst xmlns:a="http://schemas.openxmlformats.org/drawingml/2006/main">
              <a:ext uri="{FF2B5EF4-FFF2-40B4-BE49-F238E27FC236}">
                <a16:creationId xmlns:a16="http://schemas.microsoft.com/office/drawing/2014/main" id="{9525B1CD-DCAA-45FF-85B7-EA8599C1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610100"/>
            <a:ext cx="1676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xpansion-label-1">
            <a:extLst xmlns:a="http://schemas.openxmlformats.org/drawingml/2006/main">
              <a:ext uri="{FF2B5EF4-FFF2-40B4-BE49-F238E27FC236}">
                <a16:creationId xmlns:a16="http://schemas.microsoft.com/office/drawing/2014/main" id="{640F3866-2F28-41DD-98B8-82784E9A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196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WORKFLOWS</a:t>
            </a:r>
          </a:p>
        </p:txBody>
      </p:sp>
      <p:sp>
        <p:nvSpPr>
          <p:cNvPr id="12" name="expansion-arrow-1">
            <a:extLst xmlns:a="http://schemas.openxmlformats.org/drawingml/2006/main">
              <a:ext uri="{FF2B5EF4-FFF2-40B4-BE49-F238E27FC236}">
                <a16:creationId xmlns:a16="http://schemas.microsoft.com/office/drawing/2014/main" id="{A19518E5-074C-43C3-857B-9C67C6A7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7677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→</a:t>
            </a:r>
          </a:p>
        </p:txBody>
      </p:sp>
      <p:sp>
        <p:nvSpPr>
          <p:cNvPr id="13" name="expansion-2">
            <a:extLst xmlns:a="http://schemas.openxmlformats.org/drawingml/2006/main">
              <a:ext uri="{FF2B5EF4-FFF2-40B4-BE49-F238E27FC236}">
                <a16:creationId xmlns:a16="http://schemas.microsoft.com/office/drawing/2014/main" id="{7CC37E55-7BAD-4DBA-8B93-FC379220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14800"/>
            <a:ext cx="1485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xpansion-label-2">
            <a:extLst xmlns:a="http://schemas.openxmlformats.org/drawingml/2006/main">
              <a:ext uri="{FF2B5EF4-FFF2-40B4-BE49-F238E27FC236}">
                <a16:creationId xmlns:a16="http://schemas.microsoft.com/office/drawing/2014/main" id="{BAB0E5C0-2971-4A5A-8A9B-6F043D04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243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API</a:t>
            </a:r>
          </a:p>
        </p:txBody>
      </p:sp>
      <p:sp>
        <p:nvSpPr>
          <p:cNvPr id="15" name="expansion-arrow-2">
            <a:extLst xmlns:a="http://schemas.openxmlformats.org/drawingml/2006/main">
              <a:ext uri="{FF2B5EF4-FFF2-40B4-BE49-F238E27FC236}">
                <a16:creationId xmlns:a16="http://schemas.microsoft.com/office/drawing/2014/main" id="{F6816664-EC55-459B-A393-8A8C3831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8147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→</a:t>
            </a:r>
          </a:p>
        </p:txBody>
      </p:sp>
      <p:sp>
        <p:nvSpPr>
          <p:cNvPr id="16" name="expansion-3">
            <a:extLst xmlns:a="http://schemas.openxmlformats.org/drawingml/2006/main">
              <a:ext uri="{FF2B5EF4-FFF2-40B4-BE49-F238E27FC236}">
                <a16:creationId xmlns:a16="http://schemas.microsoft.com/office/drawing/2014/main" id="{AE087C7D-33C8-4FA4-B40D-FE14D8AD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xpansion-label-3">
            <a:extLst xmlns:a="http://schemas.openxmlformats.org/drawingml/2006/main">
              <a:ext uri="{FF2B5EF4-FFF2-40B4-BE49-F238E27FC236}">
                <a16:creationId xmlns:a16="http://schemas.microsoft.com/office/drawing/2014/main" id="{C7E0CB76-1F11-4FA1-9B3F-DA207AED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29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 WORK</a:t>
            </a:r>
          </a:p>
        </p:txBody>
      </p:sp>
      <p:sp>
        <p:nvSpPr>
          <p:cNvPr id="18" name="expansion-arrow-3">
            <a:extLst xmlns:a="http://schemas.openxmlformats.org/drawingml/2006/main">
              <a:ext uri="{FF2B5EF4-FFF2-40B4-BE49-F238E27FC236}">
                <a16:creationId xmlns:a16="http://schemas.microsoft.com/office/drawing/2014/main" id="{86D9E41F-701A-421C-A852-9E576B75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8617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→</a:t>
            </a:r>
          </a:p>
        </p:txBody>
      </p:sp>
      <p:sp>
        <p:nvSpPr>
          <p:cNvPr id="19" name="expansion-4">
            <a:extLst xmlns:a="http://schemas.openxmlformats.org/drawingml/2006/main">
              <a:ext uri="{FF2B5EF4-FFF2-40B4-BE49-F238E27FC236}">
                <a16:creationId xmlns:a16="http://schemas.microsoft.com/office/drawing/2014/main" id="{8DD72501-6082-4FC6-9D17-E707E16D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24200"/>
            <a:ext cx="1581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B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xpansion-label-4">
            <a:extLst xmlns:a="http://schemas.openxmlformats.org/drawingml/2006/main">
              <a:ext uri="{FF2B5EF4-FFF2-40B4-BE49-F238E27FC236}">
                <a16:creationId xmlns:a16="http://schemas.microsoft.com/office/drawing/2014/main" id="{371B8226-D0EC-4B99-A493-D09A38B0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337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</a:t>
            </a:r>
          </a:p>
        </p:txBody>
      </p:sp>
      <p:sp>
        <p:nvSpPr>
          <p:cNvPr id="21" name="expansion-arrow-4">
            <a:extLst xmlns:a="http://schemas.openxmlformats.org/drawingml/2006/main">
              <a:ext uri="{FF2B5EF4-FFF2-40B4-BE49-F238E27FC236}">
                <a16:creationId xmlns:a16="http://schemas.microsoft.com/office/drawing/2014/main" id="{E6770187-A0D2-4143-8886-4B90A4C7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9087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→</a:t>
            </a:r>
          </a:p>
        </p:txBody>
      </p:sp>
      <p:sp>
        <p:nvSpPr>
          <p:cNvPr id="22" name="expansion-5">
            <a:extLst xmlns:a="http://schemas.openxmlformats.org/drawingml/2006/main">
              <a:ext uri="{FF2B5EF4-FFF2-40B4-BE49-F238E27FC236}">
                <a16:creationId xmlns:a16="http://schemas.microsoft.com/office/drawing/2014/main" id="{1ABA5BAE-10B3-4276-8357-BC57797D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289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xpansion-label-5">
            <a:extLst xmlns:a="http://schemas.openxmlformats.org/drawingml/2006/main">
              <a:ext uri="{FF2B5EF4-FFF2-40B4-BE49-F238E27FC236}">
                <a16:creationId xmlns:a16="http://schemas.microsoft.com/office/drawing/2014/main" id="{9E1B97C5-E6B2-4579-9864-95ACBB2B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38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AUTONOMY</a:t>
            </a:r>
          </a:p>
        </p:txBody>
      </p:sp>
      <p:sp>
        <p:nvSpPr>
          <p:cNvPr id="24" name="expansion-caption">
            <a:extLst xmlns:a="http://schemas.openxmlformats.org/drawingml/2006/main">
              <a:ext uri="{FF2B5EF4-FFF2-40B4-BE49-F238E27FC236}">
                <a16:creationId xmlns:a16="http://schemas.microsoft.com/office/drawing/2014/main" id="{3B3EFEC9-5AC9-4C61-8A6F-C4CCB9B4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19800"/>
            <a:ext cx="986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Adoption → process coverage → differentiated consumption → stronger economics</a:t>
            </a:r>
          </a:p>
        </p:txBody>
      </p:sp>
    </p:spTree>
    <p:extLst>
      <p:ext uri="{BB962C8B-B14F-4D97-AF65-F5344CB8AC3E}">
        <p14:creationId xmlns:p14="http://schemas.microsoft.com/office/powerpoint/2010/main" val="12117889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asymmetry-left">
            <a:extLst xmlns:a="http://schemas.openxmlformats.org/drawingml/2006/main">
              <a:ext uri="{FF2B5EF4-FFF2-40B4-BE49-F238E27FC236}">
                <a16:creationId xmlns:a16="http://schemas.microsoft.com/office/drawing/2014/main" id="{185CE1CB-936F-4177-A9AB-E871FB07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44cd3f278456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06E54A7-9147-4D4F-AF0F-F926342A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11</a:t>
            </a:r>
          </a:p>
        </p:txBody>
      </p:sp>
      <p:sp>
        <p:nvSpPr>
          <p:cNvPr id="4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2E5707C4-7678-49E6-88F7-9578A874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symmetry-kicker">
            <a:extLst xmlns:a="http://schemas.openxmlformats.org/drawingml/2006/main">
              <a:ext uri="{FF2B5EF4-FFF2-40B4-BE49-F238E27FC236}">
                <a16:creationId xmlns:a16="http://schemas.microsoft.com/office/drawing/2014/main" id="{78F2ACFA-FA22-4094-B8EC-C94D66BD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COMPETITIVE ADVANTAGE</a:t>
            </a:r>
          </a:p>
        </p:txBody>
      </p:sp>
      <p:sp>
        <p:nvSpPr>
          <p:cNvPr id="6" name="asymmetry-title">
            <a:extLst xmlns:a="http://schemas.openxmlformats.org/drawingml/2006/main">
              <a:ext uri="{FF2B5EF4-FFF2-40B4-BE49-F238E27FC236}">
                <a16:creationId xmlns:a16="http://schemas.microsoft.com/office/drawing/2014/main" id="{4542EDD3-E9A7-4132-BF7B-13E90A33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352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The disruption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is asymmetric.</a:t>
            </a:r>
          </a:p>
        </p:txBody>
      </p:sp>
      <p:sp>
        <p:nvSpPr>
          <p:cNvPr id="7" name="cheap-head">
            <a:extLst xmlns:a="http://schemas.openxmlformats.org/drawingml/2006/main">
              <a:ext uri="{FF2B5EF4-FFF2-40B4-BE49-F238E27FC236}">
                <a16:creationId xmlns:a16="http://schemas.microsoft.com/office/drawing/2014/main" id="{0E4B88DC-7A0A-49C9-84BC-E70F3915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MAKE INEXPENSIVE</a:t>
            </a:r>
          </a:p>
        </p:txBody>
      </p:sp>
      <p:sp>
        <p:nvSpPr>
          <p:cNvPr id="8" name="cheap-list">
            <a:extLst xmlns:a="http://schemas.openxmlformats.org/drawingml/2006/main">
              <a:ext uri="{FF2B5EF4-FFF2-40B4-BE49-F238E27FC236}">
                <a16:creationId xmlns:a16="http://schemas.microsoft.com/office/drawing/2014/main" id="{8AE76454-61EC-43DD-99DB-FABA0B8B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3238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Access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Participation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Collaboration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Basic signing</a:t>
            </a:r>
          </a:p>
        </p:txBody>
      </p:sp>
      <p:sp>
        <p:nvSpPr>
          <p:cNvPr id="9" name="premium-head">
            <a:extLst xmlns:a="http://schemas.openxmlformats.org/drawingml/2006/main">
              <a:ext uri="{FF2B5EF4-FFF2-40B4-BE49-F238E27FC236}">
                <a16:creationId xmlns:a16="http://schemas.microsoft.com/office/drawing/2014/main" id="{41CF6CF9-E14E-40CF-9173-FF8037B7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3144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MONETIZE WHAT STAYS DEFENSIBLE</a:t>
            </a:r>
          </a:p>
        </p:txBody>
      </p:sp>
      <p:sp>
        <p:nvSpPr>
          <p:cNvPr id="10" name="number-1-540-208">
            <a:extLst xmlns:a="http://schemas.openxmlformats.org/drawingml/2006/main">
              <a:ext uri="{FF2B5EF4-FFF2-40B4-BE49-F238E27FC236}">
                <a16:creationId xmlns:a16="http://schemas.microsoft.com/office/drawing/2014/main" id="{D5A2DA1D-817F-4F25-9C42-1549F59A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81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1" name="premium-0">
            <a:extLst xmlns:a="http://schemas.openxmlformats.org/drawingml/2006/main">
              <a:ext uri="{FF2B5EF4-FFF2-40B4-BE49-F238E27FC236}">
                <a16:creationId xmlns:a16="http://schemas.microsoft.com/office/drawing/2014/main" id="{AED5DBE7-8D69-40B1-A8A4-C983FE82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 and automation</a:t>
            </a:r>
          </a:p>
        </p:txBody>
      </p:sp>
      <p:sp>
        <p:nvSpPr>
          <p:cNvPr id="12" name="premium-line-0">
            <a:extLst xmlns:a="http://schemas.openxmlformats.org/drawingml/2006/main">
              <a:ext uri="{FF2B5EF4-FFF2-40B4-BE49-F238E27FC236}">
                <a16:creationId xmlns:a16="http://schemas.microsoft.com/office/drawing/2014/main" id="{058AF2DC-53CA-4430-8390-AAD89E43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umber-2-540-270">
            <a:extLst xmlns:a="http://schemas.openxmlformats.org/drawingml/2006/main">
              <a:ext uri="{FF2B5EF4-FFF2-40B4-BE49-F238E27FC236}">
                <a16:creationId xmlns:a16="http://schemas.microsoft.com/office/drawing/2014/main" id="{B3C50002-52B5-4C78-B50A-8E443FBA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premium-1">
            <a:extLst xmlns:a="http://schemas.openxmlformats.org/drawingml/2006/main">
              <a:ext uri="{FF2B5EF4-FFF2-40B4-BE49-F238E27FC236}">
                <a16:creationId xmlns:a16="http://schemas.microsoft.com/office/drawing/2014/main" id="{7B8EB953-28C9-45C8-B642-90351EC2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4317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 and authority</a:t>
            </a:r>
          </a:p>
        </p:txBody>
      </p:sp>
      <p:sp>
        <p:nvSpPr>
          <p:cNvPr id="15" name="premium-line-1">
            <a:extLst xmlns:a="http://schemas.openxmlformats.org/drawingml/2006/main">
              <a:ext uri="{FF2B5EF4-FFF2-40B4-BE49-F238E27FC236}">
                <a16:creationId xmlns:a16="http://schemas.microsoft.com/office/drawing/2014/main" id="{D40CCE61-A400-45EF-84AD-A0FA9FC6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71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ber-3-540-332">
            <a:extLst xmlns:a="http://schemas.openxmlformats.org/drawingml/2006/main">
              <a:ext uri="{FF2B5EF4-FFF2-40B4-BE49-F238E27FC236}">
                <a16:creationId xmlns:a16="http://schemas.microsoft.com/office/drawing/2014/main" id="{2D95DABF-7FB3-438C-904E-A32A4EC3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623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7" name="premium-2">
            <a:extLst xmlns:a="http://schemas.openxmlformats.org/drawingml/2006/main">
              <a:ext uri="{FF2B5EF4-FFF2-40B4-BE49-F238E27FC236}">
                <a16:creationId xmlns:a16="http://schemas.microsoft.com/office/drawing/2014/main" id="{324442B2-4817-43EA-99FE-B61A9276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337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 and integrity</a:t>
            </a:r>
          </a:p>
        </p:txBody>
      </p:sp>
      <p:sp>
        <p:nvSpPr>
          <p:cNvPr id="18" name="premium-line-2">
            <a:extLst xmlns:a="http://schemas.openxmlformats.org/drawingml/2006/main">
              <a:ext uri="{FF2B5EF4-FFF2-40B4-BE49-F238E27FC236}">
                <a16:creationId xmlns:a16="http://schemas.microsoft.com/office/drawing/2014/main" id="{7F4D0ED5-398F-4E34-B41A-20F6E832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623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umber-4-540-394">
            <a:extLst xmlns:a="http://schemas.openxmlformats.org/drawingml/2006/main">
              <a:ext uri="{FF2B5EF4-FFF2-40B4-BE49-F238E27FC236}">
                <a16:creationId xmlns:a16="http://schemas.microsoft.com/office/drawing/2014/main" id="{1742D239-B758-496C-8ECC-324607E6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52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0" name="premium-3">
            <a:extLst xmlns:a="http://schemas.openxmlformats.org/drawingml/2006/main">
              <a:ext uri="{FF2B5EF4-FFF2-40B4-BE49-F238E27FC236}">
                <a16:creationId xmlns:a16="http://schemas.microsoft.com/office/drawing/2014/main" id="{00027420-9B78-4E96-84E3-9BCA6C70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2427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Qualified trust</a:t>
            </a:r>
          </a:p>
        </p:txBody>
      </p:sp>
      <p:sp>
        <p:nvSpPr>
          <p:cNvPr id="21" name="premium-line-3">
            <a:extLst xmlns:a="http://schemas.openxmlformats.org/drawingml/2006/main">
              <a:ext uri="{FF2B5EF4-FFF2-40B4-BE49-F238E27FC236}">
                <a16:creationId xmlns:a16="http://schemas.microsoft.com/office/drawing/2014/main" id="{AA7A87EE-AE44-45D0-AC08-07CD4528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number-5-540-456">
            <a:extLst xmlns:a="http://schemas.openxmlformats.org/drawingml/2006/main">
              <a:ext uri="{FF2B5EF4-FFF2-40B4-BE49-F238E27FC236}">
                <a16:creationId xmlns:a16="http://schemas.microsoft.com/office/drawing/2014/main" id="{36E5B614-AFE8-4658-B41C-4BE1EC92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434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3" name="premium-4">
            <a:extLst xmlns:a="http://schemas.openxmlformats.org/drawingml/2006/main">
              <a:ext uri="{FF2B5EF4-FFF2-40B4-BE49-F238E27FC236}">
                <a16:creationId xmlns:a16="http://schemas.microsoft.com/office/drawing/2014/main" id="{52578D3B-2F11-49BD-BB50-986107E8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148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Sovereignty</a:t>
            </a:r>
          </a:p>
        </p:txBody>
      </p:sp>
      <p:sp>
        <p:nvSpPr>
          <p:cNvPr id="24" name="premium-line-4">
            <a:extLst xmlns:a="http://schemas.openxmlformats.org/drawingml/2006/main">
              <a:ext uri="{FF2B5EF4-FFF2-40B4-BE49-F238E27FC236}">
                <a16:creationId xmlns:a16="http://schemas.microsoft.com/office/drawing/2014/main" id="{49DF9655-EE8A-493A-AAF0-72498826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434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number-6-540-518">
            <a:extLst xmlns:a="http://schemas.openxmlformats.org/drawingml/2006/main">
              <a:ext uri="{FF2B5EF4-FFF2-40B4-BE49-F238E27FC236}">
                <a16:creationId xmlns:a16="http://schemas.microsoft.com/office/drawing/2014/main" id="{5C5C0A71-7ED5-4034-B5BE-45B9E835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33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26" name="premium-5">
            <a:extLst xmlns:a="http://schemas.openxmlformats.org/drawingml/2006/main">
              <a:ext uri="{FF2B5EF4-FFF2-40B4-BE49-F238E27FC236}">
                <a16:creationId xmlns:a16="http://schemas.microsoft.com/office/drawing/2014/main" id="{D9E42727-C866-4F28-9778-9CE33061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0537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Autonomous execution</a:t>
            </a:r>
          </a:p>
        </p:txBody>
      </p:sp>
      <p:sp>
        <p:nvSpPr>
          <p:cNvPr id="27" name="asymmetry-note">
            <a:extLst xmlns:a="http://schemas.openxmlformats.org/drawingml/2006/main">
              <a:ext uri="{FF2B5EF4-FFF2-40B4-BE49-F238E27FC236}">
                <a16:creationId xmlns:a16="http://schemas.microsoft.com/office/drawing/2014/main" id="{BDC2B793-33EC-422F-ACFC-147E2D7B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8483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 seat-heavy incumbent must cannibalize its current economics to respond.</a:t>
            </a:r>
          </a:p>
        </p:txBody>
      </p:sp>
    </p:spTree>
    <p:extLst>
      <p:ext uri="{BB962C8B-B14F-4D97-AF65-F5344CB8AC3E}">
        <p14:creationId xmlns:p14="http://schemas.microsoft.com/office/powerpoint/2010/main" val="13961006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11ab6e5a4445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9EA9A98-F239-434F-9D6C-D78B0017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BC4467AB-97F1-49FD-9175-68461654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12">
            <a:extLst xmlns:a="http://schemas.openxmlformats.org/drawingml/2006/main">
              <a:ext uri="{FF2B5EF4-FFF2-40B4-BE49-F238E27FC236}">
                <a16:creationId xmlns:a16="http://schemas.microsoft.com/office/drawing/2014/main" id="{1DD2CE8E-7780-40B6-B15A-5111FF9D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NON-NEGOTIABLES</a:t>
            </a:r>
          </a:p>
        </p:txBody>
      </p:sp>
      <p:sp>
        <p:nvSpPr>
          <p:cNvPr id="5" name="title-12">
            <a:extLst xmlns:a="http://schemas.openxmlformats.org/drawingml/2006/main">
              <a:ext uri="{FF2B5EF4-FFF2-40B4-BE49-F238E27FC236}">
                <a16:creationId xmlns:a16="http://schemas.microsoft.com/office/drawing/2014/main" id="{1D797394-9702-4DDA-940D-578CE8C2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Disruption needs explicit guardrails</a:t>
            </a:r>
          </a:p>
        </p:txBody>
      </p:sp>
      <p:sp>
        <p:nvSpPr>
          <p:cNvPr id="6" name="subtitle-12">
            <a:extLst xmlns:a="http://schemas.openxmlformats.org/drawingml/2006/main">
              <a:ext uri="{FF2B5EF4-FFF2-40B4-BE49-F238E27FC236}">
                <a16:creationId xmlns:a16="http://schemas.microsoft.com/office/drawing/2014/main" id="{3AD8D3CF-131C-47D0-9140-528C6BB9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Protect unit economics, predictability and commercial clarity.</a:t>
            </a:r>
          </a:p>
        </p:txBody>
      </p:sp>
      <p:sp>
        <p:nvSpPr>
          <p:cNvPr id="7" name="number-1-48-326">
            <a:extLst xmlns:a="http://schemas.openxmlformats.org/drawingml/2006/main">
              <a:ext uri="{FF2B5EF4-FFF2-40B4-BE49-F238E27FC236}">
                <a16:creationId xmlns:a16="http://schemas.microsoft.com/office/drawing/2014/main" id="{BA37745D-6931-40F7-B099-86F8CE3E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8" name="guard-head-0">
            <a:extLst xmlns:a="http://schemas.openxmlformats.org/drawingml/2006/main">
              <a:ext uri="{FF2B5EF4-FFF2-40B4-BE49-F238E27FC236}">
                <a16:creationId xmlns:a16="http://schemas.microsoft.com/office/drawing/2014/main" id="{8D5269B4-15BE-4201-9B85-ADA38369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861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No pure outcome pricing</a:t>
            </a:r>
          </a:p>
        </p:txBody>
      </p:sp>
      <p:sp>
        <p:nvSpPr>
          <p:cNvPr id="9" name="guard-body-0">
            <a:extLst xmlns:a="http://schemas.openxmlformats.org/drawingml/2006/main">
              <a:ext uri="{FF2B5EF4-FFF2-40B4-BE49-F238E27FC236}">
                <a16:creationId xmlns:a16="http://schemas.microsoft.com/office/drawing/2014/main" id="{AB872AA2-8B98-4B8B-916D-FF10B0FA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671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Price what Circularo can objectively deliver and measure.</a:t>
            </a:r>
          </a:p>
        </p:txBody>
      </p:sp>
      <p:sp>
        <p:nvSpPr>
          <p:cNvPr id="10" name="guard-line-0">
            <a:extLst xmlns:a="http://schemas.openxmlformats.org/drawingml/2006/main">
              <a:ext uri="{FF2B5EF4-FFF2-40B4-BE49-F238E27FC236}">
                <a16:creationId xmlns:a16="http://schemas.microsoft.com/office/drawing/2014/main" id="{2A199FC5-2CD2-4C7E-BF92-8147263F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umber-2-48-428">
            <a:extLst xmlns:a="http://schemas.openxmlformats.org/drawingml/2006/main">
              <a:ext uri="{FF2B5EF4-FFF2-40B4-BE49-F238E27FC236}">
                <a16:creationId xmlns:a16="http://schemas.microsoft.com/office/drawing/2014/main" id="{416845AC-F92A-4281-8152-6C536A50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2" name="guard-head-1">
            <a:extLst xmlns:a="http://schemas.openxmlformats.org/drawingml/2006/main">
              <a:ext uri="{FF2B5EF4-FFF2-40B4-BE49-F238E27FC236}">
                <a16:creationId xmlns:a16="http://schemas.microsoft.com/office/drawing/2014/main" id="{C5910B1F-6707-44FC-89FB-1F7C9F6E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Charge consumption when it occurs</a:t>
            </a:r>
          </a:p>
        </p:txBody>
      </p:sp>
      <p:sp>
        <p:nvSpPr>
          <p:cNvPr id="13" name="guard-body-1">
            <a:extLst xmlns:a="http://schemas.openxmlformats.org/drawingml/2006/main">
              <a:ext uri="{FF2B5EF4-FFF2-40B4-BE49-F238E27FC236}">
                <a16:creationId xmlns:a16="http://schemas.microsoft.com/office/drawing/2014/main" id="{F07E8628-6009-414B-8569-7B4D4AB1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Retries and failed attempts can still create cost.</a:t>
            </a:r>
          </a:p>
        </p:txBody>
      </p:sp>
      <p:sp>
        <p:nvSpPr>
          <p:cNvPr id="14" name="guard-line-1">
            <a:extLst xmlns:a="http://schemas.openxmlformats.org/drawingml/2006/main">
              <a:ext uri="{FF2B5EF4-FFF2-40B4-BE49-F238E27FC236}">
                <a16:creationId xmlns:a16="http://schemas.microsoft.com/office/drawing/2014/main" id="{8310B5E1-7505-4FF3-8202-A2AAB586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149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umber-3-48-530">
            <a:extLst xmlns:a="http://schemas.openxmlformats.org/drawingml/2006/main">
              <a:ext uri="{FF2B5EF4-FFF2-40B4-BE49-F238E27FC236}">
                <a16:creationId xmlns:a16="http://schemas.microsoft.com/office/drawing/2014/main" id="{9FBCD76A-D197-4DCD-8D54-F4FA6AF5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6" name="guard-head-2">
            <a:extLst xmlns:a="http://schemas.openxmlformats.org/drawingml/2006/main">
              <a:ext uri="{FF2B5EF4-FFF2-40B4-BE49-F238E27FC236}">
                <a16:creationId xmlns:a16="http://schemas.microsoft.com/office/drawing/2014/main" id="{3B6FCC7F-BD94-48F7-AC64-FA1405FE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Keep metrics separate</a:t>
            </a:r>
          </a:p>
        </p:txBody>
      </p:sp>
      <p:sp>
        <p:nvSpPr>
          <p:cNvPr id="17" name="guard-body-2">
            <a:extLst xmlns:a="http://schemas.openxmlformats.org/drawingml/2006/main">
              <a:ext uri="{FF2B5EF4-FFF2-40B4-BE49-F238E27FC236}">
                <a16:creationId xmlns:a16="http://schemas.microsoft.com/office/drawing/2014/main" id="{8B857077-BB84-4CEA-BCCC-F4F608E1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102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Execution, events, credits and COGS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serve different purposes.</a:t>
            </a:r>
          </a:p>
        </p:txBody>
      </p:sp>
      <p:sp>
        <p:nvSpPr>
          <p:cNvPr id="18" name="number-4-658-326">
            <a:extLst xmlns:a="http://schemas.openxmlformats.org/drawingml/2006/main">
              <a:ext uri="{FF2B5EF4-FFF2-40B4-BE49-F238E27FC236}">
                <a16:creationId xmlns:a16="http://schemas.microsoft.com/office/drawing/2014/main" id="{6F33848E-574A-43DD-A056-FE46CD9A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19" name="guard-head-3">
            <a:extLst xmlns:a="http://schemas.openxmlformats.org/drawingml/2006/main">
              <a:ext uri="{FF2B5EF4-FFF2-40B4-BE49-F238E27FC236}">
                <a16:creationId xmlns:a16="http://schemas.microsoft.com/office/drawing/2014/main" id="{D0375988-B82A-4906-B7AA-80FB7D51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861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Protect recurring revenue</a:t>
            </a:r>
          </a:p>
        </p:txBody>
      </p:sp>
      <p:sp>
        <p:nvSpPr>
          <p:cNvPr id="20" name="guard-body-3">
            <a:extLst xmlns:a="http://schemas.openxmlformats.org/drawingml/2006/main">
              <a:ext uri="{FF2B5EF4-FFF2-40B4-BE49-F238E27FC236}">
                <a16:creationId xmlns:a16="http://schemas.microsoft.com/office/drawing/2014/main" id="{1CDB1AA8-0530-435F-9C3F-E40D7154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671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Combine platform fees with committed consumption.</a:t>
            </a:r>
          </a:p>
        </p:txBody>
      </p:sp>
      <p:sp>
        <p:nvSpPr>
          <p:cNvPr id="21" name="guard-line-3">
            <a:extLst xmlns:a="http://schemas.openxmlformats.org/drawingml/2006/main">
              <a:ext uri="{FF2B5EF4-FFF2-40B4-BE49-F238E27FC236}">
                <a16:creationId xmlns:a16="http://schemas.microsoft.com/office/drawing/2014/main" id="{A241F276-F6AA-4053-80B7-28429C06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433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number-5-658-428">
            <a:extLst xmlns:a="http://schemas.openxmlformats.org/drawingml/2006/main">
              <a:ext uri="{FF2B5EF4-FFF2-40B4-BE49-F238E27FC236}">
                <a16:creationId xmlns:a16="http://schemas.microsoft.com/office/drawing/2014/main" id="{DC0B0B16-A59E-431C-92FA-F7F5C756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76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3" name="guard-head-4">
            <a:extLst xmlns:a="http://schemas.openxmlformats.org/drawingml/2006/main">
              <a:ext uri="{FF2B5EF4-FFF2-40B4-BE49-F238E27FC236}">
                <a16:creationId xmlns:a16="http://schemas.microsoft.com/office/drawing/2014/main" id="{A7FA0B59-D182-47AF-BD88-6B455718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576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Use access bands carefully</a:t>
            </a:r>
          </a:p>
        </p:txBody>
      </p:sp>
      <p:sp>
        <p:nvSpPr>
          <p:cNvPr id="24" name="guard-body-4">
            <a:extLst xmlns:a="http://schemas.openxmlformats.org/drawingml/2006/main">
              <a:ext uri="{FF2B5EF4-FFF2-40B4-BE49-F238E27FC236}">
                <a16:creationId xmlns:a16="http://schemas.microsoft.com/office/drawing/2014/main" id="{79BF135B-010B-46C1-BE13-616FF438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386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Keep them low and fixed—not the expansion engine.</a:t>
            </a:r>
          </a:p>
        </p:txBody>
      </p:sp>
      <p:sp>
        <p:nvSpPr>
          <p:cNvPr id="25" name="guard-line-4">
            <a:extLst xmlns:a="http://schemas.openxmlformats.org/drawingml/2006/main">
              <a:ext uri="{FF2B5EF4-FFF2-40B4-BE49-F238E27FC236}">
                <a16:creationId xmlns:a16="http://schemas.microsoft.com/office/drawing/2014/main" id="{07472D78-C1A2-4F63-9E02-90031434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9149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number-6-658-530">
            <a:extLst xmlns:a="http://schemas.openxmlformats.org/drawingml/2006/main">
              <a:ext uri="{FF2B5EF4-FFF2-40B4-BE49-F238E27FC236}">
                <a16:creationId xmlns:a16="http://schemas.microsoft.com/office/drawing/2014/main" id="{96484BCD-FF9D-4E2D-83A1-D1FDE617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482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27" name="guard-head-5">
            <a:extLst xmlns:a="http://schemas.openxmlformats.org/drawingml/2006/main">
              <a:ext uri="{FF2B5EF4-FFF2-40B4-BE49-F238E27FC236}">
                <a16:creationId xmlns:a16="http://schemas.microsoft.com/office/drawing/2014/main" id="{19E9F9E9-2491-4B27-85E3-11B5C04E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29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Make usage forecastable</a:t>
            </a:r>
          </a:p>
        </p:txBody>
      </p:sp>
      <p:sp>
        <p:nvSpPr>
          <p:cNvPr id="28" name="guard-body-5">
            <a:extLst xmlns:a="http://schemas.openxmlformats.org/drawingml/2006/main">
              <a:ext uri="{FF2B5EF4-FFF2-40B4-BE49-F238E27FC236}">
                <a16:creationId xmlns:a16="http://schemas.microsoft.com/office/drawing/2014/main" id="{0989FD90-DB0F-400A-BB8F-0227195A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4102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Publish profiles, examples and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volume economics.</a:t>
            </a:r>
          </a:p>
        </p:txBody>
      </p:sp>
    </p:spTree>
    <p:extLst>
      <p:ext uri="{BB962C8B-B14F-4D97-AF65-F5344CB8AC3E}">
        <p14:creationId xmlns:p14="http://schemas.microsoft.com/office/powerpoint/2010/main" val="7354417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4d083dc1948a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89A5437-C6AE-4F3D-87EE-DE3507A3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13</a:t>
            </a:r>
          </a:p>
        </p:txBody>
      </p:sp>
      <p:sp>
        <p:nvSpPr>
          <p:cNvPr id="3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0481FD3E-1D92-48D5-B77F-8FFCDEC4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DECISION REQUEST</a:t>
            </a:r>
          </a:p>
        </p:txBody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8618097-D07E-480B-B1A5-B268ACC2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9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Prove the model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9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before we scale it.</a:t>
            </a:r>
          </a:p>
        </p:txBody>
      </p:sp>
      <p:sp>
        <p:nvSpPr>
          <p:cNvPr id="5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0E1AFEF8-50C6-42F1-A94C-52A564FF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241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E3D9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E3D9FF"/>
                </a:solidFill>
                <a:latin typeface="Mulish"/>
                <a:ea typeface="Mulish"/>
                <a:cs typeface="Mulish"/>
              </a:rPr>
              <a:t>Replay real customer economics.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E3D9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E3D9FF"/>
                </a:solidFill>
                <a:latin typeface="Mulish"/>
                <a:ea typeface="Mulish"/>
                <a:cs typeface="Mulish"/>
              </a:rPr>
              <a:t>Then design a controlled pilot.</a:t>
            </a:r>
          </a:p>
        </p:txBody>
      </p:sp>
      <p:sp>
        <p:nvSpPr>
          <p:cNvPr id="6" name="close-step-0">
            <a:extLst xmlns:a="http://schemas.openxmlformats.org/drawingml/2006/main">
              <a:ext uri="{FF2B5EF4-FFF2-40B4-BE49-F238E27FC236}">
                <a16:creationId xmlns:a16="http://schemas.microsoft.com/office/drawing/2014/main" id="{B10AB367-6CC0-49A8-A94F-17F8449A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00150"/>
            <a:ext cx="4857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e-n-0">
            <a:extLst xmlns:a="http://schemas.openxmlformats.org/drawingml/2006/main">
              <a:ext uri="{FF2B5EF4-FFF2-40B4-BE49-F238E27FC236}">
                <a16:creationId xmlns:a16="http://schemas.microsoft.com/office/drawing/2014/main" id="{EABA4682-C2A6-46EA-BA7C-CBB28696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859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8" name="close-h-0">
            <a:extLst xmlns:a="http://schemas.openxmlformats.org/drawingml/2006/main">
              <a:ext uri="{FF2B5EF4-FFF2-40B4-BE49-F238E27FC236}">
                <a16:creationId xmlns:a16="http://schemas.microsoft.com/office/drawing/2014/main" id="{773C49C6-BB11-439F-9362-DE9A6721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3716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Replay 20–30 customers</a:t>
            </a:r>
          </a:p>
        </p:txBody>
      </p:sp>
      <p:sp>
        <p:nvSpPr>
          <p:cNvPr id="9" name="close-b-0">
            <a:extLst xmlns:a="http://schemas.openxmlformats.org/drawingml/2006/main">
              <a:ext uri="{FF2B5EF4-FFF2-40B4-BE49-F238E27FC236}">
                <a16:creationId xmlns:a16="http://schemas.microsoft.com/office/drawing/2014/main" id="{FDD8FF1A-6823-436F-99B0-6EA3FE94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14500"/>
            <a:ext cx="3676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3D9FF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E3D9FF"/>
                </a:solidFill>
                <a:latin typeface="Mulish"/>
                <a:ea typeface="Mulish"/>
                <a:cs typeface="Mulish"/>
              </a:rPr>
              <a:t>Actual users, workflows and event mix</a:t>
            </a:r>
          </a:p>
        </p:txBody>
      </p:sp>
      <p:sp>
        <p:nvSpPr>
          <p:cNvPr id="10" name="close-step-1">
            <a:extLst xmlns:a="http://schemas.openxmlformats.org/drawingml/2006/main">
              <a:ext uri="{FF2B5EF4-FFF2-40B4-BE49-F238E27FC236}">
                <a16:creationId xmlns:a16="http://schemas.microsoft.com/office/drawing/2014/main" id="{13ACE3F6-83D1-4927-B06B-39D9EEE0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857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ose-n-1">
            <a:extLst xmlns:a="http://schemas.openxmlformats.org/drawingml/2006/main">
              <a:ext uri="{FF2B5EF4-FFF2-40B4-BE49-F238E27FC236}">
                <a16:creationId xmlns:a16="http://schemas.microsoft.com/office/drawing/2014/main" id="{02F47F4C-E338-4616-B30C-782B65F1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9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2" name="close-h-1">
            <a:extLst xmlns:a="http://schemas.openxmlformats.org/drawingml/2006/main">
              <a:ext uri="{FF2B5EF4-FFF2-40B4-BE49-F238E27FC236}">
                <a16:creationId xmlns:a16="http://schemas.microsoft.com/office/drawing/2014/main" id="{6898075C-69D7-41B3-BE16-F1652D3A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765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Attach unit economics</a:t>
            </a:r>
          </a:p>
        </p:txBody>
      </p:sp>
      <p:sp>
        <p:nvSpPr>
          <p:cNvPr id="13" name="close-b-1">
            <a:extLst xmlns:a="http://schemas.openxmlformats.org/drawingml/2006/main">
              <a:ext uri="{FF2B5EF4-FFF2-40B4-BE49-F238E27FC236}">
                <a16:creationId xmlns:a16="http://schemas.microsoft.com/office/drawing/2014/main" id="{EE73C213-84B0-4385-B654-9EB84524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19400"/>
            <a:ext cx="3676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3D9FF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E3D9FF"/>
                </a:solidFill>
                <a:latin typeface="Mulish"/>
                <a:ea typeface="Mulish"/>
                <a:cs typeface="Mulish"/>
              </a:rPr>
              <a:t>COGS, retries and completion rates</a:t>
            </a:r>
          </a:p>
        </p:txBody>
      </p:sp>
      <p:sp>
        <p:nvSpPr>
          <p:cNvPr id="14" name="close-step-2">
            <a:extLst xmlns:a="http://schemas.openxmlformats.org/drawingml/2006/main">
              <a:ext uri="{FF2B5EF4-FFF2-40B4-BE49-F238E27FC236}">
                <a16:creationId xmlns:a16="http://schemas.microsoft.com/office/drawing/2014/main" id="{A9AFAF4D-48E1-4D01-9F12-083FFCDF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9950"/>
            <a:ext cx="4857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ose-n-2">
            <a:extLst xmlns:a="http://schemas.openxmlformats.org/drawingml/2006/main">
              <a:ext uri="{FF2B5EF4-FFF2-40B4-BE49-F238E27FC236}">
                <a16:creationId xmlns:a16="http://schemas.microsoft.com/office/drawing/2014/main" id="{6514936B-7701-4777-A5F5-66FC075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95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6" name="close-h-2">
            <a:extLst xmlns:a="http://schemas.openxmlformats.org/drawingml/2006/main">
              <a:ext uri="{FF2B5EF4-FFF2-40B4-BE49-F238E27FC236}">
                <a16:creationId xmlns:a16="http://schemas.microsoft.com/office/drawing/2014/main" id="{7195D62B-3B66-42AB-867F-43827BA9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814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Model the construct</a:t>
            </a:r>
          </a:p>
        </p:txBody>
      </p:sp>
      <p:sp>
        <p:nvSpPr>
          <p:cNvPr id="17" name="close-b-2">
            <a:extLst xmlns:a="http://schemas.openxmlformats.org/drawingml/2006/main">
              <a:ext uri="{FF2B5EF4-FFF2-40B4-BE49-F238E27FC236}">
                <a16:creationId xmlns:a16="http://schemas.microsoft.com/office/drawing/2014/main" id="{91B49BB5-4755-4A01-ABED-0ECC17F4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24300"/>
            <a:ext cx="3676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3D9FF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E3D9FF"/>
                </a:solidFill>
                <a:latin typeface="Mulish"/>
                <a:ea typeface="Mulish"/>
                <a:cs typeface="Mulish"/>
              </a:rPr>
              <a:t>Bands, commitments, curves and overage</a:t>
            </a:r>
          </a:p>
        </p:txBody>
      </p:sp>
      <p:sp>
        <p:nvSpPr>
          <p:cNvPr id="18" name="close-step-3">
            <a:extLst xmlns:a="http://schemas.openxmlformats.org/drawingml/2006/main">
              <a:ext uri="{FF2B5EF4-FFF2-40B4-BE49-F238E27FC236}">
                <a16:creationId xmlns:a16="http://schemas.microsoft.com/office/drawing/2014/main" id="{BA00BFC4-6253-4A3D-8484-059C7B21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4857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lose-n-3">
            <a:extLst xmlns:a="http://schemas.openxmlformats.org/drawingml/2006/main">
              <a:ext uri="{FF2B5EF4-FFF2-40B4-BE49-F238E27FC236}">
                <a16:creationId xmlns:a16="http://schemas.microsoft.com/office/drawing/2014/main" id="{73201549-5789-4724-857A-CD0D2889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00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0" name="close-h-3">
            <a:extLst xmlns:a="http://schemas.openxmlformats.org/drawingml/2006/main">
              <a:ext uri="{FF2B5EF4-FFF2-40B4-BE49-F238E27FC236}">
                <a16:creationId xmlns:a16="http://schemas.microsoft.com/office/drawing/2014/main" id="{4050803C-D972-449E-AC9F-D0AF47BE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863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Compare and decide</a:t>
            </a:r>
          </a:p>
        </p:txBody>
      </p:sp>
      <p:sp>
        <p:nvSpPr>
          <p:cNvPr id="21" name="close-b-3">
            <a:extLst xmlns:a="http://schemas.openxmlformats.org/drawingml/2006/main">
              <a:ext uri="{FF2B5EF4-FFF2-40B4-BE49-F238E27FC236}">
                <a16:creationId xmlns:a16="http://schemas.microsoft.com/office/drawing/2014/main" id="{B94AD3CA-D495-42C4-9D38-15F29E4E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29200"/>
            <a:ext cx="3676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E3D9FF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E3D9FF"/>
                </a:solidFill>
                <a:latin typeface="Mulish"/>
                <a:ea typeface="Mulish"/>
                <a:cs typeface="Mulish"/>
              </a:rPr>
              <a:t>ARR, margin, expansion and simplicity</a:t>
            </a:r>
          </a:p>
        </p:txBody>
      </p:sp>
      <p:sp>
        <p:nvSpPr>
          <p:cNvPr id="22" name="close-line">
            <a:extLst xmlns:a="http://schemas.openxmlformats.org/drawingml/2006/main">
              <a:ext uri="{FF2B5EF4-FFF2-40B4-BE49-F238E27FC236}">
                <a16:creationId xmlns:a16="http://schemas.microsoft.com/office/drawing/2014/main" id="{03ED86D4-2452-4A98-985A-EDA9170A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lose-proposition">
            <a:extLst xmlns:a="http://schemas.openxmlformats.org/drawingml/2006/main">
              <a:ext uri="{FF2B5EF4-FFF2-40B4-BE49-F238E27FC236}">
                <a16:creationId xmlns:a16="http://schemas.microsoft.com/office/drawing/2014/main" id="{D0C97E3F-848A-41B1-9831-C937A836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6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Land with access.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Expand through execution.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Monetize trust.</a:t>
            </a:r>
          </a:p>
        </p:txBody>
      </p:sp>
    </p:spTree>
    <p:extLst>
      <p:ext uri="{BB962C8B-B14F-4D97-AF65-F5344CB8AC3E}">
        <p14:creationId xmlns:p14="http://schemas.microsoft.com/office/powerpoint/2010/main" val="301451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2026-08-25T07:12:50.4260000Z</dcterms:created>
  <dcterms:modified xsi:type="dcterms:W3CDTF">2026-08-25T07:12:50.4270000Z</dcterms:modified>
</coreProperties>
</file>