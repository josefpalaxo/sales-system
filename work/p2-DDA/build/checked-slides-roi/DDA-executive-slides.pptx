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47b5dd37e847a4" /><Relationship Type="http://schemas.openxmlformats.org/officeDocument/2006/relationships/extended-properties" Target="/docProps/app.xml" Id="Re9dbe7f354614224" /><Relationship Type="http://schemas.openxmlformats.org/officeDocument/2006/relationships/officeDocument" Target="/ppt/presentation.xml" Id="R2b9653fef4f341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ec8db4be884519"/>
  </p:sldMasterIdLst>
  <p:notesMasterIdLst>
    <p:notesMasterId xmlns:r="http://schemas.openxmlformats.org/officeDocument/2006/relationships" r:id="Rc05b9008db374101"/>
  </p:notesMasterIdLst>
  <p:sldIdLst>
    <p:sldId xmlns:r="http://schemas.openxmlformats.org/officeDocument/2006/relationships" id="256" r:id="R4c49ccaf7f904446"/>
    <p:sldId xmlns:r="http://schemas.openxmlformats.org/officeDocument/2006/relationships" id="257" r:id="R156670a9947f4fe8"/>
    <p:sldId xmlns:r="http://schemas.openxmlformats.org/officeDocument/2006/relationships" id="258" r:id="Ree47c959fbd249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0468aa72f441dc" /><Relationship Type="http://schemas.openxmlformats.org/officeDocument/2006/relationships/slideMaster" Target="/ppt/slideMasters/slideMaster1.xml" Id="R5aec8db4be884519" /><Relationship Type="http://schemas.openxmlformats.org/officeDocument/2006/relationships/notesMaster" Target="/ppt/notesMasters/notesMaster1.xml" Id="Rc05b9008db374101" /><Relationship Type="http://schemas.openxmlformats.org/officeDocument/2006/relationships/presProps" Target="/ppt/presProps.xml" Id="Rf2afc187410d4fd9" /><Relationship Type="http://schemas.openxmlformats.org/officeDocument/2006/relationships/tableStyles" Target="/ppt/tableStyles.xml" Id="Ra57a619384f74564" /><Relationship Type="http://schemas.openxmlformats.org/officeDocument/2006/relationships/slide" Target="/ppt/slides/slide1.xml" Id="R4c49ccaf7f904446" /><Relationship Type="http://schemas.openxmlformats.org/officeDocument/2006/relationships/slide" Target="/ppt/slides/slide2.xml" Id="R156670a9947f4fe8" /><Relationship Type="http://schemas.openxmlformats.org/officeDocument/2006/relationships/slide" Target="/ppt/slides/slide3.xml" Id="Ree47c959fbd249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11ab5d13bf4e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de1ee2acb14460" /><Relationship Type="http://schemas.openxmlformats.org/officeDocument/2006/relationships/notesMaster" Target="/ppt/notesMasters/notesMaster1.xml" Id="R9899fb42c44f4a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c934e797e842bb" /><Relationship Type="http://schemas.openxmlformats.org/officeDocument/2006/relationships/notesMaster" Target="/ppt/notesMasters/notesMaster1.xml" Id="R71cc4495f31d49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cf08aa9aa94873" /><Relationship Type="http://schemas.openxmlformats.org/officeDocument/2006/relationships/notesMaster" Target="/ppt/notesMasters/notesMaster1.xml" Id="R4f6e6f7da04d47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terms S01, S06–S10 in fact-register.md. DDA baseline AED 2,360; central AED 1,180. 10% hosted / 20% on-premise support. Regular Basic Price AED 2,950 is reference only, giving 60% discount.</a:t>
            </a:r>
          </a:p>
          <a:p xmlns:a="http://schemas.openxmlformats.org/drawingml/2006/main">
            <a:r>
              <a:t>- DDA-business-case-model.xlsx, Base case, Cost model K23=147,511,800; K32=74,475,900; K34=73,035,900. Five-year new-entity onboarding 720,000 included. Recurring central cost 73,755,900.</a:t>
            </a:r>
          </a:p>
          <a:p xmlns:a="http://schemas.openxmlformats.org/drawingml/2006/main">
            <a:r>
              <a:t>- Growth-seat price protection, allocation and rollout timing need confirmation. Base quantity path 10,000 / 10,625 / 11,250 / 11,875 / 12,500. Existing on-premise users retained at 1,260. Forty new entities is a planning assumption.</a:t>
            </a:r>
          </a:p>
          <a:p xmlns:a="http://schemas.openxmlformats.org/drawingml/2006/main">
            <a:r>
              <a:t>- Five-year procurement ROI 98.1% = 73,035,900 / 74,475,900. Net savings / matched baseline is 49.5%. This is an expanded-service benchmark, not actual current government spending.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S03 existing customer project users sum to 1,830 including RTA. Eight entities and nine projects. User counts are not verified unique active users.</a:t>
            </a:r>
          </a:p>
          <a:p xmlns:a="http://schemas.openxmlformats.org/drawingml/2006/main">
            <a:r>
              <a:t>- S04 DDA internal survey. Q3: six 1–50, four 51–100, seven 101–500, four &gt;1,000, one Other. Numerical minimum 6*1+4*51+7*101+4*1001=4,921. Q7 N=16, ten current/six future requirements. Q5 17 of 22 expect growth.</a:t>
            </a:r>
          </a:p>
          <a:p xmlns:a="http://schemas.openxmlformats.org/drawingml/2006/main">
            <a:r>
              <a:t>- Do not add survey minimum to the existing customer total without respondent mapping. No exact total for all surveyed entities is established.</a:t>
            </a:r>
          </a:p>
          <a:p xmlns:a="http://schemas.openxmlformats.org/drawingml/2006/main">
            <a:r>
              <a:t>- S02 DDA deparments shared service.xlsx, dda departments A2:B93 only. 92 name rows, 91 numbered, duplicate/alias and eligibility review pending.</a:t>
            </a:r>
          </a:p>
          <a:p xmlns:a="http://schemas.openxmlformats.org/drawingml/2006/main">
            <a:r>
              <a:t>- R01 Digital Dubai May 2025 Smart Employee scale: https://www.digitaldubai.ae/newsroom/news/dubai-to-make-presence-felt-at-gitex-europe-x-ai-everything-2025-with-a-joint-pavilion-featuring-12-government-and-private-entities</a:t>
            </a:r>
          </a:p>
          <a:p xmlns:a="http://schemas.openxmlformats.org/drawingml/2006/main">
            <a:r>
              <a:t>- Current contracts require reconciliation: central cost for the existing 1,830 users is 2,524,020 versus known reported charges of 2,047,235.66, conditional on AED/additive support. RTA rises from 608,000 support to 1,416,000 subscription plus support. Missing old support and tax details limit conclusions.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S07 initial 10,000 users, annual billing, five-year commitment, zero indexation, 25% cumulative growth. DDA central funding with tentative entity budget contributions. Internal transfers are not government-wide savings.</a:t>
            </a:r>
          </a:p>
          <a:p xmlns:a="http://schemas.openxmlformats.org/drawingml/2006/main">
            <a:r>
              <a:t>- Base model Year 1: subscription 11,800,000, hosted support 1,031,320, on-premise support 297,360, total recurring 13,128,680. Ten new entities at 18,000 = 180,000. Total 13,308,680.</a:t>
            </a:r>
          </a:p>
          <a:p xmlns:a="http://schemas.openxmlformats.org/drawingml/2006/main">
            <a:r>
              <a:t>- S08–S10 include Digital Sovereign Sign, unlimited manual transactions and external recipients, hosting and branding. Standard 8×5 support 10%, on-premise support 20% replaces 10% and old support.</a:t>
            </a:r>
          </a:p>
          <a:p xmlns:a="http://schemas.openxmlformats.org/drawingml/2006/main">
            <a:r>
              <a:t>- Automated/API add-ons, Sovereign Collaboration, AI services, Evidence based Archiving for Standalone Documents and files are separately purchased. Tax and unpriced implementation/operation costs excluded.</a:t>
            </a:r>
          </a:p>
          <a:p xmlns:a="http://schemas.openxmlformats.org/drawingml/2006/main">
            <a:r>
              <a:t>- A hypothetical 3% annual baseline escalation adds 9,629,287.0899516 of avoided cost over five years, excluded from headline benefit. No subscription escalation rate has been supplied for the baseline.</a:t>
            </a:r>
          </a:p>
          <a:p xmlns:a="http://schemas.openxmlformats.org/drawingml/2006/main">
            <a:r>
              <a:t>- Base Year 1 cost threshold is 5,013 deployed users at the DDA benchmark, including 1,260 on-premise. This is not current cash payback. Migration overlap and unused capacity remain risks.</a:t>
            </a:r>
          </a:p>
          <a:p xmlns:a="http://schemas.openxmlformats.org/drawingml/2006/main">
            <a:r>
              <a:t>- This is an internal review proposal. Growth-seat pricing and rollout schedules are assumptions, not finalized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96942362743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46eec4d9034d0a" /><Relationship Type="http://schemas.openxmlformats.org/officeDocument/2006/relationships/slideLayout" Target="/ppt/slideLayouts/slideLayout1.xml" Id="R3694bb9f10b049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94bb9f10b049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a469f778441dc" /><Relationship Type="http://schemas.openxmlformats.org/officeDocument/2006/relationships/image" Target="/ppt/media/image.png" Id="R12ba5af68cc64712" /><Relationship Type="http://schemas.openxmlformats.org/officeDocument/2006/relationships/chart" Target="/ppt/slides/charts/chart1.xml" Id="R87bfae17b65a4155" /><Relationship Type="http://schemas.openxmlformats.org/officeDocument/2006/relationships/notesSlide" Target="/ppt/notesSlides/notesSlide1.xml" Id="Red8b42de8a604c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3fbb910df4c00" /><Relationship Type="http://schemas.openxmlformats.org/officeDocument/2006/relationships/image" Target="/ppt/media/image2.png" Id="R552ff005e35f4c8b" /><Relationship Type="http://schemas.openxmlformats.org/officeDocument/2006/relationships/chart" Target="/ppt/slides/charts/chart2.xml" Id="R3d827496b02b4acb" /><Relationship Type="http://schemas.openxmlformats.org/officeDocument/2006/relationships/notesSlide" Target="/ppt/notesSlides/notesSlide2.xml" Id="Rbc23d04121c847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470d92fb0499c" /><Relationship Type="http://schemas.openxmlformats.org/officeDocument/2006/relationships/image" Target="/ppt/media/image3.png" Id="R6503a02d06fd4b21" /><Relationship Type="http://schemas.openxmlformats.org/officeDocument/2006/relationships/notesSlide" Target="/ppt/notesSlides/notesSlide3.xml" Id="R1bc9c0443b9d427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Mulish"/>
                <a:ea typeface="Mulish"/>
                <a:cs typeface="Mulish"/>
              </a:rPr>
              <a:t>Five-year cost (AED m)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Mulish"/>
              <a:ea typeface="Mulish"/>
              <a:cs typeface="Mulish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Five-year cost (AED m)</c:v>
          </c:tx>
          <c:spPr>
            <a:solidFill xmlns:a="http://schemas.openxmlformats.org/drawingml/2006/main">
              <a:srgbClr val="1D0090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000F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DDA baseline</c:v>
                </c:pt>
                <c:pt idx="1">
                  <c:v>Central program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147.5118</c:v>
                </c:pt>
                <c:pt idx="1">
                  <c:v>74.4759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Mulish"/>
                  <a:ea typeface="Mulish"/>
                  <a:cs typeface="Mulish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Existing users</c:v>
          </c:tx>
          <c:spPr>
            <a:solidFill xmlns:a="http://schemas.openxmlformats.org/drawingml/2006/main">
              <a:srgbClr val="7000FF"/>
            </a:solidFill>
          </c:spPr>
          <c:cat>
            <c:strRef>
              <c:f>'Chart Data'!$A$2:$A$2</c:f>
              <c:strCache>
                <c:ptCount val="1"/>
                <c:pt idx="0">
                  <c:v>Initial pool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1830</c:v>
                </c:pt>
              </c:numCache>
            </c:numRef>
          </c:val>
        </c:ser>
        <c:ser>
          <c:idx val="1"/>
          <c:order val="1"/>
          <c:tx>
            <c:v>Awaiting allocation</c:v>
          </c:tx>
          <c:spPr>
            <a:solidFill xmlns:a="http://schemas.openxmlformats.org/drawingml/2006/main">
              <a:srgbClr val="D0D5DD"/>
            </a:solidFill>
          </c:spPr>
          <c:cat>
            <c:strRef>
              <c:f>'Chart Data'!$C$2:$C$2</c:f>
              <c:strCache>
                <c:ptCount val="1"/>
                <c:pt idx="0">
                  <c:v>Initial pool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8170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D0090"/>
                  </a:solidFill>
                  <a:latin typeface="Mulish"/>
                  <a:ea typeface="Mulish"/>
                  <a:cs typeface="Mulish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a5af68cc6471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C2D06FD-6206-47F2-87D8-5544ADEC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8CA1716-9462-44E7-A755-05A9A5AA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3ECA28-873C-468E-9FFA-71DC0F28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AED 73.04m in modeled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savings</a:t>
            </a:r>
          </a:p>
        </p:txBody>
      </p:sp>
      <p:sp>
        <p:nvSpPr>
          <p:cNvPr id="5" name="discount">
            <a:extLst xmlns:a="http://schemas.openxmlformats.org/drawingml/2006/main">
              <a:ext uri="{FF2B5EF4-FFF2-40B4-BE49-F238E27FC236}">
                <a16:creationId xmlns:a16="http://schemas.microsoft.com/office/drawing/2014/main" id="{04471A8C-AFDA-4766-9D47-D7AF0505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438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50%</a:t>
            </a:r>
          </a:p>
        </p:txBody>
      </p:sp>
      <p:sp>
        <p:nvSpPr>
          <p:cNvPr id="6" name="discount-explanation">
            <a:extLst xmlns:a="http://schemas.openxmlformats.org/drawingml/2006/main">
              <a:ext uri="{FF2B5EF4-FFF2-40B4-BE49-F238E27FC236}">
                <a16:creationId xmlns:a16="http://schemas.microsoft.com/office/drawing/2014/main" id="{E82A1313-B22A-4A29-975D-4DE9C5CD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0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lower subscription price</a:t>
            </a:r>
          </a:p>
          <a:p xmlns:a="http://schemas.openxmlformats.org/drawingml/2006/main">
            <a:pPr algn="l">
              <a:defRPr sz="20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0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against the DDA baseline</a:t>
            </a:r>
          </a:p>
        </p:txBody>
      </p:sp>
      <p:sp>
        <p:nvSpPr>
          <p:cNvPr id="7" name="price">
            <a:extLst xmlns:a="http://schemas.openxmlformats.org/drawingml/2006/main">
              <a:ext uri="{FF2B5EF4-FFF2-40B4-BE49-F238E27FC236}">
                <a16:creationId xmlns:a16="http://schemas.microsoft.com/office/drawing/2014/main" id="{2B52DC27-31C2-4C14-A68C-DDA39A61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1,180 vs AED 2,360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per user per year</a:t>
            </a:r>
          </a:p>
        </p:txBody>
      </p:sp>
      <p:sp>
        <p:nvSpPr>
          <p:cNvPr id="8" name="roi">
            <a:extLst xmlns:a="http://schemas.openxmlformats.org/drawingml/2006/main">
              <a:ext uri="{FF2B5EF4-FFF2-40B4-BE49-F238E27FC236}">
                <a16:creationId xmlns:a16="http://schemas.microsoft.com/office/drawing/2014/main" id="{ECEE028A-0500-44CA-9B17-BE9D0722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98.1% procurement ROI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429250" y="2190750"/>
          <a:ext xmlns:a="http://schemas.openxmlformats.org/drawingml/2006/main" cx="6286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bfae17b65a4155"/>
          </a:graphicData>
        </a:graphic>
      </p:graphicFrame>
      <p:sp>
        <p:nvSpPr>
          <p:cNvPr id="10" name="scope">
            <a:extLst xmlns:a="http://schemas.openxmlformats.org/drawingml/2006/main">
              <a:ext uri="{FF2B5EF4-FFF2-40B4-BE49-F238E27FC236}">
                <a16:creationId xmlns:a16="http://schemas.microsoft.com/office/drawing/2014/main" id="{8BFC174B-8B0B-4824-9EC6-379EF0E2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39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Base assumption: 10,000 to 12,500 users, 1,260 on-premise and 40 new entities.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Includes onboarding. Excludes tax and unpriced services. No baseline price increases.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ROI = five-year comparative benefit divided by central modeled program cost.</a:t>
            </a:r>
          </a:p>
        </p:txBody>
      </p:sp>
    </p:spTree>
    <p:extLst>
      <p:ext uri="{BB962C8B-B14F-4D97-AF65-F5344CB8AC3E}">
        <p14:creationId xmlns:p14="http://schemas.microsoft.com/office/powerpoint/2010/main" val="14764425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ff005e35f4c8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467DA3-3163-415B-8CB9-7A49C6E5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308041B-D1ED-4C0D-9C4F-BCBE6220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D58689-BDC5-492F-A367-6F852086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Evidence for the 10,000-user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starting pool</a:t>
            </a:r>
          </a:p>
        </p:txBody>
      </p:sp>
      <p:sp>
        <p:nvSpPr>
          <p:cNvPr id="5" name="existing">
            <a:extLst xmlns:a="http://schemas.openxmlformats.org/drawingml/2006/main">
              <a:ext uri="{FF2B5EF4-FFF2-40B4-BE49-F238E27FC236}">
                <a16:creationId xmlns:a16="http://schemas.microsoft.com/office/drawing/2014/main" id="{0B872D7A-0A34-4F1D-98BE-A8DF2829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1,830 existing project users</a:t>
            </a:r>
          </a:p>
        </p:txBody>
      </p:sp>
      <p:sp>
        <p:nvSpPr>
          <p:cNvPr id="6" name="existing-detail">
            <a:extLst xmlns:a="http://schemas.openxmlformats.org/drawingml/2006/main">
              <a:ext uri="{FF2B5EF4-FFF2-40B4-BE49-F238E27FC236}">
                <a16:creationId xmlns:a16="http://schemas.microsoft.com/office/drawing/2014/main" id="{10F5583A-0997-482D-8A89-9C47AE60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2275"/>
            <a:ext cx="600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Eight customer entities and nine projects,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including RTA’s 1,000 CAPEX users.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28625" y="3819525"/>
          <a:ext xmlns:a="http://schemas.openxmlformats.org/drawingml/2006/main" cx="6191250" cy="1209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827496b02b4acb"/>
          </a:graphicData>
        </a:graphic>
      </p:graphicFrame>
      <p:sp>
        <p:nvSpPr>
          <p:cNvPr id="8" name="gap">
            <a:extLst xmlns:a="http://schemas.openxmlformats.org/drawingml/2006/main">
              <a:ext uri="{FF2B5EF4-FFF2-40B4-BE49-F238E27FC236}">
                <a16:creationId xmlns:a16="http://schemas.microsoft.com/office/drawing/2014/main" id="{B2276258-AEBC-4879-A009-99769FE2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8,170 seats still need named allocations.</a:t>
            </a:r>
          </a:p>
        </p:txBody>
      </p:sp>
      <p:sp>
        <p:nvSpPr>
          <p:cNvPr id="9" name="survey-min">
            <a:extLst xmlns:a="http://schemas.openxmlformats.org/drawingml/2006/main">
              <a:ext uri="{FF2B5EF4-FFF2-40B4-BE49-F238E27FC236}">
                <a16:creationId xmlns:a16="http://schemas.microsoft.com/office/drawing/2014/main" id="{2F62D915-4241-4C4D-B78F-37933666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381250"/>
            <a:ext cx="457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15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4,921 users</a:t>
            </a:r>
          </a:p>
        </p:txBody>
      </p:sp>
      <p:sp>
        <p:nvSpPr>
          <p:cNvPr id="10" name="survey-min-detail">
            <a:extLst xmlns:a="http://schemas.openxmlformats.org/drawingml/2006/main">
              <a:ext uri="{FF2B5EF4-FFF2-40B4-BE49-F238E27FC236}">
                <a16:creationId xmlns:a16="http://schemas.microsoft.com/office/drawing/2014/main" id="{EA0C0FBF-A595-4870-AB93-F86400EB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09900"/>
            <a:ext cx="4524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Minimum across 21 numerical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current or expected user responses</a:t>
            </a:r>
          </a:p>
        </p:txBody>
      </p:sp>
      <p:sp>
        <p:nvSpPr>
          <p:cNvPr id="11" name="interest">
            <a:extLst xmlns:a="http://schemas.openxmlformats.org/drawingml/2006/main">
              <a:ext uri="{FF2B5EF4-FFF2-40B4-BE49-F238E27FC236}">
                <a16:creationId xmlns:a16="http://schemas.microsoft.com/office/drawing/2014/main" id="{1762A8DB-025B-4C4F-B7D4-CADBEA22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876675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 current requirements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6 possible future requirements</a:t>
            </a:r>
          </a:p>
        </p:txBody>
      </p:sp>
      <p:sp>
        <p:nvSpPr>
          <p:cNvPr id="12" name="growth">
            <a:extLst xmlns:a="http://schemas.openxmlformats.org/drawingml/2006/main">
              <a:ext uri="{FF2B5EF4-FFF2-40B4-BE49-F238E27FC236}">
                <a16:creationId xmlns:a16="http://schemas.microsoft.com/office/drawing/2014/main" id="{90985D32-6C82-4701-9D24-DC587DB3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829175"/>
            <a:ext cx="4524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17 of 22 respondents expect growth.</a:t>
            </a:r>
          </a:p>
        </p:txBody>
      </p:sp>
      <p:sp>
        <p:nvSpPr>
          <p:cNvPr id="13" name="demand-caveat">
            <a:extLst xmlns:a="http://schemas.openxmlformats.org/drawingml/2006/main">
              <a:ext uri="{FF2B5EF4-FFF2-40B4-BE49-F238E27FC236}">
                <a16:creationId xmlns:a16="http://schemas.microsoft.com/office/drawing/2014/main" id="{32147B73-31E2-4559-B6DB-AE4033CD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Survey overlap with existing customers is unknown. The wider list has 92 source rows with aliases.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DDA’s 76,000+ Smart Employee users indicate scale, not paid-signature demand.</a:t>
            </a:r>
          </a:p>
        </p:txBody>
      </p:sp>
    </p:spTree>
    <p:extLst>
      <p:ext uri="{BB962C8B-B14F-4D97-AF65-F5344CB8AC3E}">
        <p14:creationId xmlns:p14="http://schemas.microsoft.com/office/powerpoint/2010/main" val="2121779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3a02d06fd4b2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2C22DF-DCAD-4B5F-8105-02A938AD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F9BCDB2-1C24-4550-B9BA-5C63831A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0281E3-087A-4CDD-A71E-C1B97CC7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Five-year pricing with annual budgets</a:t>
            </a:r>
          </a:p>
        </p:txBody>
      </p:sp>
      <p:sp>
        <p:nvSpPr>
          <p:cNvPr id="5" name="budget">
            <a:extLst xmlns:a="http://schemas.openxmlformats.org/drawingml/2006/main">
              <a:ext uri="{FF2B5EF4-FFF2-40B4-BE49-F238E27FC236}">
                <a16:creationId xmlns:a16="http://schemas.microsoft.com/office/drawing/2014/main" id="{3D157432-660C-4BFF-BC1E-040184EA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5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AED 13.31m</a:t>
            </a:r>
          </a:p>
        </p:txBody>
      </p:sp>
      <p:sp>
        <p:nvSpPr>
          <p:cNvPr id="6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DAF45671-6FDA-40C0-AD78-78E786C3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1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modeled Year 1 budget</a:t>
            </a:r>
          </a:p>
        </p:txBody>
      </p:sp>
      <p:sp>
        <p:nvSpPr>
          <p:cNvPr id="7" name="budget-detail">
            <a:extLst xmlns:a="http://schemas.openxmlformats.org/drawingml/2006/main">
              <a:ext uri="{FF2B5EF4-FFF2-40B4-BE49-F238E27FC236}">
                <a16:creationId xmlns:a16="http://schemas.microsoft.com/office/drawing/2014/main" id="{1C9398EA-38EE-4204-95A9-A1023B87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628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13.13m subscription and support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0.18m for 10 new entities</a:t>
            </a:r>
          </a:p>
        </p:txBody>
      </p:sp>
      <p:sp>
        <p:nvSpPr>
          <p:cNvPr id="8" name="lock">
            <a:extLst xmlns:a="http://schemas.openxmlformats.org/drawingml/2006/main">
              <a:ext uri="{FF2B5EF4-FFF2-40B4-BE49-F238E27FC236}">
                <a16:creationId xmlns:a16="http://schemas.microsoft.com/office/drawing/2014/main" id="{1A5D50D3-1D54-4E61-B571-1A4EC869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No indexation for five years</a:t>
            </a:r>
          </a:p>
        </p:txBody>
      </p:sp>
      <p:sp>
        <p:nvSpPr>
          <p:cNvPr id="9" name="lock-detail">
            <a:extLst xmlns:a="http://schemas.openxmlformats.org/drawingml/2006/main">
              <a:ext uri="{FF2B5EF4-FFF2-40B4-BE49-F238E27FC236}">
                <a16:creationId xmlns:a16="http://schemas.microsoft.com/office/drawing/2014/main" id="{90B997D4-76E9-4231-BB5D-17FB38E6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619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Growth changes the annual bill.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Confirm price protection for added seats.</a:t>
            </a:r>
          </a:p>
        </p:txBody>
      </p:sp>
      <p:sp>
        <p:nvSpPr>
          <p:cNvPr id="10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13046BB2-3846-439F-9103-F4C9769A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Proposed decision</a:t>
            </a:r>
          </a:p>
        </p:txBody>
      </p:sp>
      <p:sp>
        <p:nvSpPr>
          <p:cNvPr id="11" name="decision">
            <a:extLst xmlns:a="http://schemas.openxmlformats.org/drawingml/2006/main">
              <a:ext uri="{FF2B5EF4-FFF2-40B4-BE49-F238E27FC236}">
                <a16:creationId xmlns:a16="http://schemas.microsoft.com/office/drawing/2014/main" id="{43E9D2A9-EAC9-4859-B2EC-6EBCA80D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19425"/>
            <a:ext cx="4429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Sponsor central procurement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for an initial 10,000 users.</a:t>
            </a:r>
          </a:p>
        </p:txBody>
      </p:sp>
      <p:sp>
        <p:nvSpPr>
          <p:cNvPr id="12" name="condition">
            <a:extLst xmlns:a="http://schemas.openxmlformats.org/drawingml/2006/main">
              <a:ext uri="{FF2B5EF4-FFF2-40B4-BE49-F238E27FC236}">
                <a16:creationId xmlns:a16="http://schemas.microsoft.com/office/drawing/2014/main" id="{BC7F3F0A-3B2D-49A4-86A5-0B8EEB5F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4429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Finalize funded allocations,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migration dates and unpriced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services before commitment.</a:t>
            </a:r>
          </a:p>
        </p:txBody>
      </p:sp>
      <p:sp>
        <p:nvSpPr>
          <p:cNvPr id="13" name="funding">
            <a:extLst xmlns:a="http://schemas.openxmlformats.org/drawingml/2006/main">
              <a:ext uri="{FF2B5EF4-FFF2-40B4-BE49-F238E27FC236}">
                <a16:creationId xmlns:a16="http://schemas.microsoft.com/office/drawing/2014/main" id="{7F15A03A-48D1-48EE-BDFA-E48D85BA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67325"/>
            <a:ext cx="4429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DDA funds annual payments.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Entity contributions can support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central budget.</a:t>
            </a:r>
          </a:p>
        </p:txBody>
      </p:sp>
    </p:spTree>
    <p:extLst>
      <p:ext uri="{BB962C8B-B14F-4D97-AF65-F5344CB8AC3E}">
        <p14:creationId xmlns:p14="http://schemas.microsoft.com/office/powerpoint/2010/main" val="1518230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2026-09-20T08:15:15.9120000Z</dcterms:created>
  <dcterms:modified xsi:type="dcterms:W3CDTF">2026-09-20T08:15:15.9120000Z</dcterms:modified>
</coreProperties>
</file>