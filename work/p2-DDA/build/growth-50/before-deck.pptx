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a7224a7ff4d01" /><Relationship Type="http://schemas.openxmlformats.org/officeDocument/2006/relationships/extended-properties" Target="/docProps/app.xml" Id="R2ab707ca3dd74019" /><Relationship Type="http://schemas.openxmlformats.org/officeDocument/2006/relationships/officeDocument" Target="/ppt/presentation.xml" Id="R5ee869f9f98e46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02d43508cc4a51"/>
  </p:sldMasterIdLst>
  <p:notesMasterIdLst>
    <p:notesMasterId xmlns:r="http://schemas.openxmlformats.org/officeDocument/2006/relationships" r:id="R6514d377a8d7469f"/>
  </p:notesMasterIdLst>
  <p:sldIdLst>
    <p:sldId xmlns:r="http://schemas.openxmlformats.org/officeDocument/2006/relationships" id="256" r:id="Rf7d3ac1b184f4852"/>
    <p:sldId xmlns:r="http://schemas.openxmlformats.org/officeDocument/2006/relationships" id="257" r:id="Rd2b0f8fc2b4a4734"/>
    <p:sldId xmlns:r="http://schemas.openxmlformats.org/officeDocument/2006/relationships" id="258" r:id="Re48597d2e1f240d9"/>
    <p:sldId xmlns:r="http://schemas.openxmlformats.org/officeDocument/2006/relationships" id="259" r:id="Rf9d8b7859d91433b"/>
    <p:sldId xmlns:r="http://schemas.openxmlformats.org/officeDocument/2006/relationships" id="260" r:id="R0ddaa9b2f89e4705"/>
    <p:sldId xmlns:r="http://schemas.openxmlformats.org/officeDocument/2006/relationships" id="261" r:id="R4a78aa3c88da4351"/>
    <p:sldId xmlns:r="http://schemas.openxmlformats.org/officeDocument/2006/relationships" id="262" r:id="Reef9dc61a4804c48"/>
    <p:sldId xmlns:r="http://schemas.openxmlformats.org/officeDocument/2006/relationships" id="263" r:id="R99ac4ad887984418"/>
    <p:sldId xmlns:r="http://schemas.openxmlformats.org/officeDocument/2006/relationships" id="264" r:id="R12dceed8578f440b"/>
    <p:sldId xmlns:r="http://schemas.openxmlformats.org/officeDocument/2006/relationships" id="265" r:id="R9805cdea5bc245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ba0d8904524847" /><Relationship Type="http://schemas.openxmlformats.org/officeDocument/2006/relationships/slideMaster" Target="/ppt/slideMasters/slideMaster1.xml" Id="R4f02d43508cc4a51" /><Relationship Type="http://schemas.openxmlformats.org/officeDocument/2006/relationships/notesMaster" Target="/ppt/notesMasters/notesMaster1.xml" Id="R6514d377a8d7469f" /><Relationship Type="http://schemas.openxmlformats.org/officeDocument/2006/relationships/presProps" Target="/ppt/presProps.xml" Id="R6264f3fffda94d6c" /><Relationship Type="http://schemas.openxmlformats.org/officeDocument/2006/relationships/tableStyles" Target="/ppt/tableStyles.xml" Id="R878e795d325445c8" /><Relationship Type="http://schemas.openxmlformats.org/officeDocument/2006/relationships/slide" Target="/ppt/slides/slide1.xml" Id="Rf7d3ac1b184f4852" /><Relationship Type="http://schemas.openxmlformats.org/officeDocument/2006/relationships/slide" Target="/ppt/slides/slide2.xml" Id="Rd2b0f8fc2b4a4734" /><Relationship Type="http://schemas.openxmlformats.org/officeDocument/2006/relationships/slide" Target="/ppt/slides/slide3.xml" Id="Re48597d2e1f240d9" /><Relationship Type="http://schemas.openxmlformats.org/officeDocument/2006/relationships/slide" Target="/ppt/slides/slide4.xml" Id="Rf9d8b7859d91433b" /><Relationship Type="http://schemas.openxmlformats.org/officeDocument/2006/relationships/slide" Target="/ppt/slides/slide5.xml" Id="R0ddaa9b2f89e4705" /><Relationship Type="http://schemas.openxmlformats.org/officeDocument/2006/relationships/slide" Target="/ppt/slides/slide6.xml" Id="R4a78aa3c88da4351" /><Relationship Type="http://schemas.openxmlformats.org/officeDocument/2006/relationships/slide" Target="/ppt/slides/slide7.xml" Id="Reef9dc61a4804c48" /><Relationship Type="http://schemas.openxmlformats.org/officeDocument/2006/relationships/slide" Target="/ppt/slides/slide8.xml" Id="R99ac4ad887984418" /><Relationship Type="http://schemas.openxmlformats.org/officeDocument/2006/relationships/slide" Target="/ppt/slides/slide9.xml" Id="R12dceed8578f440b" /><Relationship Type="http://schemas.openxmlformats.org/officeDocument/2006/relationships/slide" Target="/ppt/slides/slide10.xml" Id="R9805cdea5bc245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2eb50e672641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8b2166bedb48ab" /><Relationship Type="http://schemas.openxmlformats.org/officeDocument/2006/relationships/notesMaster" Target="/ppt/notesMasters/notesMaster1.xml" Id="R39e895cf263041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45d651f9cc4f5e" /><Relationship Type="http://schemas.openxmlformats.org/officeDocument/2006/relationships/notesMaster" Target="/ppt/notesMasters/notesMaster1.xml" Id="Rc8952f2dfd8a42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d8cb16cb2047d6" /><Relationship Type="http://schemas.openxmlformats.org/officeDocument/2006/relationships/notesMaster" Target="/ppt/notesMasters/notesMaster1.xml" Id="R05271fbe96e24a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8e97186f584d27" /><Relationship Type="http://schemas.openxmlformats.org/officeDocument/2006/relationships/notesMaster" Target="/ppt/notesMasters/notesMaster1.xml" Id="Rb07a4a57f66d40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2b079d1851434c" /><Relationship Type="http://schemas.openxmlformats.org/officeDocument/2006/relationships/notesMaster" Target="/ppt/notesMasters/notesMaster1.xml" Id="R6e903b9f70b747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1b8e3e54f04873" /><Relationship Type="http://schemas.openxmlformats.org/officeDocument/2006/relationships/notesMaster" Target="/ppt/notesMasters/notesMaster1.xml" Id="R01af2b06d9f042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119a329a364609" /><Relationship Type="http://schemas.openxmlformats.org/officeDocument/2006/relationships/notesMaster" Target="/ppt/notesMasters/notesMaster1.xml" Id="R6913e7f3f4c34b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bd129243884065" /><Relationship Type="http://schemas.openxmlformats.org/officeDocument/2006/relationships/notesMaster" Target="/ppt/notesMasters/notesMaster1.xml" Id="R46c2e6cbe30247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b8385c04d84524" /><Relationship Type="http://schemas.openxmlformats.org/officeDocument/2006/relationships/notesMaster" Target="/ppt/notesMasters/notesMaster1.xml" Id="Rb985315c8bb74d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3476e147f84659" /><Relationship Type="http://schemas.openxmlformats.org/officeDocument/2006/relationships/notesMaster" Target="/ppt/notesMasters/notesMaster1.xml" Id="Re3e4e22eec9944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Summary!E4; Setup!E8/E18; Existing customers!D16/G16.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Open with the proposed framework and decision. One framework describes centralized procurement, not a mandatory single deployment or replacement of all on-premise arrangements. Existing weighted average is customer subscription revenue divided by users. The 19.87% and 60% comparisons are not additive discounts.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Potential!E14/E23/E71/E72; Summary!E32/E34; Survey!H27/E66.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262 users are expected growth, not already contracted users. 4,921 is the numerical minimum implied by 21 answered bands, not a confirmed new-customer pipeline. The user instructed full additive survey counts, with zero overlap deduction. The 65 users per unsurveyed entity is a feasibility illustration, not a measured forecast. 38 entities were surveyed out of planning scope 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customers!D16/G16/I16; Setup!E18; goal.md additional commercial terms.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Existing-user annual savings are AED 383,369.75 before support. With expected 20% Year 1 growth, the existing cohort saves AED 460,043.70, assuming the same current price mix. Enterprise is a proposed entitlement for participating entities; do not claim every existing entity is on Business or that every optional module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Potential!D39/D41; Setup!E17; goal.md support and onboarding terms.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approval sought covers a central five-year procurement framework with annual budgets. Model support of 14% at exactly 10,000 users gives AED 1,652,000, making the initial recurring subscription-plus-support budget AED 13,452,000. Support is not included in savings. New entity count and implementation timing remain to be agreed; do not imply onboarding or optional modules are included in this recurring total. Proposed execution steps are recommendations, not completed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customers!C9:I16; Potential!D87:G88.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Customer table shows current source users only. Each saving is users multiplied by current price less AED 1,180. Average is weighted by users, not a simple average of customer prices. Year 1 growth assumes the same weighted current subscription price. Existing source rates are not independently audited.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Survey!C21:H27 and C52:E72; user-supplied DDA internal survey.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Q1 denominator 38: yes 21, no 10, planning 6, implementing 1. Interest question has 16 responses: 10 current requirement and six future. Growth denominator is 22 and more-users denominator is 17. Cost and user bands cannot be matched. Do not interpret organization shares as a user growth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Potential!D26:I41; Setup!E67/E68.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Forecast users are rounded separately by cohort each year; total users are 10,000, 10,500, 11,025, 11,576 and 12,155. Each is assumed billable for the full year. Paid users never fall below the initial commitment. This is an illustration, not a funded rollout schedule or an observed user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Potential!I35:I41; Summary!H13.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Five-year benchmark AED 150,167,016.89122137 less central subscription AED 65,202,080 gives modeled subscription benefit AED 84,964,936.89122137. Existing benchmark includes assumed future user growth at the current weighted price. Survey/Other spending is hypothetical list-price spending, not actual surveyed government expenditure. Chart values are editable snapshots extracted from the workbook, not live external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goal.md, additional commercial benefits and user-confirmed terms; Setup!E17.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indicative AED 20,000/entity/year add-on value depends on requirements and included-feature scope. Do not multiply it across 92 entities as guaranteed realized savings. The support proposition is 12.5% above 10K versus standard 25%; this halves the rate on the same fee base, not a separately modeled government-wide saving. Latest commercial support wording differs from higher-volume rates in the unchanged workbook; do not extend either assumption silently.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Setup!E10/E11; Potential!E45:E53.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Population and 20% adoption are user-supplied planning assumptions. The potential includes existing and survey users, rather than adding to them. AED 1,032.50 is the separately selected Tier 7 full-potential illustration. It does not automatically replace the locked AED 1,180 price in the five-year 10K scenario. Do not attach a support cost to this full-scale illustration without reconciling the new commercial support proposition.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e0c2dd29c46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f4e810311842b0" /><Relationship Type="http://schemas.openxmlformats.org/officeDocument/2006/relationships/slideLayout" Target="/ppt/slideLayouts/slideLayout1.xml" Id="Rb48ee3b8de9945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8ee3b8de99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7f7b8a1ea4cd0" /><Relationship Type="http://schemas.openxmlformats.org/officeDocument/2006/relationships/image" Target="/ppt/media/image.png" Id="Rf99d69626ef844e7" /><Relationship Type="http://schemas.openxmlformats.org/officeDocument/2006/relationships/notesSlide" Target="/ppt/notesSlides/notesSlide1.xml" Id="R948e37e2abf44e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9e71c8a1c49a8" /><Relationship Type="http://schemas.openxmlformats.org/officeDocument/2006/relationships/image" Target="/ppt/media/image2.png" Id="Rf0fb7f4631264668" /><Relationship Type="http://schemas.openxmlformats.org/officeDocument/2006/relationships/notesSlide" Target="/ppt/notesSlides/notesSlide2.xml" Id="R3726e8b5165c4b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7bf354fc742ba" /><Relationship Type="http://schemas.openxmlformats.org/officeDocument/2006/relationships/image" Target="/ppt/media/image3.png" Id="Rd5202cbdd93f4079" /><Relationship Type="http://schemas.openxmlformats.org/officeDocument/2006/relationships/notesSlide" Target="/ppt/notesSlides/notesSlide3.xml" Id="R1949979179a3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f48d29dbe41a7" /><Relationship Type="http://schemas.openxmlformats.org/officeDocument/2006/relationships/image" Target="/ppt/media/image4.png" Id="Ra72ca21930b4402d" /><Relationship Type="http://schemas.openxmlformats.org/officeDocument/2006/relationships/notesSlide" Target="/ppt/notesSlides/notesSlide4.xml" Id="Ra5fc3587bdb54d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4bfce20b4afb" /><Relationship Type="http://schemas.openxmlformats.org/officeDocument/2006/relationships/image" Target="/ppt/media/image5.png" Id="Rb0353a2d86884d2d" /><Relationship Type="http://schemas.openxmlformats.org/officeDocument/2006/relationships/notesSlide" Target="/ppt/notesSlides/notesSlide5.xml" Id="Rcf8b68c2d9c649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0ff9177fd49aa" /><Relationship Type="http://schemas.openxmlformats.org/officeDocument/2006/relationships/image" Target="/ppt/media/image6.png" Id="R442c64adfd2240a5" /><Relationship Type="http://schemas.openxmlformats.org/officeDocument/2006/relationships/notesSlide" Target="/ppt/notesSlides/notesSlide6.xml" Id="R9cbc017a860041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5318ffbba4340" /><Relationship Type="http://schemas.openxmlformats.org/officeDocument/2006/relationships/image" Target="/ppt/media/image7.png" Id="Ra201aa103aba479e" /><Relationship Type="http://schemas.openxmlformats.org/officeDocument/2006/relationships/notesSlide" Target="/ppt/notesSlides/notesSlide7.xml" Id="Rbe1db2af9e8642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6e9acc4b94420" /><Relationship Type="http://schemas.openxmlformats.org/officeDocument/2006/relationships/image" Target="/ppt/media/image8.png" Id="R12761157f497436b" /><Relationship Type="http://schemas.openxmlformats.org/officeDocument/2006/relationships/chart" Target="/ppt/slides/charts/chart1.xml" Id="R0b6036152a664fd1" /><Relationship Type="http://schemas.openxmlformats.org/officeDocument/2006/relationships/notesSlide" Target="/ppt/notesSlides/notesSlide8.xml" Id="R987be6feac3f4d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5231473f1482f" /><Relationship Type="http://schemas.openxmlformats.org/officeDocument/2006/relationships/image" Target="/ppt/media/image9.png" Id="R7e525c551a4f436b" /><Relationship Type="http://schemas.openxmlformats.org/officeDocument/2006/relationships/notesSlide" Target="/ppt/notesSlides/notesSlide9.xml" Id="R17c9e54d221e43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d4bd3a6514994" /><Relationship Type="http://schemas.openxmlformats.org/officeDocument/2006/relationships/image" Target="/ppt/media/image10.png" Id="R0f5399c4cb7a49fd" /><Relationship Type="http://schemas.openxmlformats.org/officeDocument/2006/relationships/notesSlide" Target="/ppt/notesSlides/notesSlide10.xml" Id="Rf4a94fb57dc1433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subscription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AED million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Benchmark</c:v>
                </c:pt>
                <c:pt idx="1">
                  <c:v>Central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150.17</c:v>
                </c:pt>
                <c:pt idx="1">
                  <c:v>65.2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d69626ef844e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5CFF6D-B93F-4398-83B6-3DB5FD28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48B076F-5F69-4C52-84DD-39B4F7A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DB0EB3-E604-4C6B-BE30-3B03DF23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Dubai Government Platform.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Central Commitment.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AA07C076-A837-4CF9-8FCE-C5ABA98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Proposed Circularo Enterprise framework for participating entities</a:t>
            </a:r>
          </a:p>
        </p:txBody>
      </p:sp>
      <p:sp>
        <p:nvSpPr>
          <p:cNvPr id="6" name="users">
            <a:extLst xmlns:a="http://schemas.openxmlformats.org/drawingml/2006/main">
              <a:ext uri="{FF2B5EF4-FFF2-40B4-BE49-F238E27FC236}">
                <a16:creationId xmlns:a16="http://schemas.microsoft.com/office/drawing/2014/main" id="{600359FE-5A2A-4FC9-B2E9-6437D672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7" name="users-label">
            <a:extLst xmlns:a="http://schemas.openxmlformats.org/drawingml/2006/main">
              <a:ext uri="{FF2B5EF4-FFF2-40B4-BE49-F238E27FC236}">
                <a16:creationId xmlns:a16="http://schemas.microsoft.com/office/drawing/2014/main" id="{783618EA-189A-425D-8094-7AA9FED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initial Enterprise users</a:t>
            </a:r>
          </a:p>
        </p:txBody>
      </p:sp>
      <p:sp>
        <p:nvSpPr>
          <p:cNvPr id="8" name="rate">
            <a:extLst xmlns:a="http://schemas.openxmlformats.org/drawingml/2006/main">
              <a:ext uri="{FF2B5EF4-FFF2-40B4-BE49-F238E27FC236}">
                <a16:creationId xmlns:a16="http://schemas.microsoft.com/office/drawing/2014/main" id="{2E0622B9-2884-4E8A-A473-5E375EF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1,180</a:t>
            </a:r>
          </a:p>
        </p:txBody>
      </p:sp>
      <p:sp>
        <p:nvSpPr>
          <p:cNvPr id="9" name="rate-label">
            <a:extLst xmlns:a="http://schemas.openxmlformats.org/drawingml/2006/main">
              <a:ext uri="{FF2B5EF4-FFF2-40B4-BE49-F238E27FC236}">
                <a16:creationId xmlns:a16="http://schemas.microsoft.com/office/drawing/2014/main" id="{0C9A42D4-D6C1-4F00-A4CB-9FAC36E8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10" name="term">
            <a:extLst xmlns:a="http://schemas.openxmlformats.org/drawingml/2006/main">
              <a:ext uri="{FF2B5EF4-FFF2-40B4-BE49-F238E27FC236}">
                <a16:creationId xmlns:a16="http://schemas.microsoft.com/office/drawing/2014/main" id="{DE666391-EDC7-4C5D-8A9B-AE8A233D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5 years</a:t>
            </a:r>
          </a:p>
        </p:txBody>
      </p:sp>
      <p:sp>
        <p:nvSpPr>
          <p:cNvPr id="11" name="term-label">
            <a:extLst xmlns:a="http://schemas.openxmlformats.org/drawingml/2006/main">
              <a:ext uri="{FF2B5EF4-FFF2-40B4-BE49-F238E27FC236}">
                <a16:creationId xmlns:a16="http://schemas.microsoft.com/office/drawing/2014/main" id="{191C5EC7-697C-4BA7-A991-6D2558C6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locked unit price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annual billing</a:t>
            </a:r>
          </a:p>
        </p:txBody>
      </p:sp>
      <p:sp>
        <p:nvSpPr>
          <p:cNvPr id="12" name="benefit">
            <a:extLst xmlns:a="http://schemas.openxmlformats.org/drawingml/2006/main">
              <a:ext uri="{FF2B5EF4-FFF2-40B4-BE49-F238E27FC236}">
                <a16:creationId xmlns:a16="http://schemas.microsoft.com/office/drawing/2014/main" id="{2DA7E07D-57B5-42BB-B9B2-D892D4C4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3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19.87% below the current weighted customer price</a:t>
            </a:r>
          </a:p>
        </p:txBody>
      </p:sp>
      <p:sp>
        <p:nvSpPr>
          <p:cNvPr id="13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F51897C-9189-44C7-8BAE-862213CD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1,472.65 current weighted price. Separately: 60% below AED 2,950 list price.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Subscription only. Support is a separate charge.</a:t>
            </a:r>
          </a:p>
        </p:txBody>
      </p:sp>
    </p:spTree>
    <p:extLst>
      <p:ext uri="{BB962C8B-B14F-4D97-AF65-F5344CB8AC3E}">
        <p14:creationId xmlns:p14="http://schemas.microsoft.com/office/powerpoint/2010/main" val="1365610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b7f463126466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C7F5D1-163C-48AE-8A82-B0D582CB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A431926-225F-4298-A3F8-88FD8A1B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8C9A20-E56F-46EE-BB2A-D495D8C9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Credible Path to 10,000 Users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600173AE-9F9B-449D-A6B8-BE1B72C8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allocation combines existing adoption with survey opportunity</a:t>
            </a:r>
          </a:p>
        </p:txBody>
      </p:sp>
      <p:sp>
        <p:nvSpPr>
          <p:cNvPr id="6" name="bridge-number-0">
            <a:extLst xmlns:a="http://schemas.openxmlformats.org/drawingml/2006/main">
              <a:ext uri="{FF2B5EF4-FFF2-40B4-BE49-F238E27FC236}">
                <a16:creationId xmlns:a16="http://schemas.microsoft.com/office/drawing/2014/main" id="{0B1DCA2C-1688-4591-A08B-FD02D2BE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1,310</a:t>
            </a:r>
          </a:p>
        </p:txBody>
      </p:sp>
      <p:sp>
        <p:nvSpPr>
          <p:cNvPr id="7" name="bridge-label-0">
            <a:extLst xmlns:a="http://schemas.openxmlformats.org/drawingml/2006/main">
              <a:ext uri="{FF2B5EF4-FFF2-40B4-BE49-F238E27FC236}">
                <a16:creationId xmlns:a16="http://schemas.microsoft.com/office/drawing/2014/main" id="{F1939187-C532-48AA-88BC-0B0234DC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users</a:t>
            </a:r>
          </a:p>
        </p:txBody>
      </p:sp>
      <p:sp>
        <p:nvSpPr>
          <p:cNvPr id="8" name="bridge-detail-0">
            <a:extLst xmlns:a="http://schemas.openxmlformats.org/drawingml/2006/main">
              <a:ext uri="{FF2B5EF4-FFF2-40B4-BE49-F238E27FC236}">
                <a16:creationId xmlns:a16="http://schemas.microsoft.com/office/drawing/2014/main" id="{CBD779BA-B5BA-4A52-AA41-E1D535EA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Supplied customer base</a:t>
            </a:r>
          </a:p>
        </p:txBody>
      </p:sp>
      <p:sp>
        <p:nvSpPr>
          <p:cNvPr id="9" name="bridge-number-1">
            <a:extLst xmlns:a="http://schemas.openxmlformats.org/drawingml/2006/main">
              <a:ext uri="{FF2B5EF4-FFF2-40B4-BE49-F238E27FC236}">
                <a16:creationId xmlns:a16="http://schemas.microsoft.com/office/drawing/2014/main" id="{9D54A053-C816-4BF2-901C-042C765F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+262</a:t>
            </a:r>
          </a:p>
        </p:txBody>
      </p:sp>
      <p:sp>
        <p:nvSpPr>
          <p:cNvPr id="10" name="bridge-label-1">
            <a:extLst xmlns:a="http://schemas.openxmlformats.org/drawingml/2006/main">
              <a:ext uri="{FF2B5EF4-FFF2-40B4-BE49-F238E27FC236}">
                <a16:creationId xmlns:a16="http://schemas.microsoft.com/office/drawing/2014/main" id="{07C81805-F157-4F06-80B8-F6C412EF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growth</a:t>
            </a:r>
          </a:p>
        </p:txBody>
      </p:sp>
      <p:sp>
        <p:nvSpPr>
          <p:cNvPr id="11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358A4F96-AC56-4B46-AE8E-33E35B56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20% Year 1 assumption</a:t>
            </a:r>
          </a:p>
        </p:txBody>
      </p:sp>
      <p:sp>
        <p:nvSpPr>
          <p:cNvPr id="12" name="bridge-number-2">
            <a:extLst xmlns:a="http://schemas.openxmlformats.org/drawingml/2006/main">
              <a:ext uri="{FF2B5EF4-FFF2-40B4-BE49-F238E27FC236}">
                <a16:creationId xmlns:a16="http://schemas.microsoft.com/office/drawing/2014/main" id="{8233F8F5-E64E-4417-9DCF-899685AA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+4,921</a:t>
            </a:r>
          </a:p>
        </p:txBody>
      </p:sp>
      <p:sp>
        <p:nvSpPr>
          <p:cNvPr id="13" name="bridge-label-2">
            <a:extLst xmlns:a="http://schemas.openxmlformats.org/drawingml/2006/main">
              <a:ext uri="{FF2B5EF4-FFF2-40B4-BE49-F238E27FC236}">
                <a16:creationId xmlns:a16="http://schemas.microsoft.com/office/drawing/2014/main" id="{ED27BDD7-D19F-43C0-874F-2B5AE028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Survey minimum</a:t>
            </a:r>
          </a:p>
        </p:txBody>
      </p:sp>
      <p:sp>
        <p:nvSpPr>
          <p:cNvPr id="14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062F1CF7-49CA-4F72-902C-B8BDC06B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/ expected users</a:t>
            </a:r>
          </a:p>
        </p:txBody>
      </p:sp>
      <p:sp>
        <p:nvSpPr>
          <p:cNvPr id="15" name="bridge-number-3">
            <a:extLst xmlns:a="http://schemas.openxmlformats.org/drawingml/2006/main">
              <a:ext uri="{FF2B5EF4-FFF2-40B4-BE49-F238E27FC236}">
                <a16:creationId xmlns:a16="http://schemas.microsoft.com/office/drawing/2014/main" id="{625537CD-136B-4A84-98B0-CEDDB49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67085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667085"/>
                </a:solidFill>
                <a:latin typeface="Spartan"/>
                <a:ea typeface="Spartan"/>
                <a:cs typeface="Spartan"/>
              </a:rPr>
              <a:t>+3,507</a:t>
            </a:r>
          </a:p>
        </p:txBody>
      </p:sp>
      <p:sp>
        <p:nvSpPr>
          <p:cNvPr id="16" name="bridge-label-3">
            <a:extLst xmlns:a="http://schemas.openxmlformats.org/drawingml/2006/main">
              <a:ext uri="{FF2B5EF4-FFF2-40B4-BE49-F238E27FC236}">
                <a16:creationId xmlns:a16="http://schemas.microsoft.com/office/drawing/2014/main" id="{6084A3F0-7B90-4518-8F58-C61C68F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Other entities</a:t>
            </a:r>
          </a:p>
        </p:txBody>
      </p:sp>
      <p:sp>
        <p:nvSpPr>
          <p:cNvPr id="17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0F3CA474-5318-4392-BD5A-041AE93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Additional adoption target</a:t>
            </a:r>
          </a:p>
        </p:txBody>
      </p:sp>
      <p:sp>
        <p:nvSpPr>
          <p:cNvPr id="18" name="bridge-number-4">
            <a:extLst xmlns:a="http://schemas.openxmlformats.org/drawingml/2006/main">
              <a:ext uri="{FF2B5EF4-FFF2-40B4-BE49-F238E27FC236}">
                <a16:creationId xmlns:a16="http://schemas.microsoft.com/office/drawing/2014/main" id="{583A7117-9FF8-447C-B0C1-F160902E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19" name="bridge-label-4">
            <a:extLst xmlns:a="http://schemas.openxmlformats.org/drawingml/2006/main">
              <a:ext uri="{FF2B5EF4-FFF2-40B4-BE49-F238E27FC236}">
                <a16:creationId xmlns:a16="http://schemas.microsoft.com/office/drawing/2014/main" id="{2DB1891F-2398-47E6-9BA1-5829D97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Commitment</a:t>
            </a:r>
          </a:p>
        </p:txBody>
      </p:sp>
      <p:sp>
        <p:nvSpPr>
          <p:cNvPr id="20" name="bridge-detail-4">
            <a:extLst xmlns:a="http://schemas.openxmlformats.org/drawingml/2006/main">
              <a:ext uri="{FF2B5EF4-FFF2-40B4-BE49-F238E27FC236}">
                <a16:creationId xmlns:a16="http://schemas.microsoft.com/office/drawing/2014/main" id="{F124020C-CF95-4AA2-8A38-AE885D05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Modeled allocation</a:t>
            </a:r>
          </a:p>
        </p:txBody>
      </p:sp>
      <p:sp>
        <p:nvSpPr>
          <p:cNvPr id="21" name="coverage">
            <a:extLst xmlns:a="http://schemas.openxmlformats.org/drawingml/2006/main">
              <a:ext uri="{FF2B5EF4-FFF2-40B4-BE49-F238E27FC236}">
                <a16:creationId xmlns:a16="http://schemas.microsoft.com/office/drawing/2014/main" id="{34102080-D69B-4193-95A0-A6B5F7C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64.93% in the modeled existing / growth / survey allocation</a:t>
            </a:r>
          </a:p>
        </p:txBody>
      </p:sp>
      <p:sp>
        <p:nvSpPr>
          <p:cNvPr id="2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6B08A360-9981-4BC9-8527-7AA398E6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Survey counts are added without overlap deduction; this is not unique committed demand.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Other target equates to about 65 users across each of 54 unsurveyed entities.</a:t>
            </a:r>
          </a:p>
        </p:txBody>
      </p:sp>
    </p:spTree>
    <p:extLst>
      <p:ext uri="{BB962C8B-B14F-4D97-AF65-F5344CB8AC3E}">
        <p14:creationId xmlns:p14="http://schemas.microsoft.com/office/powerpoint/2010/main" val="419287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02cbdd93f407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E10A73-3253-4970-BF17-69C364AB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2ED07F2-8407-4E5F-B38F-7277E178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567DDF-8363-4B82-B7AC-EC6C598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More Value for Every Dirham</a:t>
            </a:r>
          </a:p>
        </p:txBody>
      </p:sp>
      <p:sp>
        <p:nvSpPr>
          <p:cNvPr id="5" name="pillar-0">
            <a:extLst xmlns:a="http://schemas.openxmlformats.org/drawingml/2006/main">
              <a:ext uri="{FF2B5EF4-FFF2-40B4-BE49-F238E27FC236}">
                <a16:creationId xmlns:a16="http://schemas.microsoft.com/office/drawing/2014/main" id="{325C4403-8E4F-4264-AE89-14C5560E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Lower subscription cost</a:t>
            </a:r>
          </a:p>
        </p:txBody>
      </p:sp>
      <p:sp>
        <p:nvSpPr>
          <p:cNvPr id="6" name="pillar-1">
            <a:extLst xmlns:a="http://schemas.openxmlformats.org/drawingml/2006/main">
              <a:ext uri="{FF2B5EF4-FFF2-40B4-BE49-F238E27FC236}">
                <a16:creationId xmlns:a16="http://schemas.microsoft.com/office/drawing/2014/main" id="{A13E936A-FEBE-4936-AC5F-6D29DB38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Enterprise access</a:t>
            </a:r>
          </a:p>
        </p:txBody>
      </p:sp>
      <p:sp>
        <p:nvSpPr>
          <p:cNvPr id="7" name="pillar-2">
            <a:extLst xmlns:a="http://schemas.openxmlformats.org/drawingml/2006/main">
              <a:ext uri="{FF2B5EF4-FFF2-40B4-BE49-F238E27FC236}">
                <a16:creationId xmlns:a16="http://schemas.microsoft.com/office/drawing/2014/main" id="{B27D32EB-20E7-47CF-B35F-255F1BC9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certainty</a:t>
            </a:r>
          </a:p>
        </p:txBody>
      </p:sp>
      <p:sp>
        <p:nvSpPr>
          <p:cNvPr id="8" name="price-reduction">
            <a:extLst xmlns:a="http://schemas.openxmlformats.org/drawingml/2006/main">
              <a:ext uri="{FF2B5EF4-FFF2-40B4-BE49-F238E27FC236}">
                <a16:creationId xmlns:a16="http://schemas.microsoft.com/office/drawing/2014/main" id="{E70BF916-2926-4D71-B37C-F0B19DF4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19.87%</a:t>
            </a:r>
          </a:p>
        </p:txBody>
      </p:sp>
      <p:sp>
        <p:nvSpPr>
          <p:cNvPr id="9" name="cost-copy">
            <a:extLst xmlns:a="http://schemas.openxmlformats.org/drawingml/2006/main">
              <a:ext uri="{FF2B5EF4-FFF2-40B4-BE49-F238E27FC236}">
                <a16:creationId xmlns:a16="http://schemas.microsoft.com/office/drawing/2014/main" id="{2F34A712-B57B-48C9-9F6A-D35FE4C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below the existing weighted</a:t>
            </a:r>
          </a:p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price</a:t>
            </a:r>
          </a:p>
        </p:txBody>
      </p:sp>
      <p:sp>
        <p:nvSpPr>
          <p:cNvPr id="10" name="current-saving">
            <a:extLst xmlns:a="http://schemas.openxmlformats.org/drawingml/2006/main">
              <a:ext uri="{FF2B5EF4-FFF2-40B4-BE49-F238E27FC236}">
                <a16:creationId xmlns:a16="http://schemas.microsoft.com/office/drawing/2014/main" id="{B44A5AB9-EE6B-4080-87B6-866D00C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383,370 / year</a:t>
            </a:r>
          </a:p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for today’s 1,310 users</a:t>
            </a:r>
          </a:p>
        </p:txBody>
      </p:sp>
      <p:sp>
        <p:nvSpPr>
          <p:cNvPr id="11" name="enterprise">
            <a:extLst xmlns:a="http://schemas.openxmlformats.org/drawingml/2006/main">
              <a:ext uri="{FF2B5EF4-FFF2-40B4-BE49-F238E27FC236}">
                <a16:creationId xmlns:a16="http://schemas.microsoft.com/office/drawing/2014/main" id="{FD41416E-A6E3-48D7-A54B-F50E3F3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0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Enterprise</a:t>
            </a:r>
          </a:p>
        </p:txBody>
      </p:sp>
      <p:sp>
        <p:nvSpPr>
          <p:cNvPr id="12" name="enterprise-copy">
            <a:extLst xmlns:a="http://schemas.openxmlformats.org/drawingml/2006/main">
              <a:ext uri="{FF2B5EF4-FFF2-40B4-BE49-F238E27FC236}">
                <a16:creationId xmlns:a16="http://schemas.microsoft.com/office/drawing/2014/main" id="{C1367449-CE18-4A4F-B623-CE05428A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1480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Common capabilities for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participating entities.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Most agreed feature add-ons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included.</a:t>
            </a:r>
          </a:p>
        </p:txBody>
      </p:sp>
      <p:sp>
        <p:nvSpPr>
          <p:cNvPr id="13" name="lock">
            <a:extLst xmlns:a="http://schemas.openxmlformats.org/drawingml/2006/main">
              <a:ext uri="{FF2B5EF4-FFF2-40B4-BE49-F238E27FC236}">
                <a16:creationId xmlns:a16="http://schemas.microsoft.com/office/drawing/2014/main" id="{6EA9A56C-1FBC-4122-9E13-4146FCA9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No indexation</a:t>
            </a:r>
          </a:p>
        </p:txBody>
      </p:sp>
      <p:sp>
        <p:nvSpPr>
          <p:cNvPr id="14" name="lock-copy">
            <a:extLst xmlns:a="http://schemas.openxmlformats.org/drawingml/2006/main">
              <a:ext uri="{FF2B5EF4-FFF2-40B4-BE49-F238E27FC236}">
                <a16:creationId xmlns:a16="http://schemas.microsoft.com/office/drawing/2014/main" id="{849B50E1-239B-4AF7-83D3-3C750CB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Annual billing with a locked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unit price.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Paid-user growth changes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annual budget.</a:t>
            </a:r>
          </a:p>
        </p:txBody>
      </p:sp>
      <p:sp>
        <p:nvSpPr>
          <p:cNvPr id="1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711DDC8B-9C8F-46A8-BDFB-76E0F23E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Included add-ons offer indicative additional value of ~AED 20,000 per entity/year.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value is outside subscription savings and depends on entity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572661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ca21930b4402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D50993-1AE4-466E-A6C8-140C7109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84E5A08-6172-4B88-9A08-0F916B19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847B12-E4CE-4075-89BF-40463461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Establish Circularo Enterprise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 a Dubai Government Shared Service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4AF20BA-FE44-4EA7-8E11-0DFBFF46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4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the five-year central framework, starting with 10,000 users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463B0412-C543-40E7-8E5A-5A6CDC8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8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11.80m</a:t>
            </a:r>
          </a:p>
        </p:txBody>
      </p:sp>
      <p:sp>
        <p:nvSpPr>
          <p:cNvPr id="7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2A91B52A-D9DC-4687-A225-66A9981A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subscription</a:t>
            </a:r>
          </a:p>
        </p:txBody>
      </p:sp>
      <p:sp>
        <p:nvSpPr>
          <p:cNvPr id="8" name="budget-details">
            <a:extLst xmlns:a="http://schemas.openxmlformats.org/drawingml/2006/main">
              <a:ext uri="{FF2B5EF4-FFF2-40B4-BE49-F238E27FC236}">
                <a16:creationId xmlns:a16="http://schemas.microsoft.com/office/drawing/2014/main" id="{5148DE52-9267-432B-9B10-C39F9C9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Plus AED 1.652m support under the model</a:t>
            </a:r>
          </a:p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Recurring budget: AED 13.452m before other charges</a:t>
            </a:r>
          </a:p>
        </p:txBody>
      </p:sp>
      <p:sp>
        <p:nvSpPr>
          <p:cNvPr id="9" name="terms">
            <a:extLst xmlns:a="http://schemas.openxmlformats.org/drawingml/2006/main">
              <a:ext uri="{FF2B5EF4-FFF2-40B4-BE49-F238E27FC236}">
                <a16:creationId xmlns:a16="http://schemas.microsoft.com/office/drawing/2014/main" id="{CA6B7B95-2176-4685-A944-9F9CA1C0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4286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per user/year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Annual billing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No unit-price indexation for five years</a:t>
            </a:r>
          </a:p>
        </p:txBody>
      </p:sp>
      <p:sp>
        <p:nvSpPr>
          <p:cNvPr id="10" name="next">
            <a:extLst xmlns:a="http://schemas.openxmlformats.org/drawingml/2006/main">
              <a:ext uri="{FF2B5EF4-FFF2-40B4-BE49-F238E27FC236}">
                <a16:creationId xmlns:a16="http://schemas.microsoft.com/office/drawing/2014/main" id="{0057AA9E-A24F-4F59-970D-0535B0F8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 sponsors procurement and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confirms entity allocations, funding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and onboarding sequence.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F9C9B0F7-A9E8-489E-94CE-573FB33C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New-entity onboarding: AED 20,000 once per new entity. Optional modules are extra.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At exactly 10K, the model uses 14% support. The 12.5% proposal applies above 10K.</a:t>
            </a:r>
          </a:p>
        </p:txBody>
      </p:sp>
    </p:spTree>
    <p:extLst>
      <p:ext uri="{BB962C8B-B14F-4D97-AF65-F5344CB8AC3E}">
        <p14:creationId xmlns:p14="http://schemas.microsoft.com/office/powerpoint/2010/main" val="1458159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53a2d86884d2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EEC93C-2C8D-4680-969A-B571E1A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F5AFF0F-7B7B-44D6-81BF-F3C843B9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D8BB9C-AEA9-4F04-AF5F-4709F3E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Savings against current customer prices</a:t>
            </a:r>
          </a:p>
        </p:txBody>
      </p:sp>
      <p:sp>
        <p:nvSpPr>
          <p:cNvPr id="5" name="basis">
            <a:extLst xmlns:a="http://schemas.openxmlformats.org/drawingml/2006/main">
              <a:ext uri="{FF2B5EF4-FFF2-40B4-BE49-F238E27FC236}">
                <a16:creationId xmlns:a16="http://schemas.microsoft.com/office/drawing/2014/main" id="{5232EBFD-9F8E-4FF2-AD76-DB57B457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Today’s 1,310 users, allocated the central AED 1,180 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1000125"/>
                <a:gridCol w="2333625"/>
                <a:gridCol w="3419475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Customer / project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Current AED/user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Saving AED/year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DDA VIP project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1,850.94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33,547.00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Digital Dubai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103,250.00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Culture &amp; Arts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2,212.48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25,812.00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Electronic Security Center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2,507.50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79,650.00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PCFC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2,159.43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24,485.75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Roads and Transport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1,245.00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65,000.00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His Highness the Rulers Court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51,625.00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1,310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1,472.65 weighted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383,369.75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BAE2F58-9BF4-427D-8CC0-C493DB7C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Year 1 existing growth adds 262 users: total cohort savings rise to AED 460,043.70.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Source prices are user-supplied. Support excluded; the full 10K commitment is payable.</a:t>
            </a:r>
          </a:p>
        </p:txBody>
      </p:sp>
    </p:spTree>
    <p:extLst>
      <p:ext uri="{BB962C8B-B14F-4D97-AF65-F5344CB8AC3E}">
        <p14:creationId xmlns:p14="http://schemas.microsoft.com/office/powerpoint/2010/main" val="635755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c64adfd2240a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2BA5E9-8C2A-49AF-A2C2-511057B6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2B5688C-686B-478B-BB6E-33E605C1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70A402-2BE3-4CFD-814C-D9089C05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Survey evidence and its limits</a:t>
            </a:r>
          </a:p>
        </p:txBody>
      </p:sp>
      <p:sp>
        <p:nvSpPr>
          <p:cNvPr id="5" name="survey-intro">
            <a:extLst xmlns:a="http://schemas.openxmlformats.org/drawingml/2006/main">
              <a:ext uri="{FF2B5EF4-FFF2-40B4-BE49-F238E27FC236}">
                <a16:creationId xmlns:a16="http://schemas.microsoft.com/office/drawing/2014/main" id="{F9BCC561-2B21-4612-91A4-3E88AB71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21 quantified current / expected user responses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2686050"/>
          <a:ext xmlns:a="http://schemas.openxmlformats.org/drawingml/2006/main" cx="71818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1714500"/>
                <a:gridCol w="23241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 per entity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Responses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Minimum 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1–50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51–100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101–500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More than 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spondents">
            <a:extLst xmlns:a="http://schemas.openxmlformats.org/drawingml/2006/main">
              <a:ext uri="{FF2B5EF4-FFF2-40B4-BE49-F238E27FC236}">
                <a16:creationId xmlns:a16="http://schemas.microsoft.com/office/drawing/2014/main" id="{F58DE503-1401-4AE9-831A-56FFEB92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38 entities surveyed</a:t>
            </a:r>
          </a:p>
        </p:txBody>
      </p:sp>
      <p:sp>
        <p:nvSpPr>
          <p:cNvPr id="8" name="signals">
            <a:extLst xmlns:a="http://schemas.openxmlformats.org/drawingml/2006/main">
              <a:ext uri="{FF2B5EF4-FFF2-40B4-BE49-F238E27FC236}">
                <a16:creationId xmlns:a16="http://schemas.microsoft.com/office/drawing/2014/main" id="{D2E38EBA-3CDC-4A4B-A198-49974B7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476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21 already use e-signatures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16 express current/future interest</a:t>
            </a:r>
          </a:p>
        </p:txBody>
      </p:sp>
      <p:sp>
        <p:nvSpPr>
          <p:cNvPr id="9" name="growth">
            <a:extLst xmlns:a="http://schemas.openxmlformats.org/drawingml/2006/main">
              <a:ext uri="{FF2B5EF4-FFF2-40B4-BE49-F238E27FC236}">
                <a16:creationId xmlns:a16="http://schemas.microsoft.com/office/drawing/2014/main" id="{1AA1C1EA-B772-49C7-9B14-D9B98F1F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77.27%</a:t>
            </a:r>
          </a:p>
        </p:txBody>
      </p:sp>
      <p:sp>
        <p:nvSpPr>
          <p:cNvPr id="10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841EC575-C05A-4CAE-86D1-7DE4A1D8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3505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expect growth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13 of 17 cite more users (76.47%)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B262BDC3-C513-472C-AB4A-198E3E4A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One further user response is unspecified. Survey overlap with existing customers is unresolved.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16 interested entities add no extra quantified users to this model.</a:t>
            </a:r>
          </a:p>
        </p:txBody>
      </p:sp>
    </p:spTree>
    <p:extLst>
      <p:ext uri="{BB962C8B-B14F-4D97-AF65-F5344CB8AC3E}">
        <p14:creationId xmlns:p14="http://schemas.microsoft.com/office/powerpoint/2010/main" val="2131056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1aa103aba479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E33365-487D-468D-9285-E242E426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E166B4A-D18C-4D4F-8BE8-7ECDB1B5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5F6B13-F203-4727-8D73-D0909794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adoption and subscription profile</a:t>
            </a:r>
          </a:p>
        </p:txBody>
      </p:sp>
      <p:sp>
        <p:nvSpPr>
          <p:cNvPr id="5" name="growth-assumption">
            <a:extLst xmlns:a="http://schemas.openxmlformats.org/drawingml/2006/main">
              <a:ext uri="{FF2B5EF4-FFF2-40B4-BE49-F238E27FC236}">
                <a16:creationId xmlns:a16="http://schemas.microsoft.com/office/drawing/2014/main" id="{0C8D4876-ED81-47AF-83C5-0ACA6CA6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20% existing-user growth in Year 1; 5% annual growth for all cohorts thereafter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69557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1638300"/>
                <a:gridCol w="1638300"/>
                <a:gridCol w="1638300"/>
                <a:gridCol w="1638300"/>
                <a:gridCol w="1638300"/>
              </a:tblGrid>
              <a:tr h="3986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/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1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2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3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4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5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incl. growth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1,572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1,651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1,734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1,912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Survey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5,167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5,425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5,696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5,981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Other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3,507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3,682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3,866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4,059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4,262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Paid users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10,500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11,025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11,576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12,155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AED/user/year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Subscription AED m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11.80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12.39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13.01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13.66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14.34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148A8D9-C103-4B07-91AF-C513DD9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Five-year subscription: AED 65.20m. Support, onboarding and optional modules are separate.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AED 1,180 rate remains locked even when forecast users exceed 12,000.</a:t>
            </a:r>
          </a:p>
        </p:txBody>
      </p:sp>
    </p:spTree>
    <p:extLst>
      <p:ext uri="{BB962C8B-B14F-4D97-AF65-F5344CB8AC3E}">
        <p14:creationId xmlns:p14="http://schemas.microsoft.com/office/powerpoint/2010/main" val="16488994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61157f497436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A9F590-E7C5-4367-B5BB-19C0A9EE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9FC0559-31E3-4C20-A666-57B6676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160AD8-579D-4693-82BF-55004FB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subscription economics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6000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6036152a664fd1"/>
          </a:graphicData>
        </a:graphic>
      </p:graphicFrame>
      <p:sp>
        <p:nvSpPr>
          <p:cNvPr id="6" name="modeled-benefit">
            <a:extLst xmlns:a="http://schemas.openxmlformats.org/drawingml/2006/main">
              <a:ext uri="{FF2B5EF4-FFF2-40B4-BE49-F238E27FC236}">
                <a16:creationId xmlns:a16="http://schemas.microsoft.com/office/drawing/2014/main" id="{B6C25351-F652-44DB-90B3-110FF1C6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8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84.96m</a:t>
            </a:r>
          </a:p>
        </p:txBody>
      </p:sp>
      <p:sp>
        <p:nvSpPr>
          <p:cNvPr id="7" name="modeled-label">
            <a:extLst xmlns:a="http://schemas.openxmlformats.org/drawingml/2006/main">
              <a:ext uri="{FF2B5EF4-FFF2-40B4-BE49-F238E27FC236}">
                <a16:creationId xmlns:a16="http://schemas.microsoft.com/office/drawing/2014/main" id="{FD073348-9976-4BF7-9309-FC3C986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modeled subscription benefit</a:t>
            </a:r>
          </a:p>
        </p:txBody>
      </p:sp>
      <p:sp>
        <p:nvSpPr>
          <p:cNvPr id="8" name="basis">
            <a:extLst xmlns:a="http://schemas.openxmlformats.org/drawingml/2006/main">
              <a:ext uri="{FF2B5EF4-FFF2-40B4-BE49-F238E27FC236}">
                <a16:creationId xmlns:a16="http://schemas.microsoft.com/office/drawing/2014/main" id="{35392E0B-17EB-4293-8995-ACEB26DB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62425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Existing: supplied current prices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/ Other: AED 2,950 list-price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benchmark until matched costs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are available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765FAE18-773C-4291-8964-B020A8F7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is modeled opportunity, not audited government cash savings or a complete project ROI.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Support, onboarding and indicative add-on value are excluded from the benefit.</a:t>
            </a:r>
          </a:p>
        </p:txBody>
      </p:sp>
    </p:spTree>
    <p:extLst>
      <p:ext uri="{BB962C8B-B14F-4D97-AF65-F5344CB8AC3E}">
        <p14:creationId xmlns:p14="http://schemas.microsoft.com/office/powerpoint/2010/main" val="1777099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25c551a4f436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C918F7-F885-489E-9820-44778258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8D05DDD-D2E1-4C20-9B00-52E41AD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C8784B-44C9-492F-96D5-8B73A9F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Additional commercial value and charges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112776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4514850"/>
                <a:gridCol w="4238625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Item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Commercial proposition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Treatment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Enterprise package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Most agreed feature add-ons included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~AED 20K/entity/year indicative value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Support above 10K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12.5% versus 25% standard rate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50% lower rate on the same fee base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New-entity onboarding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 20,000 once per new entity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entities exempt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Specialist modules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KYC, DESC eSeal Certificates,</a:t>
                      </a:r>
                    </a:p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Collaboration &amp; DMS, AI Services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Purchased separately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6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11E65564-6925-4D6E-8B95-6898792B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These additional benefits are outside the subscription-savings total.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12.5% support applies strictly above 10K; the exact 10K model uses 14%.</a:t>
            </a:r>
          </a:p>
        </p:txBody>
      </p:sp>
    </p:spTree>
    <p:extLst>
      <p:ext uri="{BB962C8B-B14F-4D97-AF65-F5344CB8AC3E}">
        <p14:creationId xmlns:p14="http://schemas.microsoft.com/office/powerpoint/2010/main" val="2018898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399c4cb7a49f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A8A16B-1BF6-4E30-AEEA-462684B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89507D9-59D7-4B0C-BCE2-C1D8C6B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MANAGEMENT DISCUSSION / OPTIONAL DETAIL 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377781-DFBE-47EB-843A-8803BA37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Scale beyond the initial 10K commitment</a:t>
            </a:r>
          </a:p>
        </p:txBody>
      </p:sp>
      <p:sp>
        <p:nvSpPr>
          <p:cNvPr id="5" name="population">
            <a:extLst xmlns:a="http://schemas.openxmlformats.org/drawingml/2006/main">
              <a:ext uri="{FF2B5EF4-FFF2-40B4-BE49-F238E27FC236}">
                <a16:creationId xmlns:a16="http://schemas.microsoft.com/office/drawing/2014/main" id="{C2778FA9-E24C-4924-AF76-AA87B772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76,000</a:t>
            </a:r>
          </a:p>
        </p:txBody>
      </p:sp>
      <p:sp>
        <p:nvSpPr>
          <p:cNvPr id="6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A8552BC2-6A69-4424-8291-652C1EA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employees in the planning population</a:t>
            </a:r>
          </a:p>
        </p:txBody>
      </p:sp>
      <p:sp>
        <p:nvSpPr>
          <p:cNvPr id="7" name="share">
            <a:extLst xmlns:a="http://schemas.openxmlformats.org/drawingml/2006/main">
              <a:ext uri="{FF2B5EF4-FFF2-40B4-BE49-F238E27FC236}">
                <a16:creationId xmlns:a16="http://schemas.microsoft.com/office/drawing/2014/main" id="{BF854028-2627-46E2-BD8D-7F0AB04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20%</a:t>
            </a:r>
          </a:p>
        </p:txBody>
      </p:sp>
      <p:sp>
        <p:nvSpPr>
          <p:cNvPr id="8" name="share-label">
            <a:extLst xmlns:a="http://schemas.openxmlformats.org/drawingml/2006/main">
              <a:ext uri="{FF2B5EF4-FFF2-40B4-BE49-F238E27FC236}">
                <a16:creationId xmlns:a16="http://schemas.microsoft.com/office/drawing/2014/main" id="{D17C0D99-B94B-4D7A-8A0A-7DAEF6FB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242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assumed potential adoption</a:t>
            </a:r>
          </a:p>
        </p:txBody>
      </p:sp>
      <p:sp>
        <p:nvSpPr>
          <p:cNvPr id="9" name="potential">
            <a:extLst xmlns:a="http://schemas.openxmlformats.org/drawingml/2006/main">
              <a:ext uri="{FF2B5EF4-FFF2-40B4-BE49-F238E27FC236}">
                <a16:creationId xmlns:a16="http://schemas.microsoft.com/office/drawing/2014/main" id="{D7E2FD87-2C11-4072-B98A-0384C81C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52700"/>
            <a:ext cx="265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15,200</a:t>
            </a:r>
          </a:p>
        </p:txBody>
      </p:sp>
      <p:sp>
        <p:nvSpPr>
          <p:cNvPr id="10" name="potential-label">
            <a:extLst xmlns:a="http://schemas.openxmlformats.org/drawingml/2006/main">
              <a:ext uri="{FF2B5EF4-FFF2-40B4-BE49-F238E27FC236}">
                <a16:creationId xmlns:a16="http://schemas.microsoft.com/office/drawing/2014/main" id="{28C75325-D07B-44D2-95AE-841477E0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24250"/>
            <a:ext cx="2657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potential users</a:t>
            </a:r>
          </a:p>
        </p:txBody>
      </p:sp>
      <p:sp>
        <p:nvSpPr>
          <p:cNvPr id="11" name="scale-price">
            <a:extLst xmlns:a="http://schemas.openxmlformats.org/drawingml/2006/main">
              <a:ext uri="{FF2B5EF4-FFF2-40B4-BE49-F238E27FC236}">
                <a16:creationId xmlns:a16="http://schemas.microsoft.com/office/drawing/2014/main" id="{A3FE14CF-BDD2-4D0A-BE12-9DCDE0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full-scale illustration: AED 1,032.50/user/year</a:t>
            </a:r>
          </a:p>
        </p:txBody>
      </p:sp>
      <p:sp>
        <p:nvSpPr>
          <p:cNvPr id="1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A3BB8F9-4AAE-459A-85D1-0D4B9037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Estimated planning potential, not committed demand or an additional cohort.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 15,200 users: AED 15.694m annual subscription. Support is separate.</a:t>
            </a:r>
          </a:p>
        </p:txBody>
      </p:sp>
    </p:spTree>
    <p:extLst>
      <p:ext uri="{BB962C8B-B14F-4D97-AF65-F5344CB8AC3E}">
        <p14:creationId xmlns:p14="http://schemas.microsoft.com/office/powerpoint/2010/main" val="573700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2026-09-21T16:13:42.3700000Z</dcterms:created>
  <dcterms:modified xsi:type="dcterms:W3CDTF">2026-09-21T16:13:42.3700000Z</dcterms:modified>
</coreProperties>
</file>