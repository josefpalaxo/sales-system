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913eeef3762545e4" Type="http://schemas.openxmlformats.org/officeDocument/2006/relationships/extended-properties" Target="docProps/app.xml"/><Relationship Id="R950e6a3d3168428f" Type="http://schemas.openxmlformats.org/officeDocument/2006/relationships/officeDocument" Target="ppt/presentation.xml"/><Relationship Id="Rbe6d1a9500344b26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d7f51c01f140f1"/>
  </p:sldMasterIdLst>
  <p:notesMasterIdLst>
    <p:notesMasterId xmlns:r="http://schemas.openxmlformats.org/officeDocument/2006/relationships" r:id="R031c4c8971e44beb"/>
  </p:notesMasterIdLst>
  <p:sldIdLst>
    <p:sldId xmlns:r="http://schemas.openxmlformats.org/officeDocument/2006/relationships" id="256" r:id="R05aec02a70b64aa6"/>
    <p:sldId xmlns:r="http://schemas.openxmlformats.org/officeDocument/2006/relationships" id="257" r:id="Raad12731a1ee47fa"/>
    <p:sldId xmlns:r="http://schemas.openxmlformats.org/officeDocument/2006/relationships" id="258" r:id="R121229264db24ca1"/>
    <p:sldId xmlns:r="http://schemas.openxmlformats.org/officeDocument/2006/relationships" id="259" r:id="Rb1f7dd2b57584923"/>
    <p:sldId xmlns:r="http://schemas.openxmlformats.org/officeDocument/2006/relationships" id="260" r:id="R0fc5fdcdead149a1"/>
    <p:sldId xmlns:r="http://schemas.openxmlformats.org/officeDocument/2006/relationships" id="261" r:id="R27afa1d397654f55"/>
    <p:sldId xmlns:r="http://schemas.openxmlformats.org/officeDocument/2006/relationships" id="262" r:id="R804aa9aebc644fe3"/>
    <p:sldId xmlns:r="http://schemas.openxmlformats.org/officeDocument/2006/relationships" id="263" r:id="R3075125d3d244cee"/>
    <p:sldId xmlns:r="http://schemas.openxmlformats.org/officeDocument/2006/relationships" id="264" r:id="R4e8bfcc4c10546b3"/>
    <p:sldId xmlns:r="http://schemas.openxmlformats.org/officeDocument/2006/relationships" id="265" r:id="R8e5278f84b4044f2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1c4c8971e44beb" Type="http://schemas.openxmlformats.org/officeDocument/2006/relationships/notesMaster" Target="notesMasters/notesMaster1.xml"/><Relationship Id="R05aec02a70b64aa6" Type="http://schemas.openxmlformats.org/officeDocument/2006/relationships/slide" Target="slides/slide1.xml"/><Relationship Id="R0fc5fdcdead149a1" Type="http://schemas.openxmlformats.org/officeDocument/2006/relationships/slide" Target="slides/slide5.xml"/><Relationship Id="R121229264db24ca1" Type="http://schemas.openxmlformats.org/officeDocument/2006/relationships/slide" Target="slides/slide3.xml"/><Relationship Id="R27afa1d397654f55" Type="http://schemas.openxmlformats.org/officeDocument/2006/relationships/slide" Target="slides/slide6.xml"/><Relationship Id="R3075125d3d244cee" Type="http://schemas.openxmlformats.org/officeDocument/2006/relationships/slide" Target="slides/slide8.xml"/><Relationship Id="R39b7113891644ec3" Type="http://schemas.openxmlformats.org/officeDocument/2006/relationships/theme" Target="theme/theme1.xml"/><Relationship Id="R3e28b1c6f48a46db" Type="http://schemas.openxmlformats.org/officeDocument/2006/relationships/tableStyles" Target="tableStyles.xml"/><Relationship Id="R4e8bfcc4c10546b3" Type="http://schemas.openxmlformats.org/officeDocument/2006/relationships/slide" Target="slides/slide9.xml"/><Relationship Id="R804aa9aebc644fe3" Type="http://schemas.openxmlformats.org/officeDocument/2006/relationships/slide" Target="slides/slide7.xml"/><Relationship Id="R8dd7f51c01f140f1" Type="http://schemas.openxmlformats.org/officeDocument/2006/relationships/slideMaster" Target="slideMasters/slideMaster1.xml"/><Relationship Id="R8e3ab0011c2c4484" Type="http://schemas.openxmlformats.org/officeDocument/2006/relationships/presProps" Target="presProps.xml"/><Relationship Id="R8e5278f84b4044f2" Type="http://schemas.openxmlformats.org/officeDocument/2006/relationships/slide" Target="slides/slide10.xml"/><Relationship Id="Raad12731a1ee47fa" Type="http://schemas.openxmlformats.org/officeDocument/2006/relationships/slide" Target="slides/slide2.xml"/><Relationship Id="Rb1f7dd2b57584923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490fa5990d99448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2d8b0729b3844e8" Type="http://schemas.openxmlformats.org/officeDocument/2006/relationships/slide" Target="../slides/slide1.xml"/><Relationship Id="Rff78b5163bfa4f8d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89fe7b7074b468c" Type="http://schemas.openxmlformats.org/officeDocument/2006/relationships/slide" Target="../slides/slide2.xml"/><Relationship Id="R9cdc5677e3994673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04a4eb816e6940fe" Type="http://schemas.openxmlformats.org/officeDocument/2006/relationships/slide" Target="../slides/slide3.xml"/><Relationship Id="R3e9d0d0ccfca4bfa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219bddf5508481d" Type="http://schemas.openxmlformats.org/officeDocument/2006/relationships/slide" Target="../slides/slide4.xml"/><Relationship Id="R5ea1ea696b7744d3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c851f3e48cd4937" Type="http://schemas.openxmlformats.org/officeDocument/2006/relationships/slide" Target="../slides/slide5.xml"/><Relationship Id="Rddf4604b381b4129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6d3c348aa2bd47e7" Type="http://schemas.openxmlformats.org/officeDocument/2006/relationships/slide" Target="../slides/slide6.xml"/><Relationship Id="Rb2569be04b154da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90ed564c54f4467d" Type="http://schemas.openxmlformats.org/officeDocument/2006/relationships/slide" Target="../slides/slide7.xml"/><Relationship Id="Rc3ab629a872e461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141ccf2210fc4184" Type="http://schemas.openxmlformats.org/officeDocument/2006/relationships/notesMaster" Target="../notesMasters/notesMaster1.xml"/><Relationship Id="Rac29a347be8e466d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558b69fa9c47486a" Type="http://schemas.openxmlformats.org/officeDocument/2006/relationships/notesMaster" Target="../notesMasters/notesMaster1.xml"/><Relationship Id="R8330bd16197e4743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4dbb45ffa1a74138" Type="http://schemas.openxmlformats.org/officeDocument/2006/relationships/notesMaster" Target="../notesMasters/notesMaster1.xml"/><Relationship Id="Rb2df9703b2004191" Type="http://schemas.openxmlformats.org/officeDocument/2006/relationships/slide" Target="../slides/slide1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Summary!E4; Setup!E8/E18; Existing customers!D16/G16.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Open with the proposed framework and decision. One framework describes centralized procurement, not a mandatory single deployment or replacement of all on-premise arrangements. Existing weighted average is customer subscription revenue divided by users. The 19.87% and 60% comparisons are not additive discounts.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Potential!E14/E23/E71/E72; Summary!E32/E34; Survey!H27/E66.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Year 1 existing growth is 50%, or 655 users, as corrected by the user. It is user-reported, not independently verified contracted users. 4,921 is the numerical minimum implied by 21 answered bands, not a confirmed new-customer pipeline. The user instructed full additive survey counts, with zero overlap deduction. The 58 users per unsurveyed entity is a feasibility illustration, not a measured forecast. 38 entities were surveyed out of planning scope 92.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customers!D16/G16/I16; Setup!E18; goal.md additional commercial terms.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Existing-user annual savings are AED 383,369.75 before support. With 50% Year 1 growth, the existing cohort saves AED 575,054.63, assuming the same current price mix. Enterprise is a proposed entitlement for participating entities; do not claim every existing entity is on Business or that every optional module is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Potential!D39/D41; Setup!E17; goal.md support and onboarding terms.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The approval sought covers a central five-year procurement framework with annual budgets. Model support of 14% at exactly 10,000 users gives AED 1,652,000, making the initial recurring subscription-plus-support budget AED 13,452,000. Support is not included in savings. New entity count and implementation timing remain to be agreed; do not imply onboarding or optional modules are included in this recurring total. Proposed execution steps are recommendations, not completed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customers!C9:I16; Potential!D87:G88.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Customer table shows current source users only. Each saving is users multiplied by current price less AED 1,180. Average is weighted by users, not a simple average of customer prices. Year 1 growth assumes the same weighted current subscription price. Existing source rates are not independently audited.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Survey!C21:H27 and C52:E72; user-supplied DDA internal survey.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Q1 denominator 38: yes 21, no 10, planning 6, implementing 1. Interest question has 16 responses: 10 current requirement and six future. Growth denominator is 22 and more-users denominator is 17. Cost and user bands cannot be matched. Do not interpret organization shares as a user growth percentage.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Potential!D26:I41; Setup!E67/E68.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Forecast users are rounded separately by cohort each year; total users are 10,000, 10,500, 11,025, 11,576 and 12,155. Each is assumed billable for the full year. Paid users never fall below the initial commitment. This is an illustration, not a funded rollout schedule or an observed user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Potential!I35:I41; Summary!H13.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Five-year benchmark AED 146,967,073.90 less central subscription AED 65,202,080.00 gives modeled subscription benefit AED 81,764,993.90. Existing benchmark includes assumed future user growth at the current weighted price. Survey/Other spending is hypothetical list-price spending, not actual surveyed government expenditure. Chart values are editable snapshots extracted from the workbook, not live external links.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goal.md, additional commercial benefits and user-confirmed terms; Setup!E17.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The indicative AED 20,000/entity/year add-on value depends on requirements and included-feature scope. Do not multiply it across 92 entities as guaranteed realized savings. The support proposition is 12.5% above 10K versus standard 25%; this halves the rate on the same fee base, not a separately modeled government-wide saving. Latest commercial support wording differs from higher-volume rates in the unchanged workbook; do not extend either assumption silently.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Setup!E10/E11; Potential!E45:E53.</a:t>
            </a:r>
          </a:p>
          <a:p xmlns:a="http://schemas.openxmlformats.org/drawingml/2006/main">
            <a:r>
              <a:t>- Workbook source: work/p2-DDA/outputs/dda-business-case-v2/DDA-savings-model-v2.2xlsx.xlsx; SHA-256 e07f0ec5943b9418188092209baa54ea8277100435622906cf6d1a8de3a4c83d</a:t>
            </a:r>
          </a:p>
          <a:p xmlns:a="http://schemas.openxmlformats.org/drawingml/2006/main">
            <a:r>
              <a:t>- Commercial scope: user instructions and outputs/dda-business-case-v2/goal.md. Proposed terms, not executed contracts.</a:t>
            </a:r>
          </a:p>
          <a:p xmlns:a="http://schemas.openxmlformats.org/drawingml/2006/main">
            <a:r>
              <a:t>- Presenter notes: Population and 20% adoption are user-supplied planning assumptions. The potential includes existing and survey users, rather than adding to them. AED 1,032.50 is the separately selected Tier 7 full-potential illustration. It does not automatically replace the locked AED 1,180 price in the five-year 10K scenario. Do not attach a support cost to this full-scale illustration without reconciling the new commercial support proposition.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93a0448a0504f3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8451e1dd890421f" Type="http://schemas.openxmlformats.org/officeDocument/2006/relationships/theme" Target="theme/theme2.xml"/><Relationship Id="Rdd7af4dd67d24cd5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7af4dd67d24c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77514926a42416a" Type="http://schemas.openxmlformats.org/officeDocument/2006/relationships/notesSlide" Target="../notesSlides/notesSlide1.xml"/><Relationship Id="R47ee7541dc0740b0" Type="http://schemas.openxmlformats.org/officeDocument/2006/relationships/image" Target="../media/image.png"/><Relationship Id="Rc020b934206c474f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53f5c9a324194b81" Type="http://schemas.openxmlformats.org/officeDocument/2006/relationships/image" Target="../media/image2.png"/><Relationship Id="R7720694683fc45e1" Type="http://schemas.openxmlformats.org/officeDocument/2006/relationships/slideLayout" Target="../slideLayouts/slideLayout1.xml"/><Relationship Id="R80f9bdff9c594b1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dc8efdbe1b1448b" Type="http://schemas.openxmlformats.org/officeDocument/2006/relationships/image" Target="../media/image3.png"/><Relationship Id="R439542652de54ca0" Type="http://schemas.openxmlformats.org/officeDocument/2006/relationships/notesSlide" Target="../notesSlides/notesSlide3.xml"/><Relationship Id="Rd8e66b2a946440df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00e1f40096574d41" Type="http://schemas.openxmlformats.org/officeDocument/2006/relationships/slideLayout" Target="../slideLayouts/slideLayout1.xml"/><Relationship Id="R3319a45d5a504f68" Type="http://schemas.openxmlformats.org/officeDocument/2006/relationships/notesSlide" Target="../notesSlides/notesSlide4.xml"/><Relationship Id="Rcc38d4ddd23f460e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04e3120006d649cf" Type="http://schemas.openxmlformats.org/officeDocument/2006/relationships/image" Target="../media/image5.png"/><Relationship Id="R32733950c4254c50" Type="http://schemas.openxmlformats.org/officeDocument/2006/relationships/notesSlide" Target="../notesSlides/notesSlide5.xml"/><Relationship Id="Rf336d8952f1c471e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288dc9c718ec404a" Type="http://schemas.openxmlformats.org/officeDocument/2006/relationships/slideLayout" Target="../slideLayouts/slideLayout1.xml"/><Relationship Id="R2c1a93326e484ad1" Type="http://schemas.openxmlformats.org/officeDocument/2006/relationships/image" Target="../media/image6.png"/><Relationship Id="R6e83d304a19f436a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6f4061fbbd3245b4" Type="http://schemas.openxmlformats.org/officeDocument/2006/relationships/image" Target="../media/image7.png"/><Relationship Id="Rc9051247bb6c4d64" Type="http://schemas.openxmlformats.org/officeDocument/2006/relationships/slideLayout" Target="../slideLayouts/slideLayout1.xml"/><Relationship Id="Ref0ff0bedca74c0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6d1413b6d78a4d80" Type="http://schemas.openxmlformats.org/officeDocument/2006/relationships/chart" Target="charts/chart1.xml"/><Relationship Id="R77a6d63e2378457d" Type="http://schemas.openxmlformats.org/officeDocument/2006/relationships/slideLayout" Target="../slideLayouts/slideLayout1.xml"/><Relationship Id="Ra85d07adbd5245c9" Type="http://schemas.openxmlformats.org/officeDocument/2006/relationships/image" Target="../media/image8.png"/><Relationship Id="Re77366f870514d5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4782e25b41c3458d" Type="http://schemas.openxmlformats.org/officeDocument/2006/relationships/image" Target="../media/image9.png"/><Relationship Id="R63a3f01670a948e7" Type="http://schemas.openxmlformats.org/officeDocument/2006/relationships/notesSlide" Target="../notesSlides/notesSlide9.xml"/><Relationship Id="R99789e4f9d5e4b2c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3f8399e4558f44cc" Type="http://schemas.openxmlformats.org/officeDocument/2006/relationships/notesSlide" Target="../notesSlides/notesSlide10.xml"/><Relationship Id="Rd28d79dd662046fe" Type="http://schemas.openxmlformats.org/officeDocument/2006/relationships/image" Target="../media/image10.png"/><Relationship Id="Rda9502d7ace4429e" Type="http://schemas.openxmlformats.org/officeDocument/2006/relationships/slideLayout" Target="../slideLayouts/slideLayout1.xml"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latin typeface="Mulish"/>
                <a:ea typeface="Mulish"/>
                <a:cs typeface="Mulish"/>
              </a:rPr>
              <a:t>Five-year subscription cost (AED m)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latin typeface="Mulish"/>
              <a:ea typeface="Mulish"/>
              <a:cs typeface="Mulish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AED million</c:v>
          </c:tx>
          <c:spPr>
            <a:solidFill xmlns:a="http://schemas.openxmlformats.org/drawingml/2006/main">
              <a:srgbClr val="1D0090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7000FF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Benchmark</c:v>
                </c:pt>
                <c:pt idx="1">
                  <c:v>Central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146.97</c:v>
                </c:pt>
                <c:pt idx="1">
                  <c:v>65.2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latin typeface="Mulish"/>
                  <a:ea typeface="Mulish"/>
                  <a:cs typeface="Mulish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8" name="Rectangle 1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e7541dc0740b0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49FECA0-7673-412B-9265-3C777089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AE72646-F96E-4F21-9946-94FC2C05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9DCE98-22BB-47A8-A2C6-830EEBFC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One Dubai Government Platform.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One Central Commitment.</a:t>
            </a:r>
          </a:p>
        </p:txBody>
      </p:sp>
      <p:sp>
        <p:nvSpPr>
          <p:cNvPr id="5" name="descriptor">
            <a:extLst xmlns:a="http://schemas.openxmlformats.org/drawingml/2006/main">
              <a:ext uri="{FF2B5EF4-FFF2-40B4-BE49-F238E27FC236}">
                <a16:creationId xmlns:a16="http://schemas.microsoft.com/office/drawing/2014/main" id="{8AD5D1F0-B259-4BDE-9C9D-6DC669A3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432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Proposed Circularo Enterprise framework for participating entities</a:t>
            </a:r>
          </a:p>
        </p:txBody>
      </p:sp>
      <p:sp>
        <p:nvSpPr>
          <p:cNvPr id="6" name="users">
            <a:extLst xmlns:a="http://schemas.openxmlformats.org/drawingml/2006/main">
              <a:ext uri="{FF2B5EF4-FFF2-40B4-BE49-F238E27FC236}">
                <a16:creationId xmlns:a16="http://schemas.microsoft.com/office/drawing/2014/main" id="{B1475ABC-F748-4115-9CA2-EE516163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95725"/>
            <a:ext cx="338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54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10,000</a:t>
            </a:r>
          </a:p>
        </p:txBody>
      </p:sp>
      <p:sp>
        <p:nvSpPr>
          <p:cNvPr id="7" name="users-label">
            <a:extLst xmlns:a="http://schemas.openxmlformats.org/drawingml/2006/main">
              <a:ext uri="{FF2B5EF4-FFF2-40B4-BE49-F238E27FC236}">
                <a16:creationId xmlns:a16="http://schemas.microsoft.com/office/drawing/2014/main" id="{95B78DC9-B664-4085-B98C-019BD459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38700"/>
            <a:ext cx="338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initial Enterprise users</a:t>
            </a:r>
          </a:p>
        </p:txBody>
      </p:sp>
      <p:sp>
        <p:nvSpPr>
          <p:cNvPr id="8" name="rate">
            <a:extLst xmlns:a="http://schemas.openxmlformats.org/drawingml/2006/main">
              <a:ext uri="{FF2B5EF4-FFF2-40B4-BE49-F238E27FC236}">
                <a16:creationId xmlns:a16="http://schemas.microsoft.com/office/drawing/2014/main" id="{B173F5AC-1D61-4D02-8822-504F95D4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95725"/>
            <a:ext cx="3952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AED 1,180</a:t>
            </a:r>
          </a:p>
        </p:txBody>
      </p:sp>
      <p:sp>
        <p:nvSpPr>
          <p:cNvPr id="9" name="rate-label">
            <a:extLst xmlns:a="http://schemas.openxmlformats.org/drawingml/2006/main">
              <a:ext uri="{FF2B5EF4-FFF2-40B4-BE49-F238E27FC236}">
                <a16:creationId xmlns:a16="http://schemas.microsoft.com/office/drawing/2014/main" id="{10FE8113-B273-4844-87BD-10F77CE0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38700"/>
            <a:ext cx="395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per user per year</a:t>
            </a:r>
          </a:p>
        </p:txBody>
      </p:sp>
      <p:sp>
        <p:nvSpPr>
          <p:cNvPr id="10" name="term">
            <a:extLst xmlns:a="http://schemas.openxmlformats.org/drawingml/2006/main">
              <a:ext uri="{FF2B5EF4-FFF2-40B4-BE49-F238E27FC236}">
                <a16:creationId xmlns:a16="http://schemas.microsoft.com/office/drawing/2014/main" id="{29B3BA82-D3B1-465C-A9D9-3D10F164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95725"/>
            <a:ext cx="2990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0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5 years</a:t>
            </a:r>
          </a:p>
        </p:txBody>
      </p:sp>
      <p:sp>
        <p:nvSpPr>
          <p:cNvPr id="11" name="term-label">
            <a:extLst xmlns:a="http://schemas.openxmlformats.org/drawingml/2006/main">
              <a:ext uri="{FF2B5EF4-FFF2-40B4-BE49-F238E27FC236}">
                <a16:creationId xmlns:a16="http://schemas.microsoft.com/office/drawing/2014/main" id="{3AD451FA-8099-459D-9A73-EC632FF4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38700"/>
            <a:ext cx="2990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locked unit price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annual billing</a:t>
            </a:r>
          </a:p>
        </p:txBody>
      </p:sp>
      <p:sp>
        <p:nvSpPr>
          <p:cNvPr id="12" name="benefit">
            <a:extLst xmlns:a="http://schemas.openxmlformats.org/drawingml/2006/main">
              <a:ext uri="{FF2B5EF4-FFF2-40B4-BE49-F238E27FC236}">
                <a16:creationId xmlns:a16="http://schemas.microsoft.com/office/drawing/2014/main" id="{CC162B74-CDF5-4B1C-81BB-AC5A0A8A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53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3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19.87% below the current weighted customer price</a:t>
            </a:r>
          </a:p>
        </p:txBody>
      </p:sp>
      <p:sp>
        <p:nvSpPr>
          <p:cNvPr id="13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5737E328-855B-40E7-B938-E0682720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6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AED 1,472.65 current weighted price. Separately: 60% below AED 2,950 list price.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Subscription only. Support is a separate charge.</a:t>
            </a:r>
          </a:p>
        </p:txBody>
      </p:sp>
    </p:spTree>
    <p:extLst>
      <p:ext uri="{BB962C8B-B14F-4D97-AF65-F5344CB8AC3E}">
        <p14:creationId xmlns:p14="http://schemas.microsoft.com/office/powerpoint/2010/main" val="13801339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7" name="Rectangle 2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5c9a324194b81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4E3FB5-8ECD-4427-A9F2-C5F890CF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84289E3-A9B9-43E1-A774-B5049558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FFE4B8-94F6-465A-97A0-5447430E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 Credible Path to 10,000 Users</a:t>
            </a:r>
          </a:p>
        </p:txBody>
      </p:sp>
      <p:sp>
        <p:nvSpPr>
          <p:cNvPr id="5" name="lead">
            <a:extLst xmlns:a="http://schemas.openxmlformats.org/drawingml/2006/main">
              <a:ext uri="{FF2B5EF4-FFF2-40B4-BE49-F238E27FC236}">
                <a16:creationId xmlns:a16="http://schemas.microsoft.com/office/drawing/2014/main" id="{3B7EE554-DCAC-4526-B1AF-AC04B299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Year 1 allocation combines existing adoption with survey opportunity</a:t>
            </a:r>
          </a:p>
        </p:txBody>
      </p:sp>
      <p:sp>
        <p:nvSpPr>
          <p:cNvPr id="6" name="bridge-number-0">
            <a:extLst xmlns:a="http://schemas.openxmlformats.org/drawingml/2006/main">
              <a:ext uri="{FF2B5EF4-FFF2-40B4-BE49-F238E27FC236}">
                <a16:creationId xmlns:a16="http://schemas.microsoft.com/office/drawing/2014/main" id="{670B8EA1-FD5B-402A-890C-81ACC566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00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1,310</a:t>
            </a:r>
          </a:p>
        </p:txBody>
      </p:sp>
      <p:sp>
        <p:nvSpPr>
          <p:cNvPr id="7" name="bridge-label-0">
            <a:extLst xmlns:a="http://schemas.openxmlformats.org/drawingml/2006/main">
              <a:ext uri="{FF2B5EF4-FFF2-40B4-BE49-F238E27FC236}">
                <a16:creationId xmlns:a16="http://schemas.microsoft.com/office/drawing/2014/main" id="{D47E7B34-B777-4ACF-B42F-DDD05652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62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Existing users</a:t>
            </a:r>
          </a:p>
        </p:txBody>
      </p:sp>
      <p:sp>
        <p:nvSpPr>
          <p:cNvPr id="8" name="bridge-detail-0">
            <a:extLst xmlns:a="http://schemas.openxmlformats.org/drawingml/2006/main">
              <a:ext uri="{FF2B5EF4-FFF2-40B4-BE49-F238E27FC236}">
                <a16:creationId xmlns:a16="http://schemas.microsoft.com/office/drawing/2014/main" id="{05142595-6FEF-440D-9071-16426F33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19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Supplied customer base</a:t>
            </a:r>
          </a:p>
        </p:txBody>
      </p:sp>
      <p:sp>
        <p:nvSpPr>
          <p:cNvPr id="9" name="bridge-number-1">
            <a:extLst xmlns:a="http://schemas.openxmlformats.org/drawingml/2006/main">
              <a:ext uri="{FF2B5EF4-FFF2-40B4-BE49-F238E27FC236}">
                <a16:creationId xmlns:a16="http://schemas.microsoft.com/office/drawing/2014/main" id="{25DABD09-29EB-481D-90E9-A5195B4F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00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+655</a:t>
            </a:r>
          </a:p>
        </p:txBody>
      </p:sp>
      <p:sp>
        <p:nvSpPr>
          <p:cNvPr id="10" name="bridge-label-1">
            <a:extLst xmlns:a="http://schemas.openxmlformats.org/drawingml/2006/main">
              <a:ext uri="{FF2B5EF4-FFF2-40B4-BE49-F238E27FC236}">
                <a16:creationId xmlns:a16="http://schemas.microsoft.com/office/drawing/2014/main" id="{E6DA4334-A24B-4D11-9F77-D4D1B579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62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Existing growth</a:t>
            </a:r>
          </a:p>
        </p:txBody>
      </p:sp>
      <p:sp>
        <p:nvSpPr>
          <p:cNvPr id="11" name="bridge-detail-1">
            <a:extLst xmlns:a="http://schemas.openxmlformats.org/drawingml/2006/main">
              <a:ext uri="{FF2B5EF4-FFF2-40B4-BE49-F238E27FC236}">
                <a16:creationId xmlns:a16="http://schemas.microsoft.com/office/drawing/2014/main" id="{A669970E-57F3-47C3-8D7B-D02F5027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19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50% Year 1 growth</a:t>
            </a:r>
          </a:p>
        </p:txBody>
      </p:sp>
      <p:sp>
        <p:nvSpPr>
          <p:cNvPr id="12" name="bridge-number-2">
            <a:extLst xmlns:a="http://schemas.openxmlformats.org/drawingml/2006/main">
              <a:ext uri="{FF2B5EF4-FFF2-40B4-BE49-F238E27FC236}">
                <a16:creationId xmlns:a16="http://schemas.microsoft.com/office/drawing/2014/main" id="{24081DF6-5D0D-4423-AAFC-CCEC9D4D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00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+4,921</a:t>
            </a:r>
          </a:p>
        </p:txBody>
      </p:sp>
      <p:sp>
        <p:nvSpPr>
          <p:cNvPr id="13" name="bridge-label-2">
            <a:extLst xmlns:a="http://schemas.openxmlformats.org/drawingml/2006/main">
              <a:ext uri="{FF2B5EF4-FFF2-40B4-BE49-F238E27FC236}">
                <a16:creationId xmlns:a16="http://schemas.microsoft.com/office/drawing/2014/main" id="{C3FAC9D9-0B85-486D-9CDD-02CB80C5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62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Survey minimum</a:t>
            </a:r>
          </a:p>
        </p:txBody>
      </p:sp>
      <p:sp>
        <p:nvSpPr>
          <p:cNvPr id="14" name="bridge-detail-2">
            <a:extLst xmlns:a="http://schemas.openxmlformats.org/drawingml/2006/main">
              <a:ext uri="{FF2B5EF4-FFF2-40B4-BE49-F238E27FC236}">
                <a16:creationId xmlns:a16="http://schemas.microsoft.com/office/drawing/2014/main" id="{AB49C330-D998-4522-8953-430A2409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019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Current / expected users</a:t>
            </a:r>
          </a:p>
        </p:txBody>
      </p:sp>
      <p:sp>
        <p:nvSpPr>
          <p:cNvPr id="15" name="bridge-number-3">
            <a:extLst xmlns:a="http://schemas.openxmlformats.org/drawingml/2006/main">
              <a:ext uri="{FF2B5EF4-FFF2-40B4-BE49-F238E27FC236}">
                <a16:creationId xmlns:a16="http://schemas.microsoft.com/office/drawing/2014/main" id="{4EA68F6C-0015-4FB0-B26C-65C49C93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00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667085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667085"/>
                </a:solidFill>
                <a:latin typeface="Spartan"/>
                <a:ea typeface="Spartan"/>
                <a:cs typeface="Spartan"/>
              </a:rPr>
              <a:t>+3,114</a:t>
            </a:r>
          </a:p>
        </p:txBody>
      </p:sp>
      <p:sp>
        <p:nvSpPr>
          <p:cNvPr id="16" name="bridge-label-3">
            <a:extLst xmlns:a="http://schemas.openxmlformats.org/drawingml/2006/main">
              <a:ext uri="{FF2B5EF4-FFF2-40B4-BE49-F238E27FC236}">
                <a16:creationId xmlns:a16="http://schemas.microsoft.com/office/drawing/2014/main" id="{43E63C61-E336-4D69-9C41-B0DF52E5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62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Other entities</a:t>
            </a:r>
          </a:p>
        </p:txBody>
      </p:sp>
      <p:sp>
        <p:nvSpPr>
          <p:cNvPr id="17" name="bridge-detail-3">
            <a:extLst xmlns:a="http://schemas.openxmlformats.org/drawingml/2006/main">
              <a:ext uri="{FF2B5EF4-FFF2-40B4-BE49-F238E27FC236}">
                <a16:creationId xmlns:a16="http://schemas.microsoft.com/office/drawing/2014/main" id="{932C9486-5B52-41D3-9985-157C97F1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19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Additional adoption target</a:t>
            </a:r>
          </a:p>
        </p:txBody>
      </p:sp>
      <p:sp>
        <p:nvSpPr>
          <p:cNvPr id="18" name="bridge-number-4">
            <a:extLst xmlns:a="http://schemas.openxmlformats.org/drawingml/2006/main">
              <a:ext uri="{FF2B5EF4-FFF2-40B4-BE49-F238E27FC236}">
                <a16:creationId xmlns:a16="http://schemas.microsoft.com/office/drawing/2014/main" id="{48F09AA4-F928-4440-870E-090D2DB5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8004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10,000</a:t>
            </a:r>
          </a:p>
        </p:txBody>
      </p:sp>
      <p:sp>
        <p:nvSpPr>
          <p:cNvPr id="19" name="bridge-label-4">
            <a:extLst xmlns:a="http://schemas.openxmlformats.org/drawingml/2006/main">
              <a:ext uri="{FF2B5EF4-FFF2-40B4-BE49-F238E27FC236}">
                <a16:creationId xmlns:a16="http://schemas.microsoft.com/office/drawing/2014/main" id="{6BE7F08D-E847-4E4B-8C1F-276F87C7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624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Commitment</a:t>
            </a:r>
          </a:p>
        </p:txBody>
      </p:sp>
      <p:sp>
        <p:nvSpPr>
          <p:cNvPr id="20" name="bridge-detail-4">
            <a:extLst xmlns:a="http://schemas.openxmlformats.org/drawingml/2006/main">
              <a:ext uri="{FF2B5EF4-FFF2-40B4-BE49-F238E27FC236}">
                <a16:creationId xmlns:a16="http://schemas.microsoft.com/office/drawing/2014/main" id="{486FC4BC-C556-4EF0-A691-A222ECC5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019675"/>
            <a:ext cx="2047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Modeled allocation</a:t>
            </a:r>
          </a:p>
        </p:txBody>
      </p:sp>
      <p:sp>
        <p:nvSpPr>
          <p:cNvPr id="21" name="coverage">
            <a:extLst xmlns:a="http://schemas.openxmlformats.org/drawingml/2006/main">
              <a:ext uri="{FF2B5EF4-FFF2-40B4-BE49-F238E27FC236}">
                <a16:creationId xmlns:a16="http://schemas.microsoft.com/office/drawing/2014/main" id="{80AA4293-A15A-4DBE-82A1-1560FE4F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24550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1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68.86% in the modeled existing / growth / survey allocation</a:t>
            </a:r>
          </a:p>
        </p:txBody>
      </p:sp>
      <p:sp>
        <p:nvSpPr>
          <p:cNvPr id="22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2F26F106-29C5-42BF-833E-DC8DD409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6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Survey counts are added without overlap deduction; this is not unique committed demand.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 Other target equates to about 58 users across each of 54 unsurveyed entities.</a:t>
            </a:r>
          </a:p>
        </p:txBody>
      </p:sp>
    </p:spTree>
    <p:extLst>
      <p:ext uri="{BB962C8B-B14F-4D97-AF65-F5344CB8AC3E}">
        <p14:creationId xmlns:p14="http://schemas.microsoft.com/office/powerpoint/2010/main" val="5152165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8efdbe1b1448b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C777D6-D455-4DB2-958E-06C8C0FE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4233E73-B3A8-48C8-8FF4-2B47B27A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14912D-5106-41E3-9069-4AF8050F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More Value for Every Dirham</a:t>
            </a:r>
          </a:p>
        </p:txBody>
      </p:sp>
      <p:sp>
        <p:nvSpPr>
          <p:cNvPr id="5" name="pillar-0">
            <a:extLst xmlns:a="http://schemas.openxmlformats.org/drawingml/2006/main">
              <a:ext uri="{FF2B5EF4-FFF2-40B4-BE49-F238E27FC236}">
                <a16:creationId xmlns:a16="http://schemas.microsoft.com/office/drawing/2014/main" id="{43763965-E72D-4CC3-95D6-7D0A5802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71800"/>
            <a:ext cx="344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Lower subscription cost</a:t>
            </a:r>
          </a:p>
        </p:txBody>
      </p:sp>
      <p:sp>
        <p:nvSpPr>
          <p:cNvPr id="6" name="pillar-1">
            <a:extLst xmlns:a="http://schemas.openxmlformats.org/drawingml/2006/main">
              <a:ext uri="{FF2B5EF4-FFF2-40B4-BE49-F238E27FC236}">
                <a16:creationId xmlns:a16="http://schemas.microsoft.com/office/drawing/2014/main" id="{1822C868-2257-44D2-ABA2-B3DE240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71800"/>
            <a:ext cx="344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Enterprise access</a:t>
            </a:r>
          </a:p>
        </p:txBody>
      </p:sp>
      <p:sp>
        <p:nvSpPr>
          <p:cNvPr id="7" name="pillar-2">
            <a:extLst xmlns:a="http://schemas.openxmlformats.org/drawingml/2006/main">
              <a:ext uri="{FF2B5EF4-FFF2-40B4-BE49-F238E27FC236}">
                <a16:creationId xmlns:a16="http://schemas.microsoft.com/office/drawing/2014/main" id="{0AD8C670-0A43-4A8A-9629-D9388E1E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71800"/>
            <a:ext cx="344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certainty</a:t>
            </a:r>
          </a:p>
        </p:txBody>
      </p:sp>
      <p:sp>
        <p:nvSpPr>
          <p:cNvPr id="8" name="price-reduction">
            <a:extLst xmlns:a="http://schemas.openxmlformats.org/drawingml/2006/main">
              <a:ext uri="{FF2B5EF4-FFF2-40B4-BE49-F238E27FC236}">
                <a16:creationId xmlns:a16="http://schemas.microsoft.com/office/drawing/2014/main" id="{A26B8698-85D6-4048-A33B-6C353FC0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95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45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19.87%</a:t>
            </a:r>
          </a:p>
        </p:txBody>
      </p:sp>
      <p:sp>
        <p:nvSpPr>
          <p:cNvPr id="9" name="cost-copy">
            <a:extLst xmlns:a="http://schemas.openxmlformats.org/drawingml/2006/main">
              <a:ext uri="{FF2B5EF4-FFF2-40B4-BE49-F238E27FC236}">
                <a16:creationId xmlns:a16="http://schemas.microsoft.com/office/drawing/2014/main" id="{C97F05CE-D2D2-4433-A5D9-CF268B0B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7680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below the existing weighted</a:t>
            </a:r>
          </a:p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subscription price</a:t>
            </a:r>
          </a:p>
        </p:txBody>
      </p:sp>
      <p:sp>
        <p:nvSpPr>
          <p:cNvPr id="10" name="current-saving">
            <a:extLst xmlns:a="http://schemas.openxmlformats.org/drawingml/2006/main">
              <a:ext uri="{FF2B5EF4-FFF2-40B4-BE49-F238E27FC236}">
                <a16:creationId xmlns:a16="http://schemas.microsoft.com/office/drawing/2014/main" id="{5F7B7E14-BC54-449C-BEF6-1B0EEA97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81675"/>
            <a:ext cx="352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AED 383,370 / year</a:t>
            </a:r>
          </a:p>
          <a:p xmlns:a="http://schemas.openxmlformats.org/drawingml/2006/main"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for today’s 1,310 users</a:t>
            </a:r>
          </a:p>
        </p:txBody>
      </p:sp>
      <p:sp>
        <p:nvSpPr>
          <p:cNvPr id="11" name="enterprise">
            <a:extLst xmlns:a="http://schemas.openxmlformats.org/drawingml/2006/main">
              <a:ext uri="{FF2B5EF4-FFF2-40B4-BE49-F238E27FC236}">
                <a16:creationId xmlns:a16="http://schemas.microsoft.com/office/drawing/2014/main" id="{8BBBDD06-AE73-454A-BFC9-D58208E8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576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0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Enterprise</a:t>
            </a:r>
          </a:p>
        </p:txBody>
      </p:sp>
      <p:sp>
        <p:nvSpPr>
          <p:cNvPr id="12" name="enterprise-copy">
            <a:extLst xmlns:a="http://schemas.openxmlformats.org/drawingml/2006/main">
              <a:ext uri="{FF2B5EF4-FFF2-40B4-BE49-F238E27FC236}">
                <a16:creationId xmlns:a16="http://schemas.microsoft.com/office/drawing/2014/main" id="{765B8209-C2EC-40D8-ABE0-E7800FF2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76800"/>
            <a:ext cx="3476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Common capabilities for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participating entities.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Most agreed feature add-ons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included.</a:t>
            </a:r>
          </a:p>
        </p:txBody>
      </p:sp>
      <p:sp>
        <p:nvSpPr>
          <p:cNvPr id="13" name="lock">
            <a:extLst xmlns:a="http://schemas.openxmlformats.org/drawingml/2006/main">
              <a:ext uri="{FF2B5EF4-FFF2-40B4-BE49-F238E27FC236}">
                <a16:creationId xmlns:a16="http://schemas.microsoft.com/office/drawing/2014/main" id="{73202626-F612-46B4-95D0-9278ED53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57650"/>
            <a:ext cx="352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7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No indexation</a:t>
            </a:r>
          </a:p>
        </p:txBody>
      </p:sp>
      <p:sp>
        <p:nvSpPr>
          <p:cNvPr id="14" name="lock-copy">
            <a:extLst xmlns:a="http://schemas.openxmlformats.org/drawingml/2006/main">
              <a:ext uri="{FF2B5EF4-FFF2-40B4-BE49-F238E27FC236}">
                <a16:creationId xmlns:a16="http://schemas.microsoft.com/office/drawing/2014/main" id="{39073E4C-291E-4B4B-BD7A-2BAD6375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76800"/>
            <a:ext cx="3524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Annual billing with a locked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subscription unit price.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Paid-user growth changes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the annual budget.</a:t>
            </a:r>
          </a:p>
        </p:txBody>
      </p:sp>
      <p:sp>
        <p:nvSpPr>
          <p:cNvPr id="15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8B9050BE-7BC2-4194-9442-1299CD4C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6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Included add-ons offer indicative additional value of ~AED 20,000 per entity/year.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This value is outside subscription savings and depends on entity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4109394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6" name="Rectangle 1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8d4ddd23f460e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B1649E0-6885-46A7-83F5-B0114212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7456C34-3D7E-4321-A3F5-30BB681C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DA7931-A926-4144-A5A9-815D092D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Establish Circularo Enterprise</a:t>
            </a:r>
          </a:p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as a Dubai Government Shared Service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F1F8AD73-C4CA-4744-9186-CB09D831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0"/>
            <a:ext cx="1114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4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Approve the five-year central framework, starting with 10,000 users</a:t>
            </a:r>
          </a:p>
        </p:txBody>
      </p:sp>
      <p:sp>
        <p:nvSpPr>
          <p:cNvPr id="6" name="budget">
            <a:extLst xmlns:a="http://schemas.openxmlformats.org/drawingml/2006/main">
              <a:ext uri="{FF2B5EF4-FFF2-40B4-BE49-F238E27FC236}">
                <a16:creationId xmlns:a16="http://schemas.microsoft.com/office/drawing/2014/main" id="{609EDC77-DC61-4563-94B2-BED893B5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48125"/>
            <a:ext cx="6191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487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AED 11.80m</a:t>
            </a:r>
          </a:p>
        </p:txBody>
      </p:sp>
      <p:sp>
        <p:nvSpPr>
          <p:cNvPr id="7" name="budget-label">
            <a:extLst xmlns:a="http://schemas.openxmlformats.org/drawingml/2006/main">
              <a:ext uri="{FF2B5EF4-FFF2-40B4-BE49-F238E27FC236}">
                <a16:creationId xmlns:a16="http://schemas.microsoft.com/office/drawing/2014/main" id="{6DA4E0E1-534A-4C53-99B9-92C2CE2C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05375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1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Year 1 subscription</a:t>
            </a:r>
          </a:p>
        </p:txBody>
      </p:sp>
      <p:sp>
        <p:nvSpPr>
          <p:cNvPr id="8" name="budget-details">
            <a:extLst xmlns:a="http://schemas.openxmlformats.org/drawingml/2006/main">
              <a:ext uri="{FF2B5EF4-FFF2-40B4-BE49-F238E27FC236}">
                <a16:creationId xmlns:a16="http://schemas.microsoft.com/office/drawing/2014/main" id="{CFBFB1AE-44DC-4A13-822E-8E44F566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14975"/>
            <a:ext cx="6381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Plus AED 1.652m support under the model</a:t>
            </a:r>
          </a:p>
          <a:p xmlns:a="http://schemas.openxmlformats.org/drawingml/2006/main">
            <a:pPr algn="l">
              <a:defRPr sz="18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Recurring budget: AED 13.452m before other charges</a:t>
            </a:r>
          </a:p>
        </p:txBody>
      </p:sp>
      <p:sp>
        <p:nvSpPr>
          <p:cNvPr id="9" name="terms">
            <a:extLst xmlns:a="http://schemas.openxmlformats.org/drawingml/2006/main">
              <a:ext uri="{FF2B5EF4-FFF2-40B4-BE49-F238E27FC236}">
                <a16:creationId xmlns:a16="http://schemas.microsoft.com/office/drawing/2014/main" id="{5723E3F2-3B47-49B6-B6DB-BF85E9DB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29075"/>
            <a:ext cx="42862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AED 1,180 per user/year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Annual billing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No unit-price indexation for five years</a:t>
            </a:r>
          </a:p>
        </p:txBody>
      </p:sp>
      <p:sp>
        <p:nvSpPr>
          <p:cNvPr id="10" name="next">
            <a:extLst xmlns:a="http://schemas.openxmlformats.org/drawingml/2006/main">
              <a:ext uri="{FF2B5EF4-FFF2-40B4-BE49-F238E27FC236}">
                <a16:creationId xmlns:a16="http://schemas.microsoft.com/office/drawing/2014/main" id="{D75F8974-1DF3-4DFE-AAD2-7E2D4C83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24500"/>
            <a:ext cx="4286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DDA sponsors procurement and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confirms entity allocations, funding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and onboarding sequence.</a:t>
            </a:r>
          </a:p>
        </p:txBody>
      </p:sp>
      <p:sp>
        <p:nvSpPr>
          <p:cNvPr id="11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DFB59D9D-1BB0-41F2-BD55-0E9BB1F2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6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New-entity onboarding: AED 20,000 once per new entity. Optional modules are extra.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At exactly 10K, the model uses 14% support. The 12.5% proposal applies above 10K.</a:t>
            </a:r>
          </a:p>
        </p:txBody>
      </p:sp>
    </p:spTree>
    <p:extLst>
      <p:ext uri="{BB962C8B-B14F-4D97-AF65-F5344CB8AC3E}">
        <p14:creationId xmlns:p14="http://schemas.microsoft.com/office/powerpoint/2010/main" val="2021397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7" name="Rectangle 1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3120006d649cf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9BE76E1-5BA7-48FC-935F-CDEFC23D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7DF1A65-79DE-4886-B542-2767B06D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E92270-6E36-4DC1-8626-4D78DE7F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Savings against current customer prices</a:t>
            </a:r>
          </a:p>
        </p:txBody>
      </p:sp>
      <p:sp>
        <p:nvSpPr>
          <p:cNvPr id="5" name="basis">
            <a:extLst xmlns:a="http://schemas.openxmlformats.org/drawingml/2006/main">
              <a:ext uri="{FF2B5EF4-FFF2-40B4-BE49-F238E27FC236}">
                <a16:creationId xmlns:a16="http://schemas.microsoft.com/office/drawing/2014/main" id="{47E76AAA-F0D0-467C-BE8B-7D7ABB4B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Today’s 1,310 users, allocated the central AED 1,180 rate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219200" y="2952750"/>
          <a:ext xmlns:a="http://schemas.openxmlformats.org/drawingml/2006/main" cx="11277600" cy="3000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24375"/>
                <a:gridCol w="1000125"/>
                <a:gridCol w="2333625"/>
                <a:gridCol w="3419475"/>
              </a:tblGrid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Customer / project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Users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Current AED/user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Saving AED/year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DDA VIP project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1,850.94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33,547.00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Digital Dubai Authority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2,212.50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103,250.00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Dubai Culture &amp; Arts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2,212.48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25,812.00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Dubai Electronic Security Center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2,507.50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79,650.00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PCFC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2,159.43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24,485.75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Roads and Transport Authority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1,000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1,245.00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65,000.00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His Highness the Rulers Court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2,212.50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51,625.00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Total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1,310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1,472.65 weighted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383,369.75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</a:tbl>
          </a:graphicData>
        </a:graphic>
      </p:graphicFrame>
      <p:sp>
        <p:nvSpPr>
          <p:cNvPr id="7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CEAF6B87-A2F9-40ED-95DB-78FFC848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6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Year 1 existing growth adds 655 users: total cohort savings rise to AED 575,054.63.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Source prices are user-supplied. Support excluded; the full 10K commitment is payable.</a:t>
            </a:r>
          </a:p>
        </p:txBody>
      </p:sp>
    </p:spTree>
    <p:extLst>
      <p:ext uri="{BB962C8B-B14F-4D97-AF65-F5344CB8AC3E}">
        <p14:creationId xmlns:p14="http://schemas.microsoft.com/office/powerpoint/2010/main" val="15311895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a93326e484ad1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73FE0F-4E9D-4F36-AB1D-CE32DBA0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478A244-6322-439C-B535-8D8712B4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1E9E297-A6C0-491B-89B5-096C4E0D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Survey evidence and its limits</a:t>
            </a:r>
          </a:p>
        </p:txBody>
      </p:sp>
      <p:sp>
        <p:nvSpPr>
          <p:cNvPr id="5" name="survey-intro">
            <a:extLst xmlns:a="http://schemas.openxmlformats.org/drawingml/2006/main">
              <a:ext uri="{FF2B5EF4-FFF2-40B4-BE49-F238E27FC236}">
                <a16:creationId xmlns:a16="http://schemas.microsoft.com/office/drawing/2014/main" id="{FFEF33E2-4E56-4931-8E19-C3B42732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0350"/>
            <a:ext cx="747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21 quantified current / expected user responses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1219200" y="3448050"/>
          <a:ext xmlns:a="http://schemas.openxmlformats.org/drawingml/2006/main" cx="7181850" cy="2628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1714500"/>
                <a:gridCol w="2324100"/>
              </a:tblGrid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Users per entity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Responses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Minimum users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1–50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51–100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204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101–500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7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707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More than 1,000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4,004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Total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21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4,921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spondents">
            <a:extLst xmlns:a="http://schemas.openxmlformats.org/drawingml/2006/main">
              <a:ext uri="{FF2B5EF4-FFF2-40B4-BE49-F238E27FC236}">
                <a16:creationId xmlns:a16="http://schemas.microsoft.com/office/drawing/2014/main" id="{9826065A-8007-4478-8BCE-2D8F0540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098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38 entities surveyed</a:t>
            </a:r>
          </a:p>
        </p:txBody>
      </p:sp>
      <p:sp>
        <p:nvSpPr>
          <p:cNvPr id="8" name="signals">
            <a:extLst xmlns:a="http://schemas.openxmlformats.org/drawingml/2006/main">
              <a:ext uri="{FF2B5EF4-FFF2-40B4-BE49-F238E27FC236}">
                <a16:creationId xmlns:a16="http://schemas.microsoft.com/office/drawing/2014/main" id="{F0CBA5BC-B811-49E1-B4C9-CE454C0E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76625"/>
            <a:ext cx="34766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21 already use e-signatures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16 express current/future interest</a:t>
            </a:r>
          </a:p>
        </p:txBody>
      </p:sp>
      <p:sp>
        <p:nvSpPr>
          <p:cNvPr id="9" name="growth">
            <a:extLst xmlns:a="http://schemas.openxmlformats.org/drawingml/2006/main">
              <a:ext uri="{FF2B5EF4-FFF2-40B4-BE49-F238E27FC236}">
                <a16:creationId xmlns:a16="http://schemas.microsoft.com/office/drawing/2014/main" id="{EFA00B71-278E-46A7-BB1D-928036CD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81525"/>
            <a:ext cx="3476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3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77.27%</a:t>
            </a:r>
          </a:p>
        </p:txBody>
      </p:sp>
      <p:sp>
        <p:nvSpPr>
          <p:cNvPr id="10" name="growth-label">
            <a:extLst xmlns:a="http://schemas.openxmlformats.org/drawingml/2006/main">
              <a:ext uri="{FF2B5EF4-FFF2-40B4-BE49-F238E27FC236}">
                <a16:creationId xmlns:a16="http://schemas.microsoft.com/office/drawing/2014/main" id="{9C9BF665-7F1D-4CBB-9ABF-9173162D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334000"/>
            <a:ext cx="3505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17 of 22 expect growth</a:t>
            </a:r>
          </a:p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13 of 17 cite more users (76.47%)</a:t>
            </a:r>
          </a:p>
        </p:txBody>
      </p:sp>
      <p:sp>
        <p:nvSpPr>
          <p:cNvPr id="11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DA533F8E-9624-446C-A935-9F73F799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6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One further user response is unspecified. Survey overlap with existing customers is unresolved.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 16 interested entities add no extra quantified users to this model.</a:t>
            </a:r>
          </a:p>
        </p:txBody>
      </p:sp>
    </p:spTree>
    <p:extLst>
      <p:ext uri="{BB962C8B-B14F-4D97-AF65-F5344CB8AC3E}">
        <p14:creationId xmlns:p14="http://schemas.microsoft.com/office/powerpoint/2010/main" val="3495904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7" name="Rectangle 1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061fbbd3245b4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80ACE8-9561-4C9E-B0D0-CD99F9CA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8D2EBAE-2828-4783-884A-ECD4F7FC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3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5065B51-8DF1-4C9A-89C2-9C7AF863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adoption and subscription profile</a:t>
            </a:r>
          </a:p>
        </p:txBody>
      </p:sp>
      <p:sp>
        <p:nvSpPr>
          <p:cNvPr id="5" name="growth-assumption">
            <a:extLst xmlns:a="http://schemas.openxmlformats.org/drawingml/2006/main">
              <a:ext uri="{FF2B5EF4-FFF2-40B4-BE49-F238E27FC236}">
                <a16:creationId xmlns:a16="http://schemas.microsoft.com/office/drawing/2014/main" id="{99755395-0121-42A6-94B4-CC87DFDC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9875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50% existing-user growth in Year 1; 5% annual growth for all cohorts thereafter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219200" y="3457575"/>
          <a:ext xmlns:a="http://schemas.openxmlformats.org/drawingml/2006/main" cx="11277600" cy="2790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86100"/>
                <a:gridCol w="1638300"/>
                <a:gridCol w="1638300"/>
                <a:gridCol w="1638300"/>
                <a:gridCol w="1638300"/>
                <a:gridCol w="1638300"/>
              </a:tblGrid>
              <a:tr h="39868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/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1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2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3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4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Year 5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Existing incl. growth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1,965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2,063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2,166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2,274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2,388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Survey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4,921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5,167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5,425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5,696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5,981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Other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3,114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3,270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3,434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3,606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3,786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Paid users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10,000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10,500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11,025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11,576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12,155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AED/user/year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1,180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398689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Subscription AED m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11.80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12.39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13.01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13.66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14.34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</a:tbl>
          </a:graphicData>
        </a:graphic>
      </p:graphicFrame>
      <p:sp>
        <p:nvSpPr>
          <p:cNvPr id="7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92525A73-30D9-4598-B9C9-9ABECECF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6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Five-year subscription: AED 65.20m. Support, onboarding and optional modules are separate.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 AED 1,180 rate remains locked even when forecast users exceed 12,000.</a:t>
            </a:r>
          </a:p>
        </p:txBody>
      </p:sp>
    </p:spTree>
    <p:extLst>
      <p:ext uri="{BB962C8B-B14F-4D97-AF65-F5344CB8AC3E}">
        <p14:creationId xmlns:p14="http://schemas.microsoft.com/office/powerpoint/2010/main" val="16821192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8" name="Rectangle 1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d07adbd5245c9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2FF0BD3-D16D-4013-BB2C-782C0D16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C1872B1-EFF0-4F88-AA53-03589BE3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5F2AF5-D70D-40C4-B5B2-4FEF6D99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subscription economics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1219200" y="3124200"/>
          <a:ext xmlns:a="http://schemas.openxmlformats.org/drawingml/2006/main" cx="6000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1413b6d78a4d80"/>
          </a:graphicData>
        </a:graphic>
      </p:graphicFrame>
      <p:sp>
        <p:nvSpPr>
          <p:cNvPr id="6" name="modeled-benefit">
            <a:extLst xmlns:a="http://schemas.openxmlformats.org/drawingml/2006/main">
              <a:ext uri="{FF2B5EF4-FFF2-40B4-BE49-F238E27FC236}">
                <a16:creationId xmlns:a16="http://schemas.microsoft.com/office/drawing/2014/main" id="{D836413C-05C9-48C0-AC4D-9BCC23C1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05150"/>
            <a:ext cx="466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825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AED 81.76m</a:t>
            </a:r>
          </a:p>
        </p:txBody>
      </p:sp>
      <p:sp>
        <p:nvSpPr>
          <p:cNvPr id="7" name="modeled-label">
            <a:extLst xmlns:a="http://schemas.openxmlformats.org/drawingml/2006/main">
              <a:ext uri="{FF2B5EF4-FFF2-40B4-BE49-F238E27FC236}">
                <a16:creationId xmlns:a16="http://schemas.microsoft.com/office/drawing/2014/main" id="{19B6AEAB-E705-4DFD-9DA1-82D84B6B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95725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1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modeled subscription benefit</a:t>
            </a:r>
          </a:p>
        </p:txBody>
      </p:sp>
      <p:sp>
        <p:nvSpPr>
          <p:cNvPr id="8" name="basis">
            <a:extLst xmlns:a="http://schemas.openxmlformats.org/drawingml/2006/main">
              <a:ext uri="{FF2B5EF4-FFF2-40B4-BE49-F238E27FC236}">
                <a16:creationId xmlns:a16="http://schemas.microsoft.com/office/drawing/2014/main" id="{D8EA4AD2-2EE0-4A38-B932-23AB755D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24425"/>
            <a:ext cx="4572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Existing: supplied current prices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Survey / Other: AED 2,950 list-price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benchmark until matched costs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are available</a:t>
            </a:r>
          </a:p>
        </p:txBody>
      </p:sp>
      <p:sp>
        <p:nvSpPr>
          <p:cNvPr id="9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062F35DF-6366-4E1F-9361-619E46B1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6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This is modeled opportunity, not audited government cash savings or a complete project ROI.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Support, onboarding and indicative add-on value are excluded from the benefit.</a:t>
            </a:r>
          </a:p>
        </p:txBody>
      </p:sp>
    </p:spTree>
    <p:extLst>
      <p:ext uri="{BB962C8B-B14F-4D97-AF65-F5344CB8AC3E}">
        <p14:creationId xmlns:p14="http://schemas.microsoft.com/office/powerpoint/2010/main" val="5477121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5" name="Rectangle 14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2e25b41c3458d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37FD311-83C2-4247-BEEC-C1D4EC32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0EEA34B-9496-4A81-BA6A-1AEDA3CC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DDA MANAGEMENT DISCUSSION / OPTIONAL DETAIL 5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9D85A6-38C9-4A32-A752-5D60B64B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Additional commercial value and charges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1219200" y="3124200"/>
          <a:ext xmlns:a="http://schemas.openxmlformats.org/drawingml/2006/main" cx="11277600" cy="3086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24125"/>
                <a:gridCol w="4514850"/>
                <a:gridCol w="4238625"/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Item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Commercial proposition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Mulish"/>
                          <a:ea typeface="Mulish"/>
                          <a:cs typeface="Mulish"/>
                        </a:rPr>
                        <a:t>Treatment</a:t>
                      </a:r>
                    </a:p>
                  </a:txBody>
                  <a:tcPr marL="95250" marR="95250" marT="76200" marB="76200">
                    <a:solidFill>
                      <a:srgbClr val="1D0090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Enterprise package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Most agreed feature add-ons included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~AED 20K/entity/year indicative value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Support above 10K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12.5% versus 25% standard rate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50% lower rate on the same fee base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New-entity onboarding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AED 20,000 once per new entity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Existing entities exempt</a:t>
                      </a:r>
                    </a:p>
                  </a:txBody>
                  <a:tcPr marL="95250" marR="95250" marT="76200" marB="7620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Specialist modules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KYC, DESC eSeal Certificates,</a:t>
                      </a:r>
                    </a:p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Collaboration &amp; DMS, AI Services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3D3D3D"/>
                          </a:solidFill>
                          <a:latin typeface="Mulish"/>
                          <a:ea typeface="Mulish"/>
                          <a:cs typeface="Mulish"/>
                        </a:rPr>
                        <a:t>Purchased separately</a:t>
                      </a:r>
                    </a:p>
                  </a:txBody>
                  <a:tcPr marL="95250" marR="95250" marT="76200" marB="76200">
                    <a:solidFill>
                      <a:srgbClr val="F5EDFF"/>
                    </a:solidFill>
                  </a:tcPr>
                </a:tc>
              </a:tr>
            </a:tbl>
          </a:graphicData>
        </a:graphic>
      </p:graphicFrame>
      <p:sp>
        <p:nvSpPr>
          <p:cNvPr id="6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54AB1451-C1D4-4EA7-BD0D-3454AA9A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6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These additional benefits are outside the subscription-savings total.</a:t>
            </a:r>
          </a:p>
          <a:p xmlns:a="http://schemas.openxmlformats.org/drawingml/2006/main">
            <a:pPr algn="l">
              <a:defRPr sz="1650" b="0">
                <a:solidFill>
                  <a:srgbClr val="344054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44054"/>
                </a:solidFill>
                <a:latin typeface="Mulish"/>
                <a:ea typeface="Mulish"/>
                <a:cs typeface="Mulish"/>
              </a:rPr>
              <a:t>12.5% support applies strictly above 10K; the exact 10K model uses 14%.</a:t>
            </a:r>
          </a:p>
        </p:txBody>
      </p:sp>
    </p:spTree>
    <p:extLst>
      <p:ext uri="{BB962C8B-B14F-4D97-AF65-F5344CB8AC3E}">
        <p14:creationId xmlns:p14="http://schemas.microsoft.com/office/powerpoint/2010/main" val="12759490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7" name="Rectangle 1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d79dd662046fe"/>
          <a:stretch xmlns:a="http://schemas.openxmlformats.org/drawingml/2006/main"/>
        </p:blipFill>
        <p:spPr>
          <a:xfrm xmlns:a="http://schemas.openxmlformats.org/drawingml/2006/main">
            <a:off x="1219200" y="990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893DB4E-1DCC-46E6-B381-760FAA6B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7200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10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D96DA77-860B-40CA-A0F5-7A76A36B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028700"/>
            <a:ext cx="1009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DDA MANAGEMENT DISCUSSION / OPTIONAL DETAIL 6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76BD5B-DE1E-4490-A4E3-0283026F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764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Scale beyond the initial 10K commitment</a:t>
            </a:r>
          </a:p>
        </p:txBody>
      </p:sp>
      <p:sp>
        <p:nvSpPr>
          <p:cNvPr id="5" name="population">
            <a:extLst xmlns:a="http://schemas.openxmlformats.org/drawingml/2006/main">
              <a:ext uri="{FF2B5EF4-FFF2-40B4-BE49-F238E27FC236}">
                <a16:creationId xmlns:a16="http://schemas.microsoft.com/office/drawing/2014/main" id="{AE254853-C20E-47B8-A493-DA47891E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147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76,000</a:t>
            </a:r>
          </a:p>
        </p:txBody>
      </p:sp>
      <p:sp>
        <p:nvSpPr>
          <p:cNvPr id="6" name="population-label">
            <a:extLst xmlns:a="http://schemas.openxmlformats.org/drawingml/2006/main">
              <a:ext uri="{FF2B5EF4-FFF2-40B4-BE49-F238E27FC236}">
                <a16:creationId xmlns:a16="http://schemas.microsoft.com/office/drawing/2014/main" id="{AD9F7EDC-1E2F-493B-89D7-BFE5E8BE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862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employees in the planning population</a:t>
            </a:r>
          </a:p>
        </p:txBody>
      </p:sp>
      <p:sp>
        <p:nvSpPr>
          <p:cNvPr id="7" name="share">
            <a:extLst xmlns:a="http://schemas.openxmlformats.org/drawingml/2006/main">
              <a:ext uri="{FF2B5EF4-FFF2-40B4-BE49-F238E27FC236}">
                <a16:creationId xmlns:a16="http://schemas.microsoft.com/office/drawing/2014/main" id="{4F925E17-7F59-42F4-9E25-81F373B4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20%</a:t>
            </a:r>
          </a:p>
        </p:txBody>
      </p:sp>
      <p:sp>
        <p:nvSpPr>
          <p:cNvPr id="8" name="share-label">
            <a:extLst xmlns:a="http://schemas.openxmlformats.org/drawingml/2006/main">
              <a:ext uri="{FF2B5EF4-FFF2-40B4-BE49-F238E27FC236}">
                <a16:creationId xmlns:a16="http://schemas.microsoft.com/office/drawing/2014/main" id="{DA185017-447D-4065-8BA3-9AA6D8C5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8625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assumed potential adoption</a:t>
            </a:r>
          </a:p>
        </p:txBody>
      </p:sp>
      <p:sp>
        <p:nvSpPr>
          <p:cNvPr id="9" name="potential">
            <a:extLst xmlns:a="http://schemas.openxmlformats.org/drawingml/2006/main">
              <a:ext uri="{FF2B5EF4-FFF2-40B4-BE49-F238E27FC236}">
                <a16:creationId xmlns:a16="http://schemas.microsoft.com/office/drawing/2014/main" id="{4731AC7F-0595-4BBC-BD9C-E2E403A2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314700"/>
            <a:ext cx="2657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9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15,200</a:t>
            </a:r>
          </a:p>
        </p:txBody>
      </p:sp>
      <p:sp>
        <p:nvSpPr>
          <p:cNvPr id="10" name="potential-label">
            <a:extLst xmlns:a="http://schemas.openxmlformats.org/drawingml/2006/main">
              <a:ext uri="{FF2B5EF4-FFF2-40B4-BE49-F238E27FC236}">
                <a16:creationId xmlns:a16="http://schemas.microsoft.com/office/drawing/2014/main" id="{AF2C17C0-B9B4-402B-AC5A-4ED43F48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286250"/>
            <a:ext cx="26574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potential users</a:t>
            </a:r>
          </a:p>
        </p:txBody>
      </p:sp>
      <p:sp>
        <p:nvSpPr>
          <p:cNvPr id="11" name="scale-price">
            <a:extLst xmlns:a="http://schemas.openxmlformats.org/drawingml/2006/main">
              <a:ext uri="{FF2B5EF4-FFF2-40B4-BE49-F238E27FC236}">
                <a16:creationId xmlns:a16="http://schemas.microsoft.com/office/drawing/2014/main" id="{28843A79-89C6-4F3E-9ABA-C5BB0B24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86425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2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Separate full-scale illustration: AED 1,032.50/user/year</a:t>
            </a:r>
          </a:p>
        </p:txBody>
      </p:sp>
      <p:sp>
        <p:nvSpPr>
          <p:cNvPr id="12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5FA3529F-A05F-468A-BE5E-303AED20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86550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Estimated planning potential, not committed demand or an additional cohort.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At 15,200 users: AED 15.694m annual subscription. Support is separate.</a:t>
            </a:r>
          </a:p>
        </p:txBody>
      </p:sp>
    </p:spTree>
    <p:extLst>
      <p:ext uri="{BB962C8B-B14F-4D97-AF65-F5344CB8AC3E}">
        <p14:creationId xmlns:p14="http://schemas.microsoft.com/office/powerpoint/2010/main" val="500121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2026-09-21T16:28:08.7910000Z</dcterms:created>
  <dcterms:modified xsi:type="dcterms:W3CDTF">2026-09-21T16:28:08.7910000Z</dcterms:modified>
</coreProperties>
</file>