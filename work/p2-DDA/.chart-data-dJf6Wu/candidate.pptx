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2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5386aa155984505" /><Relationship Type="http://schemas.openxmlformats.org/officeDocument/2006/relationships/extended-properties" Target="/docProps/app.xml" Id="R76433caee38d4114" /><Relationship Type="http://schemas.openxmlformats.org/officeDocument/2006/relationships/officeDocument" Target="/ppt/presentation.xml" Id="R98cd3c52bca54b4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47afb48e1c4439d"/>
  </p:sldMasterIdLst>
  <p:notesMasterIdLst>
    <p:notesMasterId xmlns:r="http://schemas.openxmlformats.org/officeDocument/2006/relationships" r:id="Rdf76eb4ee2e84aea"/>
  </p:notesMasterIdLst>
  <p:sldIdLst>
    <p:sldId xmlns:r="http://schemas.openxmlformats.org/officeDocument/2006/relationships" id="256" r:id="Rd8c3686cbda742ea"/>
    <p:sldId xmlns:r="http://schemas.openxmlformats.org/officeDocument/2006/relationships" id="257" r:id="Rc128c98b87b8407d"/>
    <p:sldId xmlns:r="http://schemas.openxmlformats.org/officeDocument/2006/relationships" id="258" r:id="Rfe34df2378ea4bd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77828e15a13495c" /><Relationship Type="http://schemas.openxmlformats.org/officeDocument/2006/relationships/slideMaster" Target="/ppt/slideMasters/slideMaster1.xml" Id="R247afb48e1c4439d" /><Relationship Type="http://schemas.openxmlformats.org/officeDocument/2006/relationships/notesMaster" Target="/ppt/notesMasters/notesMaster1.xml" Id="Rdf76eb4ee2e84aea" /><Relationship Type="http://schemas.openxmlformats.org/officeDocument/2006/relationships/presProps" Target="/ppt/presProps.xml" Id="Re1660de782db4d31" /><Relationship Type="http://schemas.openxmlformats.org/officeDocument/2006/relationships/tableStyles" Target="/ppt/tableStyles.xml" Id="R45830756f4cf4b94" /><Relationship Type="http://schemas.openxmlformats.org/officeDocument/2006/relationships/slide" Target="/ppt/slides/slide1.xml" Id="Rd8c3686cbda742ea" /><Relationship Type="http://schemas.openxmlformats.org/officeDocument/2006/relationships/slide" Target="/ppt/slides/slide2.xml" Id="Rc128c98b87b8407d" /><Relationship Type="http://schemas.openxmlformats.org/officeDocument/2006/relationships/slide" Target="/ppt/slides/slide3.xml" Id="Rfe34df2378ea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99684fb0e2548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f2f036005a42d7" /><Relationship Type="http://schemas.openxmlformats.org/officeDocument/2006/relationships/notesMaster" Target="/ppt/notesMasters/notesMaster1.xml" Id="R1941f25b7b7d47f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b9ff6042d2c4cdf" /><Relationship Type="http://schemas.openxmlformats.org/officeDocument/2006/relationships/notesMaster" Target="/ppt/notesMasters/notesMaster1.xml" Id="Re62bd3c884b1421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a6d4df874c24666" /><Relationship Type="http://schemas.openxmlformats.org/officeDocument/2006/relationships/notesMaster" Target="/ppt/notesMasters/notesMaster1.xml" Id="R8db46bf3939a4c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User-supplied terms S01, S06–S10 in fact-register.md. DDA baseline AED 2,360; central AED 1,180. 10% hosted / 20% on-premise support. Regular Basic Price AED 2,950 is reference only, giving 60% discount.</a:t>
            </a:r>
          </a:p>
          <a:p xmlns:a="http://schemas.openxmlformats.org/drawingml/2006/main">
            <a:r>
              <a:t>- DDA-business-case-model.xlsx, Base case, Cost model K23=147,511,800; K32=74,475,900; K34=73,035,900. Five-year new-entity onboarding 720,000 included. Recurring central cost 73,755,900.</a:t>
            </a:r>
          </a:p>
          <a:p xmlns:a="http://schemas.openxmlformats.org/drawingml/2006/main">
            <a:r>
              <a:t>- Growth-seat price protection, allocation and rollout timing need confirmation. Base quantity path 10,000 / 10,625 / 11,250 / 11,875 / 12,500. Existing on-premise users retained at 1,260. Forty new entities is a planning assumption.</a:t>
            </a:r>
          </a:p>
          <a:p xmlns:a="http://schemas.openxmlformats.org/drawingml/2006/main">
            <a:r>
              <a:t>- Five-year procurement ROI 98.1% = 73,035,900 / 74,475,900. Net savings / matched baseline is 49.5%. This is an expanded-service benchmark, not actual current government spending.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S03 existing customer project users sum to 1,830 including RTA. Eight entities and nine projects. User counts are not verified unique active users.</a:t>
            </a:r>
          </a:p>
          <a:p xmlns:a="http://schemas.openxmlformats.org/drawingml/2006/main">
            <a:r>
              <a:t>- S04 DDA internal survey. Q3: six 1–50, four 51–100, seven 101–500, four &gt;1,000, one Other. Numerical minimum 6*1+4*51+7*101+4*1001=4,921. Q7 N=16, ten current/six future requirements. Q5 17 of 22 expect growth.</a:t>
            </a:r>
          </a:p>
          <a:p xmlns:a="http://schemas.openxmlformats.org/drawingml/2006/main">
            <a:r>
              <a:t>- Do not add survey minimum to the existing customer total without respondent mapping. No exact total for all surveyed entities is established.</a:t>
            </a:r>
          </a:p>
          <a:p xmlns:a="http://schemas.openxmlformats.org/drawingml/2006/main">
            <a:r>
              <a:t>- S02 DDA deparments shared service.xlsx, dda departments A2:B93 only. 92 name rows, 91 numbered, duplicate/alias and eligibility review pending.</a:t>
            </a:r>
          </a:p>
          <a:p xmlns:a="http://schemas.openxmlformats.org/drawingml/2006/main">
            <a:r>
              <a:t>- R01 Digital Dubai May 2025 Smart Employee scale: https://www.digitaldubai.ae/newsroom/news/dubai-to-make-presence-felt-at-gitex-europe-x-ai-everything-2025-with-a-joint-pavilion-featuring-12-government-and-private-entities</a:t>
            </a:r>
          </a:p>
          <a:p xmlns:a="http://schemas.openxmlformats.org/drawingml/2006/main">
            <a:r>
              <a:t>- Current contracts require reconciliation: central cost for the existing 1,830 users is 2,524,020 versus known reported charges of 2,047,235.66, conditional on AED/additive support. RTA rises from 608,000 support to 1,416,000 subscription plus support. Missing old support and tax details limit conclusions.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S07 initial 10,000 users, annual billing, five-year commitment, zero indexation, 25% cumulative growth. DDA central funding with tentative entity budget contributions. Internal transfers are not government-wide savings.</a:t>
            </a:r>
          </a:p>
          <a:p xmlns:a="http://schemas.openxmlformats.org/drawingml/2006/main">
            <a:r>
              <a:t>- Base model Year 1: subscription 11,800,000, hosted support 1,031,320, on-premise support 297,360, total recurring 13,128,680. Ten new entities at 18,000 = 180,000. Total 13,308,680.</a:t>
            </a:r>
          </a:p>
          <a:p xmlns:a="http://schemas.openxmlformats.org/drawingml/2006/main">
            <a:r>
              <a:t>- S08–S10 include Digital Sovereign Sign, unlimited manual transactions and external recipients, hosting and branding. Standard 8×5 support 10%, on-premise support 20% replaces 10% and old support.</a:t>
            </a:r>
          </a:p>
          <a:p xmlns:a="http://schemas.openxmlformats.org/drawingml/2006/main">
            <a:r>
              <a:t>- Automated/API add-ons, Sovereign Collaboration, AI services, Evidence based Archiving for Standalone Documents and files are separately purchased. Tax and unpriced implementation/operation costs excluded.</a:t>
            </a:r>
          </a:p>
          <a:p xmlns:a="http://schemas.openxmlformats.org/drawingml/2006/main">
            <a:r>
              <a:t>- A hypothetical 3% annual baseline escalation adds 9,629,287.0899516 of avoided cost over five years, excluded from headline benefit. No subscription escalation rate has been supplied for the baseline.</a:t>
            </a:r>
          </a:p>
          <a:p xmlns:a="http://schemas.openxmlformats.org/drawingml/2006/main">
            <a:r>
              <a:t>- Base Year 1 cost threshold is 5,013 deployed users at the DDA benchmark, including 1,260 on-premise. This is not current cash payback. Migration overlap and unused capacity remain risks.</a:t>
            </a:r>
          </a:p>
          <a:p xmlns:a="http://schemas.openxmlformats.org/drawingml/2006/main">
            <a:r>
              <a:t>- This is an internal review proposal. Growth-seat pricing and rollout schedules are assumptions, not finalized terms.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9d95ec0d743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f7472b15b644083" /><Relationship Type="http://schemas.openxmlformats.org/officeDocument/2006/relationships/slideLayout" Target="/ppt/slideLayouts/slideLayout1.xml" Id="R33e5d1e700ec4d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3e5d1e700ec4d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20c69d9bbc445e" /><Relationship Type="http://schemas.openxmlformats.org/officeDocument/2006/relationships/image" Target="/ppt/media/image.png" Id="R5429c221aa484099" /><Relationship Type="http://schemas.openxmlformats.org/officeDocument/2006/relationships/chart" Target="/ppt/slides/charts/chart1.xml" Id="R23dde8307adb4b78" /><Relationship Type="http://schemas.openxmlformats.org/officeDocument/2006/relationships/notesSlide" Target="/ppt/notesSlides/notesSlide1.xml" Id="Rd66241f975b54e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d992622f243b6" /><Relationship Type="http://schemas.openxmlformats.org/officeDocument/2006/relationships/image" Target="/ppt/media/image2.png" Id="Re99a7c018f954a9b" /><Relationship Type="http://schemas.openxmlformats.org/officeDocument/2006/relationships/chart" Target="/ppt/slides/charts/chart2.xml" Id="Rdd5d2f368121470d" /><Relationship Type="http://schemas.openxmlformats.org/officeDocument/2006/relationships/notesSlide" Target="/ppt/notesSlides/notesSlide2.xml" Id="R3dedf77f4a024fb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84762a35c4bbb" /><Relationship Type="http://schemas.openxmlformats.org/officeDocument/2006/relationships/image" Target="/ppt/media/image3.png" Id="R6e02c9e462f140f9" /><Relationship Type="http://schemas.openxmlformats.org/officeDocument/2006/relationships/notesSlide" Target="/ppt/notesSlides/notesSlide3.xml" Id="R6450093ab8424539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latin typeface="Mulish"/>
                <a:ea typeface="Mulish"/>
                <a:cs typeface="Mulish"/>
              </a:rPr>
              <a:t>Five-year cost (AED m)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latin typeface="Mulish"/>
              <a:ea typeface="Mulish"/>
              <a:cs typeface="Mulish"/>
            </a:defRPr>
          </a:pPr>
        </a:p>
      </c:txPr>
    </c:title>
    <c:plotArea>
      <c:barChart>
        <c:barDir val="bar"/>
        <c:grouping val="clustered"/>
        <c:varyColors val="0"/>
        <c:ser>
          <c:idx val="0"/>
          <c:order val="0"/>
          <c:tx>
            <c:v>Five-year cost (AED m)</c:v>
          </c:tx>
          <c:spPr>
            <a:solidFill xmlns:a="http://schemas.openxmlformats.org/drawingml/2006/main">
              <a:srgbClr val="1D0090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7000FF"/>
              </a:solidFill>
            </c:spPr>
          </c:dPt>
          <c:cat>
            <c:strRef>
              <c:f>'Chart Data'!$A$2:$A$3</c:f>
              <c:strCache>
                <c:ptCount val="2"/>
                <c:pt idx="0">
                  <c:v>DDA baseline</c:v>
                </c:pt>
                <c:pt idx="1">
                  <c:v>Central program</c:v>
                </c:pt>
              </c:strCache>
            </c:strRef>
          </c:cat>
          <c:val>
            <c:numRef>
              <c:f>'Chart Data'!$B$2:$B$3</c:f>
              <c:numCache>
                <c:formatCode>0.00</c:formatCode>
                <c:ptCount val="2"/>
                <c:pt idx="0">
                  <c:v>147.5118</c:v>
                </c:pt>
                <c:pt idx="1">
                  <c:v>74.4759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latin typeface="Mulish"/>
                  <a:ea typeface="Mulish"/>
                  <a:cs typeface="Mulish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stacked"/>
        <c:varyColors val="0"/>
        <c:ser>
          <c:idx val="0"/>
          <c:order val="0"/>
          <c:tx>
            <c:v>Existing users</c:v>
          </c:tx>
          <c:spPr>
            <a:solidFill xmlns:a="http://schemas.openxmlformats.org/drawingml/2006/main">
              <a:srgbClr val="7000FF"/>
            </a:solidFill>
          </c:spPr>
          <c:cat>
            <c:strRef>
              <c:f>'Chart Data'!$A$2:$A$2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Data'!$B$2:$B$2</c:f>
              <c:numCache>
                <c:formatCode>General</c:formatCode>
                <c:ptCount val="1"/>
                <c:pt idx="0">
                  <c:v>1830</c:v>
                </c:pt>
              </c:numCache>
            </c:numRef>
          </c:val>
        </c:ser>
        <c:ser>
          <c:idx val="1"/>
          <c:order val="1"/>
          <c:tx>
            <c:v>Awaiting allocation</c:v>
          </c:tx>
          <c:spPr>
            <a:solidFill xmlns:a="http://schemas.openxmlformats.org/drawingml/2006/main">
              <a:srgbClr val="D0D5DD"/>
            </a:solidFill>
          </c:spPr>
          <c:cat>
            <c:strRef>
              <c:f>'Chart Data'!$C$2:$C$2</c:f>
              <c:strCache>
                <c:ptCount val="1"/>
                <c:pt idx="0">
                  <c:v>Initial pool</c:v>
                </c:pt>
              </c:strCache>
            </c:strRef>
          </c:cat>
          <c:val>
            <c:numRef>
              <c:f>'Chart Data'!$D$2:$D$2</c:f>
              <c:numCache>
                <c:formatCode>General</c:formatCode>
                <c:ptCount val="1"/>
                <c:pt idx="0">
                  <c:v>8170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 b="1">
                  <a:solidFill>
                    <a:srgbClr val="1D0090"/>
                  </a:solidFill>
                  <a:latin typeface="Mulish"/>
                  <a:ea typeface="Mulish"/>
                  <a:cs typeface="Mulish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ulish"/>
                <a:ea typeface="Mulish"/>
                <a:cs typeface="Mulish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29c221aa48409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FA9EDC-D884-411C-B1D9-A458037F0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01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A3814298-ACF4-4A2F-B441-8933131A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186A3533-532A-4179-8471-E2EED918E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AED 73.04m in modeled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five-year savings</a:t>
            </a:r>
          </a:p>
        </p:txBody>
      </p:sp>
      <p:sp>
        <p:nvSpPr>
          <p:cNvPr id="5" name="discount">
            <a:extLst xmlns:a="http://schemas.openxmlformats.org/drawingml/2006/main">
              <a:ext uri="{FF2B5EF4-FFF2-40B4-BE49-F238E27FC236}">
                <a16:creationId xmlns:a16="http://schemas.microsoft.com/office/drawing/2014/main" id="{69B3AA88-E533-41EF-9376-F5738027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438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540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50%</a:t>
            </a:r>
          </a:p>
        </p:txBody>
      </p:sp>
      <p:sp>
        <p:nvSpPr>
          <p:cNvPr id="6" name="discount-explanation">
            <a:extLst xmlns:a="http://schemas.openxmlformats.org/drawingml/2006/main">
              <a:ext uri="{FF2B5EF4-FFF2-40B4-BE49-F238E27FC236}">
                <a16:creationId xmlns:a16="http://schemas.microsoft.com/office/drawing/2014/main" id="{128D3444-B435-4CD2-9863-E56AEB07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52800"/>
            <a:ext cx="4476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lower subscription price</a:t>
            </a:r>
          </a:p>
          <a:p xmlns:a="http://schemas.openxmlformats.org/drawingml/2006/main">
            <a:pPr algn="l">
              <a:defRPr sz="20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20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against the DDA baseline</a:t>
            </a:r>
          </a:p>
        </p:txBody>
      </p:sp>
      <p:sp>
        <p:nvSpPr>
          <p:cNvPr id="7" name="price">
            <a:extLst xmlns:a="http://schemas.openxmlformats.org/drawingml/2006/main">
              <a:ext uri="{FF2B5EF4-FFF2-40B4-BE49-F238E27FC236}">
                <a16:creationId xmlns:a16="http://schemas.microsoft.com/office/drawing/2014/main" id="{A3A40854-B89A-4418-85EF-77BEAFB6B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4524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AED 1,180 vs AED 2,360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per user per year</a:t>
            </a:r>
          </a:p>
        </p:txBody>
      </p:sp>
      <p:sp>
        <p:nvSpPr>
          <p:cNvPr id="8" name="roi">
            <a:extLst xmlns:a="http://schemas.openxmlformats.org/drawingml/2006/main">
              <a:ext uri="{FF2B5EF4-FFF2-40B4-BE49-F238E27FC236}">
                <a16:creationId xmlns:a16="http://schemas.microsoft.com/office/drawing/2014/main" id="{851D841C-63CB-4214-B35B-E9710FF98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673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98.1% procurement ROI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5429250" y="2190750"/>
          <a:ext xmlns:a="http://schemas.openxmlformats.org/drawingml/2006/main" cx="628650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3dde8307adb4b78"/>
          </a:graphicData>
        </a:graphic>
      </p:graphicFrame>
      <p:sp>
        <p:nvSpPr>
          <p:cNvPr id="10" name="scope">
            <a:extLst xmlns:a="http://schemas.openxmlformats.org/drawingml/2006/main">
              <a:ext uri="{FF2B5EF4-FFF2-40B4-BE49-F238E27FC236}">
                <a16:creationId xmlns:a16="http://schemas.microsoft.com/office/drawing/2014/main" id="{C346B54B-368B-454F-B0C2-97B1EF2E5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14975"/>
            <a:ext cx="112395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Base assumption: 10,000 to 12,500 users, 1,260 on-premise and 40 new entities.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Includes onboarding. Excludes tax and unpriced services. No baseline price increases.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ROI = five-year comparative benefit divided by central modeled program cost.</a:t>
            </a:r>
          </a:p>
        </p:txBody>
      </p:sp>
    </p:spTree>
    <p:extLst>
      <p:ext uri="{BB962C8B-B14F-4D97-AF65-F5344CB8AC3E}">
        <p14:creationId xmlns:p14="http://schemas.microsoft.com/office/powerpoint/2010/main" val="17921938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a7c018f954a9b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DC7FD85-E1FD-47AB-9FCD-D39C0627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02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2D318FBE-9241-454F-934B-B8BD33E5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00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7000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4DD07F9-70EF-40BF-A443-C11AF92CA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Evidence for the 10,000-user</a:t>
            </a:r>
          </a:p>
          <a:p xmlns:a="http://schemas.openxmlformats.org/drawingml/2006/main">
            <a:pPr algn="l">
              <a:defRPr sz="3450" b="1">
                <a:solidFill>
                  <a:srgbClr val="1D0090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1D0090"/>
                </a:solidFill>
                <a:latin typeface="Spartan"/>
                <a:ea typeface="Spartan"/>
                <a:cs typeface="Spartan"/>
              </a:rPr>
              <a:t>starting pool</a:t>
            </a:r>
          </a:p>
        </p:txBody>
      </p:sp>
      <p:sp>
        <p:nvSpPr>
          <p:cNvPr id="5" name="existing">
            <a:extLst xmlns:a="http://schemas.openxmlformats.org/drawingml/2006/main">
              <a:ext uri="{FF2B5EF4-FFF2-40B4-BE49-F238E27FC236}">
                <a16:creationId xmlns:a16="http://schemas.microsoft.com/office/drawing/2014/main" id="{FDBDCF36-4984-401F-B2E8-EB03128A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81250"/>
            <a:ext cx="6191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1,830 existing project users</a:t>
            </a:r>
          </a:p>
        </p:txBody>
      </p:sp>
      <p:sp>
        <p:nvSpPr>
          <p:cNvPr id="6" name="existing-detail">
            <a:extLst xmlns:a="http://schemas.openxmlformats.org/drawingml/2006/main">
              <a:ext uri="{FF2B5EF4-FFF2-40B4-BE49-F238E27FC236}">
                <a16:creationId xmlns:a16="http://schemas.microsoft.com/office/drawing/2014/main" id="{710D43F8-A80C-48F7-AC21-9E20A171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62275"/>
            <a:ext cx="600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Eight customer entities and nine projects,</a:t>
            </a:r>
          </a:p>
          <a:p xmlns:a="http://schemas.openxmlformats.org/drawingml/2006/main">
            <a:pPr algn="l">
              <a:defRPr sz="187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including RTA’s 1,000 CAPEX users.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428625" y="3819525"/>
          <a:ext xmlns:a="http://schemas.openxmlformats.org/drawingml/2006/main" cx="6191250" cy="12096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d5d2f368121470d"/>
          </a:graphicData>
        </a:graphic>
      </p:graphicFrame>
      <p:sp>
        <p:nvSpPr>
          <p:cNvPr id="8" name="gap">
            <a:extLst xmlns:a="http://schemas.openxmlformats.org/drawingml/2006/main">
              <a:ext uri="{FF2B5EF4-FFF2-40B4-BE49-F238E27FC236}">
                <a16:creationId xmlns:a16="http://schemas.microsoft.com/office/drawing/2014/main" id="{65AED7B1-A1C0-4179-951E-684A68893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600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875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8,170 seats still need named allocations.</a:t>
            </a:r>
          </a:p>
        </p:txBody>
      </p:sp>
      <p:sp>
        <p:nvSpPr>
          <p:cNvPr id="9" name="survey-min">
            <a:extLst xmlns:a="http://schemas.openxmlformats.org/drawingml/2006/main">
              <a:ext uri="{FF2B5EF4-FFF2-40B4-BE49-F238E27FC236}">
                <a16:creationId xmlns:a16="http://schemas.microsoft.com/office/drawing/2014/main" id="{75171CF2-31CC-4863-8FAA-0C49C2DC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2381250"/>
            <a:ext cx="45720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7000FF"/>
                </a:solidFill>
                <a:latin typeface="Spartan"/>
                <a:ea typeface="Spartan"/>
                <a:cs typeface="Spartan"/>
              </a:defRPr>
            </a:pPr>
            <a:r>
              <a:rPr sz="3150" b="1">
                <a:solidFill>
                  <a:srgbClr val="7000FF"/>
                </a:solidFill>
                <a:latin typeface="Spartan"/>
                <a:ea typeface="Spartan"/>
                <a:cs typeface="Spartan"/>
              </a:rPr>
              <a:t>4,921 users</a:t>
            </a:r>
          </a:p>
        </p:txBody>
      </p:sp>
      <p:sp>
        <p:nvSpPr>
          <p:cNvPr id="10" name="survey-min-detail">
            <a:extLst xmlns:a="http://schemas.openxmlformats.org/drawingml/2006/main">
              <a:ext uri="{FF2B5EF4-FFF2-40B4-BE49-F238E27FC236}">
                <a16:creationId xmlns:a16="http://schemas.microsoft.com/office/drawing/2014/main" id="{2D9A5A5A-4496-4765-AD24-1CEC253C5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009900"/>
            <a:ext cx="452437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Minimum across 21 numerical</a:t>
            </a:r>
          </a:p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current or expected user responses</a:t>
            </a:r>
          </a:p>
        </p:txBody>
      </p:sp>
      <p:sp>
        <p:nvSpPr>
          <p:cNvPr id="11" name="interest">
            <a:extLst xmlns:a="http://schemas.openxmlformats.org/drawingml/2006/main">
              <a:ext uri="{FF2B5EF4-FFF2-40B4-BE49-F238E27FC236}">
                <a16:creationId xmlns:a16="http://schemas.microsoft.com/office/drawing/2014/main" id="{42A854B8-00A0-4C72-A076-E547B2BA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876675"/>
            <a:ext cx="45243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10 current requirements</a:t>
            </a:r>
          </a:p>
          <a:p xmlns:a="http://schemas.openxmlformats.org/drawingml/2006/main">
            <a:pPr algn="l">
              <a:defRPr sz="1950" b="1">
                <a:solidFill>
                  <a:srgbClr val="1D0090"/>
                </a:solidFill>
                <a:latin typeface="Mulish"/>
                <a:ea typeface="Mulish"/>
                <a:cs typeface="Mulish"/>
              </a:defRPr>
            </a:pPr>
            <a:r>
              <a:rPr sz="1950" b="1">
                <a:solidFill>
                  <a:srgbClr val="1D0090"/>
                </a:solidFill>
                <a:latin typeface="Mulish"/>
                <a:ea typeface="Mulish"/>
                <a:cs typeface="Mulish"/>
              </a:rPr>
              <a:t>6 possible future requirements</a:t>
            </a:r>
          </a:p>
        </p:txBody>
      </p:sp>
      <p:sp>
        <p:nvSpPr>
          <p:cNvPr id="12" name="growth">
            <a:extLst xmlns:a="http://schemas.openxmlformats.org/drawingml/2006/main">
              <a:ext uri="{FF2B5EF4-FFF2-40B4-BE49-F238E27FC236}">
                <a16:creationId xmlns:a16="http://schemas.microsoft.com/office/drawing/2014/main" id="{094FB31D-DF41-44E0-8ECA-E22549FF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4829175"/>
            <a:ext cx="4524375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17 of 22 respondents expect growth.</a:t>
            </a:r>
          </a:p>
        </p:txBody>
      </p:sp>
      <p:sp>
        <p:nvSpPr>
          <p:cNvPr id="13" name="demand-caveat">
            <a:extLst xmlns:a="http://schemas.openxmlformats.org/drawingml/2006/main">
              <a:ext uri="{FF2B5EF4-FFF2-40B4-BE49-F238E27FC236}">
                <a16:creationId xmlns:a16="http://schemas.microsoft.com/office/drawing/2014/main" id="{24A4D2F7-AF50-4848-A3C9-E7B3E8263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72150"/>
            <a:ext cx="11239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Survey overlap with existing customers is unknown. The wider list has 92 source rows with aliases.</a:t>
            </a:r>
          </a:p>
          <a:p xmlns:a="http://schemas.openxmlformats.org/drawingml/2006/main">
            <a:pPr algn="l">
              <a:defRPr sz="1650" b="0">
                <a:solidFill>
                  <a:srgbClr val="3D3D3D"/>
                </a:solidFill>
                <a:latin typeface="Mulish"/>
                <a:ea typeface="Mulish"/>
                <a:cs typeface="Mulish"/>
              </a:defRPr>
            </a:pPr>
            <a:r>
              <a:rPr sz="1650" b="0">
                <a:solidFill>
                  <a:srgbClr val="3D3D3D"/>
                </a:solidFill>
                <a:latin typeface="Mulish"/>
                <a:ea typeface="Mulish"/>
                <a:cs typeface="Mulish"/>
              </a:rPr>
              <a:t>DDA’s 76,000+ Smart Employee users indicate scale, not paid-signature demand.</a:t>
            </a:r>
          </a:p>
        </p:txBody>
      </p:sp>
    </p:spTree>
    <p:extLst>
      <p:ext uri="{BB962C8B-B14F-4D97-AF65-F5344CB8AC3E}">
        <p14:creationId xmlns:p14="http://schemas.microsoft.com/office/powerpoint/2010/main" val="8744880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D009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02c9e462f140f9"/>
          <a:stretch xmlns:a="http://schemas.openxmlformats.org/drawingml/2006/main"/>
        </p:blipFill>
        <p:spPr>
          <a:xfrm xmlns:a="http://schemas.openxmlformats.org/drawingml/2006/main">
            <a:off x="457200" y="228600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5C8C898-1FF5-4A11-869A-B485BF3B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45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0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03</a:t>
            </a:r>
          </a:p>
        </p:txBody>
      </p:sp>
      <p:sp>
        <p:nvSpPr>
          <p:cNvPr id="3" name="eyebrow">
            <a:extLst xmlns:a="http://schemas.openxmlformats.org/drawingml/2006/main">
              <a:ext uri="{FF2B5EF4-FFF2-40B4-BE49-F238E27FC236}">
                <a16:creationId xmlns:a16="http://schemas.microsoft.com/office/drawing/2014/main" id="{11E447C4-E3BA-447A-9647-6C8430104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6225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6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DIGITAL DUBAI AUTHORITY</a:t>
            </a:r>
          </a:p>
        </p:txBody>
      </p:sp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DD01FCC-07FC-4DF2-B9D7-382F0766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33450"/>
            <a:ext cx="11144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34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Five-year pricing with annual budgets</a:t>
            </a:r>
          </a:p>
        </p:txBody>
      </p:sp>
      <p:sp>
        <p:nvSpPr>
          <p:cNvPr id="5" name="budget">
            <a:extLst xmlns:a="http://schemas.openxmlformats.org/drawingml/2006/main">
              <a:ext uri="{FF2B5EF4-FFF2-40B4-BE49-F238E27FC236}">
                <a16:creationId xmlns:a16="http://schemas.microsoft.com/office/drawing/2014/main" id="{FF812F0B-E7FF-4155-8736-588E0794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669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450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AED 13.31m</a:t>
            </a:r>
          </a:p>
        </p:txBody>
      </p:sp>
      <p:sp>
        <p:nvSpPr>
          <p:cNvPr id="6" name="budget-label">
            <a:extLst xmlns:a="http://schemas.openxmlformats.org/drawingml/2006/main">
              <a:ext uri="{FF2B5EF4-FFF2-40B4-BE49-F238E27FC236}">
                <a16:creationId xmlns:a16="http://schemas.microsoft.com/office/drawing/2014/main" id="{8AEB6E1F-0C12-4DDC-BFC2-A17FA3852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337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17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modeled Year 1 budget</a:t>
            </a:r>
          </a:p>
        </p:txBody>
      </p:sp>
      <p:sp>
        <p:nvSpPr>
          <p:cNvPr id="7" name="budget-detail">
            <a:extLst xmlns:a="http://schemas.openxmlformats.org/drawingml/2006/main">
              <a:ext uri="{FF2B5EF4-FFF2-40B4-BE49-F238E27FC236}">
                <a16:creationId xmlns:a16="http://schemas.microsoft.com/office/drawing/2014/main" id="{DDCEBF9A-E7B9-4E83-8E08-F27BCD82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71900"/>
            <a:ext cx="6286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13.13m subscription and support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AED 0.18m for 10 new entities</a:t>
            </a:r>
          </a:p>
        </p:txBody>
      </p:sp>
      <p:sp>
        <p:nvSpPr>
          <p:cNvPr id="8" name="lock">
            <a:extLst xmlns:a="http://schemas.openxmlformats.org/drawingml/2006/main">
              <a:ext uri="{FF2B5EF4-FFF2-40B4-BE49-F238E27FC236}">
                <a16:creationId xmlns:a16="http://schemas.microsoft.com/office/drawing/2014/main" id="{864FCE96-28B7-4D65-AAA2-706F978E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67275"/>
            <a:ext cx="600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250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No indexation for five years</a:t>
            </a:r>
          </a:p>
        </p:txBody>
      </p:sp>
      <p:sp>
        <p:nvSpPr>
          <p:cNvPr id="9" name="lock-detail">
            <a:extLst xmlns:a="http://schemas.openxmlformats.org/drawingml/2006/main">
              <a:ext uri="{FF2B5EF4-FFF2-40B4-BE49-F238E27FC236}">
                <a16:creationId xmlns:a16="http://schemas.microsoft.com/office/drawing/2014/main" id="{9ADAD259-C30B-4898-A660-C57DF2D0E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6191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Growth changes the annual bill.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Confirm price protection for added seats.</a:t>
            </a:r>
          </a:p>
        </p:txBody>
      </p:sp>
      <p:sp>
        <p:nvSpPr>
          <p:cNvPr id="10" name="decision-label">
            <a:extLst xmlns:a="http://schemas.openxmlformats.org/drawingml/2006/main">
              <a:ext uri="{FF2B5EF4-FFF2-40B4-BE49-F238E27FC236}">
                <a16:creationId xmlns:a16="http://schemas.microsoft.com/office/drawing/2014/main" id="{8F8EB068-BD0B-4CB2-B59A-7A506EA2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333625"/>
            <a:ext cx="442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  <a:latin typeface="Spartan"/>
                <a:ea typeface="Spartan"/>
                <a:cs typeface="Spartan"/>
              </a:defRPr>
            </a:pPr>
            <a:r>
              <a:rPr sz="2250" b="1">
                <a:solidFill>
                  <a:srgbClr val="FFFFFF"/>
                </a:solidFill>
                <a:latin typeface="Spartan"/>
                <a:ea typeface="Spartan"/>
                <a:cs typeface="Spartan"/>
              </a:rPr>
              <a:t>Proposed decision</a:t>
            </a:r>
          </a:p>
        </p:txBody>
      </p:sp>
      <p:sp>
        <p:nvSpPr>
          <p:cNvPr id="11" name="decision">
            <a:extLst xmlns:a="http://schemas.openxmlformats.org/drawingml/2006/main">
              <a:ext uri="{FF2B5EF4-FFF2-40B4-BE49-F238E27FC236}">
                <a16:creationId xmlns:a16="http://schemas.microsoft.com/office/drawing/2014/main" id="{19C7A5C5-A0E8-49C1-A7B9-7701E4D4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19425"/>
            <a:ext cx="4429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Sponsor central procurement</a:t>
            </a:r>
          </a:p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2025" b="1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for an initial 10,000 users.</a:t>
            </a:r>
          </a:p>
        </p:txBody>
      </p:sp>
      <p:sp>
        <p:nvSpPr>
          <p:cNvPr id="12" name="condition">
            <a:extLst xmlns:a="http://schemas.openxmlformats.org/drawingml/2006/main">
              <a:ext uri="{FF2B5EF4-FFF2-40B4-BE49-F238E27FC236}">
                <a16:creationId xmlns:a16="http://schemas.microsoft.com/office/drawing/2014/main" id="{6C548474-7D61-4130-9765-19F84FB3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62400"/>
            <a:ext cx="4429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Finalize funded allocations,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migration dates and unpriced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87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services before commitment.</a:t>
            </a:r>
          </a:p>
        </p:txBody>
      </p:sp>
      <p:sp>
        <p:nvSpPr>
          <p:cNvPr id="13" name="funding">
            <a:extLst xmlns:a="http://schemas.openxmlformats.org/drawingml/2006/main">
              <a:ext uri="{FF2B5EF4-FFF2-40B4-BE49-F238E27FC236}">
                <a16:creationId xmlns:a16="http://schemas.microsoft.com/office/drawing/2014/main" id="{EDF1557A-692C-4F35-8D2E-44DA6664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67325"/>
            <a:ext cx="4429125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DDA funds annual payments.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Entity contributions can support</a:t>
            </a:r>
          </a:p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Mulish"/>
                <a:ea typeface="Mulish"/>
                <a:cs typeface="Mulish"/>
              </a:defRPr>
            </a:pPr>
            <a:r>
              <a:rPr sz="1725" b="0">
                <a:solidFill>
                  <a:srgbClr val="FFFFFF"/>
                </a:solidFill>
                <a:latin typeface="Mulish"/>
                <a:ea typeface="Mulish"/>
                <a:cs typeface="Mulish"/>
              </a:rPr>
              <a:t>the central budget.</a:t>
            </a:r>
          </a:p>
        </p:txBody>
      </p:sp>
    </p:spTree>
    <p:extLst>
      <p:ext uri="{BB962C8B-B14F-4D97-AF65-F5344CB8AC3E}">
        <p14:creationId xmlns:p14="http://schemas.microsoft.com/office/powerpoint/2010/main" val="465052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2026-09-20T08:12:52.9600000Z</dcterms:created>
  <dcterms:modified xsi:type="dcterms:W3CDTF">2026-09-20T08:12:52.9600000Z</dcterms:modified>
</coreProperties>
</file>