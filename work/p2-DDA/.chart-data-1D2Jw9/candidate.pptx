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8948841054b79" /><Relationship Type="http://schemas.openxmlformats.org/officeDocument/2006/relationships/extended-properties" Target="/docProps/app.xml" Id="R7f23ec9bd5fa4cd3" /><Relationship Type="http://schemas.openxmlformats.org/officeDocument/2006/relationships/officeDocument" Target="/ppt/presentation.xml" Id="R4328b5c113c842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6d5d872aa8433b"/>
  </p:sldMasterIdLst>
  <p:notesMasterIdLst>
    <p:notesMasterId xmlns:r="http://schemas.openxmlformats.org/officeDocument/2006/relationships" r:id="R21440a00b78447e5"/>
  </p:notesMasterIdLst>
  <p:sldIdLst>
    <p:sldId xmlns:r="http://schemas.openxmlformats.org/officeDocument/2006/relationships" id="256" r:id="R873c217ca8f24277"/>
    <p:sldId xmlns:r="http://schemas.openxmlformats.org/officeDocument/2006/relationships" id="257" r:id="Rc92c53c39d9f459c"/>
    <p:sldId xmlns:r="http://schemas.openxmlformats.org/officeDocument/2006/relationships" id="258" r:id="R82aec3a264494032"/>
    <p:sldId xmlns:r="http://schemas.openxmlformats.org/officeDocument/2006/relationships" id="259" r:id="R95d01b3648014648"/>
    <p:sldId xmlns:r="http://schemas.openxmlformats.org/officeDocument/2006/relationships" id="260" r:id="R7a5f728498664e67"/>
    <p:sldId xmlns:r="http://schemas.openxmlformats.org/officeDocument/2006/relationships" id="261" r:id="Rba7051c3381b4c08"/>
    <p:sldId xmlns:r="http://schemas.openxmlformats.org/officeDocument/2006/relationships" id="262" r:id="R8bdef5317e5a49d3"/>
    <p:sldId xmlns:r="http://schemas.openxmlformats.org/officeDocument/2006/relationships" id="263" r:id="R92af4c6527324e95"/>
    <p:sldId xmlns:r="http://schemas.openxmlformats.org/officeDocument/2006/relationships" id="264" r:id="Rd40b934f080749dd"/>
    <p:sldId xmlns:r="http://schemas.openxmlformats.org/officeDocument/2006/relationships" id="265" r:id="R865d4fe7528846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3fd50c14424009" /><Relationship Type="http://schemas.openxmlformats.org/officeDocument/2006/relationships/slideMaster" Target="/ppt/slideMasters/slideMaster1.xml" Id="Rd66d5d872aa8433b" /><Relationship Type="http://schemas.openxmlformats.org/officeDocument/2006/relationships/notesMaster" Target="/ppt/notesMasters/notesMaster1.xml" Id="R21440a00b78447e5" /><Relationship Type="http://schemas.openxmlformats.org/officeDocument/2006/relationships/presProps" Target="/ppt/presProps.xml" Id="R64ae11d0391a4c8e" /><Relationship Type="http://schemas.openxmlformats.org/officeDocument/2006/relationships/tableStyles" Target="/ppt/tableStyles.xml" Id="Re42081433bfd40da" /><Relationship Type="http://schemas.openxmlformats.org/officeDocument/2006/relationships/slide" Target="/ppt/slides/slide1.xml" Id="R873c217ca8f24277" /><Relationship Type="http://schemas.openxmlformats.org/officeDocument/2006/relationships/slide" Target="/ppt/slides/slide2.xml" Id="Rc92c53c39d9f459c" /><Relationship Type="http://schemas.openxmlformats.org/officeDocument/2006/relationships/slide" Target="/ppt/slides/slide3.xml" Id="R82aec3a264494032" /><Relationship Type="http://schemas.openxmlformats.org/officeDocument/2006/relationships/slide" Target="/ppt/slides/slide4.xml" Id="R95d01b3648014648" /><Relationship Type="http://schemas.openxmlformats.org/officeDocument/2006/relationships/slide" Target="/ppt/slides/slide5.xml" Id="R7a5f728498664e67" /><Relationship Type="http://schemas.openxmlformats.org/officeDocument/2006/relationships/slide" Target="/ppt/slides/slide6.xml" Id="Rba7051c3381b4c08" /><Relationship Type="http://schemas.openxmlformats.org/officeDocument/2006/relationships/slide" Target="/ppt/slides/slide7.xml" Id="R8bdef5317e5a49d3" /><Relationship Type="http://schemas.openxmlformats.org/officeDocument/2006/relationships/slide" Target="/ppt/slides/slide8.xml" Id="R92af4c6527324e95" /><Relationship Type="http://schemas.openxmlformats.org/officeDocument/2006/relationships/slide" Target="/ppt/slides/slide9.xml" Id="Rd40b934f080749dd" /><Relationship Type="http://schemas.openxmlformats.org/officeDocument/2006/relationships/slide" Target="/ppt/slides/slide10.xml" Id="R865d4fe75288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a4efa533e4f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a863252ee4d85" /><Relationship Type="http://schemas.openxmlformats.org/officeDocument/2006/relationships/notesMaster" Target="/ppt/notesMasters/notesMaster1.xml" Id="R12d0884aeebc4f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bea620bdf740c5" /><Relationship Type="http://schemas.openxmlformats.org/officeDocument/2006/relationships/notesMaster" Target="/ppt/notesMasters/notesMaster1.xml" Id="Rf401294afec64e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07064e64194324" /><Relationship Type="http://schemas.openxmlformats.org/officeDocument/2006/relationships/notesMaster" Target="/ppt/notesMasters/notesMaster1.xml" Id="Rd41abf3a8dbb42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71e1537c514c4c" /><Relationship Type="http://schemas.openxmlformats.org/officeDocument/2006/relationships/notesMaster" Target="/ppt/notesMasters/notesMaster1.xml" Id="Rfb7134b58d984d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3dde599a854fab" /><Relationship Type="http://schemas.openxmlformats.org/officeDocument/2006/relationships/notesMaster" Target="/ppt/notesMasters/notesMaster1.xml" Id="Rd78eb2196fc54c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b2f84066e347a8" /><Relationship Type="http://schemas.openxmlformats.org/officeDocument/2006/relationships/notesMaster" Target="/ppt/notesMasters/notesMaster1.xml" Id="Rd3f5a8c22c1749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da2732b8df4fe8" /><Relationship Type="http://schemas.openxmlformats.org/officeDocument/2006/relationships/notesMaster" Target="/ppt/notesMasters/notesMaster1.xml" Id="R4c984f04ace24d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d300c3001a47fc" /><Relationship Type="http://schemas.openxmlformats.org/officeDocument/2006/relationships/notesMaster" Target="/ppt/notesMasters/notesMaster1.xml" Id="Rd347130ccc8342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49cff54b5740f8" /><Relationship Type="http://schemas.openxmlformats.org/officeDocument/2006/relationships/notesMaster" Target="/ppt/notesMasters/notesMaster1.xml" Id="R12471898ab0a47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e70bfb59cd4276" /><Relationship Type="http://schemas.openxmlformats.org/officeDocument/2006/relationships/notesMaster" Target="/ppt/notesMasters/notesMaster1.xml" Id="R0f8cb13cc8c441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Summary!E4; Setup!E8/E18; Existing customers!D16/G16.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Open with the proposed framework and decision. One framework describes centralized procurement, not a mandatory single deployment or replacement of all on-premise arrangements. Existing weighted average is customer subscription revenue divided by users. The 19.87% and 60% comparisons are not additive discounts.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Potential!E14/E23/E71/E72; Summary!E32/E34; Survey!H27/E66.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Year 1 existing growth is 20%, or 262 users, as corrected by the user. It is user-reported, not independently verified contracted users. 4,921 is the numerical minimum implied by 21 answered bands, not a confirmed new-customer pipeline. The user instructed full additive survey counts, with zero overlap deduction. The 65 users per unsurveyed entity is a feasibility illustration, not a measured forecast. 38 entities were surveyed out of planning scope 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customers!D16/G16/I16; Setup!E18; goal.md additional commercial terms.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Existing-user annual savings are AED 383,369.75 before support. With 20% Year 1 growth, the existing cohort saves AED 460,043.70, assuming the same current price mix. Enterprise is a proposed entitlement for participating entities; do not claim every existing entity is on Business or that every optional module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Potential!D39/D41; Setup!E17; goal.md support and onboarding terms.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approval sought covers a central five-year procurement framework with annual budgets. Model support of 14% at exactly 10,000 users gives AED 1,652,000, making the initial recurring subscription-plus-support budget AED 13,452,000. Support is not included in savings. New entity count and implementation timing remain to be agreed; do not imply onboarding or optional modules are included in this recurring total. Proposed execution steps are recommendations, not completed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customers!C9:I16; Potential!D87:G88.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Customer table shows current source users only. Each saving is users multiplied by current price less AED 1,180. Average is weighted by users, not a simple average of customer prices. Year 1 growth assumes the same weighted current subscription price. Existing source rates are not independently audited.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Survey!C21:H27 and C52:E72; user-supplied DDA internal survey.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Q1 denominator 38: yes 21, no 10, planning 6, implementing 1. Interest question has 16 responses: 10 current requirement and six future. Growth denominator is 22 and more-users denominator is 17. Cost and user bands cannot be matched. Do not interpret organization shares as a user growth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Potential!D26:I41; Setup!E67/E68.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Forecast users are rounded separately by cohort each year; total users are 10,000, 10,500, 11,025, 11,576 and 12,155. Each is assumed billable for the full year. Paid users never fall below the initial commitment. This is an illustration, not a funded rollout schedule or an observed user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Potential!I35:I41; Summary!H13.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Five-year benchmark AED 150,167,016.89 less central subscription AED 65,202,080.00 gives modeled subscription benefit AED 84,964,936.89. Existing benchmark includes assumed future user growth at the current weighted price. Survey/Other spending is hypothetical list-price spending, not actual surveyed government expenditure. Chart values are editable snapshots extracted from the workbook, not live external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goal.md, additional commercial benefits and user-confirmed terms; Setup!E17.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indicative AED 20,000/entity/year add-on value depends on requirements and included-feature scope. Do not multiply it across 92 entities as guaranteed realized savings. The support proposition is 12.5% above 10K versus standard 25%; this halves the rate on the same fee base, not a separately modeled government-wide saving. Latest commercial support wording differs from higher-volume rates in the unchanged workbook; do not extend either assumption silently.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Setup!E10/E11; Potential!E45:E53.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Population and 20% adoption are user-supplied planning assumptions. The potential includes existing and survey users, rather than adding to them. AED 1,032.50 is the separately selected Tier 7 full-potential illustration. It does not automatically replace the locked AED 1,180 price in the five-year 10K scenario. Do not attach a support cost to this full-scale illustration without reconciling the new commercial support proposition.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b010b32c4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bbd2c1d06240df" /><Relationship Type="http://schemas.openxmlformats.org/officeDocument/2006/relationships/slideLayout" Target="/ppt/slideLayouts/slideLayout1.xml" Id="Rf57b0775774043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7b07757740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07ef04c064b12" /><Relationship Type="http://schemas.openxmlformats.org/officeDocument/2006/relationships/image" Target="/ppt/media/image.png" Id="Rca39a8705158476a" /><Relationship Type="http://schemas.openxmlformats.org/officeDocument/2006/relationships/notesSlide" Target="/ppt/notesSlides/notesSlide1.xml" Id="Re0389c3c39cb44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c1b2cca154f09" /><Relationship Type="http://schemas.openxmlformats.org/officeDocument/2006/relationships/image" Target="/ppt/media/image2.png" Id="R624fc2373b8a4213" /><Relationship Type="http://schemas.openxmlformats.org/officeDocument/2006/relationships/notesSlide" Target="/ppt/notesSlides/notesSlide2.xml" Id="Rc14ecaec6d024a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d3ab1d32a407e" /><Relationship Type="http://schemas.openxmlformats.org/officeDocument/2006/relationships/image" Target="/ppt/media/image3.png" Id="R76a86413520b40c6" /><Relationship Type="http://schemas.openxmlformats.org/officeDocument/2006/relationships/notesSlide" Target="/ppt/notesSlides/notesSlide3.xml" Id="Rba10c4014ae742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bd30396cd4e4e" /><Relationship Type="http://schemas.openxmlformats.org/officeDocument/2006/relationships/image" Target="/ppt/media/image4.png" Id="Rf0515620a25b4d6d" /><Relationship Type="http://schemas.openxmlformats.org/officeDocument/2006/relationships/notesSlide" Target="/ppt/notesSlides/notesSlide4.xml" Id="R5e67ed8eca3f4b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29aec96ed46cf" /><Relationship Type="http://schemas.openxmlformats.org/officeDocument/2006/relationships/image" Target="/ppt/media/image5.png" Id="R184ab465349c46a8" /><Relationship Type="http://schemas.openxmlformats.org/officeDocument/2006/relationships/notesSlide" Target="/ppt/notesSlides/notesSlide5.xml" Id="Re92c07be8a944a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92b47eb3d47c9" /><Relationship Type="http://schemas.openxmlformats.org/officeDocument/2006/relationships/image" Target="/ppt/media/image6.png" Id="R8249fd57ef044b96" /><Relationship Type="http://schemas.openxmlformats.org/officeDocument/2006/relationships/notesSlide" Target="/ppt/notesSlides/notesSlide6.xml" Id="Rfecaafb2f47c46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73d8404e847ff" /><Relationship Type="http://schemas.openxmlformats.org/officeDocument/2006/relationships/image" Target="/ppt/media/image7.png" Id="R7171753cf7544254" /><Relationship Type="http://schemas.openxmlformats.org/officeDocument/2006/relationships/notesSlide" Target="/ppt/notesSlides/notesSlide7.xml" Id="R730a33b65ea14b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bc2fe2d8b4844" /><Relationship Type="http://schemas.openxmlformats.org/officeDocument/2006/relationships/image" Target="/ppt/media/image8.png" Id="R0082daf909424aaf" /><Relationship Type="http://schemas.openxmlformats.org/officeDocument/2006/relationships/chart" Target="/ppt/slides/charts/chart1.xml" Id="Ra06b114dd52e4a1c" /><Relationship Type="http://schemas.openxmlformats.org/officeDocument/2006/relationships/notesSlide" Target="/ppt/notesSlides/notesSlide8.xml" Id="Rd49640412b7743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a0f757a39409b" /><Relationship Type="http://schemas.openxmlformats.org/officeDocument/2006/relationships/image" Target="/ppt/media/image9.png" Id="Rcf8d4cbd97b54d32" /><Relationship Type="http://schemas.openxmlformats.org/officeDocument/2006/relationships/notesSlide" Target="/ppt/notesSlides/notesSlide9.xml" Id="Rc6c5c63391d440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96266cf7d4013" /><Relationship Type="http://schemas.openxmlformats.org/officeDocument/2006/relationships/image" Target="/ppt/media/image10.png" Id="R9050b47c5f174649" /><Relationship Type="http://schemas.openxmlformats.org/officeDocument/2006/relationships/notesSlide" Target="/ppt/notesSlides/notesSlide10.xml" Id="R6339452001fa435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subscription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AED million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Benchmark</c:v>
                </c:pt>
                <c:pt idx="1">
                  <c:v>Central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150.17</c:v>
                </c:pt>
                <c:pt idx="1">
                  <c:v>65.2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9a8705158476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08D888-311E-4B22-87CB-1D512AA1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F936960-97B1-49D3-9ABF-FD312E13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513572-43C5-433A-875A-BE243A6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Dubai Government Platform.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Central Commitment.</a:t>
            </a:r>
          </a:p>
        </p:txBody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A970154E-4129-40CA-AB2D-1F09A142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Proposed Circularo Enterprise framework for participating entities</a:t>
            </a:r>
          </a:p>
        </p:txBody>
      </p:sp>
      <p:sp>
        <p:nvSpPr>
          <p:cNvPr id="6" name="users">
            <a:extLst xmlns:a="http://schemas.openxmlformats.org/drawingml/2006/main">
              <a:ext uri="{FF2B5EF4-FFF2-40B4-BE49-F238E27FC236}">
                <a16:creationId xmlns:a16="http://schemas.microsoft.com/office/drawing/2014/main" id="{8CD13952-A537-4DA7-8FD4-FFC67521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7" name="users-label">
            <a:extLst xmlns:a="http://schemas.openxmlformats.org/drawingml/2006/main">
              <a:ext uri="{FF2B5EF4-FFF2-40B4-BE49-F238E27FC236}">
                <a16:creationId xmlns:a16="http://schemas.microsoft.com/office/drawing/2014/main" id="{341AC446-8E43-4F62-9BA3-985EAC26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initial Enterprise users</a:t>
            </a:r>
          </a:p>
        </p:txBody>
      </p:sp>
      <p:sp>
        <p:nvSpPr>
          <p:cNvPr id="8" name="rate">
            <a:extLst xmlns:a="http://schemas.openxmlformats.org/drawingml/2006/main">
              <a:ext uri="{FF2B5EF4-FFF2-40B4-BE49-F238E27FC236}">
                <a16:creationId xmlns:a16="http://schemas.microsoft.com/office/drawing/2014/main" id="{F68202A5-6BD4-4F4C-AB1E-FE6F2435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395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1,180</a:t>
            </a:r>
          </a:p>
        </p:txBody>
      </p:sp>
      <p:sp>
        <p:nvSpPr>
          <p:cNvPr id="9" name="rate-label">
            <a:extLst xmlns:a="http://schemas.openxmlformats.org/drawingml/2006/main">
              <a:ext uri="{FF2B5EF4-FFF2-40B4-BE49-F238E27FC236}">
                <a16:creationId xmlns:a16="http://schemas.microsoft.com/office/drawing/2014/main" id="{CCD6DCEE-D985-4CB9-829C-18379086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10" name="term">
            <a:extLst xmlns:a="http://schemas.openxmlformats.org/drawingml/2006/main">
              <a:ext uri="{FF2B5EF4-FFF2-40B4-BE49-F238E27FC236}">
                <a16:creationId xmlns:a16="http://schemas.microsoft.com/office/drawing/2014/main" id="{CE7045F2-2BE7-4C49-9665-EAAE2A29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5 years</a:t>
            </a:r>
          </a:p>
        </p:txBody>
      </p:sp>
      <p:sp>
        <p:nvSpPr>
          <p:cNvPr id="11" name="term-label">
            <a:extLst xmlns:a="http://schemas.openxmlformats.org/drawingml/2006/main">
              <a:ext uri="{FF2B5EF4-FFF2-40B4-BE49-F238E27FC236}">
                <a16:creationId xmlns:a16="http://schemas.microsoft.com/office/drawing/2014/main" id="{B4BAD1BF-A76B-4282-9449-5AB8C33D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767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locked unit price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annual billing</a:t>
            </a:r>
          </a:p>
        </p:txBody>
      </p:sp>
      <p:sp>
        <p:nvSpPr>
          <p:cNvPr id="12" name="benefit">
            <a:extLst xmlns:a="http://schemas.openxmlformats.org/drawingml/2006/main">
              <a:ext uri="{FF2B5EF4-FFF2-40B4-BE49-F238E27FC236}">
                <a16:creationId xmlns:a16="http://schemas.microsoft.com/office/drawing/2014/main" id="{91B66A6B-D8A5-4FA6-AE28-7A0E995B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3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19.87% below the current weighted customer price</a:t>
            </a:r>
          </a:p>
        </p:txBody>
      </p:sp>
      <p:sp>
        <p:nvSpPr>
          <p:cNvPr id="13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BFA24AD6-B738-46FD-8ABB-0EBF002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1,472.65 current weighted price. Separately: 60% below AED 2,950 list price.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Subscription only. Support is a separate charge.</a:t>
            </a:r>
          </a:p>
        </p:txBody>
      </p:sp>
    </p:spTree>
    <p:extLst>
      <p:ext uri="{BB962C8B-B14F-4D97-AF65-F5344CB8AC3E}">
        <p14:creationId xmlns:p14="http://schemas.microsoft.com/office/powerpoint/2010/main" val="891847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fc2373b8a421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2E6989-B97E-43AD-BAC3-2DA20CDB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577A7C5-4D7E-49C8-98D6-7E29A41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050DE2-34B3-4CD8-A76A-E95D52B7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Credible Path to 10,000 Users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7D6E8D44-94AA-406E-954A-C54B0979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allocation combines existing adoption with survey opportunity</a:t>
            </a:r>
          </a:p>
        </p:txBody>
      </p:sp>
      <p:sp>
        <p:nvSpPr>
          <p:cNvPr id="6" name="bridge-number-0">
            <a:extLst xmlns:a="http://schemas.openxmlformats.org/drawingml/2006/main">
              <a:ext uri="{FF2B5EF4-FFF2-40B4-BE49-F238E27FC236}">
                <a16:creationId xmlns:a16="http://schemas.microsoft.com/office/drawing/2014/main" id="{97D1D3BE-557D-44CC-9852-5F34BDA9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1,310</a:t>
            </a:r>
          </a:p>
        </p:txBody>
      </p:sp>
      <p:sp>
        <p:nvSpPr>
          <p:cNvPr id="7" name="bridge-label-0">
            <a:extLst xmlns:a="http://schemas.openxmlformats.org/drawingml/2006/main">
              <a:ext uri="{FF2B5EF4-FFF2-40B4-BE49-F238E27FC236}">
                <a16:creationId xmlns:a16="http://schemas.microsoft.com/office/drawing/2014/main" id="{0CA80F41-B01A-4242-9E19-5AD858D5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users</a:t>
            </a:r>
          </a:p>
        </p:txBody>
      </p:sp>
      <p:sp>
        <p:nvSpPr>
          <p:cNvPr id="8" name="bridge-detail-0">
            <a:extLst xmlns:a="http://schemas.openxmlformats.org/drawingml/2006/main">
              <a:ext uri="{FF2B5EF4-FFF2-40B4-BE49-F238E27FC236}">
                <a16:creationId xmlns:a16="http://schemas.microsoft.com/office/drawing/2014/main" id="{C25CDF47-E883-490D-9EFE-96B23D83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Supplied customer base</a:t>
            </a:r>
          </a:p>
        </p:txBody>
      </p:sp>
      <p:sp>
        <p:nvSpPr>
          <p:cNvPr id="9" name="bridge-number-1">
            <a:extLst xmlns:a="http://schemas.openxmlformats.org/drawingml/2006/main">
              <a:ext uri="{FF2B5EF4-FFF2-40B4-BE49-F238E27FC236}">
                <a16:creationId xmlns:a16="http://schemas.microsoft.com/office/drawing/2014/main" id="{5BD3D261-48E9-4033-8FC8-0771A44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+262</a:t>
            </a:r>
          </a:p>
        </p:txBody>
      </p:sp>
      <p:sp>
        <p:nvSpPr>
          <p:cNvPr id="10" name="bridge-label-1">
            <a:extLst xmlns:a="http://schemas.openxmlformats.org/drawingml/2006/main">
              <a:ext uri="{FF2B5EF4-FFF2-40B4-BE49-F238E27FC236}">
                <a16:creationId xmlns:a16="http://schemas.microsoft.com/office/drawing/2014/main" id="{C7D5B6BC-8DCE-4678-A9B8-E8D97103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growth</a:t>
            </a:r>
          </a:p>
        </p:txBody>
      </p:sp>
      <p:sp>
        <p:nvSpPr>
          <p:cNvPr id="11" name="bridge-detail-1">
            <a:extLst xmlns:a="http://schemas.openxmlformats.org/drawingml/2006/main">
              <a:ext uri="{FF2B5EF4-FFF2-40B4-BE49-F238E27FC236}">
                <a16:creationId xmlns:a16="http://schemas.microsoft.com/office/drawing/2014/main" id="{099FA2D4-F6F3-4F9D-A99C-83CB3D6E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20% Year 1 growth</a:t>
            </a:r>
          </a:p>
        </p:txBody>
      </p:sp>
      <p:sp>
        <p:nvSpPr>
          <p:cNvPr id="12" name="bridge-number-2">
            <a:extLst xmlns:a="http://schemas.openxmlformats.org/drawingml/2006/main">
              <a:ext uri="{FF2B5EF4-FFF2-40B4-BE49-F238E27FC236}">
                <a16:creationId xmlns:a16="http://schemas.microsoft.com/office/drawing/2014/main" id="{B2B97A27-267E-415C-94E4-0BAEDF24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+4,921</a:t>
            </a:r>
          </a:p>
        </p:txBody>
      </p:sp>
      <p:sp>
        <p:nvSpPr>
          <p:cNvPr id="13" name="bridge-label-2">
            <a:extLst xmlns:a="http://schemas.openxmlformats.org/drawingml/2006/main">
              <a:ext uri="{FF2B5EF4-FFF2-40B4-BE49-F238E27FC236}">
                <a16:creationId xmlns:a16="http://schemas.microsoft.com/office/drawing/2014/main" id="{E8BB0141-5FA8-4EC7-A712-EFE11D3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Survey minimum</a:t>
            </a:r>
          </a:p>
        </p:txBody>
      </p:sp>
      <p:sp>
        <p:nvSpPr>
          <p:cNvPr id="14" name="bridge-detail-2">
            <a:extLst xmlns:a="http://schemas.openxmlformats.org/drawingml/2006/main">
              <a:ext uri="{FF2B5EF4-FFF2-40B4-BE49-F238E27FC236}">
                <a16:creationId xmlns:a16="http://schemas.microsoft.com/office/drawing/2014/main" id="{A95DA038-D45E-46EA-B1B6-0E093F91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/ expected users</a:t>
            </a:r>
          </a:p>
        </p:txBody>
      </p:sp>
      <p:sp>
        <p:nvSpPr>
          <p:cNvPr id="15" name="bridge-number-3">
            <a:extLst xmlns:a="http://schemas.openxmlformats.org/drawingml/2006/main">
              <a:ext uri="{FF2B5EF4-FFF2-40B4-BE49-F238E27FC236}">
                <a16:creationId xmlns:a16="http://schemas.microsoft.com/office/drawing/2014/main" id="{5A5D0588-F718-4FE7-A8B3-CA613241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67085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667085"/>
                </a:solidFill>
                <a:latin typeface="Spartan"/>
                <a:ea typeface="Spartan"/>
                <a:cs typeface="Spartan"/>
              </a:rPr>
              <a:t>+3,507</a:t>
            </a:r>
          </a:p>
        </p:txBody>
      </p:sp>
      <p:sp>
        <p:nvSpPr>
          <p:cNvPr id="16" name="bridge-label-3">
            <a:extLst xmlns:a="http://schemas.openxmlformats.org/drawingml/2006/main">
              <a:ext uri="{FF2B5EF4-FFF2-40B4-BE49-F238E27FC236}">
                <a16:creationId xmlns:a16="http://schemas.microsoft.com/office/drawing/2014/main" id="{22EEFC1C-C380-475C-94F7-88B6D090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Other entities</a:t>
            </a:r>
          </a:p>
        </p:txBody>
      </p:sp>
      <p:sp>
        <p:nvSpPr>
          <p:cNvPr id="17" name="bridge-detail-3">
            <a:extLst xmlns:a="http://schemas.openxmlformats.org/drawingml/2006/main">
              <a:ext uri="{FF2B5EF4-FFF2-40B4-BE49-F238E27FC236}">
                <a16:creationId xmlns:a16="http://schemas.microsoft.com/office/drawing/2014/main" id="{53A867BD-A06D-40EF-8CCC-175FBAAB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Additional adoption target</a:t>
            </a:r>
          </a:p>
        </p:txBody>
      </p:sp>
      <p:sp>
        <p:nvSpPr>
          <p:cNvPr id="18" name="bridge-number-4">
            <a:extLst xmlns:a="http://schemas.openxmlformats.org/drawingml/2006/main">
              <a:ext uri="{FF2B5EF4-FFF2-40B4-BE49-F238E27FC236}">
                <a16:creationId xmlns:a16="http://schemas.microsoft.com/office/drawing/2014/main" id="{F20AAE57-C612-43C6-BADA-5ADDDB3C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19" name="bridge-label-4">
            <a:extLst xmlns:a="http://schemas.openxmlformats.org/drawingml/2006/main">
              <a:ext uri="{FF2B5EF4-FFF2-40B4-BE49-F238E27FC236}">
                <a16:creationId xmlns:a16="http://schemas.microsoft.com/office/drawing/2014/main" id="{46078C77-70EB-45E8-8283-465DC347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Commitment</a:t>
            </a:r>
          </a:p>
        </p:txBody>
      </p:sp>
      <p:sp>
        <p:nvSpPr>
          <p:cNvPr id="20" name="bridge-detail-4">
            <a:extLst xmlns:a="http://schemas.openxmlformats.org/drawingml/2006/main">
              <a:ext uri="{FF2B5EF4-FFF2-40B4-BE49-F238E27FC236}">
                <a16:creationId xmlns:a16="http://schemas.microsoft.com/office/drawing/2014/main" id="{CAF216C0-C5BD-41D9-8AA0-AFB1C046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Modeled allocation</a:t>
            </a:r>
          </a:p>
        </p:txBody>
      </p:sp>
      <p:sp>
        <p:nvSpPr>
          <p:cNvPr id="21" name="coverage">
            <a:extLst xmlns:a="http://schemas.openxmlformats.org/drawingml/2006/main">
              <a:ext uri="{FF2B5EF4-FFF2-40B4-BE49-F238E27FC236}">
                <a16:creationId xmlns:a16="http://schemas.microsoft.com/office/drawing/2014/main" id="{F1C136E0-C910-454E-8EEB-4BF3084D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64.93% in the modeled existing / growth / survey allocation</a:t>
            </a:r>
          </a:p>
        </p:txBody>
      </p:sp>
      <p:sp>
        <p:nvSpPr>
          <p:cNvPr id="2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9E19140D-625E-4062-BF5A-DC4CA886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Survey counts are added without overlap deduction; this is not unique committed demand.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Other target equates to about 65 users across each of 54 unsurveyed entities.</a:t>
            </a:r>
          </a:p>
        </p:txBody>
      </p:sp>
    </p:spTree>
    <p:extLst>
      <p:ext uri="{BB962C8B-B14F-4D97-AF65-F5344CB8AC3E}">
        <p14:creationId xmlns:p14="http://schemas.microsoft.com/office/powerpoint/2010/main" val="1239873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86413520b40c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F82D51-FF04-4B33-B01F-7CC28D26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AE72750-C1A6-48E2-8AE8-44430FB7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06ACF8-2BBE-4896-B918-9B954BF9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More Value for Every Dirham</a:t>
            </a:r>
          </a:p>
        </p:txBody>
      </p:sp>
      <p:sp>
        <p:nvSpPr>
          <p:cNvPr id="5" name="pillar-0">
            <a:extLst xmlns:a="http://schemas.openxmlformats.org/drawingml/2006/main">
              <a:ext uri="{FF2B5EF4-FFF2-40B4-BE49-F238E27FC236}">
                <a16:creationId xmlns:a16="http://schemas.microsoft.com/office/drawing/2014/main" id="{A8FD2A2E-9CDE-4A22-8877-1011623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Lower subscription cost</a:t>
            </a:r>
          </a:p>
        </p:txBody>
      </p:sp>
      <p:sp>
        <p:nvSpPr>
          <p:cNvPr id="6" name="pillar-1">
            <a:extLst xmlns:a="http://schemas.openxmlformats.org/drawingml/2006/main">
              <a:ext uri="{FF2B5EF4-FFF2-40B4-BE49-F238E27FC236}">
                <a16:creationId xmlns:a16="http://schemas.microsoft.com/office/drawing/2014/main" id="{263ED654-061C-476C-8C0E-2CB80424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Enterprise access</a:t>
            </a:r>
          </a:p>
        </p:txBody>
      </p:sp>
      <p:sp>
        <p:nvSpPr>
          <p:cNvPr id="7" name="pillar-2">
            <a:extLst xmlns:a="http://schemas.openxmlformats.org/drawingml/2006/main">
              <a:ext uri="{FF2B5EF4-FFF2-40B4-BE49-F238E27FC236}">
                <a16:creationId xmlns:a16="http://schemas.microsoft.com/office/drawing/2014/main" id="{3992AFC4-7088-4167-9650-8E0B080D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certainty</a:t>
            </a:r>
          </a:p>
        </p:txBody>
      </p:sp>
      <p:sp>
        <p:nvSpPr>
          <p:cNvPr id="8" name="price-reduction">
            <a:extLst xmlns:a="http://schemas.openxmlformats.org/drawingml/2006/main">
              <a:ext uri="{FF2B5EF4-FFF2-40B4-BE49-F238E27FC236}">
                <a16:creationId xmlns:a16="http://schemas.microsoft.com/office/drawing/2014/main" id="{F1FA752D-CB62-4FB1-8AD4-163F11A0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19.87%</a:t>
            </a:r>
          </a:p>
        </p:txBody>
      </p:sp>
      <p:sp>
        <p:nvSpPr>
          <p:cNvPr id="9" name="cost-copy">
            <a:extLst xmlns:a="http://schemas.openxmlformats.org/drawingml/2006/main">
              <a:ext uri="{FF2B5EF4-FFF2-40B4-BE49-F238E27FC236}">
                <a16:creationId xmlns:a16="http://schemas.microsoft.com/office/drawing/2014/main" id="{A7ABB434-1FEF-47FA-A499-13CBB9B4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below the existing weighted</a:t>
            </a:r>
          </a:p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price</a:t>
            </a:r>
          </a:p>
        </p:txBody>
      </p:sp>
      <p:sp>
        <p:nvSpPr>
          <p:cNvPr id="10" name="current-saving">
            <a:extLst xmlns:a="http://schemas.openxmlformats.org/drawingml/2006/main">
              <a:ext uri="{FF2B5EF4-FFF2-40B4-BE49-F238E27FC236}">
                <a16:creationId xmlns:a16="http://schemas.microsoft.com/office/drawing/2014/main" id="{EE0F7324-C642-49E9-9344-088DF22D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383,370 / year</a:t>
            </a:r>
          </a:p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for today’s 1,310 users</a:t>
            </a:r>
          </a:p>
        </p:txBody>
      </p:sp>
      <p:sp>
        <p:nvSpPr>
          <p:cNvPr id="11" name="enterprise">
            <a:extLst xmlns:a="http://schemas.openxmlformats.org/drawingml/2006/main">
              <a:ext uri="{FF2B5EF4-FFF2-40B4-BE49-F238E27FC236}">
                <a16:creationId xmlns:a16="http://schemas.microsoft.com/office/drawing/2014/main" id="{4FA1B10F-AB6D-4EF1-B819-A292557D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956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0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Enterprise</a:t>
            </a:r>
          </a:p>
        </p:txBody>
      </p:sp>
      <p:sp>
        <p:nvSpPr>
          <p:cNvPr id="12" name="enterprise-copy">
            <a:extLst xmlns:a="http://schemas.openxmlformats.org/drawingml/2006/main">
              <a:ext uri="{FF2B5EF4-FFF2-40B4-BE49-F238E27FC236}">
                <a16:creationId xmlns:a16="http://schemas.microsoft.com/office/drawing/2014/main" id="{D7D433F2-B961-4CFA-8900-58FD6B7C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14800"/>
            <a:ext cx="347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Common capabilities for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participating entities.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Most agreed feature add-ons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included.</a:t>
            </a:r>
          </a:p>
        </p:txBody>
      </p:sp>
      <p:sp>
        <p:nvSpPr>
          <p:cNvPr id="13" name="lock">
            <a:extLst xmlns:a="http://schemas.openxmlformats.org/drawingml/2006/main">
              <a:ext uri="{FF2B5EF4-FFF2-40B4-BE49-F238E27FC236}">
                <a16:creationId xmlns:a16="http://schemas.microsoft.com/office/drawing/2014/main" id="{1B02F9A6-999E-48FB-B34B-5A47C181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No indexation</a:t>
            </a:r>
          </a:p>
        </p:txBody>
      </p:sp>
      <p:sp>
        <p:nvSpPr>
          <p:cNvPr id="14" name="lock-copy">
            <a:extLst xmlns:a="http://schemas.openxmlformats.org/drawingml/2006/main">
              <a:ext uri="{FF2B5EF4-FFF2-40B4-BE49-F238E27FC236}">
                <a16:creationId xmlns:a16="http://schemas.microsoft.com/office/drawing/2014/main" id="{F5C4BED9-D22A-4612-83DC-35C96E2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352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Annual billing with a locked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unit price.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Paid-user growth changes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annual budget.</a:t>
            </a:r>
          </a:p>
        </p:txBody>
      </p:sp>
      <p:sp>
        <p:nvSpPr>
          <p:cNvPr id="1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A583FE0-03E5-40D2-8793-09E7F52D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Included add-ons offer indicative additional value of ~AED 20,000 per entity/year.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value is outside subscription savings and depends on entity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493466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15620a25b4d6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CC84D6-36BF-4EAF-AAF5-AE09DE93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8089150-FE2E-4EAC-8473-9C986272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DA8886-1E95-4723-9789-731C16DF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Establish Circularo Enterprise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as a Dubai Government Shared Service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1A15459F-165B-44E0-922A-20050CFD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4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 the five-year central framework, starting with 10,000 users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025DA05A-F348-4757-8917-F1222727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8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11.80m</a:t>
            </a:r>
          </a:p>
        </p:txBody>
      </p:sp>
      <p:sp>
        <p:nvSpPr>
          <p:cNvPr id="7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9222BDBF-3427-4A6C-B8CA-F8122B06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subscription</a:t>
            </a:r>
          </a:p>
        </p:txBody>
      </p:sp>
      <p:sp>
        <p:nvSpPr>
          <p:cNvPr id="8" name="budget-details">
            <a:extLst xmlns:a="http://schemas.openxmlformats.org/drawingml/2006/main">
              <a:ext uri="{FF2B5EF4-FFF2-40B4-BE49-F238E27FC236}">
                <a16:creationId xmlns:a16="http://schemas.microsoft.com/office/drawing/2014/main" id="{7F8C17E5-8220-4F7F-8FF3-921365BC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638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Plus AED 1.652m support under the model</a:t>
            </a:r>
          </a:p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Recurring budget: AED 13.452m before other charges</a:t>
            </a:r>
          </a:p>
        </p:txBody>
      </p:sp>
      <p:sp>
        <p:nvSpPr>
          <p:cNvPr id="9" name="terms">
            <a:extLst xmlns:a="http://schemas.openxmlformats.org/drawingml/2006/main">
              <a:ext uri="{FF2B5EF4-FFF2-40B4-BE49-F238E27FC236}">
                <a16:creationId xmlns:a16="http://schemas.microsoft.com/office/drawing/2014/main" id="{63902632-56A8-41EC-9FAF-E58DA9B7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4286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per user/year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Annual billing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No unit-price indexation for five years</a:t>
            </a:r>
          </a:p>
        </p:txBody>
      </p:sp>
      <p:sp>
        <p:nvSpPr>
          <p:cNvPr id="10" name="next">
            <a:extLst xmlns:a="http://schemas.openxmlformats.org/drawingml/2006/main">
              <a:ext uri="{FF2B5EF4-FFF2-40B4-BE49-F238E27FC236}">
                <a16:creationId xmlns:a16="http://schemas.microsoft.com/office/drawing/2014/main" id="{CE42DE24-6611-4285-9F2A-6A6B4896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428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 sponsors procurement and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confirms entity allocations, funding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and onboarding sequence.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C69FC783-EAEA-4DB8-8296-C5882E77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New-entity onboarding: AED 20,000 once per new entity. Optional modules are extra.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At exactly 10K, the model uses 14% support. The 12.5% proposal applies above 10K.</a:t>
            </a:r>
          </a:p>
        </p:txBody>
      </p:sp>
    </p:spTree>
    <p:extLst>
      <p:ext uri="{BB962C8B-B14F-4D97-AF65-F5344CB8AC3E}">
        <p14:creationId xmlns:p14="http://schemas.microsoft.com/office/powerpoint/2010/main" val="555646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ab465349c46a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E0AA93-B861-4105-8E12-F62CFDE1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E71844E-A24F-4A0A-8F35-6AEB036A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18CAF0-1146-4491-BCA7-5BA2F02B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Savings against current customer prices</a:t>
            </a:r>
          </a:p>
        </p:txBody>
      </p:sp>
      <p:sp>
        <p:nvSpPr>
          <p:cNvPr id="5" name="basis">
            <a:extLst xmlns:a="http://schemas.openxmlformats.org/drawingml/2006/main">
              <a:ext uri="{FF2B5EF4-FFF2-40B4-BE49-F238E27FC236}">
                <a16:creationId xmlns:a16="http://schemas.microsoft.com/office/drawing/2014/main" id="{987B8255-ED21-4BB0-AB4F-6913905D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Today’s 1,310 users, allocated the central AED 1,180 rate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190750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1000125"/>
                <a:gridCol w="2333625"/>
                <a:gridCol w="3419475"/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Customer / project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Current AED/user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Saving AED/year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DDA VIP project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1,850.94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33,547.00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Digital Dubai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103,250.00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Culture &amp; Arts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2,212.48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25,812.00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Electronic Security Center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2,507.50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79,650.00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PCFC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2,159.43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24,485.75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Roads and Transport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1,245.00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65,000.00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His Highness the Rulers Court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51,625.00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1,310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1,472.65 weighted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383,369.75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0E3A15C3-B0FC-4323-9E5B-99B4BFB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Year 1 existing growth adds 262 users: total cohort savings rise to AED 460,043.70.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Source prices are user-supplied. Support excluded; the full 10K commitment is payable.</a:t>
            </a:r>
          </a:p>
        </p:txBody>
      </p:sp>
    </p:spTree>
    <p:extLst>
      <p:ext uri="{BB962C8B-B14F-4D97-AF65-F5344CB8AC3E}">
        <p14:creationId xmlns:p14="http://schemas.microsoft.com/office/powerpoint/2010/main" val="1715761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9fd57ef044b9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5F96EF-0373-4036-B8EE-AF1E0690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4AAA2CF-107C-42B5-960C-FB2D579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473DB0-22E6-435A-B96E-92CE1FDD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Survey evidence and its limits</a:t>
            </a:r>
          </a:p>
        </p:txBody>
      </p:sp>
      <p:sp>
        <p:nvSpPr>
          <p:cNvPr id="5" name="survey-intro">
            <a:extLst xmlns:a="http://schemas.openxmlformats.org/drawingml/2006/main">
              <a:ext uri="{FF2B5EF4-FFF2-40B4-BE49-F238E27FC236}">
                <a16:creationId xmlns:a16="http://schemas.microsoft.com/office/drawing/2014/main" id="{54655AAC-92B2-4010-A184-9F063DA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21 quantified current / expected user responses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2686050"/>
          <a:ext xmlns:a="http://schemas.openxmlformats.org/drawingml/2006/main" cx="7181850" cy="2628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1714500"/>
                <a:gridCol w="23241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 per entity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Responses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Minimum 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1–50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51–100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101–500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More than 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spondents">
            <a:extLst xmlns:a="http://schemas.openxmlformats.org/drawingml/2006/main">
              <a:ext uri="{FF2B5EF4-FFF2-40B4-BE49-F238E27FC236}">
                <a16:creationId xmlns:a16="http://schemas.microsoft.com/office/drawing/2014/main" id="{CC860672-78F9-4A0F-9FC1-327CAC2B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38 entities surveyed</a:t>
            </a:r>
          </a:p>
        </p:txBody>
      </p:sp>
      <p:sp>
        <p:nvSpPr>
          <p:cNvPr id="8" name="signals">
            <a:extLst xmlns:a="http://schemas.openxmlformats.org/drawingml/2006/main">
              <a:ext uri="{FF2B5EF4-FFF2-40B4-BE49-F238E27FC236}">
                <a16:creationId xmlns:a16="http://schemas.microsoft.com/office/drawing/2014/main" id="{AD951A15-D464-40B1-A144-BE730368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476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21 already use e-signatures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16 express current/future interest</a:t>
            </a:r>
          </a:p>
        </p:txBody>
      </p:sp>
      <p:sp>
        <p:nvSpPr>
          <p:cNvPr id="9" name="growth">
            <a:extLst xmlns:a="http://schemas.openxmlformats.org/drawingml/2006/main">
              <a:ext uri="{FF2B5EF4-FFF2-40B4-BE49-F238E27FC236}">
                <a16:creationId xmlns:a16="http://schemas.microsoft.com/office/drawing/2014/main" id="{430B471D-8335-4425-A311-2FD9BF65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3476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3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77.27%</a:t>
            </a:r>
          </a:p>
        </p:txBody>
      </p:sp>
      <p:sp>
        <p:nvSpPr>
          <p:cNvPr id="10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286FB562-B91E-46D5-BADD-60AE8A0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3505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expect growth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13 of 17 cite more users (76.47%)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D7E4EA2-012C-46AB-919C-40215832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One further user response is unspecified. Survey overlap with existing customers is unresolved.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16 interested entities add no extra quantified users to this model.</a:t>
            </a:r>
          </a:p>
        </p:txBody>
      </p:sp>
    </p:spTree>
    <p:extLst>
      <p:ext uri="{BB962C8B-B14F-4D97-AF65-F5344CB8AC3E}">
        <p14:creationId xmlns:p14="http://schemas.microsoft.com/office/powerpoint/2010/main" val="516663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1753cf754425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B69D4F-58C7-44C3-9AAE-C5ACF0F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772A3B5-52BE-4AB0-81A6-038E8E1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0F389A-D61C-47B8-B4A1-65BB3F77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adoption and subscription profile</a:t>
            </a:r>
          </a:p>
        </p:txBody>
      </p:sp>
      <p:sp>
        <p:nvSpPr>
          <p:cNvPr id="5" name="growth-assumption">
            <a:extLst xmlns:a="http://schemas.openxmlformats.org/drawingml/2006/main">
              <a:ext uri="{FF2B5EF4-FFF2-40B4-BE49-F238E27FC236}">
                <a16:creationId xmlns:a16="http://schemas.microsoft.com/office/drawing/2014/main" id="{B5323DA8-A104-4A67-929D-D1C16573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20% existing-user growth in Year 1; 5% annual growth for all cohorts thereafter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695575"/>
          <a:ext xmlns:a="http://schemas.openxmlformats.org/drawingml/2006/main" cx="11277600" cy="2790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1638300"/>
                <a:gridCol w="1638300"/>
                <a:gridCol w="1638300"/>
                <a:gridCol w="1638300"/>
                <a:gridCol w="1638300"/>
              </a:tblGrid>
              <a:tr h="3986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/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1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2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3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4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5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incl. growth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1,572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1,651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1,734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1,912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Survey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5,167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5,425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5,696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5,981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Other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3,507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3,682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3,866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4,059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4,262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Paid users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10,500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11,025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11,576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12,155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AED/user/year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Subscription AED m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11.80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12.39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13.01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13.66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14.34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A84C878F-ACED-4D2F-A92A-A6F87A0C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Five-year subscription: AED 65.20m. Support, onboarding and optional modules are separate.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AED 1,180 rate remains locked even when forecast users exceed 12,000.</a:t>
            </a:r>
          </a:p>
        </p:txBody>
      </p:sp>
    </p:spTree>
    <p:extLst>
      <p:ext uri="{BB962C8B-B14F-4D97-AF65-F5344CB8AC3E}">
        <p14:creationId xmlns:p14="http://schemas.microsoft.com/office/powerpoint/2010/main" val="1529162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2daf909424aa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E04CD6-E141-4493-81C9-053F8784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00F5CE8-355B-4F7F-92EB-AC8EEFB3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D9D743-95BA-4B31-BC8F-A804DBD2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subscription economics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6000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6b114dd52e4a1c"/>
          </a:graphicData>
        </a:graphic>
      </p:graphicFrame>
      <p:sp>
        <p:nvSpPr>
          <p:cNvPr id="6" name="modeled-benefit">
            <a:extLst xmlns:a="http://schemas.openxmlformats.org/drawingml/2006/main">
              <a:ext uri="{FF2B5EF4-FFF2-40B4-BE49-F238E27FC236}">
                <a16:creationId xmlns:a16="http://schemas.microsoft.com/office/drawing/2014/main" id="{97AF62EE-DCF2-4B64-809B-3CC46075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8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84.96m</a:t>
            </a:r>
          </a:p>
        </p:txBody>
      </p:sp>
      <p:sp>
        <p:nvSpPr>
          <p:cNvPr id="7" name="modeled-label">
            <a:extLst xmlns:a="http://schemas.openxmlformats.org/drawingml/2006/main">
              <a:ext uri="{FF2B5EF4-FFF2-40B4-BE49-F238E27FC236}">
                <a16:creationId xmlns:a16="http://schemas.microsoft.com/office/drawing/2014/main" id="{0887C0D2-86CA-4ED9-8CE9-BB05E985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modeled subscription benefit</a:t>
            </a:r>
          </a:p>
        </p:txBody>
      </p:sp>
      <p:sp>
        <p:nvSpPr>
          <p:cNvPr id="8" name="basis">
            <a:extLst xmlns:a="http://schemas.openxmlformats.org/drawingml/2006/main">
              <a:ext uri="{FF2B5EF4-FFF2-40B4-BE49-F238E27FC236}">
                <a16:creationId xmlns:a16="http://schemas.microsoft.com/office/drawing/2014/main" id="{B7C8363F-922A-4685-99DA-3FEFC796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62425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Existing: supplied current prices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/ Other: AED 2,950 list-price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benchmark until matched costs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are available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4CEB5161-F13C-4640-B615-F42B0F69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is modeled opportunity, not audited government cash savings or a complete project ROI.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Support, onboarding and indicative add-on value are excluded from the benefit.</a:t>
            </a:r>
          </a:p>
        </p:txBody>
      </p:sp>
    </p:spTree>
    <p:extLst>
      <p:ext uri="{BB962C8B-B14F-4D97-AF65-F5344CB8AC3E}">
        <p14:creationId xmlns:p14="http://schemas.microsoft.com/office/powerpoint/2010/main" val="243493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d4cbd97b54d3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D93BD8-4B53-4B91-882B-00320C65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5E25B80-452B-4357-B891-BF5FA2C3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BCE19A-0180-4DE7-9CDE-EC0F715D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Additional commercial value and charges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112776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4514850"/>
                <a:gridCol w="4238625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Item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Commercial proposition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Treatment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Enterprise package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Most agreed feature add-ons included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~AED 20K/entity/year indicative value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Support above 10K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12.5% versus 25% standard rate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50% lower rate on the same fee base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New-entity onboarding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 20,000 once per new entity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entities exempt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Specialist modules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KYC, DESC eSeal Certificates,</a:t>
                      </a:r>
                    </a:p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Collaboration &amp; DMS, AI Services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Purchased separately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6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F2B6AD49-5B60-470A-B86B-B434E834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These additional benefits are outside the subscription-savings total.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12.5% support applies strictly above 10K; the exact 10K model uses 14%.</a:t>
            </a:r>
          </a:p>
        </p:txBody>
      </p:sp>
    </p:spTree>
    <p:extLst>
      <p:ext uri="{BB962C8B-B14F-4D97-AF65-F5344CB8AC3E}">
        <p14:creationId xmlns:p14="http://schemas.microsoft.com/office/powerpoint/2010/main" val="2062746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0b47c5f17464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80CB3E-C48F-4C58-9EE4-EB8B3E96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8A4E66F-FAE0-4E50-8B76-09FF6F1F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MANAGEMENT DISCUSSION / OPTIONAL DETAIL 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44CEEE-B6D9-47E2-AF6B-8F1026DC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Scale beyond the initial 10K commitment</a:t>
            </a:r>
          </a:p>
        </p:txBody>
      </p:sp>
      <p:sp>
        <p:nvSpPr>
          <p:cNvPr id="5" name="population">
            <a:extLst xmlns:a="http://schemas.openxmlformats.org/drawingml/2006/main">
              <a:ext uri="{FF2B5EF4-FFF2-40B4-BE49-F238E27FC236}">
                <a16:creationId xmlns:a16="http://schemas.microsoft.com/office/drawing/2014/main" id="{6CEAECC9-AD14-4A47-9DB3-F3C2BAD6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76,000</a:t>
            </a:r>
          </a:p>
        </p:txBody>
      </p:sp>
      <p:sp>
        <p:nvSpPr>
          <p:cNvPr id="6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80E68094-710A-44FF-8B05-176AFDD8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employees in the planning population</a:t>
            </a:r>
          </a:p>
        </p:txBody>
      </p:sp>
      <p:sp>
        <p:nvSpPr>
          <p:cNvPr id="7" name="share">
            <a:extLst xmlns:a="http://schemas.openxmlformats.org/drawingml/2006/main">
              <a:ext uri="{FF2B5EF4-FFF2-40B4-BE49-F238E27FC236}">
                <a16:creationId xmlns:a16="http://schemas.microsoft.com/office/drawing/2014/main" id="{510D1547-F318-4E3A-9162-E01D8279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52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20%</a:t>
            </a:r>
          </a:p>
        </p:txBody>
      </p:sp>
      <p:sp>
        <p:nvSpPr>
          <p:cNvPr id="8" name="share-label">
            <a:extLst xmlns:a="http://schemas.openxmlformats.org/drawingml/2006/main">
              <a:ext uri="{FF2B5EF4-FFF2-40B4-BE49-F238E27FC236}">
                <a16:creationId xmlns:a16="http://schemas.microsoft.com/office/drawing/2014/main" id="{02D0E59B-19CB-4B99-9351-62B2A779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242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assumed potential adoption</a:t>
            </a:r>
          </a:p>
        </p:txBody>
      </p:sp>
      <p:sp>
        <p:nvSpPr>
          <p:cNvPr id="9" name="potential">
            <a:extLst xmlns:a="http://schemas.openxmlformats.org/drawingml/2006/main">
              <a:ext uri="{FF2B5EF4-FFF2-40B4-BE49-F238E27FC236}">
                <a16:creationId xmlns:a16="http://schemas.microsoft.com/office/drawing/2014/main" id="{C4D6198C-4655-4EDD-A25F-7CF703FB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52700"/>
            <a:ext cx="2657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15,200</a:t>
            </a:r>
          </a:p>
        </p:txBody>
      </p:sp>
      <p:sp>
        <p:nvSpPr>
          <p:cNvPr id="10" name="potential-label">
            <a:extLst xmlns:a="http://schemas.openxmlformats.org/drawingml/2006/main">
              <a:ext uri="{FF2B5EF4-FFF2-40B4-BE49-F238E27FC236}">
                <a16:creationId xmlns:a16="http://schemas.microsoft.com/office/drawing/2014/main" id="{E7A1D5C2-25CD-4DC1-868F-973E22EC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24250"/>
            <a:ext cx="2657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potential users</a:t>
            </a:r>
          </a:p>
        </p:txBody>
      </p:sp>
      <p:sp>
        <p:nvSpPr>
          <p:cNvPr id="11" name="scale-price">
            <a:extLst xmlns:a="http://schemas.openxmlformats.org/drawingml/2006/main">
              <a:ext uri="{FF2B5EF4-FFF2-40B4-BE49-F238E27FC236}">
                <a16:creationId xmlns:a16="http://schemas.microsoft.com/office/drawing/2014/main" id="{6967F37A-5D84-4C52-828D-04968DD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Separate full-scale illustration: AED 1,032.50/user/year</a:t>
            </a:r>
          </a:p>
        </p:txBody>
      </p:sp>
      <p:sp>
        <p:nvSpPr>
          <p:cNvPr id="1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382E2E8F-25F7-437C-BC08-FFEE8B62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Estimated planning potential, not committed demand or an additional cohort.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At 15,200 users: AED 15.694m annual subscription. Support is separate.</a:t>
            </a:r>
          </a:p>
        </p:txBody>
      </p:sp>
    </p:spTree>
    <p:extLst>
      <p:ext uri="{BB962C8B-B14F-4D97-AF65-F5344CB8AC3E}">
        <p14:creationId xmlns:p14="http://schemas.microsoft.com/office/powerpoint/2010/main" val="67397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2026-09-21T16:24:57.3650000Z</dcterms:created>
  <dcterms:modified xsi:type="dcterms:W3CDTF">2026-09-21T16:24:57.3650000Z</dcterms:modified>
</coreProperties>
</file>