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6d1a9500344b26" /><Relationship Type="http://schemas.openxmlformats.org/officeDocument/2006/relationships/extended-properties" Target="/docProps/app.xml" Id="R913eeef3762545e4" /><Relationship Type="http://schemas.openxmlformats.org/officeDocument/2006/relationships/officeDocument" Target="/ppt/presentation.xml" Id="R950e6a3d316842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d7f51c01f140f1"/>
  </p:sldMasterIdLst>
  <p:notesMasterIdLst>
    <p:notesMasterId xmlns:r="http://schemas.openxmlformats.org/officeDocument/2006/relationships" r:id="R031c4c8971e44beb"/>
  </p:notesMasterIdLst>
  <p:sldIdLst>
    <p:sldId xmlns:r="http://schemas.openxmlformats.org/officeDocument/2006/relationships" id="256" r:id="R05aec02a70b64aa6"/>
    <p:sldId xmlns:r="http://schemas.openxmlformats.org/officeDocument/2006/relationships" id="257" r:id="Raad12731a1ee47fa"/>
    <p:sldId xmlns:r="http://schemas.openxmlformats.org/officeDocument/2006/relationships" id="258" r:id="R121229264db24ca1"/>
    <p:sldId xmlns:r="http://schemas.openxmlformats.org/officeDocument/2006/relationships" id="259" r:id="Rb1f7dd2b57584923"/>
    <p:sldId xmlns:r="http://schemas.openxmlformats.org/officeDocument/2006/relationships" id="260" r:id="R0fc5fdcdead149a1"/>
    <p:sldId xmlns:r="http://schemas.openxmlformats.org/officeDocument/2006/relationships" id="261" r:id="R27afa1d397654f55"/>
    <p:sldId xmlns:r="http://schemas.openxmlformats.org/officeDocument/2006/relationships" id="262" r:id="R804aa9aebc644fe3"/>
    <p:sldId xmlns:r="http://schemas.openxmlformats.org/officeDocument/2006/relationships" id="263" r:id="R3075125d3d244cee"/>
    <p:sldId xmlns:r="http://schemas.openxmlformats.org/officeDocument/2006/relationships" id="264" r:id="R4e8bfcc4c10546b3"/>
    <p:sldId xmlns:r="http://schemas.openxmlformats.org/officeDocument/2006/relationships" id="265" r:id="R8e5278f84b4044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7113891644ec3" /><Relationship Type="http://schemas.openxmlformats.org/officeDocument/2006/relationships/slideMaster" Target="/ppt/slideMasters/slideMaster1.xml" Id="R8dd7f51c01f140f1" /><Relationship Type="http://schemas.openxmlformats.org/officeDocument/2006/relationships/notesMaster" Target="/ppt/notesMasters/notesMaster1.xml" Id="R031c4c8971e44beb" /><Relationship Type="http://schemas.openxmlformats.org/officeDocument/2006/relationships/presProps" Target="/ppt/presProps.xml" Id="R8e3ab0011c2c4484" /><Relationship Type="http://schemas.openxmlformats.org/officeDocument/2006/relationships/tableStyles" Target="/ppt/tableStyles.xml" Id="R3e28b1c6f48a46db" /><Relationship Type="http://schemas.openxmlformats.org/officeDocument/2006/relationships/slide" Target="/ppt/slides/slide1.xml" Id="R05aec02a70b64aa6" /><Relationship Type="http://schemas.openxmlformats.org/officeDocument/2006/relationships/slide" Target="/ppt/slides/slide2.xml" Id="Raad12731a1ee47fa" /><Relationship Type="http://schemas.openxmlformats.org/officeDocument/2006/relationships/slide" Target="/ppt/slides/slide3.xml" Id="R121229264db24ca1" /><Relationship Type="http://schemas.openxmlformats.org/officeDocument/2006/relationships/slide" Target="/ppt/slides/slide4.xml" Id="Rb1f7dd2b57584923" /><Relationship Type="http://schemas.openxmlformats.org/officeDocument/2006/relationships/slide" Target="/ppt/slides/slide5.xml" Id="R0fc5fdcdead149a1" /><Relationship Type="http://schemas.openxmlformats.org/officeDocument/2006/relationships/slide" Target="/ppt/slides/slide6.xml" Id="R27afa1d397654f55" /><Relationship Type="http://schemas.openxmlformats.org/officeDocument/2006/relationships/slide" Target="/ppt/slides/slide7.xml" Id="R804aa9aebc644fe3" /><Relationship Type="http://schemas.openxmlformats.org/officeDocument/2006/relationships/slide" Target="/ppt/slides/slide8.xml" Id="R3075125d3d244cee" /><Relationship Type="http://schemas.openxmlformats.org/officeDocument/2006/relationships/slide" Target="/ppt/slides/slide9.xml" Id="R4e8bfcc4c10546b3" /><Relationship Type="http://schemas.openxmlformats.org/officeDocument/2006/relationships/slide" Target="/ppt/slides/slide10.xml" Id="R8e5278f84b40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0fa5990d9944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8b0729b3844e8" /><Relationship Type="http://schemas.openxmlformats.org/officeDocument/2006/relationships/notesMaster" Target="/ppt/notesMasters/notesMaster1.xml" Id="Rff78b5163bfa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fe7b7074b468c" /><Relationship Type="http://schemas.openxmlformats.org/officeDocument/2006/relationships/notesMaster" Target="/ppt/notesMasters/notesMaster1.xml" Id="R9cdc5677e39946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a4eb816e6940fe" /><Relationship Type="http://schemas.openxmlformats.org/officeDocument/2006/relationships/notesMaster" Target="/ppt/notesMasters/notesMaster1.xml" Id="R3e9d0d0ccfca4b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19bddf5508481d" /><Relationship Type="http://schemas.openxmlformats.org/officeDocument/2006/relationships/notesMaster" Target="/ppt/notesMasters/notesMaster1.xml" Id="R5ea1ea696b7744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851f3e48cd4937" /><Relationship Type="http://schemas.openxmlformats.org/officeDocument/2006/relationships/notesMaster" Target="/ppt/notesMasters/notesMaster1.xml" Id="Rddf4604b381b41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3c348aa2bd47e7" /><Relationship Type="http://schemas.openxmlformats.org/officeDocument/2006/relationships/notesMaster" Target="/ppt/notesMasters/notesMaster1.xml" Id="Rb2569be04b15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ed564c54f4467d" /><Relationship Type="http://schemas.openxmlformats.org/officeDocument/2006/relationships/notesMaster" Target="/ppt/notesMasters/notesMaster1.xml" Id="Rc3ab629a872e46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29a347be8e466d" /><Relationship Type="http://schemas.openxmlformats.org/officeDocument/2006/relationships/notesMaster" Target="/ppt/notesMasters/notesMaster1.xml" Id="R141ccf2210fc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30bd16197e4743" /><Relationship Type="http://schemas.openxmlformats.org/officeDocument/2006/relationships/notesMaster" Target="/ppt/notesMasters/notesMaster1.xml" Id="R558b69fa9c4748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df9703b2004191" /><Relationship Type="http://schemas.openxmlformats.org/officeDocument/2006/relationships/notesMaster" Target="/ppt/notesMasters/notesMaster1.xml" Id="R4dbb45ffa1a7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Summary!E4; Setup!E8/E18; Existing customers!D16/G16.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Open with the proposed framework and decision. One framework describes centralized procurement, not a mandatory single deployment or replacement of all on-premise arrangements. Existing weighted average is customer subscription revenue divided by users. The 19.87% and 60% comparisons are not additive discounts.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Potential!E14/E23/E71/E72; Summary!E32/E34; Survey!H27/E66.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Year 1 existing growth is 50%, or 655 users, as corrected by the user. It is user-reported, not independently verified contracted users. 4,921 is the numerical minimum implied by 21 answered bands, not a confirmed new-customer pipeline. The user instructed full additive survey counts, with zero overlap deduction. The 58 users per unsurveyed entity is a feasibility illustration, not a measured forecast. 38 entities were surveyed out of planning scope 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customers!D16/G16/I16; Setup!E18; goal.md additional commercial terms.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Existing-user annual savings are AED 383,369.75 before support. With 50% Year 1 growth, the existing cohort saves AED 575,054.63, assuming the same current price mix. Enterprise is a proposed entitlement for participating entities; do not claim every existing entity is on Business or that every optional module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Potential!D39/D41; Setup!E17; goal.md support and onboarding terms.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approval sought covers a central five-year procurement framework with annual budgets. Model support of 14% at exactly 10,000 users gives AED 1,652,000, making the initial recurring subscription-plus-support budget AED 13,452,000. Support is not included in savings. New entity count and implementation timing remain to be agreed; do not imply onboarding or optional modules are included in this recurring total. Proposed execution steps are recommendations, not completed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customers!C9:I16; Potential!D87:G88.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Customer table shows current source users only. Each saving is users multiplied by current price less AED 1,180. Average is weighted by users, not a simple average of customer prices. Year 1 growth assumes the same weighted current subscription price. Existing source rates are not independently audited.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Survey!C21:H27 and C52:E72; user-supplied DDA internal survey.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Q1 denominator 38: yes 21, no 10, planning 6, implementing 1. Interest question has 16 responses: 10 current requirement and six future. Growth denominator is 22 and more-users denominator is 17. Cost and user bands cannot be matched. Do not interpret organization shares as a user growth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Potential!D26:I41; Setup!E67/E68.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Forecast users are rounded separately by cohort each year; total users are 10,000, 10,500, 11,025, 11,576 and 12,155. Each is assumed billable for the full year. Paid users never fall below the initial commitment. This is an illustration, not a funded rollout schedule or an observed user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Potential!I35:I41; Summary!H13.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Five-year benchmark AED 146,967,073.90 less central subscription AED 65,202,080.00 gives modeled subscription benefit AED 81,764,993.90. Existing benchmark includes assumed future user growth at the current weighted price. Survey/Other spending is hypothetical list-price spending, not actual surveyed government expenditure. Chart values are editable snapshots extracted from the workbook, not live external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goal.md, additional commercial benefits and user-confirmed terms; Setup!E17.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indicative AED 20,000/entity/year add-on value depends on requirements and included-feature scope. Do not multiply it across 92 entities as guaranteed realized savings. The support proposition is 12.5% above 10K versus standard 25%; this halves the rate on the same fee base, not a separately modeled government-wide saving. Latest commercial support wording differs from higher-volume rates in the unchanged workbook; do not extend either assumption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Setup!E10/E11; Potential!E45:E53.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Population and 20% adoption are user-supplied planning assumptions. The potential includes existing and survey users, rather than adding to them. AED 1,032.50 is the separately selected Tier 7 full-potential illustration. It does not automatically replace the locked AED 1,180 price in the five-year 10K scenario. Do not attach a support cost to this full-scale illustration without reconciling the new commercial support proposition.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a0448a0504f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451e1dd890421f" /><Relationship Type="http://schemas.openxmlformats.org/officeDocument/2006/relationships/slideLayout" Target="/ppt/slideLayouts/slideLayout1.xml" Id="Rdd7af4dd67d24c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af4dd67d24c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0b934206c474f" /><Relationship Type="http://schemas.openxmlformats.org/officeDocument/2006/relationships/image" Target="/ppt/media/image.png" Id="R47ee7541dc0740b0" /><Relationship Type="http://schemas.openxmlformats.org/officeDocument/2006/relationships/notesSlide" Target="/ppt/notesSlides/notesSlide1.xml" Id="R077514926a4241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0694683fc45e1" /><Relationship Type="http://schemas.openxmlformats.org/officeDocument/2006/relationships/image" Target="/ppt/media/image2.png" Id="R53f5c9a324194b81" /><Relationship Type="http://schemas.openxmlformats.org/officeDocument/2006/relationships/notesSlide" Target="/ppt/notesSlides/notesSlide2.xml" Id="R80f9bdff9c594b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66b2a946440df" /><Relationship Type="http://schemas.openxmlformats.org/officeDocument/2006/relationships/image" Target="/ppt/media/image3.png" Id="R0dc8efdbe1b1448b" /><Relationship Type="http://schemas.openxmlformats.org/officeDocument/2006/relationships/notesSlide" Target="/ppt/notesSlides/notesSlide3.xml" Id="R439542652de54c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1f40096574d41" /><Relationship Type="http://schemas.openxmlformats.org/officeDocument/2006/relationships/image" Target="/ppt/media/image4.png" Id="Rcc38d4ddd23f460e" /><Relationship Type="http://schemas.openxmlformats.org/officeDocument/2006/relationships/notesSlide" Target="/ppt/notesSlides/notesSlide4.xml" Id="R3319a45d5a504f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6d8952f1c471e" /><Relationship Type="http://schemas.openxmlformats.org/officeDocument/2006/relationships/image" Target="/ppt/media/image5.png" Id="R04e3120006d649cf" /><Relationship Type="http://schemas.openxmlformats.org/officeDocument/2006/relationships/notesSlide" Target="/ppt/notesSlides/notesSlide5.xml" Id="R32733950c425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dc9c718ec404a" /><Relationship Type="http://schemas.openxmlformats.org/officeDocument/2006/relationships/image" Target="/ppt/media/image6.png" Id="R2c1a93326e484ad1" /><Relationship Type="http://schemas.openxmlformats.org/officeDocument/2006/relationships/notesSlide" Target="/ppt/notesSlides/notesSlide6.xml" Id="R6e83d304a19f43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51247bb6c4d64" /><Relationship Type="http://schemas.openxmlformats.org/officeDocument/2006/relationships/image" Target="/ppt/media/image7.png" Id="R6f4061fbbd3245b4" /><Relationship Type="http://schemas.openxmlformats.org/officeDocument/2006/relationships/notesSlide" Target="/ppt/notesSlides/notesSlide7.xml" Id="Ref0ff0bedca74c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6d63e2378457d" /><Relationship Type="http://schemas.openxmlformats.org/officeDocument/2006/relationships/image" Target="/ppt/media/image8.png" Id="Ra85d07adbd5245c9" /><Relationship Type="http://schemas.openxmlformats.org/officeDocument/2006/relationships/chart" Target="/ppt/slides/charts/chart1.xml" Id="R6d1413b6d78a4d80" /><Relationship Type="http://schemas.openxmlformats.org/officeDocument/2006/relationships/notesSlide" Target="/ppt/notesSlides/notesSlide8.xml" Id="Re77366f870514d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89e4f9d5e4b2c" /><Relationship Type="http://schemas.openxmlformats.org/officeDocument/2006/relationships/image" Target="/ppt/media/image9.png" Id="R4782e25b41c3458d" /><Relationship Type="http://schemas.openxmlformats.org/officeDocument/2006/relationships/notesSlide" Target="/ppt/notesSlides/notesSlide9.xml" Id="R63a3f01670a948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02d7ace4429e" /><Relationship Type="http://schemas.openxmlformats.org/officeDocument/2006/relationships/image" Target="/ppt/media/image10.png" Id="Rd28d79dd662046fe" /><Relationship Type="http://schemas.openxmlformats.org/officeDocument/2006/relationships/notesSlide" Target="/ppt/notesSlides/notesSlide10.xml" Id="R3f8399e4558f44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subscription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AED million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Central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146.97</c:v>
                </c:pt>
                <c:pt idx="1">
                  <c:v>65.2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e7541dc0740b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9FECA0-7673-412B-9265-3C777089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AE72646-F96E-4F21-9946-94FC2C05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9DCE98-22BB-47A8-A2C6-830EEBFC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Dubai Government Platform.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Central Commitment.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8AD5D1F0-B259-4BDE-9C9D-6DC669A3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Proposed Circularo Enterprise framework for participating entities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B1475ABC-F748-4115-9CA2-EE51616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7" name="users-label">
            <a:extLst xmlns:a="http://schemas.openxmlformats.org/drawingml/2006/main">
              <a:ext uri="{FF2B5EF4-FFF2-40B4-BE49-F238E27FC236}">
                <a16:creationId xmlns:a16="http://schemas.microsoft.com/office/drawing/2014/main" id="{95B78DC9-B664-4085-B98C-019BD459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initial Enterprise users</a:t>
            </a:r>
          </a:p>
        </p:txBody>
      </p:sp>
      <p:sp>
        <p:nvSpPr>
          <p:cNvPr id="8" name="rate">
            <a:extLst xmlns:a="http://schemas.openxmlformats.org/drawingml/2006/main">
              <a:ext uri="{FF2B5EF4-FFF2-40B4-BE49-F238E27FC236}">
                <a16:creationId xmlns:a16="http://schemas.microsoft.com/office/drawing/2014/main" id="{B173F5AC-1D61-4D02-8822-504F95D4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1,180</a:t>
            </a:r>
          </a:p>
        </p:txBody>
      </p:sp>
      <p:sp>
        <p:nvSpPr>
          <p:cNvPr id="9" name="rate-label">
            <a:extLst xmlns:a="http://schemas.openxmlformats.org/drawingml/2006/main">
              <a:ext uri="{FF2B5EF4-FFF2-40B4-BE49-F238E27FC236}">
                <a16:creationId xmlns:a16="http://schemas.microsoft.com/office/drawing/2014/main" id="{10FE8113-B273-4844-87BD-10F77CE0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10" name="term">
            <a:extLst xmlns:a="http://schemas.openxmlformats.org/drawingml/2006/main">
              <a:ext uri="{FF2B5EF4-FFF2-40B4-BE49-F238E27FC236}">
                <a16:creationId xmlns:a16="http://schemas.microsoft.com/office/drawing/2014/main" id="{29B3BA82-D3B1-465C-A9D9-3D10F164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5 years</a:t>
            </a:r>
          </a:p>
        </p:txBody>
      </p:sp>
      <p:sp>
        <p:nvSpPr>
          <p:cNvPr id="11" name="term-label">
            <a:extLst xmlns:a="http://schemas.openxmlformats.org/drawingml/2006/main">
              <a:ext uri="{FF2B5EF4-FFF2-40B4-BE49-F238E27FC236}">
                <a16:creationId xmlns:a16="http://schemas.microsoft.com/office/drawing/2014/main" id="{3AD451FA-8099-459D-9A73-EC632FF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locked unit price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annual billing</a:t>
            </a:r>
          </a:p>
        </p:txBody>
      </p:sp>
      <p:sp>
        <p:nvSpPr>
          <p:cNvPr id="12" name="benefit">
            <a:extLst xmlns:a="http://schemas.openxmlformats.org/drawingml/2006/main">
              <a:ext uri="{FF2B5EF4-FFF2-40B4-BE49-F238E27FC236}">
                <a16:creationId xmlns:a16="http://schemas.microsoft.com/office/drawing/2014/main" id="{CC162B74-CDF5-4B1C-81BB-AC5A0A8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3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19.87% below the current weighted customer price</a:t>
            </a:r>
          </a:p>
        </p:txBody>
      </p:sp>
      <p:sp>
        <p:nvSpPr>
          <p:cNvPr id="13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737E328-855B-40E7-B938-E0682720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1,472.65 current weighted price. Separately: 60% below AED 2,950 list price.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Subscription only. Support is a separate charge.</a:t>
            </a:r>
          </a:p>
        </p:txBody>
      </p:sp>
    </p:spTree>
    <p:extLst>
      <p:ext uri="{BB962C8B-B14F-4D97-AF65-F5344CB8AC3E}">
        <p14:creationId xmlns:p14="http://schemas.microsoft.com/office/powerpoint/2010/main" val="1380133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5c9a324194b8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4E3FB5-8ECD-4427-A9F2-C5F890CF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84289E3-A9B9-43E1-A774-B504955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FFE4B8-94F6-465A-97A0-5447430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Path to 10,000 Users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3B7EE554-DCAC-4526-B1AF-AC04B299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allocation combines existing adoption with survey opportunity</a:t>
            </a:r>
          </a:p>
        </p:txBody>
      </p:sp>
      <p:sp>
        <p:nvSpPr>
          <p:cNvPr id="6" name="bridge-number-0">
            <a:extLst xmlns:a="http://schemas.openxmlformats.org/drawingml/2006/main">
              <a:ext uri="{FF2B5EF4-FFF2-40B4-BE49-F238E27FC236}">
                <a16:creationId xmlns:a16="http://schemas.microsoft.com/office/drawing/2014/main" id="{670B8EA1-FD5B-402A-890C-81ACC56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1,310</a:t>
            </a:r>
          </a:p>
        </p:txBody>
      </p:sp>
      <p:sp>
        <p:nvSpPr>
          <p:cNvPr id="7" name="bridge-label-0">
            <a:extLst xmlns:a="http://schemas.openxmlformats.org/drawingml/2006/main">
              <a:ext uri="{FF2B5EF4-FFF2-40B4-BE49-F238E27FC236}">
                <a16:creationId xmlns:a16="http://schemas.microsoft.com/office/drawing/2014/main" id="{D47E7B34-B777-4ACF-B42F-DDD05652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users</a:t>
            </a:r>
          </a:p>
        </p:txBody>
      </p:sp>
      <p:sp>
        <p:nvSpPr>
          <p:cNvPr id="8" name="bridge-detail-0">
            <a:extLst xmlns:a="http://schemas.openxmlformats.org/drawingml/2006/main">
              <a:ext uri="{FF2B5EF4-FFF2-40B4-BE49-F238E27FC236}">
                <a16:creationId xmlns:a16="http://schemas.microsoft.com/office/drawing/2014/main" id="{05142595-6FEF-440D-9071-16426F33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Supplied customer base</a:t>
            </a:r>
          </a:p>
        </p:txBody>
      </p:sp>
      <p:sp>
        <p:nvSpPr>
          <p:cNvPr id="9" name="bridge-number-1">
            <a:extLst xmlns:a="http://schemas.openxmlformats.org/drawingml/2006/main">
              <a:ext uri="{FF2B5EF4-FFF2-40B4-BE49-F238E27FC236}">
                <a16:creationId xmlns:a16="http://schemas.microsoft.com/office/drawing/2014/main" id="{25DABD09-29EB-481D-90E9-A5195B4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+655</a:t>
            </a:r>
          </a:p>
        </p:txBody>
      </p:sp>
      <p:sp>
        <p:nvSpPr>
          <p:cNvPr id="10" name="bridge-label-1">
            <a:extLst xmlns:a="http://schemas.openxmlformats.org/drawingml/2006/main">
              <a:ext uri="{FF2B5EF4-FFF2-40B4-BE49-F238E27FC236}">
                <a16:creationId xmlns:a16="http://schemas.microsoft.com/office/drawing/2014/main" id="{E6DA4334-A24B-4D11-9F77-D4D1B579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growth</a:t>
            </a:r>
          </a:p>
        </p:txBody>
      </p:sp>
      <p:sp>
        <p:nvSpPr>
          <p:cNvPr id="11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A669970E-57F3-47C3-8D7B-D02F5027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50% Year 1 growth</a:t>
            </a:r>
          </a:p>
        </p:txBody>
      </p:sp>
      <p:sp>
        <p:nvSpPr>
          <p:cNvPr id="12" name="bridge-number-2">
            <a:extLst xmlns:a="http://schemas.openxmlformats.org/drawingml/2006/main">
              <a:ext uri="{FF2B5EF4-FFF2-40B4-BE49-F238E27FC236}">
                <a16:creationId xmlns:a16="http://schemas.microsoft.com/office/drawing/2014/main" id="{24081DF6-5D0D-4423-AAFC-CCEC9D4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+4,921</a:t>
            </a:r>
          </a:p>
        </p:txBody>
      </p:sp>
      <p:sp>
        <p:nvSpPr>
          <p:cNvPr id="13" name="bridge-label-2">
            <a:extLst xmlns:a="http://schemas.openxmlformats.org/drawingml/2006/main">
              <a:ext uri="{FF2B5EF4-FFF2-40B4-BE49-F238E27FC236}">
                <a16:creationId xmlns:a16="http://schemas.microsoft.com/office/drawing/2014/main" id="{C3FAC9D9-0B85-486D-9CDD-02CB80C5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Survey minimum</a:t>
            </a:r>
          </a:p>
        </p:txBody>
      </p:sp>
      <p:sp>
        <p:nvSpPr>
          <p:cNvPr id="14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AB49C330-D998-4522-8953-430A2409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/ expected users</a:t>
            </a:r>
          </a:p>
        </p:txBody>
      </p:sp>
      <p:sp>
        <p:nvSpPr>
          <p:cNvPr id="15" name="bridge-number-3">
            <a:extLst xmlns:a="http://schemas.openxmlformats.org/drawingml/2006/main">
              <a:ext uri="{FF2B5EF4-FFF2-40B4-BE49-F238E27FC236}">
                <a16:creationId xmlns:a16="http://schemas.microsoft.com/office/drawing/2014/main" id="{4EA68F6C-0015-4FB0-B26C-65C49C93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67085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667085"/>
                </a:solidFill>
                <a:latin typeface="Spartan"/>
                <a:ea typeface="Spartan"/>
                <a:cs typeface="Spartan"/>
              </a:rPr>
              <a:t>+3,114</a:t>
            </a:r>
          </a:p>
        </p:txBody>
      </p:sp>
      <p:sp>
        <p:nvSpPr>
          <p:cNvPr id="16" name="bridge-label-3">
            <a:extLst xmlns:a="http://schemas.openxmlformats.org/drawingml/2006/main">
              <a:ext uri="{FF2B5EF4-FFF2-40B4-BE49-F238E27FC236}">
                <a16:creationId xmlns:a16="http://schemas.microsoft.com/office/drawing/2014/main" id="{43E63C61-E336-4D69-9C41-B0DF52E5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Other entities</a:t>
            </a:r>
          </a:p>
        </p:txBody>
      </p:sp>
      <p:sp>
        <p:nvSpPr>
          <p:cNvPr id="17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932C9486-5B52-41D3-9985-157C97F1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Additional adoption target</a:t>
            </a:r>
          </a:p>
        </p:txBody>
      </p:sp>
      <p:sp>
        <p:nvSpPr>
          <p:cNvPr id="18" name="bridge-number-4">
            <a:extLst xmlns:a="http://schemas.openxmlformats.org/drawingml/2006/main">
              <a:ext uri="{FF2B5EF4-FFF2-40B4-BE49-F238E27FC236}">
                <a16:creationId xmlns:a16="http://schemas.microsoft.com/office/drawing/2014/main" id="{48F09AA4-F928-4440-870E-090D2DB5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19" name="bridge-label-4">
            <a:extLst xmlns:a="http://schemas.openxmlformats.org/drawingml/2006/main">
              <a:ext uri="{FF2B5EF4-FFF2-40B4-BE49-F238E27FC236}">
                <a16:creationId xmlns:a16="http://schemas.microsoft.com/office/drawing/2014/main" id="{6BE7F08D-E847-4E4B-8C1F-276F87C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Commitment</a:t>
            </a:r>
          </a:p>
        </p:txBody>
      </p:sp>
      <p:sp>
        <p:nvSpPr>
          <p:cNvPr id="20" name="bridge-detail-4">
            <a:extLst xmlns:a="http://schemas.openxmlformats.org/drawingml/2006/main">
              <a:ext uri="{FF2B5EF4-FFF2-40B4-BE49-F238E27FC236}">
                <a16:creationId xmlns:a16="http://schemas.microsoft.com/office/drawing/2014/main" id="{486FC4BC-C556-4EF0-A691-A222ECC5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Modeled allocation</a:t>
            </a:r>
          </a:p>
        </p:txBody>
      </p:sp>
      <p:sp>
        <p:nvSpPr>
          <p:cNvPr id="21" name="coverage">
            <a:extLst xmlns:a="http://schemas.openxmlformats.org/drawingml/2006/main">
              <a:ext uri="{FF2B5EF4-FFF2-40B4-BE49-F238E27FC236}">
                <a16:creationId xmlns:a16="http://schemas.microsoft.com/office/drawing/2014/main" id="{80AA4293-A15A-4DBE-82A1-1560FE4F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68.86% in the modeled existing / growth / survey allocation</a:t>
            </a:r>
          </a:p>
        </p:txBody>
      </p:sp>
      <p:sp>
        <p:nvSpPr>
          <p:cNvPr id="2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2F26F106-29C5-42BF-833E-DC8DD40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Survey counts are added without overlap deduction; this is not unique committed demand.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Other target equates to about 58 users across each of 54 unsurveyed entities.</a:t>
            </a:r>
          </a:p>
        </p:txBody>
      </p:sp>
    </p:spTree>
    <p:extLst>
      <p:ext uri="{BB962C8B-B14F-4D97-AF65-F5344CB8AC3E}">
        <p14:creationId xmlns:p14="http://schemas.microsoft.com/office/powerpoint/2010/main" val="515216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8efdbe1b1448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C777D6-D455-4DB2-958E-06C8C0F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4233E73-B3A8-48C8-8FF4-2B47B27A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14912D-5106-41E3-9069-4AF8050F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Value for Every Dirham</a:t>
            </a:r>
          </a:p>
        </p:txBody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43763965-E72D-4CC3-95D6-7D0A580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Lower subscription cost</a:t>
            </a:r>
          </a:p>
        </p:txBody>
      </p:sp>
      <p:sp>
        <p:nvSpPr>
          <p:cNvPr id="6" name="pillar-1">
            <a:extLst xmlns:a="http://schemas.openxmlformats.org/drawingml/2006/main">
              <a:ext uri="{FF2B5EF4-FFF2-40B4-BE49-F238E27FC236}">
                <a16:creationId xmlns:a16="http://schemas.microsoft.com/office/drawing/2014/main" id="{1822C868-2257-44D2-ABA2-B3DE240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Enterprise access</a:t>
            </a:r>
          </a:p>
        </p:txBody>
      </p:sp>
      <p:sp>
        <p:nvSpPr>
          <p:cNvPr id="7" name="pillar-2">
            <a:extLst xmlns:a="http://schemas.openxmlformats.org/drawingml/2006/main">
              <a:ext uri="{FF2B5EF4-FFF2-40B4-BE49-F238E27FC236}">
                <a16:creationId xmlns:a16="http://schemas.microsoft.com/office/drawing/2014/main" id="{0AD8C670-0A43-4A8A-9629-D9388E1E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certainty</a:t>
            </a:r>
          </a:p>
        </p:txBody>
      </p:sp>
      <p:sp>
        <p:nvSpPr>
          <p:cNvPr id="8" name="price-reduction">
            <a:extLst xmlns:a="http://schemas.openxmlformats.org/drawingml/2006/main">
              <a:ext uri="{FF2B5EF4-FFF2-40B4-BE49-F238E27FC236}">
                <a16:creationId xmlns:a16="http://schemas.microsoft.com/office/drawing/2014/main" id="{A26B8698-85D6-4048-A33B-6C353FC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19.87%</a:t>
            </a:r>
          </a:p>
        </p:txBody>
      </p:sp>
      <p:sp>
        <p:nvSpPr>
          <p:cNvPr id="9" name="cost-copy">
            <a:extLst xmlns:a="http://schemas.openxmlformats.org/drawingml/2006/main">
              <a:ext uri="{FF2B5EF4-FFF2-40B4-BE49-F238E27FC236}">
                <a16:creationId xmlns:a16="http://schemas.microsoft.com/office/drawing/2014/main" id="{C97F05CE-D2D2-4433-A5D9-CF268B0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below the existing weighted</a:t>
            </a:r>
          </a:p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price</a:t>
            </a:r>
          </a:p>
        </p:txBody>
      </p:sp>
      <p:sp>
        <p:nvSpPr>
          <p:cNvPr id="10" name="current-saving">
            <a:extLst xmlns:a="http://schemas.openxmlformats.org/drawingml/2006/main">
              <a:ext uri="{FF2B5EF4-FFF2-40B4-BE49-F238E27FC236}">
                <a16:creationId xmlns:a16="http://schemas.microsoft.com/office/drawing/2014/main" id="{5F7B7E14-BC54-449C-BEF6-1B0EEA97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383,370 / year</a:t>
            </a:r>
          </a:p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for today’s 1,310 users</a:t>
            </a:r>
          </a:p>
        </p:txBody>
      </p:sp>
      <p:sp>
        <p:nvSpPr>
          <p:cNvPr id="11" name="enterprise">
            <a:extLst xmlns:a="http://schemas.openxmlformats.org/drawingml/2006/main">
              <a:ext uri="{FF2B5EF4-FFF2-40B4-BE49-F238E27FC236}">
                <a16:creationId xmlns:a16="http://schemas.microsoft.com/office/drawing/2014/main" id="{8BBBDD06-AE73-454A-BFC9-D58208E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0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Enterprise</a:t>
            </a:r>
          </a:p>
        </p:txBody>
      </p:sp>
      <p:sp>
        <p:nvSpPr>
          <p:cNvPr id="12" name="enterprise-copy">
            <a:extLst xmlns:a="http://schemas.openxmlformats.org/drawingml/2006/main">
              <a:ext uri="{FF2B5EF4-FFF2-40B4-BE49-F238E27FC236}">
                <a16:creationId xmlns:a16="http://schemas.microsoft.com/office/drawing/2014/main" id="{765B8209-C2EC-40D8-ABE0-E7800FF2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148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Common capabilities for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participating entities.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Most agreed feature add-ons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included.</a:t>
            </a:r>
          </a:p>
        </p:txBody>
      </p:sp>
      <p:sp>
        <p:nvSpPr>
          <p:cNvPr id="13" name="lock">
            <a:extLst xmlns:a="http://schemas.openxmlformats.org/drawingml/2006/main">
              <a:ext uri="{FF2B5EF4-FFF2-40B4-BE49-F238E27FC236}">
                <a16:creationId xmlns:a16="http://schemas.microsoft.com/office/drawing/2014/main" id="{73202626-F612-46B4-95D0-9278ED5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No indexation</a:t>
            </a:r>
          </a:p>
        </p:txBody>
      </p:sp>
      <p:sp>
        <p:nvSpPr>
          <p:cNvPr id="14" name="lock-copy">
            <a:extLst xmlns:a="http://schemas.openxmlformats.org/drawingml/2006/main">
              <a:ext uri="{FF2B5EF4-FFF2-40B4-BE49-F238E27FC236}">
                <a16:creationId xmlns:a16="http://schemas.microsoft.com/office/drawing/2014/main" id="{39073E4C-291E-4B4B-BD7A-2BAD6375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billing with a locked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unit price.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Paid-user growth changes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annual budget.</a:t>
            </a:r>
          </a:p>
        </p:txBody>
      </p:sp>
      <p:sp>
        <p:nvSpPr>
          <p:cNvPr id="1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8B9050BE-7BC2-4194-9442-1299CD4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Included add-ons offer indicative additional value of ~AED 20,000 per entity/year.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value is outside subscription savings and depends on entity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410939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8d4ddd23f460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1649E0-6885-46A7-83F5-B0114212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7456C34-3D7E-4321-A3F5-30BB681C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DA7931-A926-4144-A5A9-815D092D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Establish Circularo Enterprise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 Dubai Government Shared Service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F1F8AD73-C4CA-4744-9186-CB09D83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4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the five-year central framework, starting with 10,000 users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609EDC77-DC61-4563-94B2-BED893B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11.80m</a:t>
            </a:r>
          </a:p>
        </p:txBody>
      </p:sp>
      <p:sp>
        <p:nvSpPr>
          <p:cNvPr id="7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6DA4E0E1-534A-4C53-99B9-92C2CE2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subscription</a:t>
            </a:r>
          </a:p>
        </p:txBody>
      </p:sp>
      <p:sp>
        <p:nvSpPr>
          <p:cNvPr id="8" name="budget-details">
            <a:extLst xmlns:a="http://schemas.openxmlformats.org/drawingml/2006/main">
              <a:ext uri="{FF2B5EF4-FFF2-40B4-BE49-F238E27FC236}">
                <a16:creationId xmlns:a16="http://schemas.microsoft.com/office/drawing/2014/main" id="{CFBFB1AE-44DC-4A13-822E-8E44F566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Plus AED 1.652m support under the model</a:t>
            </a:r>
          </a:p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Recurring budget: AED 13.452m before other charges</a:t>
            </a:r>
          </a:p>
        </p:txBody>
      </p:sp>
      <p:sp>
        <p:nvSpPr>
          <p:cNvPr id="9" name="terms">
            <a:extLst xmlns:a="http://schemas.openxmlformats.org/drawingml/2006/main">
              <a:ext uri="{FF2B5EF4-FFF2-40B4-BE49-F238E27FC236}">
                <a16:creationId xmlns:a16="http://schemas.microsoft.com/office/drawing/2014/main" id="{5723E3F2-3B47-49B6-B6DB-BF85E9D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428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per user/year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Annual billing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unit-price indexation for five years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D75F8974-1DF3-4DFE-AAD2-7E2D4C8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 sponsors procurement and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confirms entity allocations, funding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onboarding sequence.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FB59D9D-1BB0-41F2-BD55-0E9BB1F2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New-entity onboarding: AED 20,000 once per new entity. Optional modules are extra.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At exactly 10K, the model uses 14% support. The 12.5% proposal applies above 10K.</a:t>
            </a:r>
          </a:p>
        </p:txBody>
      </p:sp>
    </p:spTree>
    <p:extLst>
      <p:ext uri="{BB962C8B-B14F-4D97-AF65-F5344CB8AC3E}">
        <p14:creationId xmlns:p14="http://schemas.microsoft.com/office/powerpoint/2010/main" val="202139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3120006d649c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BE76E1-5BA7-48FC-935F-CDEFC23D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7DF1A65-79DE-4886-B542-2767B06D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E92270-6E36-4DC1-8626-4D78DE7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Savings against current customer prices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47E76AAA-F0D0-467C-BE8B-7D7ABB4B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Today’s 1,310 users, allocated the central AED 1,180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000125"/>
                <a:gridCol w="2333625"/>
                <a:gridCol w="3419475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Customer / project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Current AED/user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Saving AED/year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DDA VIP project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1,850.94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33,547.00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Digital Dubai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103,250.00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Culture &amp; Arts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2,212.48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25,812.00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Electronic Security Center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2,507.50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79,650.00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PCFC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2,159.43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24,485.75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Roads and Transport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1,245.00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65,000.00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His Highness the Rulers Court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51,625.00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1,310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1,472.65 weighted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383,369.75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CEAF6B87-A2F9-40ED-95DB-78FFC848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Year 1 existing growth adds 655 users: total cohort savings rise to AED 575,054.63.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Source prices are user-supplied. Support excluded; the full 10K commitment is payable.</a:t>
            </a:r>
          </a:p>
        </p:txBody>
      </p:sp>
    </p:spTree>
    <p:extLst>
      <p:ext uri="{BB962C8B-B14F-4D97-AF65-F5344CB8AC3E}">
        <p14:creationId xmlns:p14="http://schemas.microsoft.com/office/powerpoint/2010/main" val="1531189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a93326e484ad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73FE0F-4E9D-4F36-AB1D-CE32DBA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478A244-6322-439C-B535-8D8712B4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E9E297-A6C0-491B-89B5-096C4E0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Survey evidence and its limits</a:t>
            </a:r>
          </a:p>
        </p:txBody>
      </p:sp>
      <p:sp>
        <p:nvSpPr>
          <p:cNvPr id="5" name="survey-intro">
            <a:extLst xmlns:a="http://schemas.openxmlformats.org/drawingml/2006/main">
              <a:ext uri="{FF2B5EF4-FFF2-40B4-BE49-F238E27FC236}">
                <a16:creationId xmlns:a16="http://schemas.microsoft.com/office/drawing/2014/main" id="{FFEF33E2-4E56-4931-8E19-C3B4273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 quantified current / expected user responses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2686050"/>
          <a:ext xmlns:a="http://schemas.openxmlformats.org/drawingml/2006/main" cx="71818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714500"/>
                <a:gridCol w="23241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 per entity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Responses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Minimum 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1–50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51–100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101–500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More than 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spondents">
            <a:extLst xmlns:a="http://schemas.openxmlformats.org/drawingml/2006/main">
              <a:ext uri="{FF2B5EF4-FFF2-40B4-BE49-F238E27FC236}">
                <a16:creationId xmlns:a16="http://schemas.microsoft.com/office/drawing/2014/main" id="{9826065A-8007-4478-8BCE-2D8F054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38 entities surveyed</a:t>
            </a:r>
          </a:p>
        </p:txBody>
      </p:sp>
      <p:sp>
        <p:nvSpPr>
          <p:cNvPr id="8" name="signals">
            <a:extLst xmlns:a="http://schemas.openxmlformats.org/drawingml/2006/main">
              <a:ext uri="{FF2B5EF4-FFF2-40B4-BE49-F238E27FC236}">
                <a16:creationId xmlns:a16="http://schemas.microsoft.com/office/drawing/2014/main" id="{F0CBA5BC-B811-49E1-B4C9-CE454C0E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476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21 already use e-signatures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16 express current/future interest</a:t>
            </a:r>
          </a:p>
        </p:txBody>
      </p:sp>
      <p:sp>
        <p:nvSpPr>
          <p:cNvPr id="9" name="growth">
            <a:extLst xmlns:a="http://schemas.openxmlformats.org/drawingml/2006/main">
              <a:ext uri="{FF2B5EF4-FFF2-40B4-BE49-F238E27FC236}">
                <a16:creationId xmlns:a16="http://schemas.microsoft.com/office/drawing/2014/main" id="{EFA00B71-278E-46A7-BB1D-928036CD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77.27%</a:t>
            </a:r>
          </a:p>
        </p:txBody>
      </p:sp>
      <p:sp>
        <p:nvSpPr>
          <p:cNvPr id="10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9C9BF665-7F1D-4CBB-9ABF-9173162D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3505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expect growth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13 of 17 cite more users (76.47%)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A533F8E-9624-446C-A935-9F73F79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One further user response is unspecified. Survey overlap with existing customers is unresolved.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16 interested entities add no extra quantified users to this model.</a:t>
            </a:r>
          </a:p>
        </p:txBody>
      </p:sp>
    </p:spTree>
    <p:extLst>
      <p:ext uri="{BB962C8B-B14F-4D97-AF65-F5344CB8AC3E}">
        <p14:creationId xmlns:p14="http://schemas.microsoft.com/office/powerpoint/2010/main" val="349590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061fbbd3245b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80ACE8-9561-4C9E-B0D0-CD99F9CA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8D2EBAE-2828-4783-884A-ECD4F7FC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065B51-8DF1-4C9A-89C2-9C7AF863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adoption and subscription profile</a:t>
            </a:r>
          </a:p>
        </p:txBody>
      </p:sp>
      <p:sp>
        <p:nvSpPr>
          <p:cNvPr id="5" name="growth-assumption">
            <a:extLst xmlns:a="http://schemas.openxmlformats.org/drawingml/2006/main">
              <a:ext uri="{FF2B5EF4-FFF2-40B4-BE49-F238E27FC236}">
                <a16:creationId xmlns:a16="http://schemas.microsoft.com/office/drawing/2014/main" id="{99755395-0121-42A6-94B4-CC87DFDC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50% existing-user growth in Year 1; 5% annual growth for all cohorts thereafter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69557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1638300"/>
                <a:gridCol w="1638300"/>
                <a:gridCol w="1638300"/>
                <a:gridCol w="1638300"/>
                <a:gridCol w="1638300"/>
              </a:tblGrid>
              <a:tr h="3986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/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1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2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3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4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5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incl. growth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1,965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2,063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2,166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2,274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2,388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Survey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5,167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5,425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5,696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5,981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Other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3,114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3,270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3,434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3,606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3,786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Paid users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10,500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11,025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11,576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12,155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AED/user/year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Subscription AED m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11.80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12.39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13.01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13.66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14.34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92525A73-30D9-4598-B9C9-9ABECECF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Five-year subscription: AED 65.20m. Support, onboarding and optional modules are separate.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AED 1,180 rate remains locked even when forecast users exceed 12,000.</a:t>
            </a:r>
          </a:p>
        </p:txBody>
      </p:sp>
    </p:spTree>
    <p:extLst>
      <p:ext uri="{BB962C8B-B14F-4D97-AF65-F5344CB8AC3E}">
        <p14:creationId xmlns:p14="http://schemas.microsoft.com/office/powerpoint/2010/main" val="1682119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d07adbd5245c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FF0BD3-D16D-4013-BB2C-782C0D16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C1872B1-EFF0-4F88-AA53-03589BE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5F2AF5-D70D-40C4-B5B2-4FEF6D9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subscription economics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413b6d78a4d80"/>
          </a:graphicData>
        </a:graphic>
      </p:graphicFrame>
      <p:sp>
        <p:nvSpPr>
          <p:cNvPr id="6" name="modeled-benefit">
            <a:extLst xmlns:a="http://schemas.openxmlformats.org/drawingml/2006/main">
              <a:ext uri="{FF2B5EF4-FFF2-40B4-BE49-F238E27FC236}">
                <a16:creationId xmlns:a16="http://schemas.microsoft.com/office/drawing/2014/main" id="{D836413C-05C9-48C0-AC4D-9BCC23C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81.76m</a:t>
            </a:r>
          </a:p>
        </p:txBody>
      </p:sp>
      <p:sp>
        <p:nvSpPr>
          <p:cNvPr id="7" name="modeled-label">
            <a:extLst xmlns:a="http://schemas.openxmlformats.org/drawingml/2006/main">
              <a:ext uri="{FF2B5EF4-FFF2-40B4-BE49-F238E27FC236}">
                <a16:creationId xmlns:a16="http://schemas.microsoft.com/office/drawing/2014/main" id="{19B6AEAB-E705-4DFD-9DA1-82D84B6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modeled subscription benefit</a:t>
            </a:r>
          </a:p>
        </p:txBody>
      </p:sp>
      <p:sp>
        <p:nvSpPr>
          <p:cNvPr id="8" name="basis">
            <a:extLst xmlns:a="http://schemas.openxmlformats.org/drawingml/2006/main">
              <a:ext uri="{FF2B5EF4-FFF2-40B4-BE49-F238E27FC236}">
                <a16:creationId xmlns:a16="http://schemas.microsoft.com/office/drawing/2014/main" id="{D8EA4AD2-2EE0-4A38-B932-23AB755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62425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Existing: supplied current prices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/ Other: AED 2,950 list-price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benchmark until matched costs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are available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62F35DF-6366-4E1F-9361-619E46B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is modeled opportunity, not audited government cash savings or a complete project ROI.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Support, onboarding and indicative add-on value are excluded from the benefit.</a:t>
            </a:r>
          </a:p>
        </p:txBody>
      </p:sp>
    </p:spTree>
    <p:extLst>
      <p:ext uri="{BB962C8B-B14F-4D97-AF65-F5344CB8AC3E}">
        <p14:creationId xmlns:p14="http://schemas.microsoft.com/office/powerpoint/2010/main" val="547712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2e25b41c3458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7FD311-83C2-4247-BEEC-C1D4EC3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0EEA34B-9496-4A81-BA6A-1AEDA3CC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9D85A6-38C9-4A32-A752-5D60B64B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Additional commercial value and charges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4514850"/>
                <a:gridCol w="4238625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Item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Commercial proposition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Treatment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Enterprise package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Most agreed feature add-ons included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~AED 20K/entity/year indicative value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Support above 10K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12.5% versus 25% standard rate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50% lower rate on the same fee base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New-entity onboarding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 20,000 once per new entity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entities exempt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Specialist modules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KYC, DESC eSeal Certificates,</a:t>
                      </a:r>
                    </a:p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Collaboration &amp; DMS, AI Services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Purchased separately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4AB1451-C1D4-4EA7-BD0D-3454AA9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These additional benefits are outside the subscription-savings total.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12.5% support applies strictly above 10K; the exact 10K model uses 14%.</a:t>
            </a:r>
          </a:p>
        </p:txBody>
      </p:sp>
    </p:spTree>
    <p:extLst>
      <p:ext uri="{BB962C8B-B14F-4D97-AF65-F5344CB8AC3E}">
        <p14:creationId xmlns:p14="http://schemas.microsoft.com/office/powerpoint/2010/main" val="1275949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79dd662046f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93DB4E-1DCC-46E6-B381-760FAA6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D96DA77-860B-40CA-A0F5-7A76A36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MANAGEMENT DISCUSSION / OPTIONAL DETAIL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76BD5B-DE1E-4490-A4E3-0283026F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Scale beyond the initial 10K commitment</a:t>
            </a:r>
          </a:p>
        </p:txBody>
      </p:sp>
      <p:sp>
        <p:nvSpPr>
          <p:cNvPr id="5" name="population">
            <a:extLst xmlns:a="http://schemas.openxmlformats.org/drawingml/2006/main">
              <a:ext uri="{FF2B5EF4-FFF2-40B4-BE49-F238E27FC236}">
                <a16:creationId xmlns:a16="http://schemas.microsoft.com/office/drawing/2014/main" id="{AE254853-C20E-47B8-A493-DA47891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76,000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AD9F7EDC-1E2F-493B-89D7-BFE5E8BE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employees in the planning population</a:t>
            </a:r>
          </a:p>
        </p:txBody>
      </p:sp>
      <p:sp>
        <p:nvSpPr>
          <p:cNvPr id="7" name="share">
            <a:extLst xmlns:a="http://schemas.openxmlformats.org/drawingml/2006/main">
              <a:ext uri="{FF2B5EF4-FFF2-40B4-BE49-F238E27FC236}">
                <a16:creationId xmlns:a16="http://schemas.microsoft.com/office/drawing/2014/main" id="{4F925E17-7F59-42F4-9E25-81F373B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20%</a:t>
            </a:r>
          </a:p>
        </p:txBody>
      </p:sp>
      <p:sp>
        <p:nvSpPr>
          <p:cNvPr id="8" name="share-label">
            <a:extLst xmlns:a="http://schemas.openxmlformats.org/drawingml/2006/main">
              <a:ext uri="{FF2B5EF4-FFF2-40B4-BE49-F238E27FC236}">
                <a16:creationId xmlns:a16="http://schemas.microsoft.com/office/drawing/2014/main" id="{DA185017-447D-4065-8BA3-9AA6D8C5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assumed potential adoption</a:t>
            </a:r>
          </a:p>
        </p:txBody>
      </p:sp>
      <p:sp>
        <p:nvSpPr>
          <p:cNvPr id="9" name="potential">
            <a:extLst xmlns:a="http://schemas.openxmlformats.org/drawingml/2006/main">
              <a:ext uri="{FF2B5EF4-FFF2-40B4-BE49-F238E27FC236}">
                <a16:creationId xmlns:a16="http://schemas.microsoft.com/office/drawing/2014/main" id="{4731AC7F-0595-4BBC-BD9C-E2E403A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52700"/>
            <a:ext cx="265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15,200</a:t>
            </a:r>
          </a:p>
        </p:txBody>
      </p:sp>
      <p:sp>
        <p:nvSpPr>
          <p:cNvPr id="10" name="potential-label">
            <a:extLst xmlns:a="http://schemas.openxmlformats.org/drawingml/2006/main">
              <a:ext uri="{FF2B5EF4-FFF2-40B4-BE49-F238E27FC236}">
                <a16:creationId xmlns:a16="http://schemas.microsoft.com/office/drawing/2014/main" id="{AF2C17C0-B9B4-402B-AC5A-4ED43F48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242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potential users</a:t>
            </a:r>
          </a:p>
        </p:txBody>
      </p:sp>
      <p:sp>
        <p:nvSpPr>
          <p:cNvPr id="11" name="scale-price">
            <a:extLst xmlns:a="http://schemas.openxmlformats.org/drawingml/2006/main">
              <a:ext uri="{FF2B5EF4-FFF2-40B4-BE49-F238E27FC236}">
                <a16:creationId xmlns:a16="http://schemas.microsoft.com/office/drawing/2014/main" id="{28843A79-89C6-4F3E-9ABA-C5BB0B24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full-scale illustration: AED 1,032.50/user/year</a:t>
            </a:r>
          </a:p>
        </p:txBody>
      </p:sp>
      <p:sp>
        <p:nvSpPr>
          <p:cNvPr id="1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FA3529F-A05F-468A-BE5E-303AED2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Estimated planning potential, not committed demand or an additional cohort.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 15,200 users: AED 15.694m annual subscription. Support is separate.</a:t>
            </a:r>
          </a:p>
        </p:txBody>
      </p:sp>
    </p:spTree>
    <p:extLst>
      <p:ext uri="{BB962C8B-B14F-4D97-AF65-F5344CB8AC3E}">
        <p14:creationId xmlns:p14="http://schemas.microsoft.com/office/powerpoint/2010/main" val="500121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2026-09-21T16:28:08.7910000Z</dcterms:created>
  <dcterms:modified xsi:type="dcterms:W3CDTF">2026-09-21T16:28:08.7910000Z</dcterms:modified>
</coreProperties>
</file>