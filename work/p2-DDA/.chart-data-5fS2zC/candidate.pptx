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1.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93cfd0e20dbc4f0b" /><Relationship Type="http://schemas.openxmlformats.org/officeDocument/2006/relationships/extended-properties" Target="/docProps/app.xml" Id="R9f8668594a26417a" /><Relationship Type="http://schemas.openxmlformats.org/officeDocument/2006/relationships/officeDocument" Target="/ppt/presentation.xml" Id="Re9c827390f5945e0" /></Relationships>
</file>

<file path=ppt/presentation.xml><?xml version="1.0" encoding="utf-8"?>
<p:presentation xmlns:p="http://schemas.openxmlformats.org/presentationml/2006/main">
  <p:sldMasterIdLst>
    <p:sldMasterId xmlns:r="http://schemas.openxmlformats.org/officeDocument/2006/relationships" id="2147483648" r:id="R53843cf7c6154994"/>
  </p:sldMasterIdLst>
  <p:notesMasterIdLst>
    <p:notesMasterId xmlns:r="http://schemas.openxmlformats.org/officeDocument/2006/relationships" r:id="R4957a10f8eb345bb"/>
  </p:notesMasterIdLst>
  <p:sldIdLst>
    <p:sldId xmlns:r="http://schemas.openxmlformats.org/officeDocument/2006/relationships" id="256" r:id="R01288331dd374c95"/>
    <p:sldId xmlns:r="http://schemas.openxmlformats.org/officeDocument/2006/relationships" id="257" r:id="Rcb8224202ebb471a"/>
    <p:sldId xmlns:r="http://schemas.openxmlformats.org/officeDocument/2006/relationships" id="258" r:id="R567309b16373409f"/>
    <p:sldId xmlns:r="http://schemas.openxmlformats.org/officeDocument/2006/relationships" id="259" r:id="R097e2c78c2c34630"/>
    <p:sldId xmlns:r="http://schemas.openxmlformats.org/officeDocument/2006/relationships" id="260" r:id="R7153a76e68d04263"/>
    <p:sldId xmlns:r="http://schemas.openxmlformats.org/officeDocument/2006/relationships" id="261" r:id="Rc90f8e624d06490a"/>
    <p:sldId xmlns:r="http://schemas.openxmlformats.org/officeDocument/2006/relationships" id="262" r:id="Raca1991ccc5b4fc0"/>
    <p:sldId xmlns:r="http://schemas.openxmlformats.org/officeDocument/2006/relationships" id="263" r:id="R8a44b1044d374dea"/>
    <p:sldId xmlns:r="http://schemas.openxmlformats.org/officeDocument/2006/relationships" id="264" r:id="Rba84aaa6c4474ce1"/>
    <p:sldId xmlns:r="http://schemas.openxmlformats.org/officeDocument/2006/relationships" id="265" r:id="Reb225e796acc4aa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f34def86eb946f4" /><Relationship Type="http://schemas.openxmlformats.org/officeDocument/2006/relationships/slideMaster" Target="/ppt/slideMasters/slideMaster1.xml" Id="R53843cf7c6154994" /><Relationship Type="http://schemas.openxmlformats.org/officeDocument/2006/relationships/notesMaster" Target="/ppt/notesMasters/notesMaster1.xml" Id="R4957a10f8eb345bb" /><Relationship Type="http://schemas.openxmlformats.org/officeDocument/2006/relationships/presProps" Target="/ppt/presProps.xml" Id="R4aee7e2b5838469a" /><Relationship Type="http://schemas.openxmlformats.org/officeDocument/2006/relationships/tableStyles" Target="/ppt/tableStyles.xml" Id="Rd7f7e74bf1a24f09" /><Relationship Type="http://schemas.openxmlformats.org/officeDocument/2006/relationships/slide" Target="/ppt/slides/slide1.xml" Id="R01288331dd374c95" /><Relationship Type="http://schemas.openxmlformats.org/officeDocument/2006/relationships/slide" Target="/ppt/slides/slide2.xml" Id="Rcb8224202ebb471a" /><Relationship Type="http://schemas.openxmlformats.org/officeDocument/2006/relationships/slide" Target="/ppt/slides/slide3.xml" Id="R567309b16373409f" /><Relationship Type="http://schemas.openxmlformats.org/officeDocument/2006/relationships/slide" Target="/ppt/slides/slide4.xml" Id="R097e2c78c2c34630" /><Relationship Type="http://schemas.openxmlformats.org/officeDocument/2006/relationships/slide" Target="/ppt/slides/slide5.xml" Id="R7153a76e68d04263" /><Relationship Type="http://schemas.openxmlformats.org/officeDocument/2006/relationships/slide" Target="/ppt/slides/slide6.xml" Id="Rc90f8e624d06490a" /><Relationship Type="http://schemas.openxmlformats.org/officeDocument/2006/relationships/slide" Target="/ppt/slides/slide7.xml" Id="Raca1991ccc5b4fc0" /><Relationship Type="http://schemas.openxmlformats.org/officeDocument/2006/relationships/slide" Target="/ppt/slides/slide8.xml" Id="R8a44b1044d374dea" /><Relationship Type="http://schemas.openxmlformats.org/officeDocument/2006/relationships/slide" Target="/ppt/slides/slide9.xml" Id="Rba84aaa6c4474ce1" /><Relationship Type="http://schemas.openxmlformats.org/officeDocument/2006/relationships/slide" Target="/ppt/slides/slide10.xml" Id="Reb225e796acc4aa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dbd19d4d1c8412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b9d92714140447d" /><Relationship Type="http://schemas.openxmlformats.org/officeDocument/2006/relationships/notesMaster" Target="/ppt/notesMasters/notesMaster1.xml" Id="R0e7a137f83d549ea" /></Relationships>
</file>

<file path=ppt/notesSlides/_rels/notesSlide2.xml.rels>&#65279;<?xml version="1.0" encoding="utf-8"?><Relationships xmlns="http://schemas.openxmlformats.org/package/2006/relationships"><Relationship Type="http://schemas.openxmlformats.org/officeDocument/2006/relationships/slide" Target="/ppt/slides/slide2.xml" Id="Rda3b546b4958424e" /><Relationship Type="http://schemas.openxmlformats.org/officeDocument/2006/relationships/notesMaster" Target="/ppt/notesMasters/notesMaster1.xml" Id="R71800c9c52ac4ba6" /></Relationships>
</file>

<file path=ppt/notesSlides/_rels/notesSlide3.xml.rels>&#65279;<?xml version="1.0" encoding="utf-8"?><Relationships xmlns="http://schemas.openxmlformats.org/package/2006/relationships"><Relationship Type="http://schemas.openxmlformats.org/officeDocument/2006/relationships/slide" Target="/ppt/slides/slide3.xml" Id="Rf44ab68697624232" /><Relationship Type="http://schemas.openxmlformats.org/officeDocument/2006/relationships/notesMaster" Target="/ppt/notesMasters/notesMaster1.xml" Id="Ra7b107f2076341da" /></Relationships>
</file>

<file path=ppt/notesSlides/_rels/notesSlide4.xml.rels>&#65279;<?xml version="1.0" encoding="utf-8"?><Relationships xmlns="http://schemas.openxmlformats.org/package/2006/relationships"><Relationship Type="http://schemas.openxmlformats.org/officeDocument/2006/relationships/slide" Target="/ppt/slides/slide4.xml" Id="R338d318330bb405a" /><Relationship Type="http://schemas.openxmlformats.org/officeDocument/2006/relationships/notesMaster" Target="/ppt/notesMasters/notesMaster1.xml" Id="R26b78cd561914adb" /></Relationships>
</file>

<file path=ppt/notesSlides/_rels/notesSlide5.xml.rels>&#65279;<?xml version="1.0" encoding="utf-8"?><Relationships xmlns="http://schemas.openxmlformats.org/package/2006/relationships"><Relationship Type="http://schemas.openxmlformats.org/officeDocument/2006/relationships/slide" Target="/ppt/slides/slide5.xml" Id="R19aae4b6e7114346" /><Relationship Type="http://schemas.openxmlformats.org/officeDocument/2006/relationships/notesMaster" Target="/ppt/notesMasters/notesMaster1.xml" Id="Rc92e17a4962a491d" /></Relationships>
</file>

<file path=ppt/notesSlides/_rels/notesSlide6.xml.rels>&#65279;<?xml version="1.0" encoding="utf-8"?><Relationships xmlns="http://schemas.openxmlformats.org/package/2006/relationships"><Relationship Type="http://schemas.openxmlformats.org/officeDocument/2006/relationships/slide" Target="/ppt/slides/slide6.xml" Id="Rae63ec677b684fac" /><Relationship Type="http://schemas.openxmlformats.org/officeDocument/2006/relationships/notesMaster" Target="/ppt/notesMasters/notesMaster1.xml" Id="R2ae794f224654fe8" /></Relationships>
</file>

<file path=ppt/notesSlides/_rels/notesSlide7.xml.rels>&#65279;<?xml version="1.0" encoding="utf-8"?><Relationships xmlns="http://schemas.openxmlformats.org/package/2006/relationships"><Relationship Type="http://schemas.openxmlformats.org/officeDocument/2006/relationships/slide" Target="/ppt/slides/slide7.xml" Id="R0fadde91d79c4dc0" /><Relationship Type="http://schemas.openxmlformats.org/officeDocument/2006/relationships/notesMaster" Target="/ppt/notesMasters/notesMaster1.xml" Id="R7f309d74b3ff4424" /></Relationships>
</file>

<file path=ppt/notesSlides/_rels/notesSlide8.xml.rels>&#65279;<?xml version="1.0" encoding="utf-8"?><Relationships xmlns="http://schemas.openxmlformats.org/package/2006/relationships"><Relationship Type="http://schemas.openxmlformats.org/officeDocument/2006/relationships/slide" Target="/ppt/slides/slide8.xml" Id="R06bbd1f0590548c3" /><Relationship Type="http://schemas.openxmlformats.org/officeDocument/2006/relationships/notesMaster" Target="/ppt/notesMasters/notesMaster1.xml" Id="Rad33462936d04e85" /></Relationships>
</file>

<file path=ppt/notesSlides/_rels/notesSlide9.xml.rels>&#65279;<?xml version="1.0" encoding="utf-8"?><Relationships xmlns="http://schemas.openxmlformats.org/package/2006/relationships"><Relationship Type="http://schemas.openxmlformats.org/officeDocument/2006/relationships/slide" Target="/ppt/slides/slide9.xml" Id="R75c4a36d694842c3" /><Relationship Type="http://schemas.openxmlformats.org/officeDocument/2006/relationships/notesMaster" Target="/ppt/notesMasters/notesMaster1.xml" Id="R54565120c7744d6d"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07c6153e7410454d" /><Relationship Type="http://schemas.openxmlformats.org/officeDocument/2006/relationships/notesMaster" Target="/ppt/notesMasters/notesMaster1.xml" Id="R33c68a0e118c492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Summary!E4; Setup!E8/E18; Existing customers!E9:E15/D16/G16.</a:t>
            </a:r>
          </a:p>
          <a:p xmlns:a="http://schemas.openxmlformats.org/drawingml/2006/main">
            <a:r>
              <a:t>- Workbook source: work/p2-DDA/outputs/dda-business-case-v2/DDA-savings-model-v2.2xlsx.xlsx; SHA-256 e07f0ec5943b9418188092209baa54ea8277100435622906cf6d1a8de3a4c83d</a:t>
            </a:r>
          </a:p>
          <a:p xmlns:a="http://schemas.openxmlformats.org/drawingml/2006/main">
            <a:r>
              <a:t>- Commercial scope: user instructions and outputs/dda-business-case-v2/goal.md. Proposed terms, not executed contracts.</a:t>
            </a:r>
          </a:p>
          <a:p xmlns:a="http://schemas.openxmlformats.org/drawingml/2006/main">
            <a:r>
              <a:t>- Presenter notes: Open with the proposed framework and decision. One framework describes centralized procurement, not a mandatory single deployment or replacement of all on-premise arrangements. Executive pricing benchmark: equal weight to each of the seven project unit prices across six entities, including both DDA projects. Simple average is AED 2057.192857142857/user/year; reduction to AED 1,180 is 42.64%. This is a unit-price comparison, not the average paid per user or a cash-saving percentage. Existing customer cash savings continue to sum each actual customer price multiplied by users. The simple-average and list-price discounts are alternative comparisons, not additive discounts.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Potential!E14/E23/E71/E72; Summary!E32/E34; Survey!H27/E66.</a:t>
            </a:r>
          </a:p>
          <a:p xmlns:a="http://schemas.openxmlformats.org/drawingml/2006/main">
            <a:r>
              <a:t>- Workbook source: work/p2-DDA/outputs/dda-business-case-v2/DDA-savings-model-v2.2xlsx.xlsx; SHA-256 e07f0ec5943b9418188092209baa54ea8277100435622906cf6d1a8de3a4c83d</a:t>
            </a:r>
          </a:p>
          <a:p xmlns:a="http://schemas.openxmlformats.org/drawingml/2006/main">
            <a:r>
              <a:t>- Commercial scope: user instructions and outputs/dda-business-case-v2/goal.md. Proposed terms, not executed contracts.</a:t>
            </a:r>
          </a:p>
          <a:p xmlns:a="http://schemas.openxmlformats.org/drawingml/2006/main">
            <a:r>
              <a:t>- Presenter notes: Year 1 existing growth is 50%, or 655 users, as corrected by the user. It is user-reported, not independently verified contracted users. 4,921 is the numerical minimum implied by 21 answered bands, not a confirmed new-customer pipeline. The user instructed full additive survey counts, with zero overlap deduction. The 58 users per unsurveyed entity is a feasibility illustration, not a measured forecast. 38 entities were surveyed out of planning scope 92.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Existing customers!E9:E15/D16/G16/I16; Setup!E18; goal.md additional commercial terms.</a:t>
            </a:r>
          </a:p>
          <a:p xmlns:a="http://schemas.openxmlformats.org/drawingml/2006/main">
            <a:r>
              <a:t>- Workbook source: work/p2-DDA/outputs/dda-business-case-v2/DDA-savings-model-v2.2xlsx.xlsx; SHA-256 e07f0ec5943b9418188092209baa54ea8277100435622906cf6d1a8de3a4c83d</a:t>
            </a:r>
          </a:p>
          <a:p xmlns:a="http://schemas.openxmlformats.org/drawingml/2006/main">
            <a:r>
              <a:t>- Commercial scope: user instructions and outputs/dda-business-case-v2/goal.md. Proposed terms, not executed contracts.</a:t>
            </a:r>
          </a:p>
          <a:p xmlns:a="http://schemas.openxmlformats.org/drawingml/2006/main">
            <a:r>
              <a:t>- Presenter notes: The 42.64% executive pricing comparison uses a simple average of seven project unit prices, not a user-weighted average. Actual existing-user annual savings are AED 383,369.75 before support, calculated as SUM(users times actual unit price) minus 1,310 times AED 1,180. Do not apply the simple average to the 1,310 users or apply 42.64% to their current spend. With 50% Year 1 growth, the existing cohort saves AED 575,054.63, assuming the same current price mix. Enterprise is a proposed entitlement for participating entities; do not claim every existing entity is on Business or that every optional module is included.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Potential!D39/D41; Setup!E17; goal.md support and onboarding terms.</a:t>
            </a:r>
          </a:p>
          <a:p xmlns:a="http://schemas.openxmlformats.org/drawingml/2006/main">
            <a:r>
              <a:t>- Workbook source: work/p2-DDA/outputs/dda-business-case-v2/DDA-savings-model-v2.2xlsx.xlsx; SHA-256 e07f0ec5943b9418188092209baa54ea8277100435622906cf6d1a8de3a4c83d</a:t>
            </a:r>
          </a:p>
          <a:p xmlns:a="http://schemas.openxmlformats.org/drawingml/2006/main">
            <a:r>
              <a:t>- Commercial scope: user instructions and outputs/dda-business-case-v2/goal.md. Proposed terms, not executed contracts.</a:t>
            </a:r>
          </a:p>
          <a:p xmlns:a="http://schemas.openxmlformats.org/drawingml/2006/main">
            <a:r>
              <a:t>- Presenter notes: The approval sought covers a central five-year procurement framework with annual budgets. Model support of 14% at exactly 10,000 users gives AED 1,652,000, making the initial recurring subscription-plus-support budget AED 13,452,000. Support is not included in savings. New entity count and implementation timing remain to be agreed; do not imply onboarding or optional modules are included in this recurring total. Proposed execution steps are recommendations, not completed actions.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Existing customers!C9:I16; Potential!D87:G88.</a:t>
            </a:r>
          </a:p>
          <a:p xmlns:a="http://schemas.openxmlformats.org/drawingml/2006/main">
            <a:r>
              <a:t>- Workbook source: work/p2-DDA/outputs/dda-business-case-v2/DDA-savings-model-v2.2xlsx.xlsx; SHA-256 e07f0ec5943b9418188092209baa54ea8277100435622906cf6d1a8de3a4c83d</a:t>
            </a:r>
          </a:p>
          <a:p xmlns:a="http://schemas.openxmlformats.org/drawingml/2006/main">
            <a:r>
              <a:t>- Commercial scope: user instructions and outputs/dda-business-case-v2/goal.md. Proposed terms, not executed contracts.</a:t>
            </a:r>
          </a:p>
          <a:p xmlns:a="http://schemas.openxmlformats.org/drawingml/2006/main">
            <a:r>
              <a:t>- Presenter notes: Customer table shows current source users only. Each saving is users multiplied by current price less AED 1,180. Weighted average = AED 1,929,169.75 divided by 1,310 = AED 1472.6486641221375. RTA represents 1,000 of 1,310 users (76.34%) and has the lowest unit price, AED 1,245, so it dominates this average. The separate executive pricing benchmark gives equal weight to seven project prices (six entities, with two DDA projects), yielding AED 2057.192857142857 and a 42.64% unit-price reduction. Only the customer-by-customer calculation supports actual current-user savings. Year 1 growth assumes the same weighted current subscription price. The full 10K commitment remains payable. Existing source rates are not independently audited.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Survey!C21:H27 and C52:E72; user-supplied DDA internal survey.</a:t>
            </a:r>
          </a:p>
          <a:p xmlns:a="http://schemas.openxmlformats.org/drawingml/2006/main">
            <a:r>
              <a:t>- Workbook source: work/p2-DDA/outputs/dda-business-case-v2/DDA-savings-model-v2.2xlsx.xlsx; SHA-256 e07f0ec5943b9418188092209baa54ea8277100435622906cf6d1a8de3a4c83d</a:t>
            </a:r>
          </a:p>
          <a:p xmlns:a="http://schemas.openxmlformats.org/drawingml/2006/main">
            <a:r>
              <a:t>- Commercial scope: user instructions and outputs/dda-business-case-v2/goal.md. Proposed terms, not executed contracts.</a:t>
            </a:r>
          </a:p>
          <a:p xmlns:a="http://schemas.openxmlformats.org/drawingml/2006/main">
            <a:r>
              <a:t>- Presenter notes: Q1 denominator 38: yes 21, no 10, planning 6, implementing 1. Interest question has 16 responses: 10 current requirement and six future. Growth denominator is 22 and more-users denominator is 17. Cost and user bands cannot be matched. Do not interpret organization shares as a user growth percentage.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Potential!D26:I41; Setup!E67/E68.</a:t>
            </a:r>
          </a:p>
          <a:p xmlns:a="http://schemas.openxmlformats.org/drawingml/2006/main">
            <a:r>
              <a:t>- Workbook source: work/p2-DDA/outputs/dda-business-case-v2/DDA-savings-model-v2.2xlsx.xlsx; SHA-256 e07f0ec5943b9418188092209baa54ea8277100435622906cf6d1a8de3a4c83d</a:t>
            </a:r>
          </a:p>
          <a:p xmlns:a="http://schemas.openxmlformats.org/drawingml/2006/main">
            <a:r>
              <a:t>- Commercial scope: user instructions and outputs/dda-business-case-v2/goal.md. Proposed terms, not executed contracts.</a:t>
            </a:r>
          </a:p>
          <a:p xmlns:a="http://schemas.openxmlformats.org/drawingml/2006/main">
            <a:r>
              <a:t>- Presenter notes: Forecast users are rounded separately by cohort each year; total users are 10,000, 10,500, 11,025, 11,576 and 12,155. Each is assumed billable for the full year. Paid users never fall below the initial commitment. This is an illustration, not a funded rollout schedule or an observed user total.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Potential!D32:H32/I35:I41; Summary!H13; Existing customers!D16/G16.</a:t>
            </a:r>
          </a:p>
          <a:p xmlns:a="http://schemas.openxmlformats.org/drawingml/2006/main">
            <a:r>
              <a:t>- Workbook source: work/p2-DDA/outputs/dda-business-case-v2/DDA-savings-model-v2.2xlsx.xlsx; SHA-256 e07f0ec5943b9418188092209baa54ea8277100435622906cf6d1a8de3a4c83d</a:t>
            </a:r>
          </a:p>
          <a:p xmlns:a="http://schemas.openxmlformats.org/drawingml/2006/main">
            <a:r>
              <a:t>- Commercial scope: user instructions and outputs/dda-business-case-v2/goal.md. Proposed terms, not executed contracts.</a:t>
            </a:r>
          </a:p>
          <a:p xmlns:a="http://schemas.openxmlformats.org/drawingml/2006/main">
            <a:r>
              <a:t>- Presenter notes: Mixed benchmark AED 146,967,073.90 less central subscription AED 65,202,080.00 gives modeled subscription benefit AED 81,764,993.90. Mixed benchmark uses supplied current prices for existing-customer users and AED 2,950 list price for Survey/Other users. The additional benchmark applies the unrounded current weighted price (1472.6486641221375 AED/user/year = AED 1,929,169.75 divided by 1,310 users) to the same 55,256 paid user-years across Years 1–5. That benchmark totals AED 81,372,674.58 and produces AED 16,170,594.58 in modeled subscription savings (19.87%). This extrapolates the existing customer price mix to all forecast users and is not observed government spending. Both scenarios have no benchmark price escalation. These are alternative comparisons, not additive savings or complete project ROI. Support, onboarding and optional-module costs are excluded. Chart values are editable snapshots rounded to AED millions, not live external links.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goal.md, additional commercial benefits and user-confirmed terms; Setup!E17.</a:t>
            </a:r>
          </a:p>
          <a:p xmlns:a="http://schemas.openxmlformats.org/drawingml/2006/main">
            <a:r>
              <a:t>- Workbook source: work/p2-DDA/outputs/dda-business-case-v2/DDA-savings-model-v2.2xlsx.xlsx; SHA-256 e07f0ec5943b9418188092209baa54ea8277100435622906cf6d1a8de3a4c83d</a:t>
            </a:r>
          </a:p>
          <a:p xmlns:a="http://schemas.openxmlformats.org/drawingml/2006/main">
            <a:r>
              <a:t>- Commercial scope: user instructions and outputs/dda-business-case-v2/goal.md. Proposed terms, not executed contracts.</a:t>
            </a:r>
          </a:p>
          <a:p xmlns:a="http://schemas.openxmlformats.org/drawingml/2006/main">
            <a:r>
              <a:t>- Presenter notes: The indicative AED 20,000/entity/year add-on value depends on requirements and included-feature scope. Do not multiply it across 92 entities as guaranteed realized savings. The support proposition is 12.5% above 10K versus standard 25%; this halves the rate on the same fee base, not a separately modeled government-wide saving. Latest commercial support wording differs from higher-volume rates in the unchanged workbook; do not extend either assumption silently.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Setup!E10/E11; Potential!E45:E53.</a:t>
            </a:r>
          </a:p>
          <a:p xmlns:a="http://schemas.openxmlformats.org/drawingml/2006/main">
            <a:r>
              <a:t>- Workbook source: work/p2-DDA/outputs/dda-business-case-v2/DDA-savings-model-v2.2xlsx.xlsx; SHA-256 e07f0ec5943b9418188092209baa54ea8277100435622906cf6d1a8de3a4c83d</a:t>
            </a:r>
          </a:p>
          <a:p xmlns:a="http://schemas.openxmlformats.org/drawingml/2006/main">
            <a:r>
              <a:t>- Commercial scope: user instructions and outputs/dda-business-case-v2/goal.md. Proposed terms, not executed contracts.</a:t>
            </a:r>
          </a:p>
          <a:p xmlns:a="http://schemas.openxmlformats.org/drawingml/2006/main">
            <a:r>
              <a:t>- Presenter notes: Population and 20% adoption are user-supplied planning assumptions. The potential includes existing and survey users, rather than adding to them. AED 1,032.50 is the separately selected Tier 7 full-potential illustration. It does not automatically replace the locked AED 1,180 price in the five-year 10K scenario. Do not attach a support cost to this full-scale illustration without reconciling the new commercial support proposition.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df151ba7749405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3e986e6aa444a53" /><Relationship Type="http://schemas.openxmlformats.org/officeDocument/2006/relationships/slideLayout" Target="/ppt/slideLayouts/slideLayout1.xml" Id="R01c49cdb528f46f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1c49cdb528f46f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c249996957524141" /><Relationship Type="http://schemas.openxmlformats.org/officeDocument/2006/relationships/image" Target="/ppt/media/image.png" Id="Re2f91cf867514c51" /><Relationship Type="http://schemas.openxmlformats.org/officeDocument/2006/relationships/notesSlide" Target="/ppt/notesSlides/notesSlide1.xml" Id="R2cbf73f4c65c4d55"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f892326745db4183" /><Relationship Type="http://schemas.openxmlformats.org/officeDocument/2006/relationships/image" Target="/ppt/media/image2.png" Id="R61bfca5e357f4fe7" /><Relationship Type="http://schemas.openxmlformats.org/officeDocument/2006/relationships/notesSlide" Target="/ppt/notesSlides/notesSlide2.xml" Id="R6958a5a8dcfe4d85"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e0d8ae0620d24b88" /><Relationship Type="http://schemas.openxmlformats.org/officeDocument/2006/relationships/image" Target="/ppt/media/image3.png" Id="Rd8a1f8f0560c4bff" /><Relationship Type="http://schemas.openxmlformats.org/officeDocument/2006/relationships/notesSlide" Target="/ppt/notesSlides/notesSlide3.xml" Id="Re19fcc12fdef4f87"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9b37dbc73b4247b1" /><Relationship Type="http://schemas.openxmlformats.org/officeDocument/2006/relationships/image" Target="/ppt/media/image4.png" Id="R04812a0c6c3e49b4" /><Relationship Type="http://schemas.openxmlformats.org/officeDocument/2006/relationships/notesSlide" Target="/ppt/notesSlides/notesSlide4.xml" Id="Re9fa6d86d0c34fcf"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5e2c5e5245614534" /><Relationship Type="http://schemas.openxmlformats.org/officeDocument/2006/relationships/image" Target="/ppt/media/image5.png" Id="R4184f182425341a9" /><Relationship Type="http://schemas.openxmlformats.org/officeDocument/2006/relationships/notesSlide" Target="/ppt/notesSlides/notesSlide5.xml" Id="R68fffef768294dd7"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56497964d516429e" /><Relationship Type="http://schemas.openxmlformats.org/officeDocument/2006/relationships/image" Target="/ppt/media/image6.png" Id="Rcc20f909c0364ab5" /><Relationship Type="http://schemas.openxmlformats.org/officeDocument/2006/relationships/notesSlide" Target="/ppt/notesSlides/notesSlide6.xml" Id="R7ee0c5ce3d73464e"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36bb74b96ae04fbf" /><Relationship Type="http://schemas.openxmlformats.org/officeDocument/2006/relationships/image" Target="/ppt/media/image7.png" Id="Rce37d375fcbc41cc" /><Relationship Type="http://schemas.openxmlformats.org/officeDocument/2006/relationships/notesSlide" Target="/ppt/notesSlides/notesSlide7.xml" Id="Rb05eaa8f39e54037"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dab1314d3f0a4155" /><Relationship Type="http://schemas.openxmlformats.org/officeDocument/2006/relationships/image" Target="/ppt/media/image8.png" Id="Rca6de621eb9f457a" /><Relationship Type="http://schemas.openxmlformats.org/officeDocument/2006/relationships/chart" Target="/ppt/slides/charts/chart1.xml" Id="R71e193766e624c9a" /><Relationship Type="http://schemas.openxmlformats.org/officeDocument/2006/relationships/notesSlide" Target="/ppt/notesSlides/notesSlide8.xml" Id="R5978be355d194ac9"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20eebf4f422548b7" /><Relationship Type="http://schemas.openxmlformats.org/officeDocument/2006/relationships/image" Target="/ppt/media/image9.png" Id="Re79a5f62d7874be3" /><Relationship Type="http://schemas.openxmlformats.org/officeDocument/2006/relationships/notesSlide" Target="/ppt/notesSlides/notesSlide9.xml" Id="R6c8117136cf640f5"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49998d403b704404" /><Relationship Type="http://schemas.openxmlformats.org/officeDocument/2006/relationships/image" Target="/ppt/media/image10.png" Id="Rbb9b0de462c74083" /><Relationship Type="http://schemas.openxmlformats.org/officeDocument/2006/relationships/notesSlide" Target="/ppt/notesSlides/notesSlide10.xml" Id="Ra03eedf55edc4439"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800" b="1">
                <a:latin typeface="Mulish"/>
                <a:ea typeface="Mulish"/>
                <a:cs typeface="Mulish"/>
              </a:rPr>
              <a:t>Five-year subscription cost (AED m)</a:t>
            </a:r>
          </a:p>
        </c:rich>
      </c:tx>
      <c:overlay val="0"/>
      <c:txPr>
        <a:bodyPr xmlns:a="http://schemas.openxmlformats.org/drawingml/2006/main" anchorCtr="1"/>
        <a:lstStyle xmlns:a="http://schemas.openxmlformats.org/drawingml/2006/main"/>
        <a:p xmlns:a="http://schemas.openxmlformats.org/drawingml/2006/main">
          <a:pPr>
            <a:defRPr sz="1800" b="1">
              <a:latin typeface="Mulish"/>
              <a:ea typeface="Mulish"/>
              <a:cs typeface="Mulish"/>
            </a:defRPr>
          </a:pPr>
        </a:p>
      </c:txPr>
    </c:title>
    <c:plotArea>
      <c:barChart>
        <c:barDir val="bar"/>
        <c:grouping val="clustered"/>
        <c:varyColors val="0"/>
        <c:ser>
          <c:idx val="0"/>
          <c:order val="0"/>
          <c:tx>
            <c:v>AED million</c:v>
          </c:tx>
          <c:spPr>
            <a:solidFill xmlns:a="http://schemas.openxmlformats.org/drawingml/2006/main">
              <a:srgbClr val="1D0090"/>
            </a:solidFill>
          </c:spPr>
          <c:dPt>
            <c:idx val="1"/>
            <c:invertIfNegative val="0"/>
            <c:spPr>
              <a:solidFill xmlns:a="http://schemas.openxmlformats.org/drawingml/2006/main">
                <a:srgbClr val="667085"/>
              </a:solidFill>
            </c:spPr>
          </c:dPt>
          <c:dPt>
            <c:idx val="2"/>
            <c:invertIfNegative val="0"/>
            <c:spPr>
              <a:solidFill xmlns:a="http://schemas.openxmlformats.org/drawingml/2006/main">
                <a:srgbClr val="7000FF"/>
              </a:solidFill>
            </c:spPr>
          </c:dPt>
          <c:cat>
            <c:strRef>
              <c:f>'Chart Data'!$A$2:$A$4</c:f>
              <c:strCache>
                <c:ptCount val="3"/>
                <c:pt idx="0">
                  <c:v>Mixed benchmark</c:v>
                </c:pt>
                <c:pt idx="1">
                  <c:v>Weighted average</c:v>
                </c:pt>
                <c:pt idx="2">
                  <c:v>Central</c:v>
                </c:pt>
              </c:strCache>
            </c:strRef>
          </c:cat>
          <c:val>
            <c:numRef>
              <c:f>'Chart Data'!$B$2:$B$4</c:f>
              <c:numCache>
                <c:formatCode>0.00</c:formatCode>
                <c:ptCount val="3"/>
                <c:pt idx="0">
                  <c:v>146.97</c:v>
                </c:pt>
                <c:pt idx="1">
                  <c:v>81.37</c:v>
                </c:pt>
                <c:pt idx="2">
                  <c:v>65.2</c:v>
                </c:pt>
              </c:numCache>
            </c:numRef>
          </c:val>
        </c:ser>
        <c:dLbls>
          <c:txPr>
            <a:bodyPr xmlns:a="http://schemas.openxmlformats.org/drawingml/2006/main" anchorCtr="1"/>
            <a:lstStyle xmlns:a="http://schemas.openxmlformats.org/drawingml/2006/main"/>
            <a:p xmlns:a="http://schemas.openxmlformats.org/drawingml/2006/main">
              <a:pPr>
                <a:defRPr sz="1875" b="1">
                  <a:latin typeface="Mulish"/>
                  <a:ea typeface="Mulish"/>
                  <a:cs typeface="Mulish"/>
                </a:defRPr>
              </a:pPr>
            </a:p>
          </c:txPr>
          <c:dLblPos val="outEnd"/>
          <c:showLegendKey val="0"/>
          <c:showVal val="1"/>
          <c:showCatName val="0"/>
          <c:showSerName val="0"/>
          <c:showPercent val="0"/>
          <c:showBubbleSize val="0"/>
          <c:showLeaderLines val="0"/>
        </c:dLbls>
        <c:gapWidth val="65"/>
        <c:axId val="48650112"/>
        <c:axId val="48672768"/>
      </c:barChart>
      <c:catAx>
        <c:axId val="48650112"/>
        <c:scaling>
          <c:orientation val="minMax"/>
        </c:scaling>
        <c:delete val="0"/>
        <c:axPos val="l"/>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666666"/>
                </a:solidFill>
                <a:latin typeface="Mulish"/>
                <a:ea typeface="Mulish"/>
                <a:cs typeface="Mulish"/>
              </a:defRPr>
            </a:pPr>
          </a:p>
        </c:txPr>
        <c:crossAx val="48672768"/>
      </c:catAx>
      <c:valAx>
        <c:axId val="48672768"/>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666666"/>
                </a:solidFill>
                <a:latin typeface="Mulish"/>
                <a:ea typeface="Mulish"/>
                <a:cs typeface="Mulish"/>
              </a:defRPr>
            </a:pPr>
          </a:p>
        </c:txPr>
        <c:crossAx val="48650112"/>
        <c:crossBetween val="between"/>
      </c:valAx>
    </c:plotArea>
    <c:plotVisOnly val="1"/>
  </c:chart>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D0090"/>
        </a:solidFill>
      </p:bgPr>
    </p:bg>
    <p:spTree>
      <p:nvGrpSpPr>
        <p:cNvPr id="1" name=""/>
        <p:cNvGrpSpPr/>
        <p:nvPr/>
      </p:nvGrpSpPr>
      <p:grpSpPr>
        <a:xfrm xmlns:a="http://schemas.openxmlformats.org/drawingml/2006/main"/>
      </p:grpSpPr>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e2f91cf867514c51"/>
          <a:stretch xmlns:a="http://schemas.openxmlformats.org/drawingml/2006/main"/>
        </p:blipFill>
        <p:spPr>
          <a:xfrm xmlns:a="http://schemas.openxmlformats.org/drawingml/2006/main">
            <a:off x="457200" y="228600"/>
            <a:ext cx="381000" cy="381000"/>
          </a:xfrm>
          <a:prstGeom xmlns:a="http://schemas.openxmlformats.org/drawingml/2006/main" prst="rect">
            <a:avLst/>
          </a:prstGeom>
        </p:spPr>
      </p:pic>
      <p:sp>
        <p:nvSpPr>
          <p:cNvPr id="2" name="page-number">
            <a:extLst xmlns:a="http://schemas.openxmlformats.org/drawingml/2006/main">
              <a:ext uri="{FF2B5EF4-FFF2-40B4-BE49-F238E27FC236}">
                <a16:creationId xmlns:a16="http://schemas.microsoft.com/office/drawing/2014/main" id="{CFFE15D4-9367-4933-BFCD-A903DC2EA25E}"/>
              </a:ext>
            </a:extLst>
          </p:cNvPr>
          <p:cNvSpPr>
            <a:spLocks xmlns:a="http://schemas.openxmlformats.org/drawingml/2006/main" noGrp="1"/>
          </p:cNvSpPr>
          <p:nvPr/>
        </p:nvSpPr>
        <p:spPr>
          <a:xfrm xmlns:a="http://schemas.openxmlformats.org/drawingml/2006/main">
            <a:off x="11277600" y="643890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050" b="1">
                <a:solidFill>
                  <a:srgbClr val="FFFFFF"/>
                </a:solidFill>
                <a:latin typeface="Mulish"/>
                <a:ea typeface="Mulish"/>
                <a:cs typeface="Mulish"/>
              </a:defRPr>
            </a:pPr>
            <a:r>
              <a:rPr sz="1050" b="1">
                <a:solidFill>
                  <a:srgbClr val="FFFFFF"/>
                </a:solidFill>
                <a:latin typeface="Mulish"/>
                <a:ea typeface="Mulish"/>
                <a:cs typeface="Mulish"/>
              </a:rPr>
              <a:t>01</a:t>
            </a:r>
          </a:p>
        </p:txBody>
      </p:sp>
      <p:sp>
        <p:nvSpPr>
          <p:cNvPr id="3" name="eyebrow">
            <a:extLst xmlns:a="http://schemas.openxmlformats.org/drawingml/2006/main">
              <a:ext uri="{FF2B5EF4-FFF2-40B4-BE49-F238E27FC236}">
                <a16:creationId xmlns:a16="http://schemas.microsoft.com/office/drawing/2014/main" id="{F076EC6F-2116-43BE-A085-B6E623163A8C}"/>
              </a:ext>
            </a:extLst>
          </p:cNvPr>
          <p:cNvSpPr>
            <a:spLocks xmlns:a="http://schemas.openxmlformats.org/drawingml/2006/main" noGrp="1"/>
          </p:cNvSpPr>
          <p:nvPr/>
        </p:nvSpPr>
        <p:spPr>
          <a:xfrm xmlns:a="http://schemas.openxmlformats.org/drawingml/2006/main">
            <a:off x="990600" y="266700"/>
            <a:ext cx="1009650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FFFFFF"/>
                </a:solidFill>
                <a:latin typeface="Mulish"/>
                <a:ea typeface="Mulish"/>
                <a:cs typeface="Mulish"/>
              </a:defRPr>
            </a:pPr>
            <a:r>
              <a:rPr sz="1650" b="1">
                <a:solidFill>
                  <a:srgbClr val="FFFFFF"/>
                </a:solidFill>
                <a:latin typeface="Mulish"/>
                <a:ea typeface="Mulish"/>
                <a:cs typeface="Mulish"/>
              </a:rPr>
              <a:t>DIGITAL DUBAI AUTHORITY</a:t>
            </a:r>
          </a:p>
        </p:txBody>
      </p:sp>
      <p:sp>
        <p:nvSpPr>
          <p:cNvPr id="4" name="title">
            <a:extLst xmlns:a="http://schemas.openxmlformats.org/drawingml/2006/main">
              <a:ext uri="{FF2B5EF4-FFF2-40B4-BE49-F238E27FC236}">
                <a16:creationId xmlns:a16="http://schemas.microsoft.com/office/drawing/2014/main" id="{58ABE486-EE04-41AC-A1D9-5323CAC9A1DE}"/>
              </a:ext>
            </a:extLst>
          </p:cNvPr>
          <p:cNvSpPr>
            <a:spLocks xmlns:a="http://schemas.openxmlformats.org/drawingml/2006/main" noGrp="1"/>
          </p:cNvSpPr>
          <p:nvPr/>
        </p:nvSpPr>
        <p:spPr>
          <a:xfrm xmlns:a="http://schemas.openxmlformats.org/drawingml/2006/main">
            <a:off x="457200" y="914400"/>
            <a:ext cx="1127760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450" b="1">
                <a:solidFill>
                  <a:srgbClr val="FFFFFF"/>
                </a:solidFill>
                <a:latin typeface="Spartan"/>
                <a:ea typeface="Spartan"/>
                <a:cs typeface="Spartan"/>
              </a:defRPr>
            </a:pPr>
            <a:r>
              <a:rPr sz="3450" b="1">
                <a:solidFill>
                  <a:srgbClr val="FFFFFF"/>
                </a:solidFill>
                <a:latin typeface="Spartan"/>
                <a:ea typeface="Spartan"/>
                <a:cs typeface="Spartan"/>
              </a:rPr>
              <a:t>One Dubai Government Platform.</a:t>
            </a:r>
          </a:p>
          <a:p xmlns:a="http://schemas.openxmlformats.org/drawingml/2006/main">
            <a:pPr algn="l">
              <a:defRPr sz="3450" b="1">
                <a:solidFill>
                  <a:srgbClr val="FFFFFF"/>
                </a:solidFill>
                <a:latin typeface="Spartan"/>
                <a:ea typeface="Spartan"/>
                <a:cs typeface="Spartan"/>
              </a:defRPr>
            </a:pPr>
            <a:r>
              <a:rPr sz="3450" b="1">
                <a:solidFill>
                  <a:srgbClr val="FFFFFF"/>
                </a:solidFill>
                <a:latin typeface="Spartan"/>
                <a:ea typeface="Spartan"/>
                <a:cs typeface="Spartan"/>
              </a:rPr>
              <a:t>One Central Commitment.</a:t>
            </a:r>
          </a:p>
        </p:txBody>
      </p:sp>
      <p:sp>
        <p:nvSpPr>
          <p:cNvPr id="5" name="descriptor">
            <a:extLst xmlns:a="http://schemas.openxmlformats.org/drawingml/2006/main">
              <a:ext uri="{FF2B5EF4-FFF2-40B4-BE49-F238E27FC236}">
                <a16:creationId xmlns:a16="http://schemas.microsoft.com/office/drawing/2014/main" id="{EDD4B572-4717-4A67-A000-FFCA808B482F}"/>
              </a:ext>
            </a:extLst>
          </p:cNvPr>
          <p:cNvSpPr>
            <a:spLocks xmlns:a="http://schemas.openxmlformats.org/drawingml/2006/main" noGrp="1"/>
          </p:cNvSpPr>
          <p:nvPr/>
        </p:nvSpPr>
        <p:spPr>
          <a:xfrm xmlns:a="http://schemas.openxmlformats.org/drawingml/2006/main">
            <a:off x="457200" y="2181225"/>
            <a:ext cx="11049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0">
                <a:solidFill>
                  <a:srgbClr val="FFFFFF"/>
                </a:solidFill>
                <a:latin typeface="Mulish"/>
                <a:ea typeface="Mulish"/>
                <a:cs typeface="Mulish"/>
              </a:defRPr>
            </a:pPr>
            <a:r>
              <a:rPr sz="1950" b="0">
                <a:solidFill>
                  <a:srgbClr val="FFFFFF"/>
                </a:solidFill>
                <a:latin typeface="Mulish"/>
                <a:ea typeface="Mulish"/>
                <a:cs typeface="Mulish"/>
              </a:rPr>
              <a:t>Proposed Circularo Enterprise framework for participating entities</a:t>
            </a:r>
          </a:p>
        </p:txBody>
      </p:sp>
      <p:sp>
        <p:nvSpPr>
          <p:cNvPr id="6" name="users">
            <a:extLst xmlns:a="http://schemas.openxmlformats.org/drawingml/2006/main">
              <a:ext uri="{FF2B5EF4-FFF2-40B4-BE49-F238E27FC236}">
                <a16:creationId xmlns:a16="http://schemas.microsoft.com/office/drawing/2014/main" id="{BFA79726-0CD3-4C71-A9D1-22F075C5959F}"/>
              </a:ext>
            </a:extLst>
          </p:cNvPr>
          <p:cNvSpPr>
            <a:spLocks xmlns:a="http://schemas.openxmlformats.org/drawingml/2006/main" noGrp="1"/>
          </p:cNvSpPr>
          <p:nvPr/>
        </p:nvSpPr>
        <p:spPr>
          <a:xfrm xmlns:a="http://schemas.openxmlformats.org/drawingml/2006/main">
            <a:off x="457200" y="3133725"/>
            <a:ext cx="3381375"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5400" b="1">
                <a:solidFill>
                  <a:srgbClr val="FFFFFF"/>
                </a:solidFill>
                <a:latin typeface="Spartan"/>
                <a:ea typeface="Spartan"/>
                <a:cs typeface="Spartan"/>
              </a:defRPr>
            </a:pPr>
            <a:r>
              <a:rPr sz="5400" b="1">
                <a:solidFill>
                  <a:srgbClr val="FFFFFF"/>
                </a:solidFill>
                <a:latin typeface="Spartan"/>
                <a:ea typeface="Spartan"/>
                <a:cs typeface="Spartan"/>
              </a:rPr>
              <a:t>10,000</a:t>
            </a:r>
          </a:p>
        </p:txBody>
      </p:sp>
      <p:sp>
        <p:nvSpPr>
          <p:cNvPr id="7" name="users-label">
            <a:extLst xmlns:a="http://schemas.openxmlformats.org/drawingml/2006/main">
              <a:ext uri="{FF2B5EF4-FFF2-40B4-BE49-F238E27FC236}">
                <a16:creationId xmlns:a16="http://schemas.microsoft.com/office/drawing/2014/main" id="{2CB6D2EC-97E1-4635-BF1F-518A8BE86EFB}"/>
              </a:ext>
            </a:extLst>
          </p:cNvPr>
          <p:cNvSpPr>
            <a:spLocks xmlns:a="http://schemas.openxmlformats.org/drawingml/2006/main" noGrp="1"/>
          </p:cNvSpPr>
          <p:nvPr/>
        </p:nvSpPr>
        <p:spPr>
          <a:xfrm xmlns:a="http://schemas.openxmlformats.org/drawingml/2006/main">
            <a:off x="457200" y="4076700"/>
            <a:ext cx="338137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0">
                <a:solidFill>
                  <a:srgbClr val="FFFFFF"/>
                </a:solidFill>
                <a:latin typeface="Mulish"/>
                <a:ea typeface="Mulish"/>
                <a:cs typeface="Mulish"/>
              </a:defRPr>
            </a:pPr>
            <a:r>
              <a:rPr sz="1875" b="0">
                <a:solidFill>
                  <a:srgbClr val="FFFFFF"/>
                </a:solidFill>
                <a:latin typeface="Mulish"/>
                <a:ea typeface="Mulish"/>
                <a:cs typeface="Mulish"/>
              </a:rPr>
              <a:t>initial Enterprise users</a:t>
            </a:r>
          </a:p>
        </p:txBody>
      </p:sp>
      <p:sp>
        <p:nvSpPr>
          <p:cNvPr id="8" name="rate">
            <a:extLst xmlns:a="http://schemas.openxmlformats.org/drawingml/2006/main">
              <a:ext uri="{FF2B5EF4-FFF2-40B4-BE49-F238E27FC236}">
                <a16:creationId xmlns:a16="http://schemas.microsoft.com/office/drawing/2014/main" id="{F4C5C72E-6FA2-4993-B525-1757E52422F7}"/>
              </a:ext>
            </a:extLst>
          </p:cNvPr>
          <p:cNvSpPr>
            <a:spLocks xmlns:a="http://schemas.openxmlformats.org/drawingml/2006/main" noGrp="1"/>
          </p:cNvSpPr>
          <p:nvPr/>
        </p:nvSpPr>
        <p:spPr>
          <a:xfrm xmlns:a="http://schemas.openxmlformats.org/drawingml/2006/main">
            <a:off x="4476750" y="3133725"/>
            <a:ext cx="3952875"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4800" b="1">
                <a:solidFill>
                  <a:srgbClr val="FFFFFF"/>
                </a:solidFill>
                <a:latin typeface="Spartan"/>
                <a:ea typeface="Spartan"/>
                <a:cs typeface="Spartan"/>
              </a:defRPr>
            </a:pPr>
            <a:r>
              <a:rPr sz="4800" b="1">
                <a:solidFill>
                  <a:srgbClr val="FFFFFF"/>
                </a:solidFill>
                <a:latin typeface="Spartan"/>
                <a:ea typeface="Spartan"/>
                <a:cs typeface="Spartan"/>
              </a:rPr>
              <a:t>AED 1,180</a:t>
            </a:r>
          </a:p>
        </p:txBody>
      </p:sp>
      <p:sp>
        <p:nvSpPr>
          <p:cNvPr id="9" name="rate-label">
            <a:extLst xmlns:a="http://schemas.openxmlformats.org/drawingml/2006/main">
              <a:ext uri="{FF2B5EF4-FFF2-40B4-BE49-F238E27FC236}">
                <a16:creationId xmlns:a16="http://schemas.microsoft.com/office/drawing/2014/main" id="{6E398AA9-1FF3-4C27-A49A-5ECC013957E8}"/>
              </a:ext>
            </a:extLst>
          </p:cNvPr>
          <p:cNvSpPr>
            <a:spLocks xmlns:a="http://schemas.openxmlformats.org/drawingml/2006/main" noGrp="1"/>
          </p:cNvSpPr>
          <p:nvPr/>
        </p:nvSpPr>
        <p:spPr>
          <a:xfrm xmlns:a="http://schemas.openxmlformats.org/drawingml/2006/main">
            <a:off x="4476750" y="4076700"/>
            <a:ext cx="395287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0">
                <a:solidFill>
                  <a:srgbClr val="FFFFFF"/>
                </a:solidFill>
                <a:latin typeface="Mulish"/>
                <a:ea typeface="Mulish"/>
                <a:cs typeface="Mulish"/>
              </a:defRPr>
            </a:pPr>
            <a:r>
              <a:rPr sz="1875" b="0">
                <a:solidFill>
                  <a:srgbClr val="FFFFFF"/>
                </a:solidFill>
                <a:latin typeface="Mulish"/>
                <a:ea typeface="Mulish"/>
                <a:cs typeface="Mulish"/>
              </a:rPr>
              <a:t>per user per year</a:t>
            </a:r>
          </a:p>
        </p:txBody>
      </p:sp>
      <p:sp>
        <p:nvSpPr>
          <p:cNvPr id="10" name="term">
            <a:extLst xmlns:a="http://schemas.openxmlformats.org/drawingml/2006/main">
              <a:ext uri="{FF2B5EF4-FFF2-40B4-BE49-F238E27FC236}">
                <a16:creationId xmlns:a16="http://schemas.microsoft.com/office/drawing/2014/main" id="{9A50F252-FF4A-4AB1-B1DA-7A5380BBDD7D}"/>
              </a:ext>
            </a:extLst>
          </p:cNvPr>
          <p:cNvSpPr>
            <a:spLocks xmlns:a="http://schemas.openxmlformats.org/drawingml/2006/main" noGrp="1"/>
          </p:cNvSpPr>
          <p:nvPr/>
        </p:nvSpPr>
        <p:spPr>
          <a:xfrm xmlns:a="http://schemas.openxmlformats.org/drawingml/2006/main">
            <a:off x="8743950" y="3133725"/>
            <a:ext cx="299085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4050" b="1">
                <a:solidFill>
                  <a:srgbClr val="FFFFFF"/>
                </a:solidFill>
                <a:latin typeface="Spartan"/>
                <a:ea typeface="Spartan"/>
                <a:cs typeface="Spartan"/>
              </a:defRPr>
            </a:pPr>
            <a:r>
              <a:rPr sz="4050" b="1">
                <a:solidFill>
                  <a:srgbClr val="FFFFFF"/>
                </a:solidFill>
                <a:latin typeface="Spartan"/>
                <a:ea typeface="Spartan"/>
                <a:cs typeface="Spartan"/>
              </a:rPr>
              <a:t>5 years</a:t>
            </a:r>
          </a:p>
        </p:txBody>
      </p:sp>
      <p:sp>
        <p:nvSpPr>
          <p:cNvPr id="11" name="term-label">
            <a:extLst xmlns:a="http://schemas.openxmlformats.org/drawingml/2006/main">
              <a:ext uri="{FF2B5EF4-FFF2-40B4-BE49-F238E27FC236}">
                <a16:creationId xmlns:a16="http://schemas.microsoft.com/office/drawing/2014/main" id="{02A9B58E-66E7-49C7-BC99-4CF4A2F36F10}"/>
              </a:ext>
            </a:extLst>
          </p:cNvPr>
          <p:cNvSpPr>
            <a:spLocks xmlns:a="http://schemas.openxmlformats.org/drawingml/2006/main" noGrp="1"/>
          </p:cNvSpPr>
          <p:nvPr/>
        </p:nvSpPr>
        <p:spPr>
          <a:xfrm xmlns:a="http://schemas.openxmlformats.org/drawingml/2006/main">
            <a:off x="8743950" y="4076700"/>
            <a:ext cx="29908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0">
                <a:solidFill>
                  <a:srgbClr val="FFFFFF"/>
                </a:solidFill>
                <a:latin typeface="Mulish"/>
                <a:ea typeface="Mulish"/>
                <a:cs typeface="Mulish"/>
              </a:defRPr>
            </a:pPr>
            <a:r>
              <a:rPr sz="1875" b="0">
                <a:solidFill>
                  <a:srgbClr val="FFFFFF"/>
                </a:solidFill>
                <a:latin typeface="Mulish"/>
                <a:ea typeface="Mulish"/>
                <a:cs typeface="Mulish"/>
              </a:rPr>
              <a:t>locked unit price</a:t>
            </a:r>
          </a:p>
          <a:p xmlns:a="http://schemas.openxmlformats.org/drawingml/2006/main">
            <a:pPr algn="l">
              <a:defRPr sz="1875" b="0">
                <a:solidFill>
                  <a:srgbClr val="FFFFFF"/>
                </a:solidFill>
                <a:latin typeface="Mulish"/>
                <a:ea typeface="Mulish"/>
                <a:cs typeface="Mulish"/>
              </a:defRPr>
            </a:pPr>
            <a:r>
              <a:rPr sz="1875" b="0">
                <a:solidFill>
                  <a:srgbClr val="FFFFFF"/>
                </a:solidFill>
                <a:latin typeface="Mulish"/>
                <a:ea typeface="Mulish"/>
                <a:cs typeface="Mulish"/>
              </a:rPr>
              <a:t>annual billing</a:t>
            </a:r>
          </a:p>
        </p:txBody>
      </p:sp>
      <p:sp>
        <p:nvSpPr>
          <p:cNvPr id="12" name="benefit">
            <a:extLst xmlns:a="http://schemas.openxmlformats.org/drawingml/2006/main">
              <a:ext uri="{FF2B5EF4-FFF2-40B4-BE49-F238E27FC236}">
                <a16:creationId xmlns:a16="http://schemas.microsoft.com/office/drawing/2014/main" id="{73E83A76-6717-43F2-AB16-15C36F553A27}"/>
              </a:ext>
            </a:extLst>
          </p:cNvPr>
          <p:cNvSpPr>
            <a:spLocks xmlns:a="http://schemas.openxmlformats.org/drawingml/2006/main" noGrp="1"/>
          </p:cNvSpPr>
          <p:nvPr/>
        </p:nvSpPr>
        <p:spPr>
          <a:xfrm xmlns:a="http://schemas.openxmlformats.org/drawingml/2006/main">
            <a:off x="457200" y="5191125"/>
            <a:ext cx="11049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325" b="1">
                <a:solidFill>
                  <a:srgbClr val="FFFFFF"/>
                </a:solidFill>
                <a:latin typeface="Mulish"/>
                <a:ea typeface="Mulish"/>
                <a:cs typeface="Mulish"/>
              </a:defRPr>
            </a:pPr>
            <a:r>
              <a:rPr sz="2325" b="1">
                <a:solidFill>
                  <a:srgbClr val="FFFFFF"/>
                </a:solidFill>
                <a:latin typeface="Mulish"/>
                <a:ea typeface="Mulish"/>
                <a:cs typeface="Mulish"/>
              </a:rPr>
              <a:t>42.64% below the average existing project unit price</a:t>
            </a:r>
          </a:p>
        </p:txBody>
      </p:sp>
      <p:sp>
        <p:nvSpPr>
          <p:cNvPr id="13" name="qualification">
            <a:extLst xmlns:a="http://schemas.openxmlformats.org/drawingml/2006/main">
              <a:ext uri="{FF2B5EF4-FFF2-40B4-BE49-F238E27FC236}">
                <a16:creationId xmlns:a16="http://schemas.microsoft.com/office/drawing/2014/main" id="{D79D1737-B0B4-4F39-AFD1-46F8CDFA33F4}"/>
              </a:ext>
            </a:extLst>
          </p:cNvPr>
          <p:cNvSpPr>
            <a:spLocks xmlns:a="http://schemas.openxmlformats.org/drawingml/2006/main" noGrp="1"/>
          </p:cNvSpPr>
          <p:nvPr/>
        </p:nvSpPr>
        <p:spPr>
          <a:xfrm xmlns:a="http://schemas.openxmlformats.org/drawingml/2006/main">
            <a:off x="457200" y="5924550"/>
            <a:ext cx="112776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FFFFFF"/>
                </a:solidFill>
                <a:latin typeface="Mulish"/>
                <a:ea typeface="Mulish"/>
                <a:cs typeface="Mulish"/>
              </a:defRPr>
            </a:pPr>
            <a:r>
              <a:rPr sz="1650" b="0">
                <a:solidFill>
                  <a:srgbClr val="FFFFFF"/>
                </a:solidFill>
                <a:latin typeface="Mulish"/>
                <a:ea typeface="Mulish"/>
                <a:cs typeface="Mulish"/>
              </a:rPr>
              <a:t>Simple average of 7 project prices: AED 2,057.19. Subscription only; support separate.</a:t>
            </a:r>
          </a:p>
          <a:p xmlns:a="http://schemas.openxmlformats.org/drawingml/2006/main">
            <a:pPr algn="l">
              <a:defRPr sz="1650" b="0">
                <a:solidFill>
                  <a:srgbClr val="FFFFFF"/>
                </a:solidFill>
                <a:latin typeface="Mulish"/>
                <a:ea typeface="Mulish"/>
                <a:cs typeface="Mulish"/>
              </a:defRPr>
            </a:pPr>
            <a:r>
              <a:rPr sz="1650" b="0">
                <a:solidFill>
                  <a:srgbClr val="FFFFFF"/>
                </a:solidFill>
                <a:latin typeface="Mulish"/>
                <a:ea typeface="Mulish"/>
                <a:cs typeface="Mulish"/>
              </a:rPr>
              <a:t>List-price reference: 60% below AED 2,950.</a:t>
            </a:r>
          </a:p>
        </p:txBody>
      </p:sp>
    </p:spTree>
    <p:extLst>
      <p:ext uri="{BB962C8B-B14F-4D97-AF65-F5344CB8AC3E}">
        <p14:creationId xmlns:p14="http://schemas.microsoft.com/office/powerpoint/2010/main" val="1069571945"/>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61bfca5e357f4fe7"/>
          <a:stretch xmlns:a="http://schemas.openxmlformats.org/drawingml/2006/main"/>
        </p:blipFill>
        <p:spPr>
          <a:xfrm xmlns:a="http://schemas.openxmlformats.org/drawingml/2006/main">
            <a:off x="457200" y="228600"/>
            <a:ext cx="381000" cy="381000"/>
          </a:xfrm>
          <a:prstGeom xmlns:a="http://schemas.openxmlformats.org/drawingml/2006/main" prst="rect">
            <a:avLst/>
          </a:prstGeom>
        </p:spPr>
      </p:pic>
      <p:sp>
        <p:nvSpPr>
          <p:cNvPr id="2" name="page-number">
            <a:extLst xmlns:a="http://schemas.openxmlformats.org/drawingml/2006/main">
              <a:ext uri="{FF2B5EF4-FFF2-40B4-BE49-F238E27FC236}">
                <a16:creationId xmlns:a16="http://schemas.microsoft.com/office/drawing/2014/main" id="{20B02282-3F0C-467A-A2B7-10C3F2B110FE}"/>
              </a:ext>
            </a:extLst>
          </p:cNvPr>
          <p:cNvSpPr>
            <a:spLocks xmlns:a="http://schemas.openxmlformats.org/drawingml/2006/main" noGrp="1"/>
          </p:cNvSpPr>
          <p:nvPr/>
        </p:nvSpPr>
        <p:spPr>
          <a:xfrm xmlns:a="http://schemas.openxmlformats.org/drawingml/2006/main">
            <a:off x="11277600" y="643890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050" b="1">
                <a:solidFill>
                  <a:srgbClr val="1D0090"/>
                </a:solidFill>
                <a:latin typeface="Mulish"/>
                <a:ea typeface="Mulish"/>
                <a:cs typeface="Mulish"/>
              </a:defRPr>
            </a:pPr>
            <a:r>
              <a:rPr sz="1050" b="1">
                <a:solidFill>
                  <a:srgbClr val="1D0090"/>
                </a:solidFill>
                <a:latin typeface="Mulish"/>
                <a:ea typeface="Mulish"/>
                <a:cs typeface="Mulish"/>
              </a:rPr>
              <a:t>02</a:t>
            </a:r>
          </a:p>
        </p:txBody>
      </p:sp>
      <p:sp>
        <p:nvSpPr>
          <p:cNvPr id="3" name="eyebrow">
            <a:extLst xmlns:a="http://schemas.openxmlformats.org/drawingml/2006/main">
              <a:ext uri="{FF2B5EF4-FFF2-40B4-BE49-F238E27FC236}">
                <a16:creationId xmlns:a16="http://schemas.microsoft.com/office/drawing/2014/main" id="{D1DF7A32-6545-418A-8E89-A08E930E4911}"/>
              </a:ext>
            </a:extLst>
          </p:cNvPr>
          <p:cNvSpPr>
            <a:spLocks xmlns:a="http://schemas.openxmlformats.org/drawingml/2006/main" noGrp="1"/>
          </p:cNvSpPr>
          <p:nvPr/>
        </p:nvSpPr>
        <p:spPr>
          <a:xfrm xmlns:a="http://schemas.openxmlformats.org/drawingml/2006/main">
            <a:off x="990600" y="266700"/>
            <a:ext cx="1009650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7000FF"/>
                </a:solidFill>
                <a:latin typeface="Mulish"/>
                <a:ea typeface="Mulish"/>
                <a:cs typeface="Mulish"/>
              </a:defRPr>
            </a:pPr>
            <a:r>
              <a:rPr sz="1650" b="1">
                <a:solidFill>
                  <a:srgbClr val="7000FF"/>
                </a:solidFill>
                <a:latin typeface="Mulish"/>
                <a:ea typeface="Mulish"/>
                <a:cs typeface="Mulish"/>
              </a:rPr>
              <a:t>DIGITAL DUBAI AUTHORITY</a:t>
            </a:r>
          </a:p>
        </p:txBody>
      </p:sp>
      <p:sp>
        <p:nvSpPr>
          <p:cNvPr id="4" name="title">
            <a:extLst xmlns:a="http://schemas.openxmlformats.org/drawingml/2006/main">
              <a:ext uri="{FF2B5EF4-FFF2-40B4-BE49-F238E27FC236}">
                <a16:creationId xmlns:a16="http://schemas.microsoft.com/office/drawing/2014/main" id="{0E4691CB-6863-4FF6-AFC5-61CAC8B6E797}"/>
              </a:ext>
            </a:extLst>
          </p:cNvPr>
          <p:cNvSpPr>
            <a:spLocks xmlns:a="http://schemas.openxmlformats.org/drawingml/2006/main" noGrp="1"/>
          </p:cNvSpPr>
          <p:nvPr/>
        </p:nvSpPr>
        <p:spPr>
          <a:xfrm xmlns:a="http://schemas.openxmlformats.org/drawingml/2006/main">
            <a:off x="457200" y="914400"/>
            <a:ext cx="1127760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450" b="1">
                <a:solidFill>
                  <a:srgbClr val="1D0090"/>
                </a:solidFill>
                <a:latin typeface="Spartan"/>
                <a:ea typeface="Spartan"/>
                <a:cs typeface="Spartan"/>
              </a:defRPr>
            </a:pPr>
            <a:r>
              <a:rPr sz="3450" b="1">
                <a:solidFill>
                  <a:srgbClr val="1D0090"/>
                </a:solidFill>
                <a:latin typeface="Spartan"/>
                <a:ea typeface="Spartan"/>
                <a:cs typeface="Spartan"/>
              </a:rPr>
              <a:t>A Credible Path to 10,000 Users</a:t>
            </a:r>
          </a:p>
        </p:txBody>
      </p:sp>
      <p:sp>
        <p:nvSpPr>
          <p:cNvPr id="5" name="lead">
            <a:extLst xmlns:a="http://schemas.openxmlformats.org/drawingml/2006/main">
              <a:ext uri="{FF2B5EF4-FFF2-40B4-BE49-F238E27FC236}">
                <a16:creationId xmlns:a16="http://schemas.microsoft.com/office/drawing/2014/main" id="{913E953D-48B6-418B-A8B5-DC7124FE6C8B}"/>
              </a:ext>
            </a:extLst>
          </p:cNvPr>
          <p:cNvSpPr>
            <a:spLocks xmlns:a="http://schemas.openxmlformats.org/drawingml/2006/main" noGrp="1"/>
          </p:cNvSpPr>
          <p:nvPr/>
        </p:nvSpPr>
        <p:spPr>
          <a:xfrm xmlns:a="http://schemas.openxmlformats.org/drawingml/2006/main">
            <a:off x="457200" y="2133600"/>
            <a:ext cx="11049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0">
                <a:solidFill>
                  <a:srgbClr val="3D3D3D"/>
                </a:solidFill>
                <a:latin typeface="Mulish"/>
                <a:ea typeface="Mulish"/>
                <a:cs typeface="Mulish"/>
              </a:defRPr>
            </a:pPr>
            <a:r>
              <a:rPr sz="1950" b="0">
                <a:solidFill>
                  <a:srgbClr val="3D3D3D"/>
                </a:solidFill>
                <a:latin typeface="Mulish"/>
                <a:ea typeface="Mulish"/>
                <a:cs typeface="Mulish"/>
              </a:rPr>
              <a:t>Year 1 allocation combines existing adoption with survey opportunity</a:t>
            </a:r>
          </a:p>
        </p:txBody>
      </p:sp>
      <p:sp>
        <p:nvSpPr>
          <p:cNvPr id="6" name="bridge-number-0">
            <a:extLst xmlns:a="http://schemas.openxmlformats.org/drawingml/2006/main">
              <a:ext uri="{FF2B5EF4-FFF2-40B4-BE49-F238E27FC236}">
                <a16:creationId xmlns:a16="http://schemas.microsoft.com/office/drawing/2014/main" id="{21040D9F-1171-409D-BC96-D853D10C8238}"/>
              </a:ext>
            </a:extLst>
          </p:cNvPr>
          <p:cNvSpPr>
            <a:spLocks xmlns:a="http://schemas.openxmlformats.org/drawingml/2006/main" noGrp="1"/>
          </p:cNvSpPr>
          <p:nvPr/>
        </p:nvSpPr>
        <p:spPr>
          <a:xfrm xmlns:a="http://schemas.openxmlformats.org/drawingml/2006/main">
            <a:off x="457200" y="3038475"/>
            <a:ext cx="21336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225" b="1">
                <a:solidFill>
                  <a:srgbClr val="7000FF"/>
                </a:solidFill>
                <a:latin typeface="Spartan"/>
                <a:ea typeface="Spartan"/>
                <a:cs typeface="Spartan"/>
              </a:defRPr>
            </a:pPr>
            <a:r>
              <a:rPr sz="3225" b="1">
                <a:solidFill>
                  <a:srgbClr val="7000FF"/>
                </a:solidFill>
                <a:latin typeface="Spartan"/>
                <a:ea typeface="Spartan"/>
                <a:cs typeface="Spartan"/>
              </a:rPr>
              <a:t>1,310</a:t>
            </a:r>
          </a:p>
        </p:txBody>
      </p:sp>
      <p:sp>
        <p:nvSpPr>
          <p:cNvPr id="7" name="bridge-label-0">
            <a:extLst xmlns:a="http://schemas.openxmlformats.org/drawingml/2006/main">
              <a:ext uri="{FF2B5EF4-FFF2-40B4-BE49-F238E27FC236}">
                <a16:creationId xmlns:a16="http://schemas.microsoft.com/office/drawing/2014/main" id="{0ADE4581-8EF0-45D1-9D76-7E1BE8FD607D}"/>
              </a:ext>
            </a:extLst>
          </p:cNvPr>
          <p:cNvSpPr>
            <a:spLocks xmlns:a="http://schemas.openxmlformats.org/drawingml/2006/main" noGrp="1"/>
          </p:cNvSpPr>
          <p:nvPr/>
        </p:nvSpPr>
        <p:spPr>
          <a:xfrm xmlns:a="http://schemas.openxmlformats.org/drawingml/2006/main">
            <a:off x="457200" y="3800475"/>
            <a:ext cx="21336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1">
                <a:solidFill>
                  <a:srgbClr val="1D0090"/>
                </a:solidFill>
                <a:latin typeface="Mulish"/>
                <a:ea typeface="Mulish"/>
                <a:cs typeface="Mulish"/>
              </a:defRPr>
            </a:pPr>
            <a:r>
              <a:rPr sz="1875" b="1">
                <a:solidFill>
                  <a:srgbClr val="1D0090"/>
                </a:solidFill>
                <a:latin typeface="Mulish"/>
                <a:ea typeface="Mulish"/>
                <a:cs typeface="Mulish"/>
              </a:rPr>
              <a:t>Existing users</a:t>
            </a:r>
          </a:p>
        </p:txBody>
      </p:sp>
      <p:sp>
        <p:nvSpPr>
          <p:cNvPr id="8" name="bridge-detail-0">
            <a:extLst xmlns:a="http://schemas.openxmlformats.org/drawingml/2006/main">
              <a:ext uri="{FF2B5EF4-FFF2-40B4-BE49-F238E27FC236}">
                <a16:creationId xmlns:a16="http://schemas.microsoft.com/office/drawing/2014/main" id="{86F86B59-B761-49A2-9049-C0BA251699DB}"/>
              </a:ext>
            </a:extLst>
          </p:cNvPr>
          <p:cNvSpPr>
            <a:spLocks xmlns:a="http://schemas.openxmlformats.org/drawingml/2006/main" noGrp="1"/>
          </p:cNvSpPr>
          <p:nvPr/>
        </p:nvSpPr>
        <p:spPr>
          <a:xfrm xmlns:a="http://schemas.openxmlformats.org/drawingml/2006/main">
            <a:off x="457200" y="4257675"/>
            <a:ext cx="204787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3D3D3D"/>
                </a:solidFill>
                <a:latin typeface="Mulish"/>
                <a:ea typeface="Mulish"/>
                <a:cs typeface="Mulish"/>
              </a:defRPr>
            </a:pPr>
            <a:r>
              <a:rPr sz="1650" b="0">
                <a:solidFill>
                  <a:srgbClr val="3D3D3D"/>
                </a:solidFill>
                <a:latin typeface="Mulish"/>
                <a:ea typeface="Mulish"/>
                <a:cs typeface="Mulish"/>
              </a:rPr>
              <a:t>Supplied customer base</a:t>
            </a:r>
          </a:p>
        </p:txBody>
      </p:sp>
      <p:sp>
        <p:nvSpPr>
          <p:cNvPr id="9" name="bridge-number-1">
            <a:extLst xmlns:a="http://schemas.openxmlformats.org/drawingml/2006/main">
              <a:ext uri="{FF2B5EF4-FFF2-40B4-BE49-F238E27FC236}">
                <a16:creationId xmlns:a16="http://schemas.microsoft.com/office/drawing/2014/main" id="{195553AD-B410-4817-9E55-1DAF59936E5A}"/>
              </a:ext>
            </a:extLst>
          </p:cNvPr>
          <p:cNvSpPr>
            <a:spLocks xmlns:a="http://schemas.openxmlformats.org/drawingml/2006/main" noGrp="1"/>
          </p:cNvSpPr>
          <p:nvPr/>
        </p:nvSpPr>
        <p:spPr>
          <a:xfrm xmlns:a="http://schemas.openxmlformats.org/drawingml/2006/main">
            <a:off x="2743200" y="3038475"/>
            <a:ext cx="21336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225" b="1">
                <a:solidFill>
                  <a:srgbClr val="7000FF"/>
                </a:solidFill>
                <a:latin typeface="Spartan"/>
                <a:ea typeface="Spartan"/>
                <a:cs typeface="Spartan"/>
              </a:defRPr>
            </a:pPr>
            <a:r>
              <a:rPr sz="3225" b="1">
                <a:solidFill>
                  <a:srgbClr val="7000FF"/>
                </a:solidFill>
                <a:latin typeface="Spartan"/>
                <a:ea typeface="Spartan"/>
                <a:cs typeface="Spartan"/>
              </a:rPr>
              <a:t>+655</a:t>
            </a:r>
          </a:p>
        </p:txBody>
      </p:sp>
      <p:sp>
        <p:nvSpPr>
          <p:cNvPr id="10" name="bridge-label-1">
            <a:extLst xmlns:a="http://schemas.openxmlformats.org/drawingml/2006/main">
              <a:ext uri="{FF2B5EF4-FFF2-40B4-BE49-F238E27FC236}">
                <a16:creationId xmlns:a16="http://schemas.microsoft.com/office/drawing/2014/main" id="{16DFBD8C-3384-4857-A32C-F38C7231AEC7}"/>
              </a:ext>
            </a:extLst>
          </p:cNvPr>
          <p:cNvSpPr>
            <a:spLocks xmlns:a="http://schemas.openxmlformats.org/drawingml/2006/main" noGrp="1"/>
          </p:cNvSpPr>
          <p:nvPr/>
        </p:nvSpPr>
        <p:spPr>
          <a:xfrm xmlns:a="http://schemas.openxmlformats.org/drawingml/2006/main">
            <a:off x="2743200" y="3800475"/>
            <a:ext cx="21336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1">
                <a:solidFill>
                  <a:srgbClr val="1D0090"/>
                </a:solidFill>
                <a:latin typeface="Mulish"/>
                <a:ea typeface="Mulish"/>
                <a:cs typeface="Mulish"/>
              </a:defRPr>
            </a:pPr>
            <a:r>
              <a:rPr sz="1875" b="1">
                <a:solidFill>
                  <a:srgbClr val="1D0090"/>
                </a:solidFill>
                <a:latin typeface="Mulish"/>
                <a:ea typeface="Mulish"/>
                <a:cs typeface="Mulish"/>
              </a:rPr>
              <a:t>Existing growth</a:t>
            </a:r>
          </a:p>
        </p:txBody>
      </p:sp>
      <p:sp>
        <p:nvSpPr>
          <p:cNvPr id="11" name="bridge-detail-1">
            <a:extLst xmlns:a="http://schemas.openxmlformats.org/drawingml/2006/main">
              <a:ext uri="{FF2B5EF4-FFF2-40B4-BE49-F238E27FC236}">
                <a16:creationId xmlns:a16="http://schemas.microsoft.com/office/drawing/2014/main" id="{53A5B5D2-A593-4FB4-AD89-1544288BD30C}"/>
              </a:ext>
            </a:extLst>
          </p:cNvPr>
          <p:cNvSpPr>
            <a:spLocks xmlns:a="http://schemas.openxmlformats.org/drawingml/2006/main" noGrp="1"/>
          </p:cNvSpPr>
          <p:nvPr/>
        </p:nvSpPr>
        <p:spPr>
          <a:xfrm xmlns:a="http://schemas.openxmlformats.org/drawingml/2006/main">
            <a:off x="2743200" y="4257675"/>
            <a:ext cx="204787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3D3D3D"/>
                </a:solidFill>
                <a:latin typeface="Mulish"/>
                <a:ea typeface="Mulish"/>
                <a:cs typeface="Mulish"/>
              </a:defRPr>
            </a:pPr>
            <a:r>
              <a:rPr sz="1650" b="0">
                <a:solidFill>
                  <a:srgbClr val="3D3D3D"/>
                </a:solidFill>
                <a:latin typeface="Mulish"/>
                <a:ea typeface="Mulish"/>
                <a:cs typeface="Mulish"/>
              </a:rPr>
              <a:t>50% Year 1 growth</a:t>
            </a:r>
          </a:p>
        </p:txBody>
      </p:sp>
      <p:sp>
        <p:nvSpPr>
          <p:cNvPr id="12" name="bridge-number-2">
            <a:extLst xmlns:a="http://schemas.openxmlformats.org/drawingml/2006/main">
              <a:ext uri="{FF2B5EF4-FFF2-40B4-BE49-F238E27FC236}">
                <a16:creationId xmlns:a16="http://schemas.microsoft.com/office/drawing/2014/main" id="{3B144595-BF0F-4EED-831A-613130B2F08F}"/>
              </a:ext>
            </a:extLst>
          </p:cNvPr>
          <p:cNvSpPr>
            <a:spLocks xmlns:a="http://schemas.openxmlformats.org/drawingml/2006/main" noGrp="1"/>
          </p:cNvSpPr>
          <p:nvPr/>
        </p:nvSpPr>
        <p:spPr>
          <a:xfrm xmlns:a="http://schemas.openxmlformats.org/drawingml/2006/main">
            <a:off x="5029200" y="3038475"/>
            <a:ext cx="21336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225" b="1">
                <a:solidFill>
                  <a:srgbClr val="7000FF"/>
                </a:solidFill>
                <a:latin typeface="Spartan"/>
                <a:ea typeface="Spartan"/>
                <a:cs typeface="Spartan"/>
              </a:defRPr>
            </a:pPr>
            <a:r>
              <a:rPr sz="3225" b="1">
                <a:solidFill>
                  <a:srgbClr val="7000FF"/>
                </a:solidFill>
                <a:latin typeface="Spartan"/>
                <a:ea typeface="Spartan"/>
                <a:cs typeface="Spartan"/>
              </a:rPr>
              <a:t>+4,921</a:t>
            </a:r>
          </a:p>
        </p:txBody>
      </p:sp>
      <p:sp>
        <p:nvSpPr>
          <p:cNvPr id="13" name="bridge-label-2">
            <a:extLst xmlns:a="http://schemas.openxmlformats.org/drawingml/2006/main">
              <a:ext uri="{FF2B5EF4-FFF2-40B4-BE49-F238E27FC236}">
                <a16:creationId xmlns:a16="http://schemas.microsoft.com/office/drawing/2014/main" id="{F9867E89-535D-4869-A53B-B4B923BF4AF3}"/>
              </a:ext>
            </a:extLst>
          </p:cNvPr>
          <p:cNvSpPr>
            <a:spLocks xmlns:a="http://schemas.openxmlformats.org/drawingml/2006/main" noGrp="1"/>
          </p:cNvSpPr>
          <p:nvPr/>
        </p:nvSpPr>
        <p:spPr>
          <a:xfrm xmlns:a="http://schemas.openxmlformats.org/drawingml/2006/main">
            <a:off x="5029200" y="3800475"/>
            <a:ext cx="21336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1">
                <a:solidFill>
                  <a:srgbClr val="1D0090"/>
                </a:solidFill>
                <a:latin typeface="Mulish"/>
                <a:ea typeface="Mulish"/>
                <a:cs typeface="Mulish"/>
              </a:defRPr>
            </a:pPr>
            <a:r>
              <a:rPr sz="1875" b="1">
                <a:solidFill>
                  <a:srgbClr val="1D0090"/>
                </a:solidFill>
                <a:latin typeface="Mulish"/>
                <a:ea typeface="Mulish"/>
                <a:cs typeface="Mulish"/>
              </a:rPr>
              <a:t>Survey minimum</a:t>
            </a:r>
          </a:p>
        </p:txBody>
      </p:sp>
      <p:sp>
        <p:nvSpPr>
          <p:cNvPr id="14" name="bridge-detail-2">
            <a:extLst xmlns:a="http://schemas.openxmlformats.org/drawingml/2006/main">
              <a:ext uri="{FF2B5EF4-FFF2-40B4-BE49-F238E27FC236}">
                <a16:creationId xmlns:a16="http://schemas.microsoft.com/office/drawing/2014/main" id="{20FD6FBB-65C3-4727-8D66-333C26FDEB32}"/>
              </a:ext>
            </a:extLst>
          </p:cNvPr>
          <p:cNvSpPr>
            <a:spLocks xmlns:a="http://schemas.openxmlformats.org/drawingml/2006/main" noGrp="1"/>
          </p:cNvSpPr>
          <p:nvPr/>
        </p:nvSpPr>
        <p:spPr>
          <a:xfrm xmlns:a="http://schemas.openxmlformats.org/drawingml/2006/main">
            <a:off x="5029200" y="4257675"/>
            <a:ext cx="204787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3D3D3D"/>
                </a:solidFill>
                <a:latin typeface="Mulish"/>
                <a:ea typeface="Mulish"/>
                <a:cs typeface="Mulish"/>
              </a:defRPr>
            </a:pPr>
            <a:r>
              <a:rPr sz="1650" b="0">
                <a:solidFill>
                  <a:srgbClr val="3D3D3D"/>
                </a:solidFill>
                <a:latin typeface="Mulish"/>
                <a:ea typeface="Mulish"/>
                <a:cs typeface="Mulish"/>
              </a:rPr>
              <a:t>Current / expected users</a:t>
            </a:r>
          </a:p>
        </p:txBody>
      </p:sp>
      <p:sp>
        <p:nvSpPr>
          <p:cNvPr id="15" name="bridge-number-3">
            <a:extLst xmlns:a="http://schemas.openxmlformats.org/drawingml/2006/main">
              <a:ext uri="{FF2B5EF4-FFF2-40B4-BE49-F238E27FC236}">
                <a16:creationId xmlns:a16="http://schemas.microsoft.com/office/drawing/2014/main" id="{565C0A17-184B-4E0A-8CA5-0DF802A6A6F5}"/>
              </a:ext>
            </a:extLst>
          </p:cNvPr>
          <p:cNvSpPr>
            <a:spLocks xmlns:a="http://schemas.openxmlformats.org/drawingml/2006/main" noGrp="1"/>
          </p:cNvSpPr>
          <p:nvPr/>
        </p:nvSpPr>
        <p:spPr>
          <a:xfrm xmlns:a="http://schemas.openxmlformats.org/drawingml/2006/main">
            <a:off x="7315200" y="3038475"/>
            <a:ext cx="21336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225" b="1">
                <a:solidFill>
                  <a:srgbClr val="667085"/>
                </a:solidFill>
                <a:latin typeface="Spartan"/>
                <a:ea typeface="Spartan"/>
                <a:cs typeface="Spartan"/>
              </a:defRPr>
            </a:pPr>
            <a:r>
              <a:rPr sz="3225" b="1">
                <a:solidFill>
                  <a:srgbClr val="667085"/>
                </a:solidFill>
                <a:latin typeface="Spartan"/>
                <a:ea typeface="Spartan"/>
                <a:cs typeface="Spartan"/>
              </a:rPr>
              <a:t>+3,114</a:t>
            </a:r>
          </a:p>
        </p:txBody>
      </p:sp>
      <p:sp>
        <p:nvSpPr>
          <p:cNvPr id="16" name="bridge-label-3">
            <a:extLst xmlns:a="http://schemas.openxmlformats.org/drawingml/2006/main">
              <a:ext uri="{FF2B5EF4-FFF2-40B4-BE49-F238E27FC236}">
                <a16:creationId xmlns:a16="http://schemas.microsoft.com/office/drawing/2014/main" id="{C1C259FB-1C23-41F3-9B50-E928C0DF9844}"/>
              </a:ext>
            </a:extLst>
          </p:cNvPr>
          <p:cNvSpPr>
            <a:spLocks xmlns:a="http://schemas.openxmlformats.org/drawingml/2006/main" noGrp="1"/>
          </p:cNvSpPr>
          <p:nvPr/>
        </p:nvSpPr>
        <p:spPr>
          <a:xfrm xmlns:a="http://schemas.openxmlformats.org/drawingml/2006/main">
            <a:off x="7315200" y="3800475"/>
            <a:ext cx="21336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1">
                <a:solidFill>
                  <a:srgbClr val="1D0090"/>
                </a:solidFill>
                <a:latin typeface="Mulish"/>
                <a:ea typeface="Mulish"/>
                <a:cs typeface="Mulish"/>
              </a:defRPr>
            </a:pPr>
            <a:r>
              <a:rPr sz="1875" b="1">
                <a:solidFill>
                  <a:srgbClr val="1D0090"/>
                </a:solidFill>
                <a:latin typeface="Mulish"/>
                <a:ea typeface="Mulish"/>
                <a:cs typeface="Mulish"/>
              </a:rPr>
              <a:t>Other entities</a:t>
            </a:r>
          </a:p>
        </p:txBody>
      </p:sp>
      <p:sp>
        <p:nvSpPr>
          <p:cNvPr id="17" name="bridge-detail-3">
            <a:extLst xmlns:a="http://schemas.openxmlformats.org/drawingml/2006/main">
              <a:ext uri="{FF2B5EF4-FFF2-40B4-BE49-F238E27FC236}">
                <a16:creationId xmlns:a16="http://schemas.microsoft.com/office/drawing/2014/main" id="{DFECF2CA-B85F-49C4-A261-1A4A3182BCF9}"/>
              </a:ext>
            </a:extLst>
          </p:cNvPr>
          <p:cNvSpPr>
            <a:spLocks xmlns:a="http://schemas.openxmlformats.org/drawingml/2006/main" noGrp="1"/>
          </p:cNvSpPr>
          <p:nvPr/>
        </p:nvSpPr>
        <p:spPr>
          <a:xfrm xmlns:a="http://schemas.openxmlformats.org/drawingml/2006/main">
            <a:off x="7315200" y="4257675"/>
            <a:ext cx="204787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3D3D3D"/>
                </a:solidFill>
                <a:latin typeface="Mulish"/>
                <a:ea typeface="Mulish"/>
                <a:cs typeface="Mulish"/>
              </a:defRPr>
            </a:pPr>
            <a:r>
              <a:rPr sz="1650" b="0">
                <a:solidFill>
                  <a:srgbClr val="3D3D3D"/>
                </a:solidFill>
                <a:latin typeface="Mulish"/>
                <a:ea typeface="Mulish"/>
                <a:cs typeface="Mulish"/>
              </a:rPr>
              <a:t>Additional adoption target</a:t>
            </a:r>
          </a:p>
        </p:txBody>
      </p:sp>
      <p:sp>
        <p:nvSpPr>
          <p:cNvPr id="18" name="bridge-number-4">
            <a:extLst xmlns:a="http://schemas.openxmlformats.org/drawingml/2006/main">
              <a:ext uri="{FF2B5EF4-FFF2-40B4-BE49-F238E27FC236}">
                <a16:creationId xmlns:a16="http://schemas.microsoft.com/office/drawing/2014/main" id="{1E7D60E5-BA77-4D7A-BBAC-0364C93F08C9}"/>
              </a:ext>
            </a:extLst>
          </p:cNvPr>
          <p:cNvSpPr>
            <a:spLocks xmlns:a="http://schemas.openxmlformats.org/drawingml/2006/main" noGrp="1"/>
          </p:cNvSpPr>
          <p:nvPr/>
        </p:nvSpPr>
        <p:spPr>
          <a:xfrm xmlns:a="http://schemas.openxmlformats.org/drawingml/2006/main">
            <a:off x="9601200" y="3038475"/>
            <a:ext cx="21336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225" b="1">
                <a:solidFill>
                  <a:srgbClr val="7000FF"/>
                </a:solidFill>
                <a:latin typeface="Spartan"/>
                <a:ea typeface="Spartan"/>
                <a:cs typeface="Spartan"/>
              </a:defRPr>
            </a:pPr>
            <a:r>
              <a:rPr sz="3225" b="1">
                <a:solidFill>
                  <a:srgbClr val="7000FF"/>
                </a:solidFill>
                <a:latin typeface="Spartan"/>
                <a:ea typeface="Spartan"/>
                <a:cs typeface="Spartan"/>
              </a:rPr>
              <a:t>10,000</a:t>
            </a:r>
          </a:p>
        </p:txBody>
      </p:sp>
      <p:sp>
        <p:nvSpPr>
          <p:cNvPr id="19" name="bridge-label-4">
            <a:extLst xmlns:a="http://schemas.openxmlformats.org/drawingml/2006/main">
              <a:ext uri="{FF2B5EF4-FFF2-40B4-BE49-F238E27FC236}">
                <a16:creationId xmlns:a16="http://schemas.microsoft.com/office/drawing/2014/main" id="{C2615340-4129-4AC6-853B-A43244918ABA}"/>
              </a:ext>
            </a:extLst>
          </p:cNvPr>
          <p:cNvSpPr>
            <a:spLocks xmlns:a="http://schemas.openxmlformats.org/drawingml/2006/main" noGrp="1"/>
          </p:cNvSpPr>
          <p:nvPr/>
        </p:nvSpPr>
        <p:spPr>
          <a:xfrm xmlns:a="http://schemas.openxmlformats.org/drawingml/2006/main">
            <a:off x="9601200" y="3800475"/>
            <a:ext cx="21336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1">
                <a:solidFill>
                  <a:srgbClr val="1D0090"/>
                </a:solidFill>
                <a:latin typeface="Mulish"/>
                <a:ea typeface="Mulish"/>
                <a:cs typeface="Mulish"/>
              </a:defRPr>
            </a:pPr>
            <a:r>
              <a:rPr sz="1875" b="1">
                <a:solidFill>
                  <a:srgbClr val="1D0090"/>
                </a:solidFill>
                <a:latin typeface="Mulish"/>
                <a:ea typeface="Mulish"/>
                <a:cs typeface="Mulish"/>
              </a:rPr>
              <a:t>Commitment</a:t>
            </a:r>
          </a:p>
        </p:txBody>
      </p:sp>
      <p:sp>
        <p:nvSpPr>
          <p:cNvPr id="20" name="bridge-detail-4">
            <a:extLst xmlns:a="http://schemas.openxmlformats.org/drawingml/2006/main">
              <a:ext uri="{FF2B5EF4-FFF2-40B4-BE49-F238E27FC236}">
                <a16:creationId xmlns:a16="http://schemas.microsoft.com/office/drawing/2014/main" id="{DCD04619-F929-4949-A09F-5AB2E9DE572F}"/>
              </a:ext>
            </a:extLst>
          </p:cNvPr>
          <p:cNvSpPr>
            <a:spLocks xmlns:a="http://schemas.openxmlformats.org/drawingml/2006/main" noGrp="1"/>
          </p:cNvSpPr>
          <p:nvPr/>
        </p:nvSpPr>
        <p:spPr>
          <a:xfrm xmlns:a="http://schemas.openxmlformats.org/drawingml/2006/main">
            <a:off x="9601200" y="4257675"/>
            <a:ext cx="204787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3D3D3D"/>
                </a:solidFill>
                <a:latin typeface="Mulish"/>
                <a:ea typeface="Mulish"/>
                <a:cs typeface="Mulish"/>
              </a:defRPr>
            </a:pPr>
            <a:r>
              <a:rPr sz="1650" b="0">
                <a:solidFill>
                  <a:srgbClr val="3D3D3D"/>
                </a:solidFill>
                <a:latin typeface="Mulish"/>
                <a:ea typeface="Mulish"/>
                <a:cs typeface="Mulish"/>
              </a:rPr>
              <a:t>Modeled allocation</a:t>
            </a:r>
          </a:p>
        </p:txBody>
      </p:sp>
      <p:sp>
        <p:nvSpPr>
          <p:cNvPr id="21" name="coverage">
            <a:extLst xmlns:a="http://schemas.openxmlformats.org/drawingml/2006/main">
              <a:ext uri="{FF2B5EF4-FFF2-40B4-BE49-F238E27FC236}">
                <a16:creationId xmlns:a16="http://schemas.microsoft.com/office/drawing/2014/main" id="{84DD6319-4AD5-4251-9403-64749CB35D4F}"/>
              </a:ext>
            </a:extLst>
          </p:cNvPr>
          <p:cNvSpPr>
            <a:spLocks xmlns:a="http://schemas.openxmlformats.org/drawingml/2006/main" noGrp="1"/>
          </p:cNvSpPr>
          <p:nvPr/>
        </p:nvSpPr>
        <p:spPr>
          <a:xfrm xmlns:a="http://schemas.openxmlformats.org/drawingml/2006/main">
            <a:off x="457200" y="5162550"/>
            <a:ext cx="112776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100" b="1">
                <a:solidFill>
                  <a:srgbClr val="1D0090"/>
                </a:solidFill>
                <a:latin typeface="Mulish"/>
                <a:ea typeface="Mulish"/>
                <a:cs typeface="Mulish"/>
              </a:defRPr>
            </a:pPr>
            <a:r>
              <a:rPr sz="2100" b="1">
                <a:solidFill>
                  <a:srgbClr val="1D0090"/>
                </a:solidFill>
                <a:latin typeface="Mulish"/>
                <a:ea typeface="Mulish"/>
                <a:cs typeface="Mulish"/>
              </a:rPr>
              <a:t>68.86% in the modeled existing / growth / survey allocation</a:t>
            </a:r>
          </a:p>
        </p:txBody>
      </p:sp>
      <p:sp>
        <p:nvSpPr>
          <p:cNvPr id="22" name="qualification">
            <a:extLst xmlns:a="http://schemas.openxmlformats.org/drawingml/2006/main">
              <a:ext uri="{FF2B5EF4-FFF2-40B4-BE49-F238E27FC236}">
                <a16:creationId xmlns:a16="http://schemas.microsoft.com/office/drawing/2014/main" id="{BE2DFBCA-6C2D-4D15-A1EF-CD64DC9F5ABB}"/>
              </a:ext>
            </a:extLst>
          </p:cNvPr>
          <p:cNvSpPr>
            <a:spLocks xmlns:a="http://schemas.openxmlformats.org/drawingml/2006/main" noGrp="1"/>
          </p:cNvSpPr>
          <p:nvPr/>
        </p:nvSpPr>
        <p:spPr>
          <a:xfrm xmlns:a="http://schemas.openxmlformats.org/drawingml/2006/main">
            <a:off x="457200" y="5924550"/>
            <a:ext cx="112776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344054"/>
                </a:solidFill>
                <a:latin typeface="Mulish"/>
                <a:ea typeface="Mulish"/>
                <a:cs typeface="Mulish"/>
              </a:defRPr>
            </a:pPr>
            <a:r>
              <a:rPr sz="1650" b="0">
                <a:solidFill>
                  <a:srgbClr val="344054"/>
                </a:solidFill>
                <a:latin typeface="Mulish"/>
                <a:ea typeface="Mulish"/>
                <a:cs typeface="Mulish"/>
              </a:rPr>
              <a:t>Survey counts are added without overlap deduction; this is not unique committed demand.</a:t>
            </a:r>
          </a:p>
          <a:p xmlns:a="http://schemas.openxmlformats.org/drawingml/2006/main">
            <a:pPr algn="l">
              <a:defRPr sz="1650" b="0">
                <a:solidFill>
                  <a:srgbClr val="344054"/>
                </a:solidFill>
                <a:latin typeface="Mulish"/>
                <a:ea typeface="Mulish"/>
                <a:cs typeface="Mulish"/>
              </a:defRPr>
            </a:pPr>
            <a:r>
              <a:rPr sz="1650" b="0">
                <a:solidFill>
                  <a:srgbClr val="344054"/>
                </a:solidFill>
                <a:latin typeface="Mulish"/>
                <a:ea typeface="Mulish"/>
                <a:cs typeface="Mulish"/>
              </a:rPr>
              <a:t>The Other target equates to about 58 users across each of 54 unsurveyed entities.</a:t>
            </a:r>
          </a:p>
        </p:txBody>
      </p:sp>
    </p:spTree>
    <p:extLst>
      <p:ext uri="{BB962C8B-B14F-4D97-AF65-F5344CB8AC3E}">
        <p14:creationId xmlns:p14="http://schemas.microsoft.com/office/powerpoint/2010/main" val="1904236560"/>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d8a1f8f0560c4bff"/>
          <a:stretch xmlns:a="http://schemas.openxmlformats.org/drawingml/2006/main"/>
        </p:blipFill>
        <p:spPr>
          <a:xfrm xmlns:a="http://schemas.openxmlformats.org/drawingml/2006/main">
            <a:off x="457200" y="228600"/>
            <a:ext cx="381000" cy="381000"/>
          </a:xfrm>
          <a:prstGeom xmlns:a="http://schemas.openxmlformats.org/drawingml/2006/main" prst="rect">
            <a:avLst/>
          </a:prstGeom>
        </p:spPr>
      </p:pic>
      <p:sp>
        <p:nvSpPr>
          <p:cNvPr id="2" name="page-number">
            <a:extLst xmlns:a="http://schemas.openxmlformats.org/drawingml/2006/main">
              <a:ext uri="{FF2B5EF4-FFF2-40B4-BE49-F238E27FC236}">
                <a16:creationId xmlns:a16="http://schemas.microsoft.com/office/drawing/2014/main" id="{730D4488-C25E-41A6-84AF-20A8BE7FE8DE}"/>
              </a:ext>
            </a:extLst>
          </p:cNvPr>
          <p:cNvSpPr>
            <a:spLocks xmlns:a="http://schemas.openxmlformats.org/drawingml/2006/main" noGrp="1"/>
          </p:cNvSpPr>
          <p:nvPr/>
        </p:nvSpPr>
        <p:spPr>
          <a:xfrm xmlns:a="http://schemas.openxmlformats.org/drawingml/2006/main">
            <a:off x="11277600" y="643890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050" b="1">
                <a:solidFill>
                  <a:srgbClr val="1D0090"/>
                </a:solidFill>
                <a:latin typeface="Mulish"/>
                <a:ea typeface="Mulish"/>
                <a:cs typeface="Mulish"/>
              </a:defRPr>
            </a:pPr>
            <a:r>
              <a:rPr sz="1050" b="1">
                <a:solidFill>
                  <a:srgbClr val="1D0090"/>
                </a:solidFill>
                <a:latin typeface="Mulish"/>
                <a:ea typeface="Mulish"/>
                <a:cs typeface="Mulish"/>
              </a:rPr>
              <a:t>03</a:t>
            </a:r>
          </a:p>
        </p:txBody>
      </p:sp>
      <p:sp>
        <p:nvSpPr>
          <p:cNvPr id="3" name="eyebrow">
            <a:extLst xmlns:a="http://schemas.openxmlformats.org/drawingml/2006/main">
              <a:ext uri="{FF2B5EF4-FFF2-40B4-BE49-F238E27FC236}">
                <a16:creationId xmlns:a16="http://schemas.microsoft.com/office/drawing/2014/main" id="{76F9D1E1-802C-427E-A6FA-4F742AA410C5}"/>
              </a:ext>
            </a:extLst>
          </p:cNvPr>
          <p:cNvSpPr>
            <a:spLocks xmlns:a="http://schemas.openxmlformats.org/drawingml/2006/main" noGrp="1"/>
          </p:cNvSpPr>
          <p:nvPr/>
        </p:nvSpPr>
        <p:spPr>
          <a:xfrm xmlns:a="http://schemas.openxmlformats.org/drawingml/2006/main">
            <a:off x="990600" y="266700"/>
            <a:ext cx="1009650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7000FF"/>
                </a:solidFill>
                <a:latin typeface="Mulish"/>
                <a:ea typeface="Mulish"/>
                <a:cs typeface="Mulish"/>
              </a:defRPr>
            </a:pPr>
            <a:r>
              <a:rPr sz="1650" b="1">
                <a:solidFill>
                  <a:srgbClr val="7000FF"/>
                </a:solidFill>
                <a:latin typeface="Mulish"/>
                <a:ea typeface="Mulish"/>
                <a:cs typeface="Mulish"/>
              </a:rPr>
              <a:t>DIGITAL DUBAI AUTHORITY</a:t>
            </a:r>
          </a:p>
        </p:txBody>
      </p:sp>
      <p:sp>
        <p:nvSpPr>
          <p:cNvPr id="4" name="title">
            <a:extLst xmlns:a="http://schemas.openxmlformats.org/drawingml/2006/main">
              <a:ext uri="{FF2B5EF4-FFF2-40B4-BE49-F238E27FC236}">
                <a16:creationId xmlns:a16="http://schemas.microsoft.com/office/drawing/2014/main" id="{3DE4DDAC-6DEA-4DB7-9B97-71CDB38B8077}"/>
              </a:ext>
            </a:extLst>
          </p:cNvPr>
          <p:cNvSpPr>
            <a:spLocks xmlns:a="http://schemas.openxmlformats.org/drawingml/2006/main" noGrp="1"/>
          </p:cNvSpPr>
          <p:nvPr/>
        </p:nvSpPr>
        <p:spPr>
          <a:xfrm xmlns:a="http://schemas.openxmlformats.org/drawingml/2006/main">
            <a:off x="457200" y="914400"/>
            <a:ext cx="1127760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450" b="1">
                <a:solidFill>
                  <a:srgbClr val="1D0090"/>
                </a:solidFill>
                <a:latin typeface="Spartan"/>
                <a:ea typeface="Spartan"/>
                <a:cs typeface="Spartan"/>
              </a:defRPr>
            </a:pPr>
            <a:r>
              <a:rPr sz="3450" b="1">
                <a:solidFill>
                  <a:srgbClr val="1D0090"/>
                </a:solidFill>
                <a:latin typeface="Spartan"/>
                <a:ea typeface="Spartan"/>
                <a:cs typeface="Spartan"/>
              </a:rPr>
              <a:t>More Value for Every Dirham</a:t>
            </a:r>
          </a:p>
        </p:txBody>
      </p:sp>
      <p:sp>
        <p:nvSpPr>
          <p:cNvPr id="5" name="pillar-0">
            <a:extLst xmlns:a="http://schemas.openxmlformats.org/drawingml/2006/main">
              <a:ext uri="{FF2B5EF4-FFF2-40B4-BE49-F238E27FC236}">
                <a16:creationId xmlns:a16="http://schemas.microsoft.com/office/drawing/2014/main" id="{994EFE8F-12C6-4BF5-8E87-50EBFE99706B}"/>
              </a:ext>
            </a:extLst>
          </p:cNvPr>
          <p:cNvSpPr>
            <a:spLocks xmlns:a="http://schemas.openxmlformats.org/drawingml/2006/main" noGrp="1"/>
          </p:cNvSpPr>
          <p:nvPr/>
        </p:nvSpPr>
        <p:spPr>
          <a:xfrm xmlns:a="http://schemas.openxmlformats.org/drawingml/2006/main">
            <a:off x="457200" y="2209800"/>
            <a:ext cx="34480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175" b="1">
                <a:solidFill>
                  <a:srgbClr val="1D0090"/>
                </a:solidFill>
                <a:latin typeface="Spartan"/>
                <a:ea typeface="Spartan"/>
                <a:cs typeface="Spartan"/>
              </a:defRPr>
            </a:pPr>
            <a:r>
              <a:rPr sz="2175" b="1">
                <a:solidFill>
                  <a:srgbClr val="1D0090"/>
                </a:solidFill>
                <a:latin typeface="Spartan"/>
                <a:ea typeface="Spartan"/>
                <a:cs typeface="Spartan"/>
              </a:rPr>
              <a:t>Lower unit price</a:t>
            </a:r>
          </a:p>
        </p:txBody>
      </p:sp>
      <p:sp>
        <p:nvSpPr>
          <p:cNvPr id="6" name="pillar-1">
            <a:extLst xmlns:a="http://schemas.openxmlformats.org/drawingml/2006/main">
              <a:ext uri="{FF2B5EF4-FFF2-40B4-BE49-F238E27FC236}">
                <a16:creationId xmlns:a16="http://schemas.microsoft.com/office/drawing/2014/main" id="{B70BBFE7-FAA9-42CE-A669-9F340F779E5B}"/>
              </a:ext>
            </a:extLst>
          </p:cNvPr>
          <p:cNvSpPr>
            <a:spLocks xmlns:a="http://schemas.openxmlformats.org/drawingml/2006/main" noGrp="1"/>
          </p:cNvSpPr>
          <p:nvPr/>
        </p:nvSpPr>
        <p:spPr>
          <a:xfrm xmlns:a="http://schemas.openxmlformats.org/drawingml/2006/main">
            <a:off x="4333875" y="2209800"/>
            <a:ext cx="34480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175" b="1">
                <a:solidFill>
                  <a:srgbClr val="1D0090"/>
                </a:solidFill>
                <a:latin typeface="Spartan"/>
                <a:ea typeface="Spartan"/>
                <a:cs typeface="Spartan"/>
              </a:defRPr>
            </a:pPr>
            <a:r>
              <a:rPr sz="2175" b="1">
                <a:solidFill>
                  <a:srgbClr val="1D0090"/>
                </a:solidFill>
                <a:latin typeface="Spartan"/>
                <a:ea typeface="Spartan"/>
                <a:cs typeface="Spartan"/>
              </a:rPr>
              <a:t>Enterprise access</a:t>
            </a:r>
          </a:p>
        </p:txBody>
      </p:sp>
      <p:sp>
        <p:nvSpPr>
          <p:cNvPr id="7" name="pillar-2">
            <a:extLst xmlns:a="http://schemas.openxmlformats.org/drawingml/2006/main">
              <a:ext uri="{FF2B5EF4-FFF2-40B4-BE49-F238E27FC236}">
                <a16:creationId xmlns:a16="http://schemas.microsoft.com/office/drawing/2014/main" id="{70DE149C-86ED-48A9-AEE1-B42D29865026}"/>
              </a:ext>
            </a:extLst>
          </p:cNvPr>
          <p:cNvSpPr>
            <a:spLocks xmlns:a="http://schemas.openxmlformats.org/drawingml/2006/main" noGrp="1"/>
          </p:cNvSpPr>
          <p:nvPr/>
        </p:nvSpPr>
        <p:spPr>
          <a:xfrm xmlns:a="http://schemas.openxmlformats.org/drawingml/2006/main">
            <a:off x="8210550" y="2209800"/>
            <a:ext cx="34480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175" b="1">
                <a:solidFill>
                  <a:srgbClr val="1D0090"/>
                </a:solidFill>
                <a:latin typeface="Spartan"/>
                <a:ea typeface="Spartan"/>
                <a:cs typeface="Spartan"/>
              </a:defRPr>
            </a:pPr>
            <a:r>
              <a:rPr sz="2175" b="1">
                <a:solidFill>
                  <a:srgbClr val="1D0090"/>
                </a:solidFill>
                <a:latin typeface="Spartan"/>
                <a:ea typeface="Spartan"/>
                <a:cs typeface="Spartan"/>
              </a:rPr>
              <a:t>Five-year certainty</a:t>
            </a:r>
          </a:p>
        </p:txBody>
      </p:sp>
      <p:sp>
        <p:nvSpPr>
          <p:cNvPr id="8" name="price-reduction">
            <a:extLst xmlns:a="http://schemas.openxmlformats.org/drawingml/2006/main">
              <a:ext uri="{FF2B5EF4-FFF2-40B4-BE49-F238E27FC236}">
                <a16:creationId xmlns:a16="http://schemas.microsoft.com/office/drawing/2014/main" id="{04FF3B7E-8120-4DF1-B454-EBC5F3A9DF7D}"/>
              </a:ext>
            </a:extLst>
          </p:cNvPr>
          <p:cNvSpPr>
            <a:spLocks xmlns:a="http://schemas.openxmlformats.org/drawingml/2006/main" noGrp="1"/>
          </p:cNvSpPr>
          <p:nvPr/>
        </p:nvSpPr>
        <p:spPr>
          <a:xfrm xmlns:a="http://schemas.openxmlformats.org/drawingml/2006/main">
            <a:off x="457200" y="3257550"/>
            <a:ext cx="3333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4500" b="1">
                <a:solidFill>
                  <a:srgbClr val="7000FF"/>
                </a:solidFill>
                <a:latin typeface="Spartan"/>
                <a:ea typeface="Spartan"/>
                <a:cs typeface="Spartan"/>
              </a:defRPr>
            </a:pPr>
            <a:r>
              <a:rPr sz="4500" b="1">
                <a:solidFill>
                  <a:srgbClr val="7000FF"/>
                </a:solidFill>
                <a:latin typeface="Spartan"/>
                <a:ea typeface="Spartan"/>
                <a:cs typeface="Spartan"/>
              </a:rPr>
              <a:t>42.64%</a:t>
            </a:r>
          </a:p>
        </p:txBody>
      </p:sp>
      <p:sp>
        <p:nvSpPr>
          <p:cNvPr id="9" name="cost-copy">
            <a:extLst xmlns:a="http://schemas.openxmlformats.org/drawingml/2006/main">
              <a:ext uri="{FF2B5EF4-FFF2-40B4-BE49-F238E27FC236}">
                <a16:creationId xmlns:a16="http://schemas.microsoft.com/office/drawing/2014/main" id="{EDD6C1DE-CC2D-47B1-90EC-15F9822AF5AC}"/>
              </a:ext>
            </a:extLst>
          </p:cNvPr>
          <p:cNvSpPr>
            <a:spLocks xmlns:a="http://schemas.openxmlformats.org/drawingml/2006/main" noGrp="1"/>
          </p:cNvSpPr>
          <p:nvPr/>
        </p:nvSpPr>
        <p:spPr>
          <a:xfrm xmlns:a="http://schemas.openxmlformats.org/drawingml/2006/main">
            <a:off x="457200" y="4114800"/>
            <a:ext cx="35242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0">
                <a:solidFill>
                  <a:srgbClr val="3D3D3D"/>
                </a:solidFill>
                <a:latin typeface="Mulish"/>
                <a:ea typeface="Mulish"/>
                <a:cs typeface="Mulish"/>
              </a:defRPr>
            </a:pPr>
            <a:r>
              <a:rPr sz="1800" b="0">
                <a:solidFill>
                  <a:srgbClr val="3D3D3D"/>
                </a:solidFill>
                <a:latin typeface="Mulish"/>
                <a:ea typeface="Mulish"/>
                <a:cs typeface="Mulish"/>
              </a:rPr>
              <a:t>AED 2,057.19 to AED 1,180</a:t>
            </a:r>
          </a:p>
          <a:p xmlns:a="http://schemas.openxmlformats.org/drawingml/2006/main">
            <a:pPr algn="l">
              <a:defRPr sz="1800" b="0">
                <a:solidFill>
                  <a:srgbClr val="3D3D3D"/>
                </a:solidFill>
                <a:latin typeface="Mulish"/>
                <a:ea typeface="Mulish"/>
                <a:cs typeface="Mulish"/>
              </a:defRPr>
            </a:pPr>
            <a:r>
              <a:rPr sz="1800" b="0">
                <a:solidFill>
                  <a:srgbClr val="3D3D3D"/>
                </a:solidFill>
                <a:latin typeface="Mulish"/>
                <a:ea typeface="Mulish"/>
                <a:cs typeface="Mulish"/>
              </a:rPr>
              <a:t>Simple average of 7 projects</a:t>
            </a:r>
          </a:p>
        </p:txBody>
      </p:sp>
      <p:sp>
        <p:nvSpPr>
          <p:cNvPr id="10" name="current-saving">
            <a:extLst xmlns:a="http://schemas.openxmlformats.org/drawingml/2006/main">
              <a:ext uri="{FF2B5EF4-FFF2-40B4-BE49-F238E27FC236}">
                <a16:creationId xmlns:a16="http://schemas.microsoft.com/office/drawing/2014/main" id="{2296892B-4E19-407D-A805-DD7FDCDC00D5}"/>
              </a:ext>
            </a:extLst>
          </p:cNvPr>
          <p:cNvSpPr>
            <a:spLocks xmlns:a="http://schemas.openxmlformats.org/drawingml/2006/main" noGrp="1"/>
          </p:cNvSpPr>
          <p:nvPr/>
        </p:nvSpPr>
        <p:spPr>
          <a:xfrm xmlns:a="http://schemas.openxmlformats.org/drawingml/2006/main">
            <a:off x="457200" y="5019675"/>
            <a:ext cx="3667125"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a:solidFill>
                  <a:srgbClr val="1D0090"/>
                </a:solidFill>
                <a:latin typeface="Mulish"/>
                <a:ea typeface="Mulish"/>
                <a:cs typeface="Mulish"/>
              </a:defRPr>
            </a:pPr>
            <a:r>
              <a:rPr sz="1725" b="1">
                <a:solidFill>
                  <a:srgbClr val="1D0090"/>
                </a:solidFill>
                <a:latin typeface="Mulish"/>
                <a:ea typeface="Mulish"/>
                <a:cs typeface="Mulish"/>
              </a:rPr>
              <a:t>Actual annual saving</a:t>
            </a:r>
          </a:p>
          <a:p xmlns:a="http://schemas.openxmlformats.org/drawingml/2006/main">
            <a:pPr algn="l">
              <a:defRPr sz="1725" b="1">
                <a:solidFill>
                  <a:srgbClr val="1D0090"/>
                </a:solidFill>
                <a:latin typeface="Mulish"/>
                <a:ea typeface="Mulish"/>
                <a:cs typeface="Mulish"/>
              </a:defRPr>
            </a:pPr>
            <a:r>
              <a:rPr sz="1725" b="1">
                <a:solidFill>
                  <a:srgbClr val="1D0090"/>
                </a:solidFill>
                <a:latin typeface="Mulish"/>
                <a:ea typeface="Mulish"/>
                <a:cs typeface="Mulish"/>
              </a:rPr>
              <a:t>AED 383,370</a:t>
            </a:r>
          </a:p>
          <a:p xmlns:a="http://schemas.openxmlformats.org/drawingml/2006/main">
            <a:pPr algn="l">
              <a:defRPr sz="1725" b="1">
                <a:solidFill>
                  <a:srgbClr val="1D0090"/>
                </a:solidFill>
                <a:latin typeface="Mulish"/>
                <a:ea typeface="Mulish"/>
                <a:cs typeface="Mulish"/>
              </a:defRPr>
            </a:pPr>
            <a:r>
              <a:rPr sz="1725" b="1">
                <a:solidFill>
                  <a:srgbClr val="1D0090"/>
                </a:solidFill>
                <a:latin typeface="Mulish"/>
                <a:ea typeface="Mulish"/>
                <a:cs typeface="Mulish"/>
              </a:rPr>
              <a:t>for today’s 1,310 users</a:t>
            </a:r>
          </a:p>
        </p:txBody>
      </p:sp>
      <p:sp>
        <p:nvSpPr>
          <p:cNvPr id="11" name="enterprise">
            <a:extLst xmlns:a="http://schemas.openxmlformats.org/drawingml/2006/main">
              <a:ext uri="{FF2B5EF4-FFF2-40B4-BE49-F238E27FC236}">
                <a16:creationId xmlns:a16="http://schemas.microsoft.com/office/drawing/2014/main" id="{A7D32B65-AE4A-4D65-8781-588A8A161087}"/>
              </a:ext>
            </a:extLst>
          </p:cNvPr>
          <p:cNvSpPr>
            <a:spLocks xmlns:a="http://schemas.openxmlformats.org/drawingml/2006/main" noGrp="1"/>
          </p:cNvSpPr>
          <p:nvPr/>
        </p:nvSpPr>
        <p:spPr>
          <a:xfrm xmlns:a="http://schemas.openxmlformats.org/drawingml/2006/main">
            <a:off x="4333875" y="3295650"/>
            <a:ext cx="3429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000" b="1">
                <a:solidFill>
                  <a:srgbClr val="7000FF"/>
                </a:solidFill>
                <a:latin typeface="Spartan"/>
                <a:ea typeface="Spartan"/>
                <a:cs typeface="Spartan"/>
              </a:defRPr>
            </a:pPr>
            <a:r>
              <a:rPr sz="3000" b="1">
                <a:solidFill>
                  <a:srgbClr val="7000FF"/>
                </a:solidFill>
                <a:latin typeface="Spartan"/>
                <a:ea typeface="Spartan"/>
                <a:cs typeface="Spartan"/>
              </a:rPr>
              <a:t>Enterprise</a:t>
            </a:r>
          </a:p>
        </p:txBody>
      </p:sp>
      <p:sp>
        <p:nvSpPr>
          <p:cNvPr id="12" name="enterprise-copy">
            <a:extLst xmlns:a="http://schemas.openxmlformats.org/drawingml/2006/main">
              <a:ext uri="{FF2B5EF4-FFF2-40B4-BE49-F238E27FC236}">
                <a16:creationId xmlns:a16="http://schemas.microsoft.com/office/drawing/2014/main" id="{CCEFEFE7-2F5D-4CC9-8680-7D70F70F0C04}"/>
              </a:ext>
            </a:extLst>
          </p:cNvPr>
          <p:cNvSpPr>
            <a:spLocks xmlns:a="http://schemas.openxmlformats.org/drawingml/2006/main" noGrp="1"/>
          </p:cNvSpPr>
          <p:nvPr/>
        </p:nvSpPr>
        <p:spPr>
          <a:xfrm xmlns:a="http://schemas.openxmlformats.org/drawingml/2006/main">
            <a:off x="4333875" y="4114800"/>
            <a:ext cx="3476625" cy="1381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0">
                <a:solidFill>
                  <a:srgbClr val="3D3D3D"/>
                </a:solidFill>
                <a:latin typeface="Mulish"/>
                <a:ea typeface="Mulish"/>
                <a:cs typeface="Mulish"/>
              </a:defRPr>
            </a:pPr>
            <a:r>
              <a:rPr sz="1875" b="0">
                <a:solidFill>
                  <a:srgbClr val="3D3D3D"/>
                </a:solidFill>
                <a:latin typeface="Mulish"/>
                <a:ea typeface="Mulish"/>
                <a:cs typeface="Mulish"/>
              </a:rPr>
              <a:t>Common capabilities for</a:t>
            </a:r>
          </a:p>
          <a:p xmlns:a="http://schemas.openxmlformats.org/drawingml/2006/main">
            <a:pPr algn="l">
              <a:defRPr sz="1875" b="0">
                <a:solidFill>
                  <a:srgbClr val="3D3D3D"/>
                </a:solidFill>
                <a:latin typeface="Mulish"/>
                <a:ea typeface="Mulish"/>
                <a:cs typeface="Mulish"/>
              </a:defRPr>
            </a:pPr>
            <a:r>
              <a:rPr sz="1875" b="0">
                <a:solidFill>
                  <a:srgbClr val="3D3D3D"/>
                </a:solidFill>
                <a:latin typeface="Mulish"/>
                <a:ea typeface="Mulish"/>
                <a:cs typeface="Mulish"/>
              </a:rPr>
              <a:t>participating entities.</a:t>
            </a:r>
          </a:p>
          <a:p xmlns:a="http://schemas.openxmlformats.org/drawingml/2006/main">
            <a:pPr algn="l">
              <a:defRPr sz="1875" b="0">
                <a:solidFill>
                  <a:srgbClr val="3D3D3D"/>
                </a:solidFill>
                <a:latin typeface="Mulish"/>
                <a:ea typeface="Mulish"/>
                <a:cs typeface="Mulish"/>
              </a:defRPr>
            </a:pPr>
            <a:r>
              <a:rPr sz="1875" b="0">
                <a:solidFill>
                  <a:srgbClr val="3D3D3D"/>
                </a:solidFill>
                <a:latin typeface="Mulish"/>
                <a:ea typeface="Mulish"/>
                <a:cs typeface="Mulish"/>
              </a:rPr>
              <a:t>Most agreed feature add-ons</a:t>
            </a:r>
          </a:p>
          <a:p xmlns:a="http://schemas.openxmlformats.org/drawingml/2006/main">
            <a:pPr algn="l">
              <a:defRPr sz="1875" b="0">
                <a:solidFill>
                  <a:srgbClr val="3D3D3D"/>
                </a:solidFill>
                <a:latin typeface="Mulish"/>
                <a:ea typeface="Mulish"/>
                <a:cs typeface="Mulish"/>
              </a:defRPr>
            </a:pPr>
            <a:r>
              <a:rPr sz="1875" b="0">
                <a:solidFill>
                  <a:srgbClr val="3D3D3D"/>
                </a:solidFill>
                <a:latin typeface="Mulish"/>
                <a:ea typeface="Mulish"/>
                <a:cs typeface="Mulish"/>
              </a:rPr>
              <a:t>included.</a:t>
            </a:r>
          </a:p>
        </p:txBody>
      </p:sp>
      <p:sp>
        <p:nvSpPr>
          <p:cNvPr id="13" name="lock">
            <a:extLst xmlns:a="http://schemas.openxmlformats.org/drawingml/2006/main">
              <a:ext uri="{FF2B5EF4-FFF2-40B4-BE49-F238E27FC236}">
                <a16:creationId xmlns:a16="http://schemas.microsoft.com/office/drawing/2014/main" id="{973C17CC-6FC9-4BE1-B2FA-9D657606BC07}"/>
              </a:ext>
            </a:extLst>
          </p:cNvPr>
          <p:cNvSpPr>
            <a:spLocks xmlns:a="http://schemas.openxmlformats.org/drawingml/2006/main" noGrp="1"/>
          </p:cNvSpPr>
          <p:nvPr/>
        </p:nvSpPr>
        <p:spPr>
          <a:xfrm xmlns:a="http://schemas.openxmlformats.org/drawingml/2006/main">
            <a:off x="8210550" y="3295650"/>
            <a:ext cx="3524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7000FF"/>
                </a:solidFill>
                <a:latin typeface="Spartan"/>
                <a:ea typeface="Spartan"/>
                <a:cs typeface="Spartan"/>
              </a:defRPr>
            </a:pPr>
            <a:r>
              <a:rPr sz="2700" b="1">
                <a:solidFill>
                  <a:srgbClr val="7000FF"/>
                </a:solidFill>
                <a:latin typeface="Spartan"/>
                <a:ea typeface="Spartan"/>
                <a:cs typeface="Spartan"/>
              </a:rPr>
              <a:t>No indexation</a:t>
            </a:r>
          </a:p>
        </p:txBody>
      </p:sp>
      <p:sp>
        <p:nvSpPr>
          <p:cNvPr id="14" name="lock-copy">
            <a:extLst xmlns:a="http://schemas.openxmlformats.org/drawingml/2006/main">
              <a:ext uri="{FF2B5EF4-FFF2-40B4-BE49-F238E27FC236}">
                <a16:creationId xmlns:a16="http://schemas.microsoft.com/office/drawing/2014/main" id="{1403F61C-CE11-43F3-8DAC-883959DA262E}"/>
              </a:ext>
            </a:extLst>
          </p:cNvPr>
          <p:cNvSpPr>
            <a:spLocks xmlns:a="http://schemas.openxmlformats.org/drawingml/2006/main" noGrp="1"/>
          </p:cNvSpPr>
          <p:nvPr/>
        </p:nvSpPr>
        <p:spPr>
          <a:xfrm xmlns:a="http://schemas.openxmlformats.org/drawingml/2006/main">
            <a:off x="8210550" y="4114800"/>
            <a:ext cx="3524250" cy="1381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0">
                <a:solidFill>
                  <a:srgbClr val="3D3D3D"/>
                </a:solidFill>
                <a:latin typeface="Mulish"/>
                <a:ea typeface="Mulish"/>
                <a:cs typeface="Mulish"/>
              </a:defRPr>
            </a:pPr>
            <a:r>
              <a:rPr sz="1875" b="0">
                <a:solidFill>
                  <a:srgbClr val="3D3D3D"/>
                </a:solidFill>
                <a:latin typeface="Mulish"/>
                <a:ea typeface="Mulish"/>
                <a:cs typeface="Mulish"/>
              </a:rPr>
              <a:t>Annual billing with a locked</a:t>
            </a:r>
          </a:p>
          <a:p xmlns:a="http://schemas.openxmlformats.org/drawingml/2006/main">
            <a:pPr algn="l">
              <a:defRPr sz="1875" b="0">
                <a:solidFill>
                  <a:srgbClr val="3D3D3D"/>
                </a:solidFill>
                <a:latin typeface="Mulish"/>
                <a:ea typeface="Mulish"/>
                <a:cs typeface="Mulish"/>
              </a:defRPr>
            </a:pPr>
            <a:r>
              <a:rPr sz="1875" b="0">
                <a:solidFill>
                  <a:srgbClr val="3D3D3D"/>
                </a:solidFill>
                <a:latin typeface="Mulish"/>
                <a:ea typeface="Mulish"/>
                <a:cs typeface="Mulish"/>
              </a:rPr>
              <a:t>subscription unit price.</a:t>
            </a:r>
          </a:p>
          <a:p xmlns:a="http://schemas.openxmlformats.org/drawingml/2006/main">
            <a:pPr algn="l">
              <a:defRPr sz="1875" b="0">
                <a:solidFill>
                  <a:srgbClr val="3D3D3D"/>
                </a:solidFill>
                <a:latin typeface="Mulish"/>
                <a:ea typeface="Mulish"/>
                <a:cs typeface="Mulish"/>
              </a:defRPr>
            </a:pPr>
            <a:r>
              <a:rPr sz="1875" b="0">
                <a:solidFill>
                  <a:srgbClr val="3D3D3D"/>
                </a:solidFill>
                <a:latin typeface="Mulish"/>
                <a:ea typeface="Mulish"/>
                <a:cs typeface="Mulish"/>
              </a:rPr>
              <a:t>Paid-user growth changes</a:t>
            </a:r>
          </a:p>
          <a:p xmlns:a="http://schemas.openxmlformats.org/drawingml/2006/main">
            <a:pPr algn="l">
              <a:defRPr sz="1875" b="0">
                <a:solidFill>
                  <a:srgbClr val="3D3D3D"/>
                </a:solidFill>
                <a:latin typeface="Mulish"/>
                <a:ea typeface="Mulish"/>
                <a:cs typeface="Mulish"/>
              </a:defRPr>
            </a:pPr>
            <a:r>
              <a:rPr sz="1875" b="0">
                <a:solidFill>
                  <a:srgbClr val="3D3D3D"/>
                </a:solidFill>
                <a:latin typeface="Mulish"/>
                <a:ea typeface="Mulish"/>
                <a:cs typeface="Mulish"/>
              </a:rPr>
              <a:t>the annual budget.</a:t>
            </a:r>
          </a:p>
        </p:txBody>
      </p:sp>
      <p:sp>
        <p:nvSpPr>
          <p:cNvPr id="15" name="qualification">
            <a:extLst xmlns:a="http://schemas.openxmlformats.org/drawingml/2006/main">
              <a:ext uri="{FF2B5EF4-FFF2-40B4-BE49-F238E27FC236}">
                <a16:creationId xmlns:a16="http://schemas.microsoft.com/office/drawing/2014/main" id="{3FC915AC-344E-4CF8-8302-506C8E6D0AC6}"/>
              </a:ext>
            </a:extLst>
          </p:cNvPr>
          <p:cNvSpPr>
            <a:spLocks xmlns:a="http://schemas.openxmlformats.org/drawingml/2006/main" noGrp="1"/>
          </p:cNvSpPr>
          <p:nvPr/>
        </p:nvSpPr>
        <p:spPr>
          <a:xfrm xmlns:a="http://schemas.openxmlformats.org/drawingml/2006/main">
            <a:off x="457200" y="5924550"/>
            <a:ext cx="112776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344054"/>
                </a:solidFill>
                <a:latin typeface="Mulish"/>
                <a:ea typeface="Mulish"/>
                <a:cs typeface="Mulish"/>
              </a:defRPr>
            </a:pPr>
            <a:r>
              <a:rPr sz="1650" b="0">
                <a:solidFill>
                  <a:srgbClr val="344054"/>
                </a:solidFill>
                <a:latin typeface="Mulish"/>
                <a:ea typeface="Mulish"/>
                <a:cs typeface="Mulish"/>
              </a:rPr>
              <a:t>Included add-ons offer indicative additional value of ~AED 20,000 per entity/year.</a:t>
            </a:r>
          </a:p>
          <a:p xmlns:a="http://schemas.openxmlformats.org/drawingml/2006/main">
            <a:pPr algn="l">
              <a:defRPr sz="1650" b="0">
                <a:solidFill>
                  <a:srgbClr val="344054"/>
                </a:solidFill>
                <a:latin typeface="Mulish"/>
                <a:ea typeface="Mulish"/>
                <a:cs typeface="Mulish"/>
              </a:defRPr>
            </a:pPr>
            <a:r>
              <a:rPr sz="1650" b="0">
                <a:solidFill>
                  <a:srgbClr val="344054"/>
                </a:solidFill>
                <a:latin typeface="Mulish"/>
                <a:ea typeface="Mulish"/>
                <a:cs typeface="Mulish"/>
              </a:rPr>
              <a:t>This value is outside subscription savings and depends on entity requirements.</a:t>
            </a:r>
          </a:p>
        </p:txBody>
      </p:sp>
    </p:spTree>
    <p:extLst>
      <p:ext uri="{BB962C8B-B14F-4D97-AF65-F5344CB8AC3E}">
        <p14:creationId xmlns:p14="http://schemas.microsoft.com/office/powerpoint/2010/main" val="1257760008"/>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04812a0c6c3e49b4"/>
          <a:stretch xmlns:a="http://schemas.openxmlformats.org/drawingml/2006/main"/>
        </p:blipFill>
        <p:spPr>
          <a:xfrm xmlns:a="http://schemas.openxmlformats.org/drawingml/2006/main">
            <a:off x="457200" y="228600"/>
            <a:ext cx="381000" cy="381000"/>
          </a:xfrm>
          <a:prstGeom xmlns:a="http://schemas.openxmlformats.org/drawingml/2006/main" prst="rect">
            <a:avLst/>
          </a:prstGeom>
        </p:spPr>
      </p:pic>
      <p:sp>
        <p:nvSpPr>
          <p:cNvPr id="2" name="page-number">
            <a:extLst xmlns:a="http://schemas.openxmlformats.org/drawingml/2006/main">
              <a:ext uri="{FF2B5EF4-FFF2-40B4-BE49-F238E27FC236}">
                <a16:creationId xmlns:a16="http://schemas.microsoft.com/office/drawing/2014/main" id="{E84D95D7-83A8-410D-9A27-39728D7BF26E}"/>
              </a:ext>
            </a:extLst>
          </p:cNvPr>
          <p:cNvSpPr>
            <a:spLocks xmlns:a="http://schemas.openxmlformats.org/drawingml/2006/main" noGrp="1"/>
          </p:cNvSpPr>
          <p:nvPr/>
        </p:nvSpPr>
        <p:spPr>
          <a:xfrm xmlns:a="http://schemas.openxmlformats.org/drawingml/2006/main">
            <a:off x="11277600" y="643890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050" b="1">
                <a:solidFill>
                  <a:srgbClr val="1D0090"/>
                </a:solidFill>
                <a:latin typeface="Mulish"/>
                <a:ea typeface="Mulish"/>
                <a:cs typeface="Mulish"/>
              </a:defRPr>
            </a:pPr>
            <a:r>
              <a:rPr sz="1050" b="1">
                <a:solidFill>
                  <a:srgbClr val="1D0090"/>
                </a:solidFill>
                <a:latin typeface="Mulish"/>
                <a:ea typeface="Mulish"/>
                <a:cs typeface="Mulish"/>
              </a:rPr>
              <a:t>04</a:t>
            </a:r>
          </a:p>
        </p:txBody>
      </p:sp>
      <p:sp>
        <p:nvSpPr>
          <p:cNvPr id="3" name="eyebrow">
            <a:extLst xmlns:a="http://schemas.openxmlformats.org/drawingml/2006/main">
              <a:ext uri="{FF2B5EF4-FFF2-40B4-BE49-F238E27FC236}">
                <a16:creationId xmlns:a16="http://schemas.microsoft.com/office/drawing/2014/main" id="{E8663B88-8CF0-415B-85E8-945C86DA85BD}"/>
              </a:ext>
            </a:extLst>
          </p:cNvPr>
          <p:cNvSpPr>
            <a:spLocks xmlns:a="http://schemas.openxmlformats.org/drawingml/2006/main" noGrp="1"/>
          </p:cNvSpPr>
          <p:nvPr/>
        </p:nvSpPr>
        <p:spPr>
          <a:xfrm xmlns:a="http://schemas.openxmlformats.org/drawingml/2006/main">
            <a:off x="990600" y="266700"/>
            <a:ext cx="1009650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7000FF"/>
                </a:solidFill>
                <a:latin typeface="Mulish"/>
                <a:ea typeface="Mulish"/>
                <a:cs typeface="Mulish"/>
              </a:defRPr>
            </a:pPr>
            <a:r>
              <a:rPr sz="1650" b="1">
                <a:solidFill>
                  <a:srgbClr val="7000FF"/>
                </a:solidFill>
                <a:latin typeface="Mulish"/>
                <a:ea typeface="Mulish"/>
                <a:cs typeface="Mulish"/>
              </a:rPr>
              <a:t>DIGITAL DUBAI AUTHORITY</a:t>
            </a:r>
          </a:p>
        </p:txBody>
      </p:sp>
      <p:sp>
        <p:nvSpPr>
          <p:cNvPr id="4" name="title">
            <a:extLst xmlns:a="http://schemas.openxmlformats.org/drawingml/2006/main">
              <a:ext uri="{FF2B5EF4-FFF2-40B4-BE49-F238E27FC236}">
                <a16:creationId xmlns:a16="http://schemas.microsoft.com/office/drawing/2014/main" id="{B35981A2-F3F2-4A38-9F00-1F1939CB39D4}"/>
              </a:ext>
            </a:extLst>
          </p:cNvPr>
          <p:cNvSpPr>
            <a:spLocks xmlns:a="http://schemas.openxmlformats.org/drawingml/2006/main" noGrp="1"/>
          </p:cNvSpPr>
          <p:nvPr/>
        </p:nvSpPr>
        <p:spPr>
          <a:xfrm xmlns:a="http://schemas.openxmlformats.org/drawingml/2006/main">
            <a:off x="457200" y="914400"/>
            <a:ext cx="1127760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450" b="1">
                <a:solidFill>
                  <a:srgbClr val="1D0090"/>
                </a:solidFill>
                <a:latin typeface="Spartan"/>
                <a:ea typeface="Spartan"/>
                <a:cs typeface="Spartan"/>
              </a:defRPr>
            </a:pPr>
            <a:r>
              <a:rPr sz="3450" b="1">
                <a:solidFill>
                  <a:srgbClr val="1D0090"/>
                </a:solidFill>
                <a:latin typeface="Spartan"/>
                <a:ea typeface="Spartan"/>
                <a:cs typeface="Spartan"/>
              </a:rPr>
              <a:t>Establish Circularo Enterprise</a:t>
            </a:r>
          </a:p>
          <a:p xmlns:a="http://schemas.openxmlformats.org/drawingml/2006/main">
            <a:pPr algn="l">
              <a:defRPr sz="3450" b="1">
                <a:solidFill>
                  <a:srgbClr val="1D0090"/>
                </a:solidFill>
                <a:latin typeface="Spartan"/>
                <a:ea typeface="Spartan"/>
                <a:cs typeface="Spartan"/>
              </a:defRPr>
            </a:pPr>
            <a:r>
              <a:rPr sz="3450" b="1">
                <a:solidFill>
                  <a:srgbClr val="1D0090"/>
                </a:solidFill>
                <a:latin typeface="Spartan"/>
                <a:ea typeface="Spartan"/>
                <a:cs typeface="Spartan"/>
              </a:rPr>
              <a:t>as a Dubai Government Shared Service</a:t>
            </a:r>
          </a:p>
        </p:txBody>
      </p:sp>
      <p:sp>
        <p:nvSpPr>
          <p:cNvPr id="5" name="decision">
            <a:extLst xmlns:a="http://schemas.openxmlformats.org/drawingml/2006/main">
              <a:ext uri="{FF2B5EF4-FFF2-40B4-BE49-F238E27FC236}">
                <a16:creationId xmlns:a16="http://schemas.microsoft.com/office/drawing/2014/main" id="{E78551C8-2337-4E0E-AD1D-121295F08813}"/>
              </a:ext>
            </a:extLst>
          </p:cNvPr>
          <p:cNvSpPr>
            <a:spLocks xmlns:a="http://schemas.openxmlformats.org/drawingml/2006/main" noGrp="1"/>
          </p:cNvSpPr>
          <p:nvPr/>
        </p:nvSpPr>
        <p:spPr>
          <a:xfrm xmlns:a="http://schemas.openxmlformats.org/drawingml/2006/main">
            <a:off x="457200" y="2190750"/>
            <a:ext cx="111442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400" b="1">
                <a:solidFill>
                  <a:srgbClr val="1D0090"/>
                </a:solidFill>
                <a:latin typeface="Mulish"/>
                <a:ea typeface="Mulish"/>
                <a:cs typeface="Mulish"/>
              </a:defRPr>
            </a:pPr>
            <a:r>
              <a:rPr sz="2400" b="1">
                <a:solidFill>
                  <a:srgbClr val="1D0090"/>
                </a:solidFill>
                <a:latin typeface="Mulish"/>
                <a:ea typeface="Mulish"/>
                <a:cs typeface="Mulish"/>
              </a:rPr>
              <a:t>Approve the five-year central framework, starting with 10,000 users</a:t>
            </a:r>
          </a:p>
        </p:txBody>
      </p:sp>
      <p:sp>
        <p:nvSpPr>
          <p:cNvPr id="6" name="budget">
            <a:extLst xmlns:a="http://schemas.openxmlformats.org/drawingml/2006/main">
              <a:ext uri="{FF2B5EF4-FFF2-40B4-BE49-F238E27FC236}">
                <a16:creationId xmlns:a16="http://schemas.microsoft.com/office/drawing/2014/main" id="{04C2ED2D-57D6-4FFC-9DEC-2EA15173A2A6}"/>
              </a:ext>
            </a:extLst>
          </p:cNvPr>
          <p:cNvSpPr>
            <a:spLocks xmlns:a="http://schemas.openxmlformats.org/drawingml/2006/main" noGrp="1"/>
          </p:cNvSpPr>
          <p:nvPr/>
        </p:nvSpPr>
        <p:spPr>
          <a:xfrm xmlns:a="http://schemas.openxmlformats.org/drawingml/2006/main">
            <a:off x="457200" y="3286125"/>
            <a:ext cx="6191250" cy="828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4875" b="1">
                <a:solidFill>
                  <a:srgbClr val="7000FF"/>
                </a:solidFill>
                <a:latin typeface="Spartan"/>
                <a:ea typeface="Spartan"/>
                <a:cs typeface="Spartan"/>
              </a:defRPr>
            </a:pPr>
            <a:r>
              <a:rPr sz="4875" b="1">
                <a:solidFill>
                  <a:srgbClr val="7000FF"/>
                </a:solidFill>
                <a:latin typeface="Spartan"/>
                <a:ea typeface="Spartan"/>
                <a:cs typeface="Spartan"/>
              </a:rPr>
              <a:t>AED 11.80m</a:t>
            </a:r>
          </a:p>
        </p:txBody>
      </p:sp>
      <p:sp>
        <p:nvSpPr>
          <p:cNvPr id="7" name="budget-label">
            <a:extLst xmlns:a="http://schemas.openxmlformats.org/drawingml/2006/main">
              <a:ext uri="{FF2B5EF4-FFF2-40B4-BE49-F238E27FC236}">
                <a16:creationId xmlns:a16="http://schemas.microsoft.com/office/drawing/2014/main" id="{27466780-7E10-4A08-BE44-E4E0FF33A1E0}"/>
              </a:ext>
            </a:extLst>
          </p:cNvPr>
          <p:cNvSpPr>
            <a:spLocks xmlns:a="http://schemas.openxmlformats.org/drawingml/2006/main" noGrp="1"/>
          </p:cNvSpPr>
          <p:nvPr/>
        </p:nvSpPr>
        <p:spPr>
          <a:xfrm xmlns:a="http://schemas.openxmlformats.org/drawingml/2006/main">
            <a:off x="457200" y="4143375"/>
            <a:ext cx="6096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100" b="0">
                <a:solidFill>
                  <a:srgbClr val="3D3D3D"/>
                </a:solidFill>
                <a:latin typeface="Mulish"/>
                <a:ea typeface="Mulish"/>
                <a:cs typeface="Mulish"/>
              </a:defRPr>
            </a:pPr>
            <a:r>
              <a:rPr sz="2100" b="0">
                <a:solidFill>
                  <a:srgbClr val="3D3D3D"/>
                </a:solidFill>
                <a:latin typeface="Mulish"/>
                <a:ea typeface="Mulish"/>
                <a:cs typeface="Mulish"/>
              </a:rPr>
              <a:t>Year 1 subscription</a:t>
            </a:r>
          </a:p>
        </p:txBody>
      </p:sp>
      <p:sp>
        <p:nvSpPr>
          <p:cNvPr id="8" name="budget-details">
            <a:extLst xmlns:a="http://schemas.openxmlformats.org/drawingml/2006/main">
              <a:ext uri="{FF2B5EF4-FFF2-40B4-BE49-F238E27FC236}">
                <a16:creationId xmlns:a16="http://schemas.microsoft.com/office/drawing/2014/main" id="{92D6EE3B-B850-4554-BAFC-7B1AED6344FE}"/>
              </a:ext>
            </a:extLst>
          </p:cNvPr>
          <p:cNvSpPr>
            <a:spLocks xmlns:a="http://schemas.openxmlformats.org/drawingml/2006/main" noGrp="1"/>
          </p:cNvSpPr>
          <p:nvPr/>
        </p:nvSpPr>
        <p:spPr>
          <a:xfrm xmlns:a="http://schemas.openxmlformats.org/drawingml/2006/main">
            <a:off x="457200" y="4752975"/>
            <a:ext cx="6381750" cy="866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0">
                <a:solidFill>
                  <a:srgbClr val="3D3D3D"/>
                </a:solidFill>
                <a:latin typeface="Mulish"/>
                <a:ea typeface="Mulish"/>
                <a:cs typeface="Mulish"/>
              </a:defRPr>
            </a:pPr>
            <a:r>
              <a:rPr sz="1800" b="0">
                <a:solidFill>
                  <a:srgbClr val="3D3D3D"/>
                </a:solidFill>
                <a:latin typeface="Mulish"/>
                <a:ea typeface="Mulish"/>
                <a:cs typeface="Mulish"/>
              </a:rPr>
              <a:t>Plus AED 1.652m support under the model</a:t>
            </a:r>
          </a:p>
          <a:p xmlns:a="http://schemas.openxmlformats.org/drawingml/2006/main">
            <a:pPr algn="l">
              <a:defRPr sz="1800" b="0">
                <a:solidFill>
                  <a:srgbClr val="3D3D3D"/>
                </a:solidFill>
                <a:latin typeface="Mulish"/>
                <a:ea typeface="Mulish"/>
                <a:cs typeface="Mulish"/>
              </a:defRPr>
            </a:pPr>
            <a:r>
              <a:rPr sz="1800" b="0">
                <a:solidFill>
                  <a:srgbClr val="3D3D3D"/>
                </a:solidFill>
                <a:latin typeface="Mulish"/>
                <a:ea typeface="Mulish"/>
                <a:cs typeface="Mulish"/>
              </a:rPr>
              <a:t>Recurring budget: AED 13.452m before other charges</a:t>
            </a:r>
          </a:p>
        </p:txBody>
      </p:sp>
      <p:sp>
        <p:nvSpPr>
          <p:cNvPr id="9" name="terms">
            <a:extLst xmlns:a="http://schemas.openxmlformats.org/drawingml/2006/main">
              <a:ext uri="{FF2B5EF4-FFF2-40B4-BE49-F238E27FC236}">
                <a16:creationId xmlns:a16="http://schemas.microsoft.com/office/drawing/2014/main" id="{3DADF4C6-C071-493D-8199-3074165F70F0}"/>
              </a:ext>
            </a:extLst>
          </p:cNvPr>
          <p:cNvSpPr>
            <a:spLocks xmlns:a="http://schemas.openxmlformats.org/drawingml/2006/main" noGrp="1"/>
          </p:cNvSpPr>
          <p:nvPr/>
        </p:nvSpPr>
        <p:spPr>
          <a:xfrm xmlns:a="http://schemas.openxmlformats.org/drawingml/2006/main">
            <a:off x="7448550" y="3267075"/>
            <a:ext cx="4286250" cy="1247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1D0090"/>
                </a:solidFill>
                <a:latin typeface="Mulish"/>
                <a:ea typeface="Mulish"/>
                <a:cs typeface="Mulish"/>
              </a:defRPr>
            </a:pPr>
            <a:r>
              <a:rPr sz="1950" b="1">
                <a:solidFill>
                  <a:srgbClr val="1D0090"/>
                </a:solidFill>
                <a:latin typeface="Mulish"/>
                <a:ea typeface="Mulish"/>
                <a:cs typeface="Mulish"/>
              </a:rPr>
              <a:t>AED 1,180 per user/year</a:t>
            </a:r>
          </a:p>
          <a:p xmlns:a="http://schemas.openxmlformats.org/drawingml/2006/main">
            <a:pPr algn="l">
              <a:defRPr sz="1950" b="1">
                <a:solidFill>
                  <a:srgbClr val="1D0090"/>
                </a:solidFill>
                <a:latin typeface="Mulish"/>
                <a:ea typeface="Mulish"/>
                <a:cs typeface="Mulish"/>
              </a:defRPr>
            </a:pPr>
            <a:r>
              <a:rPr sz="1950" b="1">
                <a:solidFill>
                  <a:srgbClr val="1D0090"/>
                </a:solidFill>
                <a:latin typeface="Mulish"/>
                <a:ea typeface="Mulish"/>
                <a:cs typeface="Mulish"/>
              </a:rPr>
              <a:t>Annual billing</a:t>
            </a:r>
          </a:p>
          <a:p xmlns:a="http://schemas.openxmlformats.org/drawingml/2006/main">
            <a:pPr algn="l">
              <a:defRPr sz="1950" b="1">
                <a:solidFill>
                  <a:srgbClr val="1D0090"/>
                </a:solidFill>
                <a:latin typeface="Mulish"/>
                <a:ea typeface="Mulish"/>
                <a:cs typeface="Mulish"/>
              </a:defRPr>
            </a:pPr>
            <a:r>
              <a:rPr sz="1950" b="1">
                <a:solidFill>
                  <a:srgbClr val="1D0090"/>
                </a:solidFill>
                <a:latin typeface="Mulish"/>
                <a:ea typeface="Mulish"/>
                <a:cs typeface="Mulish"/>
              </a:rPr>
              <a:t>No unit-price indexation for five years</a:t>
            </a:r>
          </a:p>
        </p:txBody>
      </p:sp>
      <p:sp>
        <p:nvSpPr>
          <p:cNvPr id="10" name="next">
            <a:extLst xmlns:a="http://schemas.openxmlformats.org/drawingml/2006/main">
              <a:ext uri="{FF2B5EF4-FFF2-40B4-BE49-F238E27FC236}">
                <a16:creationId xmlns:a16="http://schemas.microsoft.com/office/drawing/2014/main" id="{11E571F1-B0E3-4E16-8AC2-6FF1DA81B434}"/>
              </a:ext>
            </a:extLst>
          </p:cNvPr>
          <p:cNvSpPr>
            <a:spLocks xmlns:a="http://schemas.openxmlformats.org/drawingml/2006/main" noGrp="1"/>
          </p:cNvSpPr>
          <p:nvPr/>
        </p:nvSpPr>
        <p:spPr>
          <a:xfrm xmlns:a="http://schemas.openxmlformats.org/drawingml/2006/main">
            <a:off x="7448550" y="4762500"/>
            <a:ext cx="4286250" cy="1057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0">
                <a:solidFill>
                  <a:srgbClr val="3D3D3D"/>
                </a:solidFill>
                <a:latin typeface="Mulish"/>
                <a:ea typeface="Mulish"/>
                <a:cs typeface="Mulish"/>
              </a:defRPr>
            </a:pPr>
            <a:r>
              <a:rPr sz="1875" b="0">
                <a:solidFill>
                  <a:srgbClr val="3D3D3D"/>
                </a:solidFill>
                <a:latin typeface="Mulish"/>
                <a:ea typeface="Mulish"/>
                <a:cs typeface="Mulish"/>
              </a:rPr>
              <a:t>DDA sponsors procurement and</a:t>
            </a:r>
          </a:p>
          <a:p xmlns:a="http://schemas.openxmlformats.org/drawingml/2006/main">
            <a:pPr algn="l">
              <a:defRPr sz="1875" b="0">
                <a:solidFill>
                  <a:srgbClr val="3D3D3D"/>
                </a:solidFill>
                <a:latin typeface="Mulish"/>
                <a:ea typeface="Mulish"/>
                <a:cs typeface="Mulish"/>
              </a:defRPr>
            </a:pPr>
            <a:r>
              <a:rPr sz="1875" b="0">
                <a:solidFill>
                  <a:srgbClr val="3D3D3D"/>
                </a:solidFill>
                <a:latin typeface="Mulish"/>
                <a:ea typeface="Mulish"/>
                <a:cs typeface="Mulish"/>
              </a:rPr>
              <a:t>confirms entity allocations, funding</a:t>
            </a:r>
          </a:p>
          <a:p xmlns:a="http://schemas.openxmlformats.org/drawingml/2006/main">
            <a:pPr algn="l">
              <a:defRPr sz="1875" b="0">
                <a:solidFill>
                  <a:srgbClr val="3D3D3D"/>
                </a:solidFill>
                <a:latin typeface="Mulish"/>
                <a:ea typeface="Mulish"/>
                <a:cs typeface="Mulish"/>
              </a:defRPr>
            </a:pPr>
            <a:r>
              <a:rPr sz="1875" b="0">
                <a:solidFill>
                  <a:srgbClr val="3D3D3D"/>
                </a:solidFill>
                <a:latin typeface="Mulish"/>
                <a:ea typeface="Mulish"/>
                <a:cs typeface="Mulish"/>
              </a:rPr>
              <a:t>and onboarding sequence.</a:t>
            </a:r>
          </a:p>
        </p:txBody>
      </p:sp>
      <p:sp>
        <p:nvSpPr>
          <p:cNvPr id="11" name="qualification">
            <a:extLst xmlns:a="http://schemas.openxmlformats.org/drawingml/2006/main">
              <a:ext uri="{FF2B5EF4-FFF2-40B4-BE49-F238E27FC236}">
                <a16:creationId xmlns:a16="http://schemas.microsoft.com/office/drawing/2014/main" id="{4AC7D525-BE86-420A-9C3F-D7C854102766}"/>
              </a:ext>
            </a:extLst>
          </p:cNvPr>
          <p:cNvSpPr>
            <a:spLocks xmlns:a="http://schemas.openxmlformats.org/drawingml/2006/main" noGrp="1"/>
          </p:cNvSpPr>
          <p:nvPr/>
        </p:nvSpPr>
        <p:spPr>
          <a:xfrm xmlns:a="http://schemas.openxmlformats.org/drawingml/2006/main">
            <a:off x="457200" y="5924550"/>
            <a:ext cx="112776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344054"/>
                </a:solidFill>
                <a:latin typeface="Mulish"/>
                <a:ea typeface="Mulish"/>
                <a:cs typeface="Mulish"/>
              </a:defRPr>
            </a:pPr>
            <a:r>
              <a:rPr sz="1650" b="0">
                <a:solidFill>
                  <a:srgbClr val="344054"/>
                </a:solidFill>
                <a:latin typeface="Mulish"/>
                <a:ea typeface="Mulish"/>
                <a:cs typeface="Mulish"/>
              </a:rPr>
              <a:t>New-entity onboarding: AED 20,000 once per new entity. Optional modules are extra.</a:t>
            </a:r>
          </a:p>
          <a:p xmlns:a="http://schemas.openxmlformats.org/drawingml/2006/main">
            <a:pPr algn="l">
              <a:defRPr sz="1650" b="0">
                <a:solidFill>
                  <a:srgbClr val="344054"/>
                </a:solidFill>
                <a:latin typeface="Mulish"/>
                <a:ea typeface="Mulish"/>
                <a:cs typeface="Mulish"/>
              </a:defRPr>
            </a:pPr>
            <a:r>
              <a:rPr sz="1650" b="0">
                <a:solidFill>
                  <a:srgbClr val="344054"/>
                </a:solidFill>
                <a:latin typeface="Mulish"/>
                <a:ea typeface="Mulish"/>
                <a:cs typeface="Mulish"/>
              </a:rPr>
              <a:t>At exactly 10K, the model uses 14% support. The 12.5% proposal applies above 10K.</a:t>
            </a:r>
          </a:p>
        </p:txBody>
      </p:sp>
    </p:spTree>
    <p:extLst>
      <p:ext uri="{BB962C8B-B14F-4D97-AF65-F5344CB8AC3E}">
        <p14:creationId xmlns:p14="http://schemas.microsoft.com/office/powerpoint/2010/main" val="707585314"/>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4184f182425341a9"/>
          <a:stretch xmlns:a="http://schemas.openxmlformats.org/drawingml/2006/main"/>
        </p:blipFill>
        <p:spPr>
          <a:xfrm xmlns:a="http://schemas.openxmlformats.org/drawingml/2006/main">
            <a:off x="457200" y="228600"/>
            <a:ext cx="381000" cy="381000"/>
          </a:xfrm>
          <a:prstGeom xmlns:a="http://schemas.openxmlformats.org/drawingml/2006/main" prst="rect">
            <a:avLst/>
          </a:prstGeom>
        </p:spPr>
      </p:pic>
      <p:sp>
        <p:nvSpPr>
          <p:cNvPr id="2" name="page-number">
            <a:extLst xmlns:a="http://schemas.openxmlformats.org/drawingml/2006/main">
              <a:ext uri="{FF2B5EF4-FFF2-40B4-BE49-F238E27FC236}">
                <a16:creationId xmlns:a16="http://schemas.microsoft.com/office/drawing/2014/main" id="{C2FFE0F7-D13E-4755-8D72-1F11DBDE906E}"/>
              </a:ext>
            </a:extLst>
          </p:cNvPr>
          <p:cNvSpPr>
            <a:spLocks xmlns:a="http://schemas.openxmlformats.org/drawingml/2006/main" noGrp="1"/>
          </p:cNvSpPr>
          <p:nvPr/>
        </p:nvSpPr>
        <p:spPr>
          <a:xfrm xmlns:a="http://schemas.openxmlformats.org/drawingml/2006/main">
            <a:off x="11277600" y="643890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050" b="1">
                <a:solidFill>
                  <a:srgbClr val="1D0090"/>
                </a:solidFill>
                <a:latin typeface="Mulish"/>
                <a:ea typeface="Mulish"/>
                <a:cs typeface="Mulish"/>
              </a:defRPr>
            </a:pPr>
            <a:r>
              <a:rPr sz="1050" b="1">
                <a:solidFill>
                  <a:srgbClr val="1D0090"/>
                </a:solidFill>
                <a:latin typeface="Mulish"/>
                <a:ea typeface="Mulish"/>
                <a:cs typeface="Mulish"/>
              </a:rPr>
              <a:t>05</a:t>
            </a:r>
          </a:p>
        </p:txBody>
      </p:sp>
      <p:sp>
        <p:nvSpPr>
          <p:cNvPr id="3" name="eyebrow">
            <a:extLst xmlns:a="http://schemas.openxmlformats.org/drawingml/2006/main">
              <a:ext uri="{FF2B5EF4-FFF2-40B4-BE49-F238E27FC236}">
                <a16:creationId xmlns:a16="http://schemas.microsoft.com/office/drawing/2014/main" id="{C33E5486-126E-4C67-AA7E-A1B491EBCAE5}"/>
              </a:ext>
            </a:extLst>
          </p:cNvPr>
          <p:cNvSpPr>
            <a:spLocks xmlns:a="http://schemas.openxmlformats.org/drawingml/2006/main" noGrp="1"/>
          </p:cNvSpPr>
          <p:nvPr/>
        </p:nvSpPr>
        <p:spPr>
          <a:xfrm xmlns:a="http://schemas.openxmlformats.org/drawingml/2006/main">
            <a:off x="990600" y="266700"/>
            <a:ext cx="1009650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7000FF"/>
                </a:solidFill>
                <a:latin typeface="Mulish"/>
                <a:ea typeface="Mulish"/>
                <a:cs typeface="Mulish"/>
              </a:defRPr>
            </a:pPr>
            <a:r>
              <a:rPr sz="1650" b="1">
                <a:solidFill>
                  <a:srgbClr val="7000FF"/>
                </a:solidFill>
                <a:latin typeface="Mulish"/>
                <a:ea typeface="Mulish"/>
                <a:cs typeface="Mulish"/>
              </a:rPr>
              <a:t>DDA MANAGEMENT DISCUSSION / OPTIONAL DETAIL 1</a:t>
            </a:r>
          </a:p>
        </p:txBody>
      </p:sp>
      <p:sp>
        <p:nvSpPr>
          <p:cNvPr id="4" name="title">
            <a:extLst xmlns:a="http://schemas.openxmlformats.org/drawingml/2006/main">
              <a:ext uri="{FF2B5EF4-FFF2-40B4-BE49-F238E27FC236}">
                <a16:creationId xmlns:a16="http://schemas.microsoft.com/office/drawing/2014/main" id="{8CE5ED23-8239-4BAF-A8E6-D43943FFA98C}"/>
              </a:ext>
            </a:extLst>
          </p:cNvPr>
          <p:cNvSpPr>
            <a:spLocks xmlns:a="http://schemas.openxmlformats.org/drawingml/2006/main" noGrp="1"/>
          </p:cNvSpPr>
          <p:nvPr/>
        </p:nvSpPr>
        <p:spPr>
          <a:xfrm xmlns:a="http://schemas.openxmlformats.org/drawingml/2006/main">
            <a:off x="457200" y="914400"/>
            <a:ext cx="1127760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450" b="1">
                <a:solidFill>
                  <a:srgbClr val="1D0090"/>
                </a:solidFill>
                <a:latin typeface="Spartan"/>
                <a:ea typeface="Spartan"/>
                <a:cs typeface="Spartan"/>
              </a:defRPr>
            </a:pPr>
            <a:r>
              <a:rPr sz="3450" b="1">
                <a:solidFill>
                  <a:srgbClr val="1D0090"/>
                </a:solidFill>
                <a:latin typeface="Spartan"/>
                <a:ea typeface="Spartan"/>
                <a:cs typeface="Spartan"/>
              </a:rPr>
              <a:t>Savings against current customer prices</a:t>
            </a:r>
          </a:p>
        </p:txBody>
      </p:sp>
      <p:sp>
        <p:nvSpPr>
          <p:cNvPr id="5" name="basis">
            <a:extLst xmlns:a="http://schemas.openxmlformats.org/drawingml/2006/main">
              <a:ext uri="{FF2B5EF4-FFF2-40B4-BE49-F238E27FC236}">
                <a16:creationId xmlns:a16="http://schemas.microsoft.com/office/drawing/2014/main" id="{A7AF101B-4F45-4062-8459-0FD1A012AF45}"/>
              </a:ext>
            </a:extLst>
          </p:cNvPr>
          <p:cNvSpPr>
            <a:spLocks xmlns:a="http://schemas.openxmlformats.org/drawingml/2006/main" noGrp="1"/>
          </p:cNvSpPr>
          <p:nvPr/>
        </p:nvSpPr>
        <p:spPr>
          <a:xfrm xmlns:a="http://schemas.openxmlformats.org/drawingml/2006/main">
            <a:off x="457200" y="1714500"/>
            <a:ext cx="11239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0">
                <a:solidFill>
                  <a:srgbClr val="3D3D3D"/>
                </a:solidFill>
                <a:latin typeface="Mulish"/>
                <a:ea typeface="Mulish"/>
                <a:cs typeface="Mulish"/>
              </a:defRPr>
            </a:pPr>
            <a:r>
              <a:rPr sz="1950" b="0">
                <a:solidFill>
                  <a:srgbClr val="3D3D3D"/>
                </a:solidFill>
                <a:latin typeface="Mulish"/>
                <a:ea typeface="Mulish"/>
                <a:cs typeface="Mulish"/>
              </a:rPr>
              <a:t>Today’s 1,310 users, allocated the central AED 1,180 rate</a:t>
            </a:r>
          </a:p>
        </p:txBody>
      </p:sp>
      <p:graphicFrame>
        <p:nvGraphicFramePr>
          <p:cNvPr id="13" name=""/>
          <p:cNvGraphicFramePr/>
          <p:nvPr/>
        </p:nvGraphicFramePr>
        <p:xfrm>
          <a:off xmlns:a="http://schemas.openxmlformats.org/drawingml/2006/main" x="457200" y="2190750"/>
          <a:ext xmlns:a="http://schemas.openxmlformats.org/drawingml/2006/main" cx="11277600" cy="3000375"/>
        </p:xfrm>
        <a:graphic xmlns:a="http://schemas.openxmlformats.org/drawingml/2006/main">
          <a:graphicData uri="http://schemas.openxmlformats.org/drawingml/2006/table">
            <a:tbl>
              <a:tblPr firstRow="1" bandRow="0"/>
              <a:tblGrid>
                <a:gridCol w="4524375"/>
                <a:gridCol w="1000125"/>
                <a:gridCol w="2333625"/>
                <a:gridCol w="3419475"/>
              </a:tblGrid>
              <a:tr h="333375">
                <a:tc>
                  <a:txBody>
                    <a:bodyPr/>
                    <a:lstStyle/>
                    <a:p>
                      <a:pPr algn="l"/>
                      <a:r>
                        <a:rPr sz="1650" b="1">
                          <a:solidFill>
                            <a:srgbClr val="FFFFFF"/>
                          </a:solidFill>
                          <a:latin typeface="Mulish"/>
                          <a:ea typeface="Mulish"/>
                          <a:cs typeface="Mulish"/>
                        </a:rPr>
                        <a:t>Customer / project</a:t>
                      </a:r>
                    </a:p>
                  </a:txBody>
                  <a:tcPr marL="95250" marR="95250" marT="76200" marB="76200">
                    <a:solidFill>
                      <a:srgbClr val="1D0090"/>
                    </a:solidFill>
                  </a:tcPr>
                </a:tc>
                <a:tc>
                  <a:txBody>
                    <a:bodyPr/>
                    <a:lstStyle/>
                    <a:p>
                      <a:pPr algn="r"/>
                      <a:r>
                        <a:rPr sz="1650" b="1">
                          <a:solidFill>
                            <a:srgbClr val="FFFFFF"/>
                          </a:solidFill>
                          <a:latin typeface="Mulish"/>
                          <a:ea typeface="Mulish"/>
                          <a:cs typeface="Mulish"/>
                        </a:rPr>
                        <a:t>Users</a:t>
                      </a:r>
                    </a:p>
                  </a:txBody>
                  <a:tcPr marL="95250" marR="95250" marT="76200" marB="76200">
                    <a:solidFill>
                      <a:srgbClr val="1D0090"/>
                    </a:solidFill>
                  </a:tcPr>
                </a:tc>
                <a:tc>
                  <a:txBody>
                    <a:bodyPr/>
                    <a:lstStyle/>
                    <a:p>
                      <a:pPr algn="r"/>
                      <a:r>
                        <a:rPr sz="1650" b="1">
                          <a:solidFill>
                            <a:srgbClr val="FFFFFF"/>
                          </a:solidFill>
                          <a:latin typeface="Mulish"/>
                          <a:ea typeface="Mulish"/>
                          <a:cs typeface="Mulish"/>
                        </a:rPr>
                        <a:t>Current AED/user</a:t>
                      </a:r>
                    </a:p>
                  </a:txBody>
                  <a:tcPr marL="95250" marR="95250" marT="76200" marB="76200">
                    <a:solidFill>
                      <a:srgbClr val="1D0090"/>
                    </a:solidFill>
                  </a:tcPr>
                </a:tc>
                <a:tc>
                  <a:txBody>
                    <a:bodyPr/>
                    <a:lstStyle/>
                    <a:p>
                      <a:pPr algn="r"/>
                      <a:r>
                        <a:rPr sz="1650" b="1">
                          <a:solidFill>
                            <a:srgbClr val="FFFFFF"/>
                          </a:solidFill>
                          <a:latin typeface="Mulish"/>
                          <a:ea typeface="Mulish"/>
                          <a:cs typeface="Mulish"/>
                        </a:rPr>
                        <a:t>Saving AED/year</a:t>
                      </a:r>
                    </a:p>
                  </a:txBody>
                  <a:tcPr marL="95250" marR="95250" marT="76200" marB="76200">
                    <a:solidFill>
                      <a:srgbClr val="1D0090"/>
                    </a:solidFill>
                  </a:tcPr>
                </a:tc>
              </a:tr>
              <a:tr h="333375">
                <a:tc>
                  <a:txBody>
                    <a:bodyPr/>
                    <a:lstStyle/>
                    <a:p>
                      <a:pPr algn="l"/>
                      <a:r>
                        <a:rPr sz="1650" b="0">
                          <a:solidFill>
                            <a:srgbClr val="3D3D3D"/>
                          </a:solidFill>
                          <a:latin typeface="Mulish"/>
                          <a:ea typeface="Mulish"/>
                          <a:cs typeface="Mulish"/>
                        </a:rPr>
                        <a:t>DDA VIP project</a:t>
                      </a:r>
                    </a:p>
                  </a:txBody>
                  <a:tcPr marL="95250" marR="95250" marT="76200" marB="76200">
                    <a:solidFill>
                      <a:srgbClr val="FFFFFF"/>
                    </a:solidFill>
                  </a:tcPr>
                </a:tc>
                <a:tc>
                  <a:txBody>
                    <a:bodyPr/>
                    <a:lstStyle/>
                    <a:p>
                      <a:pPr algn="r"/>
                      <a:r>
                        <a:rPr sz="1650" b="0">
                          <a:solidFill>
                            <a:srgbClr val="3D3D3D"/>
                          </a:solidFill>
                          <a:latin typeface="Mulish"/>
                          <a:ea typeface="Mulish"/>
                          <a:cs typeface="Mulish"/>
                        </a:rPr>
                        <a:t>50</a:t>
                      </a:r>
                    </a:p>
                  </a:txBody>
                  <a:tcPr marL="95250" marR="95250" marT="76200" marB="76200">
                    <a:solidFill>
                      <a:srgbClr val="FFFFFF"/>
                    </a:solidFill>
                  </a:tcPr>
                </a:tc>
                <a:tc>
                  <a:txBody>
                    <a:bodyPr/>
                    <a:lstStyle/>
                    <a:p>
                      <a:pPr algn="r"/>
                      <a:r>
                        <a:rPr sz="1650" b="0">
                          <a:solidFill>
                            <a:srgbClr val="3D3D3D"/>
                          </a:solidFill>
                          <a:latin typeface="Mulish"/>
                          <a:ea typeface="Mulish"/>
                          <a:cs typeface="Mulish"/>
                        </a:rPr>
                        <a:t>1,850.94</a:t>
                      </a:r>
                    </a:p>
                  </a:txBody>
                  <a:tcPr marL="95250" marR="95250" marT="76200" marB="76200">
                    <a:solidFill>
                      <a:srgbClr val="FFFFFF"/>
                    </a:solidFill>
                  </a:tcPr>
                </a:tc>
                <a:tc>
                  <a:txBody>
                    <a:bodyPr/>
                    <a:lstStyle/>
                    <a:p>
                      <a:pPr algn="r"/>
                      <a:r>
                        <a:rPr sz="1650" b="0">
                          <a:solidFill>
                            <a:srgbClr val="3D3D3D"/>
                          </a:solidFill>
                          <a:latin typeface="Mulish"/>
                          <a:ea typeface="Mulish"/>
                          <a:cs typeface="Mulish"/>
                        </a:rPr>
                        <a:t>33,547.00</a:t>
                      </a:r>
                    </a:p>
                  </a:txBody>
                  <a:tcPr marL="95250" marR="95250" marT="76200" marB="76200">
                    <a:solidFill>
                      <a:srgbClr val="FFFFFF"/>
                    </a:solidFill>
                  </a:tcPr>
                </a:tc>
              </a:tr>
              <a:tr h="333375">
                <a:tc>
                  <a:txBody>
                    <a:bodyPr/>
                    <a:lstStyle/>
                    <a:p>
                      <a:pPr algn="l"/>
                      <a:r>
                        <a:rPr sz="1650" b="0">
                          <a:solidFill>
                            <a:srgbClr val="3D3D3D"/>
                          </a:solidFill>
                          <a:latin typeface="Mulish"/>
                          <a:ea typeface="Mulish"/>
                          <a:cs typeface="Mulish"/>
                        </a:rPr>
                        <a:t>Digital Dubai Authority</a:t>
                      </a:r>
                    </a:p>
                  </a:txBody>
                  <a:tcPr marL="95250" marR="95250" marT="76200" marB="76200">
                    <a:solidFill>
                      <a:srgbClr val="F5EDFF"/>
                    </a:solidFill>
                  </a:tcPr>
                </a:tc>
                <a:tc>
                  <a:txBody>
                    <a:bodyPr/>
                    <a:lstStyle/>
                    <a:p>
                      <a:pPr algn="r"/>
                      <a:r>
                        <a:rPr sz="1650" b="0">
                          <a:solidFill>
                            <a:srgbClr val="3D3D3D"/>
                          </a:solidFill>
                          <a:latin typeface="Mulish"/>
                          <a:ea typeface="Mulish"/>
                          <a:cs typeface="Mulish"/>
                        </a:rPr>
                        <a:t>100</a:t>
                      </a:r>
                    </a:p>
                  </a:txBody>
                  <a:tcPr marL="95250" marR="95250" marT="76200" marB="76200">
                    <a:solidFill>
                      <a:srgbClr val="F5EDFF"/>
                    </a:solidFill>
                  </a:tcPr>
                </a:tc>
                <a:tc>
                  <a:txBody>
                    <a:bodyPr/>
                    <a:lstStyle/>
                    <a:p>
                      <a:pPr algn="r"/>
                      <a:r>
                        <a:rPr sz="1650" b="0">
                          <a:solidFill>
                            <a:srgbClr val="3D3D3D"/>
                          </a:solidFill>
                          <a:latin typeface="Mulish"/>
                          <a:ea typeface="Mulish"/>
                          <a:cs typeface="Mulish"/>
                        </a:rPr>
                        <a:t>2,212.50</a:t>
                      </a:r>
                    </a:p>
                  </a:txBody>
                  <a:tcPr marL="95250" marR="95250" marT="76200" marB="76200">
                    <a:solidFill>
                      <a:srgbClr val="F5EDFF"/>
                    </a:solidFill>
                  </a:tcPr>
                </a:tc>
                <a:tc>
                  <a:txBody>
                    <a:bodyPr/>
                    <a:lstStyle/>
                    <a:p>
                      <a:pPr algn="r"/>
                      <a:r>
                        <a:rPr sz="1650" b="0">
                          <a:solidFill>
                            <a:srgbClr val="3D3D3D"/>
                          </a:solidFill>
                          <a:latin typeface="Mulish"/>
                          <a:ea typeface="Mulish"/>
                          <a:cs typeface="Mulish"/>
                        </a:rPr>
                        <a:t>103,250.00</a:t>
                      </a:r>
                    </a:p>
                  </a:txBody>
                  <a:tcPr marL="95250" marR="95250" marT="76200" marB="76200">
                    <a:solidFill>
                      <a:srgbClr val="F5EDFF"/>
                    </a:solidFill>
                  </a:tcPr>
                </a:tc>
              </a:tr>
              <a:tr h="333375">
                <a:tc>
                  <a:txBody>
                    <a:bodyPr/>
                    <a:lstStyle/>
                    <a:p>
                      <a:pPr algn="l"/>
                      <a:r>
                        <a:rPr sz="1650" b="0">
                          <a:solidFill>
                            <a:srgbClr val="3D3D3D"/>
                          </a:solidFill>
                          <a:latin typeface="Mulish"/>
                          <a:ea typeface="Mulish"/>
                          <a:cs typeface="Mulish"/>
                        </a:rPr>
                        <a:t>Dubai Culture &amp; Arts</a:t>
                      </a:r>
                    </a:p>
                  </a:txBody>
                  <a:tcPr marL="95250" marR="95250" marT="76200" marB="76200">
                    <a:solidFill>
                      <a:srgbClr val="FFFFFF"/>
                    </a:solidFill>
                  </a:tcPr>
                </a:tc>
                <a:tc>
                  <a:txBody>
                    <a:bodyPr/>
                    <a:lstStyle/>
                    <a:p>
                      <a:pPr algn="r"/>
                      <a:r>
                        <a:rPr sz="1650" b="0">
                          <a:solidFill>
                            <a:srgbClr val="3D3D3D"/>
                          </a:solidFill>
                          <a:latin typeface="Mulish"/>
                          <a:ea typeface="Mulish"/>
                          <a:cs typeface="Mulish"/>
                        </a:rPr>
                        <a:t>25</a:t>
                      </a:r>
                    </a:p>
                  </a:txBody>
                  <a:tcPr marL="95250" marR="95250" marT="76200" marB="76200">
                    <a:solidFill>
                      <a:srgbClr val="FFFFFF"/>
                    </a:solidFill>
                  </a:tcPr>
                </a:tc>
                <a:tc>
                  <a:txBody>
                    <a:bodyPr/>
                    <a:lstStyle/>
                    <a:p>
                      <a:pPr algn="r"/>
                      <a:r>
                        <a:rPr sz="1650" b="0">
                          <a:solidFill>
                            <a:srgbClr val="3D3D3D"/>
                          </a:solidFill>
                          <a:latin typeface="Mulish"/>
                          <a:ea typeface="Mulish"/>
                          <a:cs typeface="Mulish"/>
                        </a:rPr>
                        <a:t>2,212.48</a:t>
                      </a:r>
                    </a:p>
                  </a:txBody>
                  <a:tcPr marL="95250" marR="95250" marT="76200" marB="76200">
                    <a:solidFill>
                      <a:srgbClr val="FFFFFF"/>
                    </a:solidFill>
                  </a:tcPr>
                </a:tc>
                <a:tc>
                  <a:txBody>
                    <a:bodyPr/>
                    <a:lstStyle/>
                    <a:p>
                      <a:pPr algn="r"/>
                      <a:r>
                        <a:rPr sz="1650" b="0">
                          <a:solidFill>
                            <a:srgbClr val="3D3D3D"/>
                          </a:solidFill>
                          <a:latin typeface="Mulish"/>
                          <a:ea typeface="Mulish"/>
                          <a:cs typeface="Mulish"/>
                        </a:rPr>
                        <a:t>25,812.00</a:t>
                      </a:r>
                    </a:p>
                  </a:txBody>
                  <a:tcPr marL="95250" marR="95250" marT="76200" marB="76200">
                    <a:solidFill>
                      <a:srgbClr val="FFFFFF"/>
                    </a:solidFill>
                  </a:tcPr>
                </a:tc>
              </a:tr>
              <a:tr h="333375">
                <a:tc>
                  <a:txBody>
                    <a:bodyPr/>
                    <a:lstStyle/>
                    <a:p>
                      <a:pPr algn="l"/>
                      <a:r>
                        <a:rPr sz="1650" b="0">
                          <a:solidFill>
                            <a:srgbClr val="3D3D3D"/>
                          </a:solidFill>
                          <a:latin typeface="Mulish"/>
                          <a:ea typeface="Mulish"/>
                          <a:cs typeface="Mulish"/>
                        </a:rPr>
                        <a:t>Dubai Electronic Security Center</a:t>
                      </a:r>
                    </a:p>
                  </a:txBody>
                  <a:tcPr marL="95250" marR="95250" marT="76200" marB="76200">
                    <a:solidFill>
                      <a:srgbClr val="F5EDFF"/>
                    </a:solidFill>
                  </a:tcPr>
                </a:tc>
                <a:tc>
                  <a:txBody>
                    <a:bodyPr/>
                    <a:lstStyle/>
                    <a:p>
                      <a:pPr algn="r"/>
                      <a:r>
                        <a:rPr sz="1650" b="0">
                          <a:solidFill>
                            <a:srgbClr val="3D3D3D"/>
                          </a:solidFill>
                          <a:latin typeface="Mulish"/>
                          <a:ea typeface="Mulish"/>
                          <a:cs typeface="Mulish"/>
                        </a:rPr>
                        <a:t>60</a:t>
                      </a:r>
                    </a:p>
                  </a:txBody>
                  <a:tcPr marL="95250" marR="95250" marT="76200" marB="76200">
                    <a:solidFill>
                      <a:srgbClr val="F5EDFF"/>
                    </a:solidFill>
                  </a:tcPr>
                </a:tc>
                <a:tc>
                  <a:txBody>
                    <a:bodyPr/>
                    <a:lstStyle/>
                    <a:p>
                      <a:pPr algn="r"/>
                      <a:r>
                        <a:rPr sz="1650" b="0">
                          <a:solidFill>
                            <a:srgbClr val="3D3D3D"/>
                          </a:solidFill>
                          <a:latin typeface="Mulish"/>
                          <a:ea typeface="Mulish"/>
                          <a:cs typeface="Mulish"/>
                        </a:rPr>
                        <a:t>2,507.50</a:t>
                      </a:r>
                    </a:p>
                  </a:txBody>
                  <a:tcPr marL="95250" marR="95250" marT="76200" marB="76200">
                    <a:solidFill>
                      <a:srgbClr val="F5EDFF"/>
                    </a:solidFill>
                  </a:tcPr>
                </a:tc>
                <a:tc>
                  <a:txBody>
                    <a:bodyPr/>
                    <a:lstStyle/>
                    <a:p>
                      <a:pPr algn="r"/>
                      <a:r>
                        <a:rPr sz="1650" b="0">
                          <a:solidFill>
                            <a:srgbClr val="3D3D3D"/>
                          </a:solidFill>
                          <a:latin typeface="Mulish"/>
                          <a:ea typeface="Mulish"/>
                          <a:cs typeface="Mulish"/>
                        </a:rPr>
                        <a:t>79,650.00</a:t>
                      </a:r>
                    </a:p>
                  </a:txBody>
                  <a:tcPr marL="95250" marR="95250" marT="76200" marB="76200">
                    <a:solidFill>
                      <a:srgbClr val="F5EDFF"/>
                    </a:solidFill>
                  </a:tcPr>
                </a:tc>
              </a:tr>
              <a:tr h="333375">
                <a:tc>
                  <a:txBody>
                    <a:bodyPr/>
                    <a:lstStyle/>
                    <a:p>
                      <a:pPr algn="l"/>
                      <a:r>
                        <a:rPr sz="1650" b="0">
                          <a:solidFill>
                            <a:srgbClr val="3D3D3D"/>
                          </a:solidFill>
                          <a:latin typeface="Mulish"/>
                          <a:ea typeface="Mulish"/>
                          <a:cs typeface="Mulish"/>
                        </a:rPr>
                        <a:t>PCFC</a:t>
                      </a:r>
                    </a:p>
                  </a:txBody>
                  <a:tcPr marL="95250" marR="95250" marT="76200" marB="76200">
                    <a:solidFill>
                      <a:srgbClr val="FFFFFF"/>
                    </a:solidFill>
                  </a:tcPr>
                </a:tc>
                <a:tc>
                  <a:txBody>
                    <a:bodyPr/>
                    <a:lstStyle/>
                    <a:p>
                      <a:pPr algn="r"/>
                      <a:r>
                        <a:rPr sz="1650" b="0">
                          <a:solidFill>
                            <a:srgbClr val="3D3D3D"/>
                          </a:solidFill>
                          <a:latin typeface="Mulish"/>
                          <a:ea typeface="Mulish"/>
                          <a:cs typeface="Mulish"/>
                        </a:rPr>
                        <a:t>25</a:t>
                      </a:r>
                    </a:p>
                  </a:txBody>
                  <a:tcPr marL="95250" marR="95250" marT="76200" marB="76200">
                    <a:solidFill>
                      <a:srgbClr val="FFFFFF"/>
                    </a:solidFill>
                  </a:tcPr>
                </a:tc>
                <a:tc>
                  <a:txBody>
                    <a:bodyPr/>
                    <a:lstStyle/>
                    <a:p>
                      <a:pPr algn="r"/>
                      <a:r>
                        <a:rPr sz="1650" b="0">
                          <a:solidFill>
                            <a:srgbClr val="3D3D3D"/>
                          </a:solidFill>
                          <a:latin typeface="Mulish"/>
                          <a:ea typeface="Mulish"/>
                          <a:cs typeface="Mulish"/>
                        </a:rPr>
                        <a:t>2,159.43</a:t>
                      </a:r>
                    </a:p>
                  </a:txBody>
                  <a:tcPr marL="95250" marR="95250" marT="76200" marB="76200">
                    <a:solidFill>
                      <a:srgbClr val="FFFFFF"/>
                    </a:solidFill>
                  </a:tcPr>
                </a:tc>
                <a:tc>
                  <a:txBody>
                    <a:bodyPr/>
                    <a:lstStyle/>
                    <a:p>
                      <a:pPr algn="r"/>
                      <a:r>
                        <a:rPr sz="1650" b="0">
                          <a:solidFill>
                            <a:srgbClr val="3D3D3D"/>
                          </a:solidFill>
                          <a:latin typeface="Mulish"/>
                          <a:ea typeface="Mulish"/>
                          <a:cs typeface="Mulish"/>
                        </a:rPr>
                        <a:t>24,485.75</a:t>
                      </a:r>
                    </a:p>
                  </a:txBody>
                  <a:tcPr marL="95250" marR="95250" marT="76200" marB="76200">
                    <a:solidFill>
                      <a:srgbClr val="FFFFFF"/>
                    </a:solidFill>
                  </a:tcPr>
                </a:tc>
              </a:tr>
              <a:tr h="333375">
                <a:tc>
                  <a:txBody>
                    <a:bodyPr/>
                    <a:lstStyle/>
                    <a:p>
                      <a:pPr algn="l"/>
                      <a:r>
                        <a:rPr sz="1650" b="0">
                          <a:solidFill>
                            <a:srgbClr val="3D3D3D"/>
                          </a:solidFill>
                          <a:latin typeface="Mulish"/>
                          <a:ea typeface="Mulish"/>
                          <a:cs typeface="Mulish"/>
                        </a:rPr>
                        <a:t>Roads and Transport Authority</a:t>
                      </a:r>
                    </a:p>
                  </a:txBody>
                  <a:tcPr marL="95250" marR="95250" marT="76200" marB="76200">
                    <a:solidFill>
                      <a:srgbClr val="F5EDFF"/>
                    </a:solidFill>
                  </a:tcPr>
                </a:tc>
                <a:tc>
                  <a:txBody>
                    <a:bodyPr/>
                    <a:lstStyle/>
                    <a:p>
                      <a:pPr algn="r"/>
                      <a:r>
                        <a:rPr sz="1650" b="0">
                          <a:solidFill>
                            <a:srgbClr val="3D3D3D"/>
                          </a:solidFill>
                          <a:latin typeface="Mulish"/>
                          <a:ea typeface="Mulish"/>
                          <a:cs typeface="Mulish"/>
                        </a:rPr>
                        <a:t>1,000</a:t>
                      </a:r>
                    </a:p>
                  </a:txBody>
                  <a:tcPr marL="95250" marR="95250" marT="76200" marB="76200">
                    <a:solidFill>
                      <a:srgbClr val="F5EDFF"/>
                    </a:solidFill>
                  </a:tcPr>
                </a:tc>
                <a:tc>
                  <a:txBody>
                    <a:bodyPr/>
                    <a:lstStyle/>
                    <a:p>
                      <a:pPr algn="r"/>
                      <a:r>
                        <a:rPr sz="1650" b="0">
                          <a:solidFill>
                            <a:srgbClr val="3D3D3D"/>
                          </a:solidFill>
                          <a:latin typeface="Mulish"/>
                          <a:ea typeface="Mulish"/>
                          <a:cs typeface="Mulish"/>
                        </a:rPr>
                        <a:t>1,245.00</a:t>
                      </a:r>
                    </a:p>
                  </a:txBody>
                  <a:tcPr marL="95250" marR="95250" marT="76200" marB="76200">
                    <a:solidFill>
                      <a:srgbClr val="F5EDFF"/>
                    </a:solidFill>
                  </a:tcPr>
                </a:tc>
                <a:tc>
                  <a:txBody>
                    <a:bodyPr/>
                    <a:lstStyle/>
                    <a:p>
                      <a:pPr algn="r"/>
                      <a:r>
                        <a:rPr sz="1650" b="0">
                          <a:solidFill>
                            <a:srgbClr val="3D3D3D"/>
                          </a:solidFill>
                          <a:latin typeface="Mulish"/>
                          <a:ea typeface="Mulish"/>
                          <a:cs typeface="Mulish"/>
                        </a:rPr>
                        <a:t>65,000.00</a:t>
                      </a:r>
                    </a:p>
                  </a:txBody>
                  <a:tcPr marL="95250" marR="95250" marT="76200" marB="76200">
                    <a:solidFill>
                      <a:srgbClr val="F5EDFF"/>
                    </a:solidFill>
                  </a:tcPr>
                </a:tc>
              </a:tr>
              <a:tr h="333375">
                <a:tc>
                  <a:txBody>
                    <a:bodyPr/>
                    <a:lstStyle/>
                    <a:p>
                      <a:pPr algn="l"/>
                      <a:r>
                        <a:rPr sz="1650" b="0">
                          <a:solidFill>
                            <a:srgbClr val="3D3D3D"/>
                          </a:solidFill>
                          <a:latin typeface="Mulish"/>
                          <a:ea typeface="Mulish"/>
                          <a:cs typeface="Mulish"/>
                        </a:rPr>
                        <a:t>His Highness the Rulers Court</a:t>
                      </a:r>
                    </a:p>
                  </a:txBody>
                  <a:tcPr marL="95250" marR="95250" marT="76200" marB="76200">
                    <a:solidFill>
                      <a:srgbClr val="FFFFFF"/>
                    </a:solidFill>
                  </a:tcPr>
                </a:tc>
                <a:tc>
                  <a:txBody>
                    <a:bodyPr/>
                    <a:lstStyle/>
                    <a:p>
                      <a:pPr algn="r"/>
                      <a:r>
                        <a:rPr sz="1650" b="0">
                          <a:solidFill>
                            <a:srgbClr val="3D3D3D"/>
                          </a:solidFill>
                          <a:latin typeface="Mulish"/>
                          <a:ea typeface="Mulish"/>
                          <a:cs typeface="Mulish"/>
                        </a:rPr>
                        <a:t>50</a:t>
                      </a:r>
                    </a:p>
                  </a:txBody>
                  <a:tcPr marL="95250" marR="95250" marT="76200" marB="76200">
                    <a:solidFill>
                      <a:srgbClr val="FFFFFF"/>
                    </a:solidFill>
                  </a:tcPr>
                </a:tc>
                <a:tc>
                  <a:txBody>
                    <a:bodyPr/>
                    <a:lstStyle/>
                    <a:p>
                      <a:pPr algn="r"/>
                      <a:r>
                        <a:rPr sz="1650" b="0">
                          <a:solidFill>
                            <a:srgbClr val="3D3D3D"/>
                          </a:solidFill>
                          <a:latin typeface="Mulish"/>
                          <a:ea typeface="Mulish"/>
                          <a:cs typeface="Mulish"/>
                        </a:rPr>
                        <a:t>2,212.50</a:t>
                      </a:r>
                    </a:p>
                  </a:txBody>
                  <a:tcPr marL="95250" marR="95250" marT="76200" marB="76200">
                    <a:solidFill>
                      <a:srgbClr val="FFFFFF"/>
                    </a:solidFill>
                  </a:tcPr>
                </a:tc>
                <a:tc>
                  <a:txBody>
                    <a:bodyPr/>
                    <a:lstStyle/>
                    <a:p>
                      <a:pPr algn="r"/>
                      <a:r>
                        <a:rPr sz="1650" b="0">
                          <a:solidFill>
                            <a:srgbClr val="3D3D3D"/>
                          </a:solidFill>
                          <a:latin typeface="Mulish"/>
                          <a:ea typeface="Mulish"/>
                          <a:cs typeface="Mulish"/>
                        </a:rPr>
                        <a:t>51,625.00</a:t>
                      </a:r>
                    </a:p>
                  </a:txBody>
                  <a:tcPr marL="95250" marR="95250" marT="76200" marB="76200">
                    <a:solidFill>
                      <a:srgbClr val="FFFFFF"/>
                    </a:solidFill>
                  </a:tcPr>
                </a:tc>
              </a:tr>
              <a:tr h="333375">
                <a:tc>
                  <a:txBody>
                    <a:bodyPr/>
                    <a:lstStyle/>
                    <a:p>
                      <a:pPr algn="l"/>
                      <a:r>
                        <a:rPr sz="1650" b="1">
                          <a:solidFill>
                            <a:srgbClr val="3D3D3D"/>
                          </a:solidFill>
                          <a:latin typeface="Mulish"/>
                          <a:ea typeface="Mulish"/>
                          <a:cs typeface="Mulish"/>
                        </a:rPr>
                        <a:t>Total</a:t>
                      </a:r>
                    </a:p>
                  </a:txBody>
                  <a:tcPr marL="95250" marR="95250" marT="76200" marB="76200">
                    <a:solidFill>
                      <a:srgbClr val="F5EDFF"/>
                    </a:solidFill>
                  </a:tcPr>
                </a:tc>
                <a:tc>
                  <a:txBody>
                    <a:bodyPr/>
                    <a:lstStyle/>
                    <a:p>
                      <a:pPr algn="r"/>
                      <a:r>
                        <a:rPr sz="1650" b="1">
                          <a:solidFill>
                            <a:srgbClr val="3D3D3D"/>
                          </a:solidFill>
                          <a:latin typeface="Mulish"/>
                          <a:ea typeface="Mulish"/>
                          <a:cs typeface="Mulish"/>
                        </a:rPr>
                        <a:t>1,310</a:t>
                      </a:r>
                    </a:p>
                  </a:txBody>
                  <a:tcPr marL="95250" marR="95250" marT="76200" marB="76200">
                    <a:solidFill>
                      <a:srgbClr val="F5EDFF"/>
                    </a:solidFill>
                  </a:tcPr>
                </a:tc>
                <a:tc>
                  <a:txBody>
                    <a:bodyPr/>
                    <a:lstStyle/>
                    <a:p>
                      <a:pPr algn="r"/>
                      <a:r>
                        <a:rPr sz="1650" b="1">
                          <a:solidFill>
                            <a:srgbClr val="3D3D3D"/>
                          </a:solidFill>
                          <a:latin typeface="Mulish"/>
                          <a:ea typeface="Mulish"/>
                          <a:cs typeface="Mulish"/>
                        </a:rPr>
                        <a:t>1,472.65 weighted</a:t>
                      </a:r>
                    </a:p>
                  </a:txBody>
                  <a:tcPr marL="95250" marR="95250" marT="76200" marB="76200">
                    <a:solidFill>
                      <a:srgbClr val="F5EDFF"/>
                    </a:solidFill>
                  </a:tcPr>
                </a:tc>
                <a:tc>
                  <a:txBody>
                    <a:bodyPr/>
                    <a:lstStyle/>
                    <a:p>
                      <a:pPr algn="r"/>
                      <a:r>
                        <a:rPr sz="1650" b="1">
                          <a:solidFill>
                            <a:srgbClr val="3D3D3D"/>
                          </a:solidFill>
                          <a:latin typeface="Mulish"/>
                          <a:ea typeface="Mulish"/>
                          <a:cs typeface="Mulish"/>
                        </a:rPr>
                        <a:t>383,369.75</a:t>
                      </a:r>
                    </a:p>
                  </a:txBody>
                  <a:tcPr marL="95250" marR="95250" marT="76200" marB="76200">
                    <a:solidFill>
                      <a:srgbClr val="F5EDFF"/>
                    </a:solidFill>
                  </a:tcPr>
                </a:tc>
              </a:tr>
            </a:tbl>
          </a:graphicData>
        </a:graphic>
      </p:graphicFrame>
      <p:sp>
        <p:nvSpPr>
          <p:cNvPr id="7" name="qualification">
            <a:extLst xmlns:a="http://schemas.openxmlformats.org/drawingml/2006/main">
              <a:ext uri="{FF2B5EF4-FFF2-40B4-BE49-F238E27FC236}">
                <a16:creationId xmlns:a16="http://schemas.microsoft.com/office/drawing/2014/main" id="{AC199363-FE68-4F4B-BFBC-3DF4E61EA6A5}"/>
              </a:ext>
            </a:extLst>
          </p:cNvPr>
          <p:cNvSpPr>
            <a:spLocks xmlns:a="http://schemas.openxmlformats.org/drawingml/2006/main" noGrp="1"/>
          </p:cNvSpPr>
          <p:nvPr/>
        </p:nvSpPr>
        <p:spPr>
          <a:xfrm xmlns:a="http://schemas.openxmlformats.org/drawingml/2006/main">
            <a:off x="457200" y="5924550"/>
            <a:ext cx="112776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344054"/>
                </a:solidFill>
                <a:latin typeface="Mulish"/>
                <a:ea typeface="Mulish"/>
                <a:cs typeface="Mulish"/>
              </a:defRPr>
            </a:pPr>
            <a:r>
              <a:rPr sz="1650" b="0">
                <a:solidFill>
                  <a:srgbClr val="344054"/>
                </a:solidFill>
                <a:latin typeface="Mulish"/>
                <a:ea typeface="Mulish"/>
                <a:cs typeface="Mulish"/>
              </a:rPr>
              <a:t>Actual baseline: AED 1,929,169.75. Current-user saving: AED 383,369.75 (19.87%).</a:t>
            </a:r>
          </a:p>
          <a:p xmlns:a="http://schemas.openxmlformats.org/drawingml/2006/main">
            <a:pPr algn="l">
              <a:defRPr sz="1650" b="0">
                <a:solidFill>
                  <a:srgbClr val="344054"/>
                </a:solidFill>
                <a:latin typeface="Mulish"/>
                <a:ea typeface="Mulish"/>
                <a:cs typeface="Mulish"/>
              </a:defRPr>
            </a:pPr>
            <a:r>
              <a:rPr sz="1650" b="0">
                <a:solidFill>
                  <a:srgbClr val="344054"/>
                </a:solidFill>
                <a:latin typeface="Mulish"/>
                <a:ea typeface="Mulish"/>
                <a:cs typeface="Mulish"/>
              </a:rPr>
              <a:t>With 50% Year 1 growth: AED 575,054.63 saving. Support separate.</a:t>
            </a:r>
          </a:p>
        </p:txBody>
      </p:sp>
    </p:spTree>
    <p:extLst>
      <p:ext uri="{BB962C8B-B14F-4D97-AF65-F5344CB8AC3E}">
        <p14:creationId xmlns:p14="http://schemas.microsoft.com/office/powerpoint/2010/main" val="1658928899"/>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cc20f909c0364ab5"/>
          <a:stretch xmlns:a="http://schemas.openxmlformats.org/drawingml/2006/main"/>
        </p:blipFill>
        <p:spPr>
          <a:xfrm xmlns:a="http://schemas.openxmlformats.org/drawingml/2006/main">
            <a:off x="457200" y="228600"/>
            <a:ext cx="381000" cy="381000"/>
          </a:xfrm>
          <a:prstGeom xmlns:a="http://schemas.openxmlformats.org/drawingml/2006/main" prst="rect">
            <a:avLst/>
          </a:prstGeom>
        </p:spPr>
      </p:pic>
      <p:sp>
        <p:nvSpPr>
          <p:cNvPr id="2" name="page-number">
            <a:extLst xmlns:a="http://schemas.openxmlformats.org/drawingml/2006/main">
              <a:ext uri="{FF2B5EF4-FFF2-40B4-BE49-F238E27FC236}">
                <a16:creationId xmlns:a16="http://schemas.microsoft.com/office/drawing/2014/main" id="{6E2B04F1-DAEE-4D33-B267-B41EA639B1D6}"/>
              </a:ext>
            </a:extLst>
          </p:cNvPr>
          <p:cNvSpPr>
            <a:spLocks xmlns:a="http://schemas.openxmlformats.org/drawingml/2006/main" noGrp="1"/>
          </p:cNvSpPr>
          <p:nvPr/>
        </p:nvSpPr>
        <p:spPr>
          <a:xfrm xmlns:a="http://schemas.openxmlformats.org/drawingml/2006/main">
            <a:off x="11277600" y="643890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050" b="1">
                <a:solidFill>
                  <a:srgbClr val="1D0090"/>
                </a:solidFill>
                <a:latin typeface="Mulish"/>
                <a:ea typeface="Mulish"/>
                <a:cs typeface="Mulish"/>
              </a:defRPr>
            </a:pPr>
            <a:r>
              <a:rPr sz="1050" b="1">
                <a:solidFill>
                  <a:srgbClr val="1D0090"/>
                </a:solidFill>
                <a:latin typeface="Mulish"/>
                <a:ea typeface="Mulish"/>
                <a:cs typeface="Mulish"/>
              </a:rPr>
              <a:t>06</a:t>
            </a:r>
          </a:p>
        </p:txBody>
      </p:sp>
      <p:sp>
        <p:nvSpPr>
          <p:cNvPr id="3" name="eyebrow">
            <a:extLst xmlns:a="http://schemas.openxmlformats.org/drawingml/2006/main">
              <a:ext uri="{FF2B5EF4-FFF2-40B4-BE49-F238E27FC236}">
                <a16:creationId xmlns:a16="http://schemas.microsoft.com/office/drawing/2014/main" id="{2F1539BE-73BD-49D6-9A1E-C6C310C9E546}"/>
              </a:ext>
            </a:extLst>
          </p:cNvPr>
          <p:cNvSpPr>
            <a:spLocks xmlns:a="http://schemas.openxmlformats.org/drawingml/2006/main" noGrp="1"/>
          </p:cNvSpPr>
          <p:nvPr/>
        </p:nvSpPr>
        <p:spPr>
          <a:xfrm xmlns:a="http://schemas.openxmlformats.org/drawingml/2006/main">
            <a:off x="990600" y="266700"/>
            <a:ext cx="1009650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7000FF"/>
                </a:solidFill>
                <a:latin typeface="Mulish"/>
                <a:ea typeface="Mulish"/>
                <a:cs typeface="Mulish"/>
              </a:defRPr>
            </a:pPr>
            <a:r>
              <a:rPr sz="1650" b="1">
                <a:solidFill>
                  <a:srgbClr val="7000FF"/>
                </a:solidFill>
                <a:latin typeface="Mulish"/>
                <a:ea typeface="Mulish"/>
                <a:cs typeface="Mulish"/>
              </a:rPr>
              <a:t>DDA MANAGEMENT DISCUSSION / OPTIONAL DETAIL 2</a:t>
            </a:r>
          </a:p>
        </p:txBody>
      </p:sp>
      <p:sp>
        <p:nvSpPr>
          <p:cNvPr id="4" name="title">
            <a:extLst xmlns:a="http://schemas.openxmlformats.org/drawingml/2006/main">
              <a:ext uri="{FF2B5EF4-FFF2-40B4-BE49-F238E27FC236}">
                <a16:creationId xmlns:a16="http://schemas.microsoft.com/office/drawing/2014/main" id="{DBA2E358-A644-46E7-B00A-7344500AD469}"/>
              </a:ext>
            </a:extLst>
          </p:cNvPr>
          <p:cNvSpPr>
            <a:spLocks xmlns:a="http://schemas.openxmlformats.org/drawingml/2006/main" noGrp="1"/>
          </p:cNvSpPr>
          <p:nvPr/>
        </p:nvSpPr>
        <p:spPr>
          <a:xfrm xmlns:a="http://schemas.openxmlformats.org/drawingml/2006/main">
            <a:off x="457200" y="914400"/>
            <a:ext cx="1127760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450" b="1">
                <a:solidFill>
                  <a:srgbClr val="1D0090"/>
                </a:solidFill>
                <a:latin typeface="Spartan"/>
                <a:ea typeface="Spartan"/>
                <a:cs typeface="Spartan"/>
              </a:defRPr>
            </a:pPr>
            <a:r>
              <a:rPr sz="3450" b="1">
                <a:solidFill>
                  <a:srgbClr val="1D0090"/>
                </a:solidFill>
                <a:latin typeface="Spartan"/>
                <a:ea typeface="Spartan"/>
                <a:cs typeface="Spartan"/>
              </a:rPr>
              <a:t>Survey evidence and its limits</a:t>
            </a:r>
          </a:p>
        </p:txBody>
      </p:sp>
      <p:sp>
        <p:nvSpPr>
          <p:cNvPr id="5" name="survey-intro">
            <a:extLst xmlns:a="http://schemas.openxmlformats.org/drawingml/2006/main">
              <a:ext uri="{FF2B5EF4-FFF2-40B4-BE49-F238E27FC236}">
                <a16:creationId xmlns:a16="http://schemas.microsoft.com/office/drawing/2014/main" id="{1A13BF9F-E8C0-4510-B05D-3ED9146C516A}"/>
              </a:ext>
            </a:extLst>
          </p:cNvPr>
          <p:cNvSpPr>
            <a:spLocks xmlns:a="http://schemas.openxmlformats.org/drawingml/2006/main" noGrp="1"/>
          </p:cNvSpPr>
          <p:nvPr/>
        </p:nvSpPr>
        <p:spPr>
          <a:xfrm xmlns:a="http://schemas.openxmlformats.org/drawingml/2006/main">
            <a:off x="457200" y="2038350"/>
            <a:ext cx="747712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1D0090"/>
                </a:solidFill>
                <a:latin typeface="Mulish"/>
                <a:ea typeface="Mulish"/>
                <a:cs typeface="Mulish"/>
              </a:defRPr>
            </a:pPr>
            <a:r>
              <a:rPr sz="1950" b="1">
                <a:solidFill>
                  <a:srgbClr val="1D0090"/>
                </a:solidFill>
                <a:latin typeface="Mulish"/>
                <a:ea typeface="Mulish"/>
                <a:cs typeface="Mulish"/>
              </a:rPr>
              <a:t>21 quantified current / expected user responses</a:t>
            </a:r>
          </a:p>
        </p:txBody>
      </p:sp>
      <p:graphicFrame>
        <p:nvGraphicFramePr>
          <p:cNvPr id="17" name=""/>
          <p:cNvGraphicFramePr/>
          <p:nvPr/>
        </p:nvGraphicFramePr>
        <p:xfrm>
          <a:off xmlns:a="http://schemas.openxmlformats.org/drawingml/2006/main" x="457200" y="2686050"/>
          <a:ext xmlns:a="http://schemas.openxmlformats.org/drawingml/2006/main" cx="7181850" cy="2628900"/>
        </p:xfrm>
        <a:graphic xmlns:a="http://schemas.openxmlformats.org/drawingml/2006/main">
          <a:graphicData uri="http://schemas.openxmlformats.org/drawingml/2006/table">
            <a:tbl>
              <a:tblPr firstRow="1" bandRow="0"/>
              <a:tblGrid>
                <a:gridCol w="3143250"/>
                <a:gridCol w="1714500"/>
                <a:gridCol w="2324100"/>
              </a:tblGrid>
              <a:tr h="438150">
                <a:tc>
                  <a:txBody>
                    <a:bodyPr/>
                    <a:lstStyle/>
                    <a:p>
                      <a:pPr algn="l"/>
                      <a:r>
                        <a:rPr sz="1650" b="1">
                          <a:solidFill>
                            <a:srgbClr val="FFFFFF"/>
                          </a:solidFill>
                          <a:latin typeface="Mulish"/>
                          <a:ea typeface="Mulish"/>
                          <a:cs typeface="Mulish"/>
                        </a:rPr>
                        <a:t>Users per entity</a:t>
                      </a:r>
                    </a:p>
                  </a:txBody>
                  <a:tcPr marL="95250" marR="95250" marT="76200" marB="76200">
                    <a:solidFill>
                      <a:srgbClr val="1D0090"/>
                    </a:solidFill>
                  </a:tcPr>
                </a:tc>
                <a:tc>
                  <a:txBody>
                    <a:bodyPr/>
                    <a:lstStyle/>
                    <a:p>
                      <a:pPr algn="r"/>
                      <a:r>
                        <a:rPr sz="1650" b="1">
                          <a:solidFill>
                            <a:srgbClr val="FFFFFF"/>
                          </a:solidFill>
                          <a:latin typeface="Mulish"/>
                          <a:ea typeface="Mulish"/>
                          <a:cs typeface="Mulish"/>
                        </a:rPr>
                        <a:t>Responses</a:t>
                      </a:r>
                    </a:p>
                  </a:txBody>
                  <a:tcPr marL="95250" marR="95250" marT="76200" marB="76200">
                    <a:solidFill>
                      <a:srgbClr val="1D0090"/>
                    </a:solidFill>
                  </a:tcPr>
                </a:tc>
                <a:tc>
                  <a:txBody>
                    <a:bodyPr/>
                    <a:lstStyle/>
                    <a:p>
                      <a:pPr algn="r"/>
                      <a:r>
                        <a:rPr sz="1650" b="1">
                          <a:solidFill>
                            <a:srgbClr val="FFFFFF"/>
                          </a:solidFill>
                          <a:latin typeface="Mulish"/>
                          <a:ea typeface="Mulish"/>
                          <a:cs typeface="Mulish"/>
                        </a:rPr>
                        <a:t>Minimum users</a:t>
                      </a:r>
                    </a:p>
                  </a:txBody>
                  <a:tcPr marL="95250" marR="95250" marT="76200" marB="76200">
                    <a:solidFill>
                      <a:srgbClr val="1D0090"/>
                    </a:solidFill>
                  </a:tcPr>
                </a:tc>
              </a:tr>
              <a:tr h="438150">
                <a:tc>
                  <a:txBody>
                    <a:bodyPr/>
                    <a:lstStyle/>
                    <a:p>
                      <a:pPr algn="l"/>
                      <a:r>
                        <a:rPr sz="1650" b="0">
                          <a:solidFill>
                            <a:srgbClr val="3D3D3D"/>
                          </a:solidFill>
                          <a:latin typeface="Mulish"/>
                          <a:ea typeface="Mulish"/>
                          <a:cs typeface="Mulish"/>
                        </a:rPr>
                        <a:t>1–50</a:t>
                      </a:r>
                    </a:p>
                  </a:txBody>
                  <a:tcPr marL="95250" marR="95250" marT="76200" marB="76200">
                    <a:solidFill>
                      <a:srgbClr val="FFFFFF"/>
                    </a:solidFill>
                  </a:tcPr>
                </a:tc>
                <a:tc>
                  <a:txBody>
                    <a:bodyPr/>
                    <a:lstStyle/>
                    <a:p>
                      <a:pPr algn="r"/>
                      <a:r>
                        <a:rPr sz="1650" b="0">
                          <a:solidFill>
                            <a:srgbClr val="3D3D3D"/>
                          </a:solidFill>
                          <a:latin typeface="Mulish"/>
                          <a:ea typeface="Mulish"/>
                          <a:cs typeface="Mulish"/>
                        </a:rPr>
                        <a:t>6</a:t>
                      </a:r>
                    </a:p>
                  </a:txBody>
                  <a:tcPr marL="95250" marR="95250" marT="76200" marB="76200">
                    <a:solidFill>
                      <a:srgbClr val="FFFFFF"/>
                    </a:solidFill>
                  </a:tcPr>
                </a:tc>
                <a:tc>
                  <a:txBody>
                    <a:bodyPr/>
                    <a:lstStyle/>
                    <a:p>
                      <a:pPr algn="r"/>
                      <a:r>
                        <a:rPr sz="1650" b="0">
                          <a:solidFill>
                            <a:srgbClr val="3D3D3D"/>
                          </a:solidFill>
                          <a:latin typeface="Mulish"/>
                          <a:ea typeface="Mulish"/>
                          <a:cs typeface="Mulish"/>
                        </a:rPr>
                        <a:t>6</a:t>
                      </a:r>
                    </a:p>
                  </a:txBody>
                  <a:tcPr marL="95250" marR="95250" marT="76200" marB="76200">
                    <a:solidFill>
                      <a:srgbClr val="FFFFFF"/>
                    </a:solidFill>
                  </a:tcPr>
                </a:tc>
              </a:tr>
              <a:tr h="438150">
                <a:tc>
                  <a:txBody>
                    <a:bodyPr/>
                    <a:lstStyle/>
                    <a:p>
                      <a:pPr algn="l"/>
                      <a:r>
                        <a:rPr sz="1650" b="0">
                          <a:solidFill>
                            <a:srgbClr val="3D3D3D"/>
                          </a:solidFill>
                          <a:latin typeface="Mulish"/>
                          <a:ea typeface="Mulish"/>
                          <a:cs typeface="Mulish"/>
                        </a:rPr>
                        <a:t>51–100</a:t>
                      </a:r>
                    </a:p>
                  </a:txBody>
                  <a:tcPr marL="95250" marR="95250" marT="76200" marB="76200">
                    <a:solidFill>
                      <a:srgbClr val="F5EDFF"/>
                    </a:solidFill>
                  </a:tcPr>
                </a:tc>
                <a:tc>
                  <a:txBody>
                    <a:bodyPr/>
                    <a:lstStyle/>
                    <a:p>
                      <a:pPr algn="r"/>
                      <a:r>
                        <a:rPr sz="1650" b="0">
                          <a:solidFill>
                            <a:srgbClr val="3D3D3D"/>
                          </a:solidFill>
                          <a:latin typeface="Mulish"/>
                          <a:ea typeface="Mulish"/>
                          <a:cs typeface="Mulish"/>
                        </a:rPr>
                        <a:t>4</a:t>
                      </a:r>
                    </a:p>
                  </a:txBody>
                  <a:tcPr marL="95250" marR="95250" marT="76200" marB="76200">
                    <a:solidFill>
                      <a:srgbClr val="F5EDFF"/>
                    </a:solidFill>
                  </a:tcPr>
                </a:tc>
                <a:tc>
                  <a:txBody>
                    <a:bodyPr/>
                    <a:lstStyle/>
                    <a:p>
                      <a:pPr algn="r"/>
                      <a:r>
                        <a:rPr sz="1650" b="0">
                          <a:solidFill>
                            <a:srgbClr val="3D3D3D"/>
                          </a:solidFill>
                          <a:latin typeface="Mulish"/>
                          <a:ea typeface="Mulish"/>
                          <a:cs typeface="Mulish"/>
                        </a:rPr>
                        <a:t>204</a:t>
                      </a:r>
                    </a:p>
                  </a:txBody>
                  <a:tcPr marL="95250" marR="95250" marT="76200" marB="76200">
                    <a:solidFill>
                      <a:srgbClr val="F5EDFF"/>
                    </a:solidFill>
                  </a:tcPr>
                </a:tc>
              </a:tr>
              <a:tr h="438150">
                <a:tc>
                  <a:txBody>
                    <a:bodyPr/>
                    <a:lstStyle/>
                    <a:p>
                      <a:pPr algn="l"/>
                      <a:r>
                        <a:rPr sz="1650" b="0">
                          <a:solidFill>
                            <a:srgbClr val="3D3D3D"/>
                          </a:solidFill>
                          <a:latin typeface="Mulish"/>
                          <a:ea typeface="Mulish"/>
                          <a:cs typeface="Mulish"/>
                        </a:rPr>
                        <a:t>101–500</a:t>
                      </a:r>
                    </a:p>
                  </a:txBody>
                  <a:tcPr marL="95250" marR="95250" marT="76200" marB="76200">
                    <a:solidFill>
                      <a:srgbClr val="FFFFFF"/>
                    </a:solidFill>
                  </a:tcPr>
                </a:tc>
                <a:tc>
                  <a:txBody>
                    <a:bodyPr/>
                    <a:lstStyle/>
                    <a:p>
                      <a:pPr algn="r"/>
                      <a:r>
                        <a:rPr sz="1650" b="0">
                          <a:solidFill>
                            <a:srgbClr val="3D3D3D"/>
                          </a:solidFill>
                          <a:latin typeface="Mulish"/>
                          <a:ea typeface="Mulish"/>
                          <a:cs typeface="Mulish"/>
                        </a:rPr>
                        <a:t>7</a:t>
                      </a:r>
                    </a:p>
                  </a:txBody>
                  <a:tcPr marL="95250" marR="95250" marT="76200" marB="76200">
                    <a:solidFill>
                      <a:srgbClr val="FFFFFF"/>
                    </a:solidFill>
                  </a:tcPr>
                </a:tc>
                <a:tc>
                  <a:txBody>
                    <a:bodyPr/>
                    <a:lstStyle/>
                    <a:p>
                      <a:pPr algn="r"/>
                      <a:r>
                        <a:rPr sz="1650" b="0">
                          <a:solidFill>
                            <a:srgbClr val="3D3D3D"/>
                          </a:solidFill>
                          <a:latin typeface="Mulish"/>
                          <a:ea typeface="Mulish"/>
                          <a:cs typeface="Mulish"/>
                        </a:rPr>
                        <a:t>707</a:t>
                      </a:r>
                    </a:p>
                  </a:txBody>
                  <a:tcPr marL="95250" marR="95250" marT="76200" marB="76200">
                    <a:solidFill>
                      <a:srgbClr val="FFFFFF"/>
                    </a:solidFill>
                  </a:tcPr>
                </a:tc>
              </a:tr>
              <a:tr h="438150">
                <a:tc>
                  <a:txBody>
                    <a:bodyPr/>
                    <a:lstStyle/>
                    <a:p>
                      <a:pPr algn="l"/>
                      <a:r>
                        <a:rPr sz="1650" b="0">
                          <a:solidFill>
                            <a:srgbClr val="3D3D3D"/>
                          </a:solidFill>
                          <a:latin typeface="Mulish"/>
                          <a:ea typeface="Mulish"/>
                          <a:cs typeface="Mulish"/>
                        </a:rPr>
                        <a:t>More than 1,000</a:t>
                      </a:r>
                    </a:p>
                  </a:txBody>
                  <a:tcPr marL="95250" marR="95250" marT="76200" marB="76200">
                    <a:solidFill>
                      <a:srgbClr val="F5EDFF"/>
                    </a:solidFill>
                  </a:tcPr>
                </a:tc>
                <a:tc>
                  <a:txBody>
                    <a:bodyPr/>
                    <a:lstStyle/>
                    <a:p>
                      <a:pPr algn="r"/>
                      <a:r>
                        <a:rPr sz="1650" b="0">
                          <a:solidFill>
                            <a:srgbClr val="3D3D3D"/>
                          </a:solidFill>
                          <a:latin typeface="Mulish"/>
                          <a:ea typeface="Mulish"/>
                          <a:cs typeface="Mulish"/>
                        </a:rPr>
                        <a:t>4</a:t>
                      </a:r>
                    </a:p>
                  </a:txBody>
                  <a:tcPr marL="95250" marR="95250" marT="76200" marB="76200">
                    <a:solidFill>
                      <a:srgbClr val="F5EDFF"/>
                    </a:solidFill>
                  </a:tcPr>
                </a:tc>
                <a:tc>
                  <a:txBody>
                    <a:bodyPr/>
                    <a:lstStyle/>
                    <a:p>
                      <a:pPr algn="r"/>
                      <a:r>
                        <a:rPr sz="1650" b="0">
                          <a:solidFill>
                            <a:srgbClr val="3D3D3D"/>
                          </a:solidFill>
                          <a:latin typeface="Mulish"/>
                          <a:ea typeface="Mulish"/>
                          <a:cs typeface="Mulish"/>
                        </a:rPr>
                        <a:t>4,004</a:t>
                      </a:r>
                    </a:p>
                  </a:txBody>
                  <a:tcPr marL="95250" marR="95250" marT="76200" marB="76200">
                    <a:solidFill>
                      <a:srgbClr val="F5EDFF"/>
                    </a:solidFill>
                  </a:tcPr>
                </a:tc>
              </a:tr>
              <a:tr h="438150">
                <a:tc>
                  <a:txBody>
                    <a:bodyPr/>
                    <a:lstStyle/>
                    <a:p>
                      <a:pPr algn="l"/>
                      <a:r>
                        <a:rPr sz="1650" b="1">
                          <a:solidFill>
                            <a:srgbClr val="3D3D3D"/>
                          </a:solidFill>
                          <a:latin typeface="Mulish"/>
                          <a:ea typeface="Mulish"/>
                          <a:cs typeface="Mulish"/>
                        </a:rPr>
                        <a:t>Total</a:t>
                      </a:r>
                    </a:p>
                  </a:txBody>
                  <a:tcPr marL="95250" marR="95250" marT="76200" marB="76200">
                    <a:solidFill>
                      <a:srgbClr val="FFFFFF"/>
                    </a:solidFill>
                  </a:tcPr>
                </a:tc>
                <a:tc>
                  <a:txBody>
                    <a:bodyPr/>
                    <a:lstStyle/>
                    <a:p>
                      <a:pPr algn="r"/>
                      <a:r>
                        <a:rPr sz="1650" b="1">
                          <a:solidFill>
                            <a:srgbClr val="3D3D3D"/>
                          </a:solidFill>
                          <a:latin typeface="Mulish"/>
                          <a:ea typeface="Mulish"/>
                          <a:cs typeface="Mulish"/>
                        </a:rPr>
                        <a:t>21</a:t>
                      </a:r>
                    </a:p>
                  </a:txBody>
                  <a:tcPr marL="95250" marR="95250" marT="76200" marB="76200">
                    <a:solidFill>
                      <a:srgbClr val="FFFFFF"/>
                    </a:solidFill>
                  </a:tcPr>
                </a:tc>
                <a:tc>
                  <a:txBody>
                    <a:bodyPr/>
                    <a:lstStyle/>
                    <a:p>
                      <a:pPr algn="r"/>
                      <a:r>
                        <a:rPr sz="1650" b="1">
                          <a:solidFill>
                            <a:srgbClr val="3D3D3D"/>
                          </a:solidFill>
                          <a:latin typeface="Mulish"/>
                          <a:ea typeface="Mulish"/>
                          <a:cs typeface="Mulish"/>
                        </a:rPr>
                        <a:t>4,921</a:t>
                      </a:r>
                    </a:p>
                  </a:txBody>
                  <a:tcPr marL="95250" marR="95250" marT="76200" marB="76200">
                    <a:solidFill>
                      <a:srgbClr val="FFFFFF"/>
                    </a:solidFill>
                  </a:tcPr>
                </a:tc>
              </a:tr>
            </a:tbl>
          </a:graphicData>
        </a:graphic>
      </p:graphicFrame>
      <p:sp>
        <p:nvSpPr>
          <p:cNvPr id="7" name="respondents">
            <a:extLst xmlns:a="http://schemas.openxmlformats.org/drawingml/2006/main">
              <a:ext uri="{FF2B5EF4-FFF2-40B4-BE49-F238E27FC236}">
                <a16:creationId xmlns:a16="http://schemas.microsoft.com/office/drawing/2014/main" id="{3384A483-39F0-4CEF-A6BB-F6FCFFBEF0AB}"/>
              </a:ext>
            </a:extLst>
          </p:cNvPr>
          <p:cNvSpPr>
            <a:spLocks xmlns:a="http://schemas.openxmlformats.org/drawingml/2006/main" noGrp="1"/>
          </p:cNvSpPr>
          <p:nvPr/>
        </p:nvSpPr>
        <p:spPr>
          <a:xfrm xmlns:a="http://schemas.openxmlformats.org/drawingml/2006/main">
            <a:off x="8210550" y="2047875"/>
            <a:ext cx="3524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175" b="1">
                <a:solidFill>
                  <a:srgbClr val="7000FF"/>
                </a:solidFill>
                <a:latin typeface="Spartan"/>
                <a:ea typeface="Spartan"/>
                <a:cs typeface="Spartan"/>
              </a:defRPr>
            </a:pPr>
            <a:r>
              <a:rPr sz="2175" b="1">
                <a:solidFill>
                  <a:srgbClr val="7000FF"/>
                </a:solidFill>
                <a:latin typeface="Spartan"/>
                <a:ea typeface="Spartan"/>
                <a:cs typeface="Spartan"/>
              </a:rPr>
              <a:t>38 entities surveyed</a:t>
            </a:r>
          </a:p>
        </p:txBody>
      </p:sp>
      <p:sp>
        <p:nvSpPr>
          <p:cNvPr id="8" name="signals">
            <a:extLst xmlns:a="http://schemas.openxmlformats.org/drawingml/2006/main">
              <a:ext uri="{FF2B5EF4-FFF2-40B4-BE49-F238E27FC236}">
                <a16:creationId xmlns:a16="http://schemas.microsoft.com/office/drawing/2014/main" id="{E62553FB-6483-45E0-9247-E1E50AF06149}"/>
              </a:ext>
            </a:extLst>
          </p:cNvPr>
          <p:cNvSpPr>
            <a:spLocks xmlns:a="http://schemas.openxmlformats.org/drawingml/2006/main" noGrp="1"/>
          </p:cNvSpPr>
          <p:nvPr/>
        </p:nvSpPr>
        <p:spPr>
          <a:xfrm xmlns:a="http://schemas.openxmlformats.org/drawingml/2006/main">
            <a:off x="8210550" y="2714625"/>
            <a:ext cx="3476625" cy="847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0">
                <a:solidFill>
                  <a:srgbClr val="3D3D3D"/>
                </a:solidFill>
                <a:latin typeface="Mulish"/>
                <a:ea typeface="Mulish"/>
                <a:cs typeface="Mulish"/>
              </a:defRPr>
            </a:pPr>
            <a:r>
              <a:rPr sz="1875" b="0">
                <a:solidFill>
                  <a:srgbClr val="3D3D3D"/>
                </a:solidFill>
                <a:latin typeface="Mulish"/>
                <a:ea typeface="Mulish"/>
                <a:cs typeface="Mulish"/>
              </a:rPr>
              <a:t>21 already use e-signatures</a:t>
            </a:r>
          </a:p>
          <a:p xmlns:a="http://schemas.openxmlformats.org/drawingml/2006/main">
            <a:pPr algn="l">
              <a:defRPr sz="1875" b="0">
                <a:solidFill>
                  <a:srgbClr val="3D3D3D"/>
                </a:solidFill>
                <a:latin typeface="Mulish"/>
                <a:ea typeface="Mulish"/>
                <a:cs typeface="Mulish"/>
              </a:defRPr>
            </a:pPr>
            <a:r>
              <a:rPr sz="1875" b="0">
                <a:solidFill>
                  <a:srgbClr val="3D3D3D"/>
                </a:solidFill>
                <a:latin typeface="Mulish"/>
                <a:ea typeface="Mulish"/>
                <a:cs typeface="Mulish"/>
              </a:rPr>
              <a:t>16 express current/future interest</a:t>
            </a:r>
          </a:p>
        </p:txBody>
      </p:sp>
      <p:sp>
        <p:nvSpPr>
          <p:cNvPr id="9" name="growth">
            <a:extLst xmlns:a="http://schemas.openxmlformats.org/drawingml/2006/main">
              <a:ext uri="{FF2B5EF4-FFF2-40B4-BE49-F238E27FC236}">
                <a16:creationId xmlns:a16="http://schemas.microsoft.com/office/drawing/2014/main" id="{1F6F92D7-D61D-44E7-8CC6-BE16ACBBE449}"/>
              </a:ext>
            </a:extLst>
          </p:cNvPr>
          <p:cNvSpPr>
            <a:spLocks xmlns:a="http://schemas.openxmlformats.org/drawingml/2006/main" noGrp="1"/>
          </p:cNvSpPr>
          <p:nvPr/>
        </p:nvSpPr>
        <p:spPr>
          <a:xfrm xmlns:a="http://schemas.openxmlformats.org/drawingml/2006/main">
            <a:off x="8210550" y="3819525"/>
            <a:ext cx="3476625"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300" b="1">
                <a:solidFill>
                  <a:srgbClr val="7000FF"/>
                </a:solidFill>
                <a:latin typeface="Spartan"/>
                <a:ea typeface="Spartan"/>
                <a:cs typeface="Spartan"/>
              </a:defRPr>
            </a:pPr>
            <a:r>
              <a:rPr sz="3300" b="1">
                <a:solidFill>
                  <a:srgbClr val="7000FF"/>
                </a:solidFill>
                <a:latin typeface="Spartan"/>
                <a:ea typeface="Spartan"/>
                <a:cs typeface="Spartan"/>
              </a:rPr>
              <a:t>77.27%</a:t>
            </a:r>
          </a:p>
        </p:txBody>
      </p:sp>
      <p:sp>
        <p:nvSpPr>
          <p:cNvPr id="10" name="growth-label">
            <a:extLst xmlns:a="http://schemas.openxmlformats.org/drawingml/2006/main">
              <a:ext uri="{FF2B5EF4-FFF2-40B4-BE49-F238E27FC236}">
                <a16:creationId xmlns:a16="http://schemas.microsoft.com/office/drawing/2014/main" id="{BB59158D-AF99-41C0-8A78-2EA5B9D8E385}"/>
              </a:ext>
            </a:extLst>
          </p:cNvPr>
          <p:cNvSpPr>
            <a:spLocks xmlns:a="http://schemas.openxmlformats.org/drawingml/2006/main" noGrp="1"/>
          </p:cNvSpPr>
          <p:nvPr/>
        </p:nvSpPr>
        <p:spPr>
          <a:xfrm xmlns:a="http://schemas.openxmlformats.org/drawingml/2006/main">
            <a:off x="8210550" y="4572000"/>
            <a:ext cx="3505200" cy="885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0">
                <a:solidFill>
                  <a:srgbClr val="3D3D3D"/>
                </a:solidFill>
                <a:latin typeface="Mulish"/>
                <a:ea typeface="Mulish"/>
                <a:cs typeface="Mulish"/>
              </a:defRPr>
            </a:pPr>
            <a:r>
              <a:rPr sz="1725" b="0">
                <a:solidFill>
                  <a:srgbClr val="3D3D3D"/>
                </a:solidFill>
                <a:latin typeface="Mulish"/>
                <a:ea typeface="Mulish"/>
                <a:cs typeface="Mulish"/>
              </a:rPr>
              <a:t>17 of 22 expect growth</a:t>
            </a:r>
          </a:p>
          <a:p xmlns:a="http://schemas.openxmlformats.org/drawingml/2006/main">
            <a:pPr algn="l">
              <a:defRPr sz="1725" b="0">
                <a:solidFill>
                  <a:srgbClr val="3D3D3D"/>
                </a:solidFill>
                <a:latin typeface="Mulish"/>
                <a:ea typeface="Mulish"/>
                <a:cs typeface="Mulish"/>
              </a:defRPr>
            </a:pPr>
            <a:r>
              <a:rPr sz="1725" b="0">
                <a:solidFill>
                  <a:srgbClr val="3D3D3D"/>
                </a:solidFill>
                <a:latin typeface="Mulish"/>
                <a:ea typeface="Mulish"/>
                <a:cs typeface="Mulish"/>
              </a:rPr>
              <a:t>13 of 17 cite more users (76.47%)</a:t>
            </a:r>
          </a:p>
        </p:txBody>
      </p:sp>
      <p:sp>
        <p:nvSpPr>
          <p:cNvPr id="11" name="qualification">
            <a:extLst xmlns:a="http://schemas.openxmlformats.org/drawingml/2006/main">
              <a:ext uri="{FF2B5EF4-FFF2-40B4-BE49-F238E27FC236}">
                <a16:creationId xmlns:a16="http://schemas.microsoft.com/office/drawing/2014/main" id="{AFADFA2D-62AC-4295-846D-1D334B8AC859}"/>
              </a:ext>
            </a:extLst>
          </p:cNvPr>
          <p:cNvSpPr>
            <a:spLocks xmlns:a="http://schemas.openxmlformats.org/drawingml/2006/main" noGrp="1"/>
          </p:cNvSpPr>
          <p:nvPr/>
        </p:nvSpPr>
        <p:spPr>
          <a:xfrm xmlns:a="http://schemas.openxmlformats.org/drawingml/2006/main">
            <a:off x="457200" y="5924550"/>
            <a:ext cx="112776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344054"/>
                </a:solidFill>
                <a:latin typeface="Mulish"/>
                <a:ea typeface="Mulish"/>
                <a:cs typeface="Mulish"/>
              </a:defRPr>
            </a:pPr>
            <a:r>
              <a:rPr sz="1650" b="0">
                <a:solidFill>
                  <a:srgbClr val="344054"/>
                </a:solidFill>
                <a:latin typeface="Mulish"/>
                <a:ea typeface="Mulish"/>
                <a:cs typeface="Mulish"/>
              </a:rPr>
              <a:t>One further user response is unspecified. Survey overlap with existing customers is unresolved.</a:t>
            </a:r>
          </a:p>
          <a:p xmlns:a="http://schemas.openxmlformats.org/drawingml/2006/main">
            <a:pPr algn="l">
              <a:defRPr sz="1650" b="0">
                <a:solidFill>
                  <a:srgbClr val="344054"/>
                </a:solidFill>
                <a:latin typeface="Mulish"/>
                <a:ea typeface="Mulish"/>
                <a:cs typeface="Mulish"/>
              </a:defRPr>
            </a:pPr>
            <a:r>
              <a:rPr sz="1650" b="0">
                <a:solidFill>
                  <a:srgbClr val="344054"/>
                </a:solidFill>
                <a:latin typeface="Mulish"/>
                <a:ea typeface="Mulish"/>
                <a:cs typeface="Mulish"/>
              </a:rPr>
              <a:t>The 16 interested entities add no extra quantified users to this model.</a:t>
            </a:r>
          </a:p>
        </p:txBody>
      </p:sp>
    </p:spTree>
    <p:extLst>
      <p:ext uri="{BB962C8B-B14F-4D97-AF65-F5344CB8AC3E}">
        <p14:creationId xmlns:p14="http://schemas.microsoft.com/office/powerpoint/2010/main" val="1777567041"/>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ce37d375fcbc41cc"/>
          <a:stretch xmlns:a="http://schemas.openxmlformats.org/drawingml/2006/main"/>
        </p:blipFill>
        <p:spPr>
          <a:xfrm xmlns:a="http://schemas.openxmlformats.org/drawingml/2006/main">
            <a:off x="457200" y="228600"/>
            <a:ext cx="381000" cy="381000"/>
          </a:xfrm>
          <a:prstGeom xmlns:a="http://schemas.openxmlformats.org/drawingml/2006/main" prst="rect">
            <a:avLst/>
          </a:prstGeom>
        </p:spPr>
      </p:pic>
      <p:sp>
        <p:nvSpPr>
          <p:cNvPr id="2" name="page-number">
            <a:extLst xmlns:a="http://schemas.openxmlformats.org/drawingml/2006/main">
              <a:ext uri="{FF2B5EF4-FFF2-40B4-BE49-F238E27FC236}">
                <a16:creationId xmlns:a16="http://schemas.microsoft.com/office/drawing/2014/main" id="{2A91A980-8E77-4925-B9E3-60103489628F}"/>
              </a:ext>
            </a:extLst>
          </p:cNvPr>
          <p:cNvSpPr>
            <a:spLocks xmlns:a="http://schemas.openxmlformats.org/drawingml/2006/main" noGrp="1"/>
          </p:cNvSpPr>
          <p:nvPr/>
        </p:nvSpPr>
        <p:spPr>
          <a:xfrm xmlns:a="http://schemas.openxmlformats.org/drawingml/2006/main">
            <a:off x="11277600" y="643890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050" b="1">
                <a:solidFill>
                  <a:srgbClr val="1D0090"/>
                </a:solidFill>
                <a:latin typeface="Mulish"/>
                <a:ea typeface="Mulish"/>
                <a:cs typeface="Mulish"/>
              </a:defRPr>
            </a:pPr>
            <a:r>
              <a:rPr sz="1050" b="1">
                <a:solidFill>
                  <a:srgbClr val="1D0090"/>
                </a:solidFill>
                <a:latin typeface="Mulish"/>
                <a:ea typeface="Mulish"/>
                <a:cs typeface="Mulish"/>
              </a:rPr>
              <a:t>07</a:t>
            </a:r>
          </a:p>
        </p:txBody>
      </p:sp>
      <p:sp>
        <p:nvSpPr>
          <p:cNvPr id="3" name="eyebrow">
            <a:extLst xmlns:a="http://schemas.openxmlformats.org/drawingml/2006/main">
              <a:ext uri="{FF2B5EF4-FFF2-40B4-BE49-F238E27FC236}">
                <a16:creationId xmlns:a16="http://schemas.microsoft.com/office/drawing/2014/main" id="{6DF21B87-C74F-42C6-82AE-3A7F11DECC57}"/>
              </a:ext>
            </a:extLst>
          </p:cNvPr>
          <p:cNvSpPr>
            <a:spLocks xmlns:a="http://schemas.openxmlformats.org/drawingml/2006/main" noGrp="1"/>
          </p:cNvSpPr>
          <p:nvPr/>
        </p:nvSpPr>
        <p:spPr>
          <a:xfrm xmlns:a="http://schemas.openxmlformats.org/drawingml/2006/main">
            <a:off x="990600" y="266700"/>
            <a:ext cx="1009650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7000FF"/>
                </a:solidFill>
                <a:latin typeface="Mulish"/>
                <a:ea typeface="Mulish"/>
                <a:cs typeface="Mulish"/>
              </a:defRPr>
            </a:pPr>
            <a:r>
              <a:rPr sz="1650" b="1">
                <a:solidFill>
                  <a:srgbClr val="7000FF"/>
                </a:solidFill>
                <a:latin typeface="Mulish"/>
                <a:ea typeface="Mulish"/>
                <a:cs typeface="Mulish"/>
              </a:rPr>
              <a:t>DDA MANAGEMENT DISCUSSION / OPTIONAL DETAIL 3</a:t>
            </a:r>
          </a:p>
        </p:txBody>
      </p:sp>
      <p:sp>
        <p:nvSpPr>
          <p:cNvPr id="4" name="title">
            <a:extLst xmlns:a="http://schemas.openxmlformats.org/drawingml/2006/main">
              <a:ext uri="{FF2B5EF4-FFF2-40B4-BE49-F238E27FC236}">
                <a16:creationId xmlns:a16="http://schemas.microsoft.com/office/drawing/2014/main" id="{1B1B626C-CE00-46AF-8C27-F1AAE993258C}"/>
              </a:ext>
            </a:extLst>
          </p:cNvPr>
          <p:cNvSpPr>
            <a:spLocks xmlns:a="http://schemas.openxmlformats.org/drawingml/2006/main" noGrp="1"/>
          </p:cNvSpPr>
          <p:nvPr/>
        </p:nvSpPr>
        <p:spPr>
          <a:xfrm xmlns:a="http://schemas.openxmlformats.org/drawingml/2006/main">
            <a:off x="457200" y="914400"/>
            <a:ext cx="1127760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450" b="1">
                <a:solidFill>
                  <a:srgbClr val="1D0090"/>
                </a:solidFill>
                <a:latin typeface="Spartan"/>
                <a:ea typeface="Spartan"/>
                <a:cs typeface="Spartan"/>
              </a:defRPr>
            </a:pPr>
            <a:r>
              <a:rPr sz="3450" b="1">
                <a:solidFill>
                  <a:srgbClr val="1D0090"/>
                </a:solidFill>
                <a:latin typeface="Spartan"/>
                <a:ea typeface="Spartan"/>
                <a:cs typeface="Spartan"/>
              </a:rPr>
              <a:t>Five-year adoption and subscription profile</a:t>
            </a:r>
          </a:p>
        </p:txBody>
      </p:sp>
      <p:sp>
        <p:nvSpPr>
          <p:cNvPr id="5" name="growth-assumption">
            <a:extLst xmlns:a="http://schemas.openxmlformats.org/drawingml/2006/main">
              <a:ext uri="{FF2B5EF4-FFF2-40B4-BE49-F238E27FC236}">
                <a16:creationId xmlns:a16="http://schemas.microsoft.com/office/drawing/2014/main" id="{361C76D0-9C84-41C7-BE44-99F9A2A6F6B6}"/>
              </a:ext>
            </a:extLst>
          </p:cNvPr>
          <p:cNvSpPr>
            <a:spLocks xmlns:a="http://schemas.openxmlformats.org/drawingml/2006/main" noGrp="1"/>
          </p:cNvSpPr>
          <p:nvPr/>
        </p:nvSpPr>
        <p:spPr>
          <a:xfrm xmlns:a="http://schemas.openxmlformats.org/drawingml/2006/main">
            <a:off x="457200" y="2047875"/>
            <a:ext cx="112776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0">
                <a:solidFill>
                  <a:srgbClr val="3D3D3D"/>
                </a:solidFill>
                <a:latin typeface="Mulish"/>
                <a:ea typeface="Mulish"/>
                <a:cs typeface="Mulish"/>
              </a:defRPr>
            </a:pPr>
            <a:r>
              <a:rPr sz="1875" b="0">
                <a:solidFill>
                  <a:srgbClr val="3D3D3D"/>
                </a:solidFill>
                <a:latin typeface="Mulish"/>
                <a:ea typeface="Mulish"/>
                <a:cs typeface="Mulish"/>
              </a:rPr>
              <a:t>50% existing-user growth in Year 1; 5% annual growth for all cohorts thereafter</a:t>
            </a:r>
          </a:p>
        </p:txBody>
      </p:sp>
      <p:graphicFrame>
        <p:nvGraphicFramePr>
          <p:cNvPr id="13" name=""/>
          <p:cNvGraphicFramePr/>
          <p:nvPr/>
        </p:nvGraphicFramePr>
        <p:xfrm>
          <a:off xmlns:a="http://schemas.openxmlformats.org/drawingml/2006/main" x="457200" y="2695575"/>
          <a:ext xmlns:a="http://schemas.openxmlformats.org/drawingml/2006/main" cx="11277600" cy="2790825"/>
        </p:xfrm>
        <a:graphic xmlns:a="http://schemas.openxmlformats.org/drawingml/2006/main">
          <a:graphicData uri="http://schemas.openxmlformats.org/drawingml/2006/table">
            <a:tbl>
              <a:tblPr firstRow="1" bandRow="0"/>
              <a:tblGrid>
                <a:gridCol w="3086100"/>
                <a:gridCol w="1638300"/>
                <a:gridCol w="1638300"/>
                <a:gridCol w="1638300"/>
                <a:gridCol w="1638300"/>
                <a:gridCol w="1638300"/>
              </a:tblGrid>
              <a:tr h="398689">
                <a:tc>
                  <a:txBody>
                    <a:bodyPr/>
                    <a:lstStyle/>
                    <a:p>
                      <a:r>
                        <a:rPr sz="1650" b="1">
                          <a:solidFill>
                            <a:srgbClr val="FFFFFF"/>
                          </a:solidFill>
                          <a:latin typeface="Mulish"/>
                          <a:ea typeface="Mulish"/>
                          <a:cs typeface="Mulish"/>
                        </a:rPr>
                        <a:t/>
                      </a:r>
                    </a:p>
                  </a:txBody>
                  <a:tcPr marL="95250" marR="95250" marT="76200" marB="76200">
                    <a:solidFill>
                      <a:srgbClr val="1D0090"/>
                    </a:solidFill>
                  </a:tcPr>
                </a:tc>
                <a:tc>
                  <a:txBody>
                    <a:bodyPr/>
                    <a:lstStyle/>
                    <a:p>
                      <a:pPr algn="r"/>
                      <a:r>
                        <a:rPr sz="1650" b="1">
                          <a:solidFill>
                            <a:srgbClr val="FFFFFF"/>
                          </a:solidFill>
                          <a:latin typeface="Mulish"/>
                          <a:ea typeface="Mulish"/>
                          <a:cs typeface="Mulish"/>
                        </a:rPr>
                        <a:t>Year 1</a:t>
                      </a:r>
                    </a:p>
                  </a:txBody>
                  <a:tcPr marL="95250" marR="95250" marT="76200" marB="76200">
                    <a:solidFill>
                      <a:srgbClr val="1D0090"/>
                    </a:solidFill>
                  </a:tcPr>
                </a:tc>
                <a:tc>
                  <a:txBody>
                    <a:bodyPr/>
                    <a:lstStyle/>
                    <a:p>
                      <a:pPr algn="r"/>
                      <a:r>
                        <a:rPr sz="1650" b="1">
                          <a:solidFill>
                            <a:srgbClr val="FFFFFF"/>
                          </a:solidFill>
                          <a:latin typeface="Mulish"/>
                          <a:ea typeface="Mulish"/>
                          <a:cs typeface="Mulish"/>
                        </a:rPr>
                        <a:t>Year 2</a:t>
                      </a:r>
                    </a:p>
                  </a:txBody>
                  <a:tcPr marL="95250" marR="95250" marT="76200" marB="76200">
                    <a:solidFill>
                      <a:srgbClr val="1D0090"/>
                    </a:solidFill>
                  </a:tcPr>
                </a:tc>
                <a:tc>
                  <a:txBody>
                    <a:bodyPr/>
                    <a:lstStyle/>
                    <a:p>
                      <a:pPr algn="r"/>
                      <a:r>
                        <a:rPr sz="1650" b="1">
                          <a:solidFill>
                            <a:srgbClr val="FFFFFF"/>
                          </a:solidFill>
                          <a:latin typeface="Mulish"/>
                          <a:ea typeface="Mulish"/>
                          <a:cs typeface="Mulish"/>
                        </a:rPr>
                        <a:t>Year 3</a:t>
                      </a:r>
                    </a:p>
                  </a:txBody>
                  <a:tcPr marL="95250" marR="95250" marT="76200" marB="76200">
                    <a:solidFill>
                      <a:srgbClr val="1D0090"/>
                    </a:solidFill>
                  </a:tcPr>
                </a:tc>
                <a:tc>
                  <a:txBody>
                    <a:bodyPr/>
                    <a:lstStyle/>
                    <a:p>
                      <a:pPr algn="r"/>
                      <a:r>
                        <a:rPr sz="1650" b="1">
                          <a:solidFill>
                            <a:srgbClr val="FFFFFF"/>
                          </a:solidFill>
                          <a:latin typeface="Mulish"/>
                          <a:ea typeface="Mulish"/>
                          <a:cs typeface="Mulish"/>
                        </a:rPr>
                        <a:t>Year 4</a:t>
                      </a:r>
                    </a:p>
                  </a:txBody>
                  <a:tcPr marL="95250" marR="95250" marT="76200" marB="76200">
                    <a:solidFill>
                      <a:srgbClr val="1D0090"/>
                    </a:solidFill>
                  </a:tcPr>
                </a:tc>
                <a:tc>
                  <a:txBody>
                    <a:bodyPr/>
                    <a:lstStyle/>
                    <a:p>
                      <a:pPr algn="r"/>
                      <a:r>
                        <a:rPr sz="1650" b="1">
                          <a:solidFill>
                            <a:srgbClr val="FFFFFF"/>
                          </a:solidFill>
                          <a:latin typeface="Mulish"/>
                          <a:ea typeface="Mulish"/>
                          <a:cs typeface="Mulish"/>
                        </a:rPr>
                        <a:t>Year 5</a:t>
                      </a:r>
                    </a:p>
                  </a:txBody>
                  <a:tcPr marL="95250" marR="95250" marT="76200" marB="76200">
                    <a:solidFill>
                      <a:srgbClr val="1D0090"/>
                    </a:solidFill>
                  </a:tcPr>
                </a:tc>
              </a:tr>
              <a:tr h="398689">
                <a:tc>
                  <a:txBody>
                    <a:bodyPr/>
                    <a:lstStyle/>
                    <a:p>
                      <a:pPr algn="l"/>
                      <a:r>
                        <a:rPr sz="1650" b="0">
                          <a:solidFill>
                            <a:srgbClr val="3D3D3D"/>
                          </a:solidFill>
                          <a:latin typeface="Mulish"/>
                          <a:ea typeface="Mulish"/>
                          <a:cs typeface="Mulish"/>
                        </a:rPr>
                        <a:t>Existing incl. growth</a:t>
                      </a:r>
                    </a:p>
                  </a:txBody>
                  <a:tcPr marL="95250" marR="95250" marT="76200" marB="76200">
                    <a:solidFill>
                      <a:srgbClr val="FFFFFF"/>
                    </a:solidFill>
                  </a:tcPr>
                </a:tc>
                <a:tc>
                  <a:txBody>
                    <a:bodyPr/>
                    <a:lstStyle/>
                    <a:p>
                      <a:pPr algn="r"/>
                      <a:r>
                        <a:rPr sz="1650" b="0">
                          <a:solidFill>
                            <a:srgbClr val="3D3D3D"/>
                          </a:solidFill>
                          <a:latin typeface="Mulish"/>
                          <a:ea typeface="Mulish"/>
                          <a:cs typeface="Mulish"/>
                        </a:rPr>
                        <a:t>1,965</a:t>
                      </a:r>
                    </a:p>
                  </a:txBody>
                  <a:tcPr marL="95250" marR="95250" marT="76200" marB="76200">
                    <a:solidFill>
                      <a:srgbClr val="FFFFFF"/>
                    </a:solidFill>
                  </a:tcPr>
                </a:tc>
                <a:tc>
                  <a:txBody>
                    <a:bodyPr/>
                    <a:lstStyle/>
                    <a:p>
                      <a:pPr algn="r"/>
                      <a:r>
                        <a:rPr sz="1650" b="0">
                          <a:solidFill>
                            <a:srgbClr val="3D3D3D"/>
                          </a:solidFill>
                          <a:latin typeface="Mulish"/>
                          <a:ea typeface="Mulish"/>
                          <a:cs typeface="Mulish"/>
                        </a:rPr>
                        <a:t>2,063</a:t>
                      </a:r>
                    </a:p>
                  </a:txBody>
                  <a:tcPr marL="95250" marR="95250" marT="76200" marB="76200">
                    <a:solidFill>
                      <a:srgbClr val="FFFFFF"/>
                    </a:solidFill>
                  </a:tcPr>
                </a:tc>
                <a:tc>
                  <a:txBody>
                    <a:bodyPr/>
                    <a:lstStyle/>
                    <a:p>
                      <a:pPr algn="r"/>
                      <a:r>
                        <a:rPr sz="1650" b="0">
                          <a:solidFill>
                            <a:srgbClr val="3D3D3D"/>
                          </a:solidFill>
                          <a:latin typeface="Mulish"/>
                          <a:ea typeface="Mulish"/>
                          <a:cs typeface="Mulish"/>
                        </a:rPr>
                        <a:t>2,166</a:t>
                      </a:r>
                    </a:p>
                  </a:txBody>
                  <a:tcPr marL="95250" marR="95250" marT="76200" marB="76200">
                    <a:solidFill>
                      <a:srgbClr val="FFFFFF"/>
                    </a:solidFill>
                  </a:tcPr>
                </a:tc>
                <a:tc>
                  <a:txBody>
                    <a:bodyPr/>
                    <a:lstStyle/>
                    <a:p>
                      <a:pPr algn="r"/>
                      <a:r>
                        <a:rPr sz="1650" b="0">
                          <a:solidFill>
                            <a:srgbClr val="3D3D3D"/>
                          </a:solidFill>
                          <a:latin typeface="Mulish"/>
                          <a:ea typeface="Mulish"/>
                          <a:cs typeface="Mulish"/>
                        </a:rPr>
                        <a:t>2,274</a:t>
                      </a:r>
                    </a:p>
                  </a:txBody>
                  <a:tcPr marL="95250" marR="95250" marT="76200" marB="76200">
                    <a:solidFill>
                      <a:srgbClr val="FFFFFF"/>
                    </a:solidFill>
                  </a:tcPr>
                </a:tc>
                <a:tc>
                  <a:txBody>
                    <a:bodyPr/>
                    <a:lstStyle/>
                    <a:p>
                      <a:pPr algn="r"/>
                      <a:r>
                        <a:rPr sz="1650" b="0">
                          <a:solidFill>
                            <a:srgbClr val="3D3D3D"/>
                          </a:solidFill>
                          <a:latin typeface="Mulish"/>
                          <a:ea typeface="Mulish"/>
                          <a:cs typeface="Mulish"/>
                        </a:rPr>
                        <a:t>2,388</a:t>
                      </a:r>
                    </a:p>
                  </a:txBody>
                  <a:tcPr marL="95250" marR="95250" marT="76200" marB="76200">
                    <a:solidFill>
                      <a:srgbClr val="FFFFFF"/>
                    </a:solidFill>
                  </a:tcPr>
                </a:tc>
              </a:tr>
              <a:tr h="398689">
                <a:tc>
                  <a:txBody>
                    <a:bodyPr/>
                    <a:lstStyle/>
                    <a:p>
                      <a:pPr algn="l"/>
                      <a:r>
                        <a:rPr sz="1650" b="0">
                          <a:solidFill>
                            <a:srgbClr val="3D3D3D"/>
                          </a:solidFill>
                          <a:latin typeface="Mulish"/>
                          <a:ea typeface="Mulish"/>
                          <a:cs typeface="Mulish"/>
                        </a:rPr>
                        <a:t>Survey</a:t>
                      </a:r>
                    </a:p>
                  </a:txBody>
                  <a:tcPr marL="95250" marR="95250" marT="76200" marB="76200">
                    <a:solidFill>
                      <a:srgbClr val="F5EDFF"/>
                    </a:solidFill>
                  </a:tcPr>
                </a:tc>
                <a:tc>
                  <a:txBody>
                    <a:bodyPr/>
                    <a:lstStyle/>
                    <a:p>
                      <a:pPr algn="r"/>
                      <a:r>
                        <a:rPr sz="1650" b="0">
                          <a:solidFill>
                            <a:srgbClr val="3D3D3D"/>
                          </a:solidFill>
                          <a:latin typeface="Mulish"/>
                          <a:ea typeface="Mulish"/>
                          <a:cs typeface="Mulish"/>
                        </a:rPr>
                        <a:t>4,921</a:t>
                      </a:r>
                    </a:p>
                  </a:txBody>
                  <a:tcPr marL="95250" marR="95250" marT="76200" marB="76200">
                    <a:solidFill>
                      <a:srgbClr val="F5EDFF"/>
                    </a:solidFill>
                  </a:tcPr>
                </a:tc>
                <a:tc>
                  <a:txBody>
                    <a:bodyPr/>
                    <a:lstStyle/>
                    <a:p>
                      <a:pPr algn="r"/>
                      <a:r>
                        <a:rPr sz="1650" b="0">
                          <a:solidFill>
                            <a:srgbClr val="3D3D3D"/>
                          </a:solidFill>
                          <a:latin typeface="Mulish"/>
                          <a:ea typeface="Mulish"/>
                          <a:cs typeface="Mulish"/>
                        </a:rPr>
                        <a:t>5,167</a:t>
                      </a:r>
                    </a:p>
                  </a:txBody>
                  <a:tcPr marL="95250" marR="95250" marT="76200" marB="76200">
                    <a:solidFill>
                      <a:srgbClr val="F5EDFF"/>
                    </a:solidFill>
                  </a:tcPr>
                </a:tc>
                <a:tc>
                  <a:txBody>
                    <a:bodyPr/>
                    <a:lstStyle/>
                    <a:p>
                      <a:pPr algn="r"/>
                      <a:r>
                        <a:rPr sz="1650" b="0">
                          <a:solidFill>
                            <a:srgbClr val="3D3D3D"/>
                          </a:solidFill>
                          <a:latin typeface="Mulish"/>
                          <a:ea typeface="Mulish"/>
                          <a:cs typeface="Mulish"/>
                        </a:rPr>
                        <a:t>5,425</a:t>
                      </a:r>
                    </a:p>
                  </a:txBody>
                  <a:tcPr marL="95250" marR="95250" marT="76200" marB="76200">
                    <a:solidFill>
                      <a:srgbClr val="F5EDFF"/>
                    </a:solidFill>
                  </a:tcPr>
                </a:tc>
                <a:tc>
                  <a:txBody>
                    <a:bodyPr/>
                    <a:lstStyle/>
                    <a:p>
                      <a:pPr algn="r"/>
                      <a:r>
                        <a:rPr sz="1650" b="0">
                          <a:solidFill>
                            <a:srgbClr val="3D3D3D"/>
                          </a:solidFill>
                          <a:latin typeface="Mulish"/>
                          <a:ea typeface="Mulish"/>
                          <a:cs typeface="Mulish"/>
                        </a:rPr>
                        <a:t>5,696</a:t>
                      </a:r>
                    </a:p>
                  </a:txBody>
                  <a:tcPr marL="95250" marR="95250" marT="76200" marB="76200">
                    <a:solidFill>
                      <a:srgbClr val="F5EDFF"/>
                    </a:solidFill>
                  </a:tcPr>
                </a:tc>
                <a:tc>
                  <a:txBody>
                    <a:bodyPr/>
                    <a:lstStyle/>
                    <a:p>
                      <a:pPr algn="r"/>
                      <a:r>
                        <a:rPr sz="1650" b="0">
                          <a:solidFill>
                            <a:srgbClr val="3D3D3D"/>
                          </a:solidFill>
                          <a:latin typeface="Mulish"/>
                          <a:ea typeface="Mulish"/>
                          <a:cs typeface="Mulish"/>
                        </a:rPr>
                        <a:t>5,981</a:t>
                      </a:r>
                    </a:p>
                  </a:txBody>
                  <a:tcPr marL="95250" marR="95250" marT="76200" marB="76200">
                    <a:solidFill>
                      <a:srgbClr val="F5EDFF"/>
                    </a:solidFill>
                  </a:tcPr>
                </a:tc>
              </a:tr>
              <a:tr h="398689">
                <a:tc>
                  <a:txBody>
                    <a:bodyPr/>
                    <a:lstStyle/>
                    <a:p>
                      <a:pPr algn="l"/>
                      <a:r>
                        <a:rPr sz="1650" b="0">
                          <a:solidFill>
                            <a:srgbClr val="3D3D3D"/>
                          </a:solidFill>
                          <a:latin typeface="Mulish"/>
                          <a:ea typeface="Mulish"/>
                          <a:cs typeface="Mulish"/>
                        </a:rPr>
                        <a:t>Other</a:t>
                      </a:r>
                    </a:p>
                  </a:txBody>
                  <a:tcPr marL="95250" marR="95250" marT="76200" marB="76200">
                    <a:solidFill>
                      <a:srgbClr val="FFFFFF"/>
                    </a:solidFill>
                  </a:tcPr>
                </a:tc>
                <a:tc>
                  <a:txBody>
                    <a:bodyPr/>
                    <a:lstStyle/>
                    <a:p>
                      <a:pPr algn="r"/>
                      <a:r>
                        <a:rPr sz="1650" b="0">
                          <a:solidFill>
                            <a:srgbClr val="3D3D3D"/>
                          </a:solidFill>
                          <a:latin typeface="Mulish"/>
                          <a:ea typeface="Mulish"/>
                          <a:cs typeface="Mulish"/>
                        </a:rPr>
                        <a:t>3,114</a:t>
                      </a:r>
                    </a:p>
                  </a:txBody>
                  <a:tcPr marL="95250" marR="95250" marT="76200" marB="76200">
                    <a:solidFill>
                      <a:srgbClr val="FFFFFF"/>
                    </a:solidFill>
                  </a:tcPr>
                </a:tc>
                <a:tc>
                  <a:txBody>
                    <a:bodyPr/>
                    <a:lstStyle/>
                    <a:p>
                      <a:pPr algn="r"/>
                      <a:r>
                        <a:rPr sz="1650" b="0">
                          <a:solidFill>
                            <a:srgbClr val="3D3D3D"/>
                          </a:solidFill>
                          <a:latin typeface="Mulish"/>
                          <a:ea typeface="Mulish"/>
                          <a:cs typeface="Mulish"/>
                        </a:rPr>
                        <a:t>3,270</a:t>
                      </a:r>
                    </a:p>
                  </a:txBody>
                  <a:tcPr marL="95250" marR="95250" marT="76200" marB="76200">
                    <a:solidFill>
                      <a:srgbClr val="FFFFFF"/>
                    </a:solidFill>
                  </a:tcPr>
                </a:tc>
                <a:tc>
                  <a:txBody>
                    <a:bodyPr/>
                    <a:lstStyle/>
                    <a:p>
                      <a:pPr algn="r"/>
                      <a:r>
                        <a:rPr sz="1650" b="0">
                          <a:solidFill>
                            <a:srgbClr val="3D3D3D"/>
                          </a:solidFill>
                          <a:latin typeface="Mulish"/>
                          <a:ea typeface="Mulish"/>
                          <a:cs typeface="Mulish"/>
                        </a:rPr>
                        <a:t>3,434</a:t>
                      </a:r>
                    </a:p>
                  </a:txBody>
                  <a:tcPr marL="95250" marR="95250" marT="76200" marB="76200">
                    <a:solidFill>
                      <a:srgbClr val="FFFFFF"/>
                    </a:solidFill>
                  </a:tcPr>
                </a:tc>
                <a:tc>
                  <a:txBody>
                    <a:bodyPr/>
                    <a:lstStyle/>
                    <a:p>
                      <a:pPr algn="r"/>
                      <a:r>
                        <a:rPr sz="1650" b="0">
                          <a:solidFill>
                            <a:srgbClr val="3D3D3D"/>
                          </a:solidFill>
                          <a:latin typeface="Mulish"/>
                          <a:ea typeface="Mulish"/>
                          <a:cs typeface="Mulish"/>
                        </a:rPr>
                        <a:t>3,606</a:t>
                      </a:r>
                    </a:p>
                  </a:txBody>
                  <a:tcPr marL="95250" marR="95250" marT="76200" marB="76200">
                    <a:solidFill>
                      <a:srgbClr val="FFFFFF"/>
                    </a:solidFill>
                  </a:tcPr>
                </a:tc>
                <a:tc>
                  <a:txBody>
                    <a:bodyPr/>
                    <a:lstStyle/>
                    <a:p>
                      <a:pPr algn="r"/>
                      <a:r>
                        <a:rPr sz="1650" b="0">
                          <a:solidFill>
                            <a:srgbClr val="3D3D3D"/>
                          </a:solidFill>
                          <a:latin typeface="Mulish"/>
                          <a:ea typeface="Mulish"/>
                          <a:cs typeface="Mulish"/>
                        </a:rPr>
                        <a:t>3,786</a:t>
                      </a:r>
                    </a:p>
                  </a:txBody>
                  <a:tcPr marL="95250" marR="95250" marT="76200" marB="76200">
                    <a:solidFill>
                      <a:srgbClr val="FFFFFF"/>
                    </a:solidFill>
                  </a:tcPr>
                </a:tc>
              </a:tr>
              <a:tr h="398689">
                <a:tc>
                  <a:txBody>
                    <a:bodyPr/>
                    <a:lstStyle/>
                    <a:p>
                      <a:pPr algn="l"/>
                      <a:r>
                        <a:rPr sz="1650" b="0">
                          <a:solidFill>
                            <a:srgbClr val="3D3D3D"/>
                          </a:solidFill>
                          <a:latin typeface="Mulish"/>
                          <a:ea typeface="Mulish"/>
                          <a:cs typeface="Mulish"/>
                        </a:rPr>
                        <a:t>Paid users</a:t>
                      </a:r>
                    </a:p>
                  </a:txBody>
                  <a:tcPr marL="95250" marR="95250" marT="76200" marB="76200">
                    <a:solidFill>
                      <a:srgbClr val="F5EDFF"/>
                    </a:solidFill>
                  </a:tcPr>
                </a:tc>
                <a:tc>
                  <a:txBody>
                    <a:bodyPr/>
                    <a:lstStyle/>
                    <a:p>
                      <a:pPr algn="r"/>
                      <a:r>
                        <a:rPr sz="1650" b="0">
                          <a:solidFill>
                            <a:srgbClr val="3D3D3D"/>
                          </a:solidFill>
                          <a:latin typeface="Mulish"/>
                          <a:ea typeface="Mulish"/>
                          <a:cs typeface="Mulish"/>
                        </a:rPr>
                        <a:t>10,000</a:t>
                      </a:r>
                    </a:p>
                  </a:txBody>
                  <a:tcPr marL="95250" marR="95250" marT="76200" marB="76200">
                    <a:solidFill>
                      <a:srgbClr val="F5EDFF"/>
                    </a:solidFill>
                  </a:tcPr>
                </a:tc>
                <a:tc>
                  <a:txBody>
                    <a:bodyPr/>
                    <a:lstStyle/>
                    <a:p>
                      <a:pPr algn="r"/>
                      <a:r>
                        <a:rPr sz="1650" b="0">
                          <a:solidFill>
                            <a:srgbClr val="3D3D3D"/>
                          </a:solidFill>
                          <a:latin typeface="Mulish"/>
                          <a:ea typeface="Mulish"/>
                          <a:cs typeface="Mulish"/>
                        </a:rPr>
                        <a:t>10,500</a:t>
                      </a:r>
                    </a:p>
                  </a:txBody>
                  <a:tcPr marL="95250" marR="95250" marT="76200" marB="76200">
                    <a:solidFill>
                      <a:srgbClr val="F5EDFF"/>
                    </a:solidFill>
                  </a:tcPr>
                </a:tc>
                <a:tc>
                  <a:txBody>
                    <a:bodyPr/>
                    <a:lstStyle/>
                    <a:p>
                      <a:pPr algn="r"/>
                      <a:r>
                        <a:rPr sz="1650" b="0">
                          <a:solidFill>
                            <a:srgbClr val="3D3D3D"/>
                          </a:solidFill>
                          <a:latin typeface="Mulish"/>
                          <a:ea typeface="Mulish"/>
                          <a:cs typeface="Mulish"/>
                        </a:rPr>
                        <a:t>11,025</a:t>
                      </a:r>
                    </a:p>
                  </a:txBody>
                  <a:tcPr marL="95250" marR="95250" marT="76200" marB="76200">
                    <a:solidFill>
                      <a:srgbClr val="F5EDFF"/>
                    </a:solidFill>
                  </a:tcPr>
                </a:tc>
                <a:tc>
                  <a:txBody>
                    <a:bodyPr/>
                    <a:lstStyle/>
                    <a:p>
                      <a:pPr algn="r"/>
                      <a:r>
                        <a:rPr sz="1650" b="0">
                          <a:solidFill>
                            <a:srgbClr val="3D3D3D"/>
                          </a:solidFill>
                          <a:latin typeface="Mulish"/>
                          <a:ea typeface="Mulish"/>
                          <a:cs typeface="Mulish"/>
                        </a:rPr>
                        <a:t>11,576</a:t>
                      </a:r>
                    </a:p>
                  </a:txBody>
                  <a:tcPr marL="95250" marR="95250" marT="76200" marB="76200">
                    <a:solidFill>
                      <a:srgbClr val="F5EDFF"/>
                    </a:solidFill>
                  </a:tcPr>
                </a:tc>
                <a:tc>
                  <a:txBody>
                    <a:bodyPr/>
                    <a:lstStyle/>
                    <a:p>
                      <a:pPr algn="r"/>
                      <a:r>
                        <a:rPr sz="1650" b="0">
                          <a:solidFill>
                            <a:srgbClr val="3D3D3D"/>
                          </a:solidFill>
                          <a:latin typeface="Mulish"/>
                          <a:ea typeface="Mulish"/>
                          <a:cs typeface="Mulish"/>
                        </a:rPr>
                        <a:t>12,155</a:t>
                      </a:r>
                    </a:p>
                  </a:txBody>
                  <a:tcPr marL="95250" marR="95250" marT="76200" marB="76200">
                    <a:solidFill>
                      <a:srgbClr val="F5EDFF"/>
                    </a:solidFill>
                  </a:tcPr>
                </a:tc>
              </a:tr>
              <a:tr h="398689">
                <a:tc>
                  <a:txBody>
                    <a:bodyPr/>
                    <a:lstStyle/>
                    <a:p>
                      <a:pPr algn="l"/>
                      <a:r>
                        <a:rPr sz="1650" b="0">
                          <a:solidFill>
                            <a:srgbClr val="3D3D3D"/>
                          </a:solidFill>
                          <a:latin typeface="Mulish"/>
                          <a:ea typeface="Mulish"/>
                          <a:cs typeface="Mulish"/>
                        </a:rPr>
                        <a:t>AED/user/year</a:t>
                      </a:r>
                    </a:p>
                  </a:txBody>
                  <a:tcPr marL="95250" marR="95250" marT="76200" marB="76200">
                    <a:solidFill>
                      <a:srgbClr val="FFFFFF"/>
                    </a:solidFill>
                  </a:tcPr>
                </a:tc>
                <a:tc>
                  <a:txBody>
                    <a:bodyPr/>
                    <a:lstStyle/>
                    <a:p>
                      <a:pPr algn="r"/>
                      <a:r>
                        <a:rPr sz="1650" b="0">
                          <a:solidFill>
                            <a:srgbClr val="3D3D3D"/>
                          </a:solidFill>
                          <a:latin typeface="Mulish"/>
                          <a:ea typeface="Mulish"/>
                          <a:cs typeface="Mulish"/>
                        </a:rPr>
                        <a:t>1,180</a:t>
                      </a:r>
                    </a:p>
                  </a:txBody>
                  <a:tcPr marL="95250" marR="95250" marT="76200" marB="76200">
                    <a:solidFill>
                      <a:srgbClr val="FFFFFF"/>
                    </a:solidFill>
                  </a:tcPr>
                </a:tc>
                <a:tc>
                  <a:txBody>
                    <a:bodyPr/>
                    <a:lstStyle/>
                    <a:p>
                      <a:pPr algn="r"/>
                      <a:r>
                        <a:rPr sz="1650" b="0">
                          <a:solidFill>
                            <a:srgbClr val="3D3D3D"/>
                          </a:solidFill>
                          <a:latin typeface="Mulish"/>
                          <a:ea typeface="Mulish"/>
                          <a:cs typeface="Mulish"/>
                        </a:rPr>
                        <a:t>1,180</a:t>
                      </a:r>
                    </a:p>
                  </a:txBody>
                  <a:tcPr marL="95250" marR="95250" marT="76200" marB="76200">
                    <a:solidFill>
                      <a:srgbClr val="FFFFFF"/>
                    </a:solidFill>
                  </a:tcPr>
                </a:tc>
                <a:tc>
                  <a:txBody>
                    <a:bodyPr/>
                    <a:lstStyle/>
                    <a:p>
                      <a:pPr algn="r"/>
                      <a:r>
                        <a:rPr sz="1650" b="0">
                          <a:solidFill>
                            <a:srgbClr val="3D3D3D"/>
                          </a:solidFill>
                          <a:latin typeface="Mulish"/>
                          <a:ea typeface="Mulish"/>
                          <a:cs typeface="Mulish"/>
                        </a:rPr>
                        <a:t>1,180</a:t>
                      </a:r>
                    </a:p>
                  </a:txBody>
                  <a:tcPr marL="95250" marR="95250" marT="76200" marB="76200">
                    <a:solidFill>
                      <a:srgbClr val="FFFFFF"/>
                    </a:solidFill>
                  </a:tcPr>
                </a:tc>
                <a:tc>
                  <a:txBody>
                    <a:bodyPr/>
                    <a:lstStyle/>
                    <a:p>
                      <a:pPr algn="r"/>
                      <a:r>
                        <a:rPr sz="1650" b="0">
                          <a:solidFill>
                            <a:srgbClr val="3D3D3D"/>
                          </a:solidFill>
                          <a:latin typeface="Mulish"/>
                          <a:ea typeface="Mulish"/>
                          <a:cs typeface="Mulish"/>
                        </a:rPr>
                        <a:t>1,180</a:t>
                      </a:r>
                    </a:p>
                  </a:txBody>
                  <a:tcPr marL="95250" marR="95250" marT="76200" marB="76200">
                    <a:solidFill>
                      <a:srgbClr val="FFFFFF"/>
                    </a:solidFill>
                  </a:tcPr>
                </a:tc>
                <a:tc>
                  <a:txBody>
                    <a:bodyPr/>
                    <a:lstStyle/>
                    <a:p>
                      <a:pPr algn="r"/>
                      <a:r>
                        <a:rPr sz="1650" b="0">
                          <a:solidFill>
                            <a:srgbClr val="3D3D3D"/>
                          </a:solidFill>
                          <a:latin typeface="Mulish"/>
                          <a:ea typeface="Mulish"/>
                          <a:cs typeface="Mulish"/>
                        </a:rPr>
                        <a:t>1,180</a:t>
                      </a:r>
                    </a:p>
                  </a:txBody>
                  <a:tcPr marL="95250" marR="95250" marT="76200" marB="76200">
                    <a:solidFill>
                      <a:srgbClr val="FFFFFF"/>
                    </a:solidFill>
                  </a:tcPr>
                </a:tc>
              </a:tr>
              <a:tr h="398689">
                <a:tc>
                  <a:txBody>
                    <a:bodyPr/>
                    <a:lstStyle/>
                    <a:p>
                      <a:pPr algn="l"/>
                      <a:r>
                        <a:rPr sz="1650" b="0">
                          <a:solidFill>
                            <a:srgbClr val="3D3D3D"/>
                          </a:solidFill>
                          <a:latin typeface="Mulish"/>
                          <a:ea typeface="Mulish"/>
                          <a:cs typeface="Mulish"/>
                        </a:rPr>
                        <a:t>Subscription AED m</a:t>
                      </a:r>
                    </a:p>
                  </a:txBody>
                  <a:tcPr marL="95250" marR="95250" marT="76200" marB="76200">
                    <a:solidFill>
                      <a:srgbClr val="F5EDFF"/>
                    </a:solidFill>
                  </a:tcPr>
                </a:tc>
                <a:tc>
                  <a:txBody>
                    <a:bodyPr/>
                    <a:lstStyle/>
                    <a:p>
                      <a:pPr algn="r"/>
                      <a:r>
                        <a:rPr sz="1650" b="0">
                          <a:solidFill>
                            <a:srgbClr val="3D3D3D"/>
                          </a:solidFill>
                          <a:latin typeface="Mulish"/>
                          <a:ea typeface="Mulish"/>
                          <a:cs typeface="Mulish"/>
                        </a:rPr>
                        <a:t>11.80</a:t>
                      </a:r>
                    </a:p>
                  </a:txBody>
                  <a:tcPr marL="95250" marR="95250" marT="76200" marB="76200">
                    <a:solidFill>
                      <a:srgbClr val="F5EDFF"/>
                    </a:solidFill>
                  </a:tcPr>
                </a:tc>
                <a:tc>
                  <a:txBody>
                    <a:bodyPr/>
                    <a:lstStyle/>
                    <a:p>
                      <a:pPr algn="r"/>
                      <a:r>
                        <a:rPr sz="1650" b="0">
                          <a:solidFill>
                            <a:srgbClr val="3D3D3D"/>
                          </a:solidFill>
                          <a:latin typeface="Mulish"/>
                          <a:ea typeface="Mulish"/>
                          <a:cs typeface="Mulish"/>
                        </a:rPr>
                        <a:t>12.39</a:t>
                      </a:r>
                    </a:p>
                  </a:txBody>
                  <a:tcPr marL="95250" marR="95250" marT="76200" marB="76200">
                    <a:solidFill>
                      <a:srgbClr val="F5EDFF"/>
                    </a:solidFill>
                  </a:tcPr>
                </a:tc>
                <a:tc>
                  <a:txBody>
                    <a:bodyPr/>
                    <a:lstStyle/>
                    <a:p>
                      <a:pPr algn="r"/>
                      <a:r>
                        <a:rPr sz="1650" b="0">
                          <a:solidFill>
                            <a:srgbClr val="3D3D3D"/>
                          </a:solidFill>
                          <a:latin typeface="Mulish"/>
                          <a:ea typeface="Mulish"/>
                          <a:cs typeface="Mulish"/>
                        </a:rPr>
                        <a:t>13.01</a:t>
                      </a:r>
                    </a:p>
                  </a:txBody>
                  <a:tcPr marL="95250" marR="95250" marT="76200" marB="76200">
                    <a:solidFill>
                      <a:srgbClr val="F5EDFF"/>
                    </a:solidFill>
                  </a:tcPr>
                </a:tc>
                <a:tc>
                  <a:txBody>
                    <a:bodyPr/>
                    <a:lstStyle/>
                    <a:p>
                      <a:pPr algn="r"/>
                      <a:r>
                        <a:rPr sz="1650" b="0">
                          <a:solidFill>
                            <a:srgbClr val="3D3D3D"/>
                          </a:solidFill>
                          <a:latin typeface="Mulish"/>
                          <a:ea typeface="Mulish"/>
                          <a:cs typeface="Mulish"/>
                        </a:rPr>
                        <a:t>13.66</a:t>
                      </a:r>
                    </a:p>
                  </a:txBody>
                  <a:tcPr marL="95250" marR="95250" marT="76200" marB="76200">
                    <a:solidFill>
                      <a:srgbClr val="F5EDFF"/>
                    </a:solidFill>
                  </a:tcPr>
                </a:tc>
                <a:tc>
                  <a:txBody>
                    <a:bodyPr/>
                    <a:lstStyle/>
                    <a:p>
                      <a:pPr algn="r"/>
                      <a:r>
                        <a:rPr sz="1650" b="0">
                          <a:solidFill>
                            <a:srgbClr val="3D3D3D"/>
                          </a:solidFill>
                          <a:latin typeface="Mulish"/>
                          <a:ea typeface="Mulish"/>
                          <a:cs typeface="Mulish"/>
                        </a:rPr>
                        <a:t>14.34</a:t>
                      </a:r>
                    </a:p>
                  </a:txBody>
                  <a:tcPr marL="95250" marR="95250" marT="76200" marB="76200">
                    <a:solidFill>
                      <a:srgbClr val="F5EDFF"/>
                    </a:solidFill>
                  </a:tcPr>
                </a:tc>
              </a:tr>
            </a:tbl>
          </a:graphicData>
        </a:graphic>
      </p:graphicFrame>
      <p:sp>
        <p:nvSpPr>
          <p:cNvPr id="7" name="qualification">
            <a:extLst xmlns:a="http://schemas.openxmlformats.org/drawingml/2006/main">
              <a:ext uri="{FF2B5EF4-FFF2-40B4-BE49-F238E27FC236}">
                <a16:creationId xmlns:a16="http://schemas.microsoft.com/office/drawing/2014/main" id="{ADA52D46-0D42-4B79-B4D2-DFF5DDB89DAB}"/>
              </a:ext>
            </a:extLst>
          </p:cNvPr>
          <p:cNvSpPr>
            <a:spLocks xmlns:a="http://schemas.openxmlformats.org/drawingml/2006/main" noGrp="1"/>
          </p:cNvSpPr>
          <p:nvPr/>
        </p:nvSpPr>
        <p:spPr>
          <a:xfrm xmlns:a="http://schemas.openxmlformats.org/drawingml/2006/main">
            <a:off x="457200" y="5924550"/>
            <a:ext cx="112776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344054"/>
                </a:solidFill>
                <a:latin typeface="Mulish"/>
                <a:ea typeface="Mulish"/>
                <a:cs typeface="Mulish"/>
              </a:defRPr>
            </a:pPr>
            <a:r>
              <a:rPr sz="1650" b="0">
                <a:solidFill>
                  <a:srgbClr val="344054"/>
                </a:solidFill>
                <a:latin typeface="Mulish"/>
                <a:ea typeface="Mulish"/>
                <a:cs typeface="Mulish"/>
              </a:rPr>
              <a:t>Five-year subscription: AED 65.20m. Support, onboarding and optional modules are separate.</a:t>
            </a:r>
          </a:p>
          <a:p xmlns:a="http://schemas.openxmlformats.org/drawingml/2006/main">
            <a:pPr algn="l">
              <a:defRPr sz="1650" b="0">
                <a:solidFill>
                  <a:srgbClr val="344054"/>
                </a:solidFill>
                <a:latin typeface="Mulish"/>
                <a:ea typeface="Mulish"/>
                <a:cs typeface="Mulish"/>
              </a:defRPr>
            </a:pPr>
            <a:r>
              <a:rPr sz="1650" b="0">
                <a:solidFill>
                  <a:srgbClr val="344054"/>
                </a:solidFill>
                <a:latin typeface="Mulish"/>
                <a:ea typeface="Mulish"/>
                <a:cs typeface="Mulish"/>
              </a:rPr>
              <a:t>The AED 1,180 rate remains locked even when forecast users exceed 12,000.</a:t>
            </a:r>
          </a:p>
        </p:txBody>
      </p:sp>
    </p:spTree>
    <p:extLst>
      <p:ext uri="{BB962C8B-B14F-4D97-AF65-F5344CB8AC3E}">
        <p14:creationId xmlns:p14="http://schemas.microsoft.com/office/powerpoint/2010/main" val="973041253"/>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ca6de621eb9f457a"/>
          <a:stretch xmlns:a="http://schemas.openxmlformats.org/drawingml/2006/main"/>
        </p:blipFill>
        <p:spPr>
          <a:xfrm xmlns:a="http://schemas.openxmlformats.org/drawingml/2006/main">
            <a:off x="457200" y="228600"/>
            <a:ext cx="381000" cy="381000"/>
          </a:xfrm>
          <a:prstGeom xmlns:a="http://schemas.openxmlformats.org/drawingml/2006/main" prst="rect">
            <a:avLst/>
          </a:prstGeom>
        </p:spPr>
      </p:pic>
      <p:sp>
        <p:nvSpPr>
          <p:cNvPr id="2" name="page-number">
            <a:extLst xmlns:a="http://schemas.openxmlformats.org/drawingml/2006/main">
              <a:ext uri="{FF2B5EF4-FFF2-40B4-BE49-F238E27FC236}">
                <a16:creationId xmlns:a16="http://schemas.microsoft.com/office/drawing/2014/main" id="{E3D345B7-7794-4F6B-A6A8-DCAEDE1DD5DE}"/>
              </a:ext>
            </a:extLst>
          </p:cNvPr>
          <p:cNvSpPr>
            <a:spLocks xmlns:a="http://schemas.openxmlformats.org/drawingml/2006/main" noGrp="1"/>
          </p:cNvSpPr>
          <p:nvPr/>
        </p:nvSpPr>
        <p:spPr>
          <a:xfrm xmlns:a="http://schemas.openxmlformats.org/drawingml/2006/main">
            <a:off x="11277600" y="643890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050" b="1">
                <a:solidFill>
                  <a:srgbClr val="1D0090"/>
                </a:solidFill>
                <a:latin typeface="Mulish"/>
                <a:ea typeface="Mulish"/>
                <a:cs typeface="Mulish"/>
              </a:defRPr>
            </a:pPr>
            <a:r>
              <a:rPr sz="1050" b="1">
                <a:solidFill>
                  <a:srgbClr val="1D0090"/>
                </a:solidFill>
                <a:latin typeface="Mulish"/>
                <a:ea typeface="Mulish"/>
                <a:cs typeface="Mulish"/>
              </a:rPr>
              <a:t>08</a:t>
            </a:r>
          </a:p>
        </p:txBody>
      </p:sp>
      <p:sp>
        <p:nvSpPr>
          <p:cNvPr id="3" name="eyebrow">
            <a:extLst xmlns:a="http://schemas.openxmlformats.org/drawingml/2006/main">
              <a:ext uri="{FF2B5EF4-FFF2-40B4-BE49-F238E27FC236}">
                <a16:creationId xmlns:a16="http://schemas.microsoft.com/office/drawing/2014/main" id="{F42C1A33-AF25-4476-8205-46E954E65E7F}"/>
              </a:ext>
            </a:extLst>
          </p:cNvPr>
          <p:cNvSpPr>
            <a:spLocks xmlns:a="http://schemas.openxmlformats.org/drawingml/2006/main" noGrp="1"/>
          </p:cNvSpPr>
          <p:nvPr/>
        </p:nvSpPr>
        <p:spPr>
          <a:xfrm xmlns:a="http://schemas.openxmlformats.org/drawingml/2006/main">
            <a:off x="990600" y="266700"/>
            <a:ext cx="1009650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7000FF"/>
                </a:solidFill>
                <a:latin typeface="Mulish"/>
                <a:ea typeface="Mulish"/>
                <a:cs typeface="Mulish"/>
              </a:defRPr>
            </a:pPr>
            <a:r>
              <a:rPr sz="1650" b="1">
                <a:solidFill>
                  <a:srgbClr val="7000FF"/>
                </a:solidFill>
                <a:latin typeface="Mulish"/>
                <a:ea typeface="Mulish"/>
                <a:cs typeface="Mulish"/>
              </a:rPr>
              <a:t>DDA MANAGEMENT DISCUSSION / OPTIONAL DETAIL 4</a:t>
            </a:r>
          </a:p>
        </p:txBody>
      </p:sp>
      <p:sp>
        <p:nvSpPr>
          <p:cNvPr id="4" name="title">
            <a:extLst xmlns:a="http://schemas.openxmlformats.org/drawingml/2006/main">
              <a:ext uri="{FF2B5EF4-FFF2-40B4-BE49-F238E27FC236}">
                <a16:creationId xmlns:a16="http://schemas.microsoft.com/office/drawing/2014/main" id="{8A30E252-DB17-4D9D-971E-5E2DE9939906}"/>
              </a:ext>
            </a:extLst>
          </p:cNvPr>
          <p:cNvSpPr>
            <a:spLocks xmlns:a="http://schemas.openxmlformats.org/drawingml/2006/main" noGrp="1"/>
          </p:cNvSpPr>
          <p:nvPr/>
        </p:nvSpPr>
        <p:spPr>
          <a:xfrm xmlns:a="http://schemas.openxmlformats.org/drawingml/2006/main">
            <a:off x="457200" y="914400"/>
            <a:ext cx="1127760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450" b="1">
                <a:solidFill>
                  <a:srgbClr val="1D0090"/>
                </a:solidFill>
                <a:latin typeface="Spartan"/>
                <a:ea typeface="Spartan"/>
                <a:cs typeface="Spartan"/>
              </a:defRPr>
            </a:pPr>
            <a:r>
              <a:rPr sz="3450" b="1">
                <a:solidFill>
                  <a:srgbClr val="1D0090"/>
                </a:solidFill>
                <a:latin typeface="Spartan"/>
                <a:ea typeface="Spartan"/>
                <a:cs typeface="Spartan"/>
              </a:rPr>
              <a:t>Five-year subscription economics</a:t>
            </a:r>
          </a:p>
        </p:txBody>
      </p:sp>
      <p:graphicFrame>
        <p:nvGraphicFramePr>
          <p:cNvPr id="15" name="Chart"/>
          <p:cNvGraphicFramePr/>
          <p:nvPr/>
        </p:nvGraphicFramePr>
        <p:xfrm>
          <a:off xmlns:a="http://schemas.openxmlformats.org/drawingml/2006/main" x="457200" y="2324100"/>
          <a:ext xmlns:a="http://schemas.openxmlformats.org/drawingml/2006/main" cx="6819900" cy="3124200"/>
        </p:xfrm>
        <a:graphic xmlns:a="http://schemas.openxmlformats.org/drawingml/2006/main">
          <a:graphicData uri="http://schemas.openxmlformats.org/drawingml/2006/chart">
            <c:chart xmlns:r="http://schemas.openxmlformats.org/officeDocument/2006/relationships" xmlns:c="http://schemas.openxmlformats.org/drawingml/2006/chart" r:id="R71e193766e624c9a"/>
          </a:graphicData>
        </a:graphic>
      </p:graphicFrame>
      <p:sp>
        <p:nvSpPr>
          <p:cNvPr id="6" name="modeled-benefit">
            <a:extLst xmlns:a="http://schemas.openxmlformats.org/drawingml/2006/main">
              <a:ext uri="{FF2B5EF4-FFF2-40B4-BE49-F238E27FC236}">
                <a16:creationId xmlns:a16="http://schemas.microsoft.com/office/drawing/2014/main" id="{1DB7A893-D754-474B-9591-93D05F9C25BA}"/>
              </a:ext>
            </a:extLst>
          </p:cNvPr>
          <p:cNvSpPr>
            <a:spLocks xmlns:a="http://schemas.openxmlformats.org/drawingml/2006/main" noGrp="1"/>
          </p:cNvSpPr>
          <p:nvPr/>
        </p:nvSpPr>
        <p:spPr>
          <a:xfrm xmlns:a="http://schemas.openxmlformats.org/drawingml/2006/main">
            <a:off x="7772400" y="2324100"/>
            <a:ext cx="39624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600" b="1">
                <a:solidFill>
                  <a:srgbClr val="7000FF"/>
                </a:solidFill>
                <a:latin typeface="Spartan"/>
                <a:ea typeface="Spartan"/>
                <a:cs typeface="Spartan"/>
              </a:defRPr>
            </a:pPr>
            <a:r>
              <a:rPr sz="3600" b="1">
                <a:solidFill>
                  <a:srgbClr val="7000FF"/>
                </a:solidFill>
                <a:latin typeface="Spartan"/>
                <a:ea typeface="Spartan"/>
                <a:cs typeface="Spartan"/>
              </a:rPr>
              <a:t>AED 81.76m</a:t>
            </a:r>
          </a:p>
        </p:txBody>
      </p:sp>
      <p:sp>
        <p:nvSpPr>
          <p:cNvPr id="7" name="modeled-label">
            <a:extLst xmlns:a="http://schemas.openxmlformats.org/drawingml/2006/main">
              <a:ext uri="{FF2B5EF4-FFF2-40B4-BE49-F238E27FC236}">
                <a16:creationId xmlns:a16="http://schemas.microsoft.com/office/drawing/2014/main" id="{9286093A-121C-4365-BD50-FB87BADBA87F}"/>
              </a:ext>
            </a:extLst>
          </p:cNvPr>
          <p:cNvSpPr>
            <a:spLocks xmlns:a="http://schemas.openxmlformats.org/drawingml/2006/main" noGrp="1"/>
          </p:cNvSpPr>
          <p:nvPr/>
        </p:nvSpPr>
        <p:spPr>
          <a:xfrm xmlns:a="http://schemas.openxmlformats.org/drawingml/2006/main">
            <a:off x="7772400" y="3133725"/>
            <a:ext cx="39624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1">
                <a:solidFill>
                  <a:srgbClr val="1D0090"/>
                </a:solidFill>
                <a:latin typeface="Mulish"/>
                <a:ea typeface="Mulish"/>
                <a:cs typeface="Mulish"/>
              </a:defRPr>
            </a:pPr>
            <a:r>
              <a:rPr sz="1875" b="1">
                <a:solidFill>
                  <a:srgbClr val="1D0090"/>
                </a:solidFill>
                <a:latin typeface="Mulish"/>
                <a:ea typeface="Mulish"/>
                <a:cs typeface="Mulish"/>
              </a:rPr>
              <a:t>saving vs. mixed benchmark</a:t>
            </a:r>
          </a:p>
        </p:txBody>
      </p:sp>
      <p:sp>
        <p:nvSpPr>
          <p:cNvPr id="8" name="average-benefit">
            <a:extLst xmlns:a="http://schemas.openxmlformats.org/drawingml/2006/main">
              <a:ext uri="{FF2B5EF4-FFF2-40B4-BE49-F238E27FC236}">
                <a16:creationId xmlns:a16="http://schemas.microsoft.com/office/drawing/2014/main" id="{B9F0FA71-F12A-4EE0-8571-539CD8E70766}"/>
              </a:ext>
            </a:extLst>
          </p:cNvPr>
          <p:cNvSpPr>
            <a:spLocks xmlns:a="http://schemas.openxmlformats.org/drawingml/2006/main" noGrp="1"/>
          </p:cNvSpPr>
          <p:nvPr/>
        </p:nvSpPr>
        <p:spPr>
          <a:xfrm xmlns:a="http://schemas.openxmlformats.org/drawingml/2006/main">
            <a:off x="7772400" y="4048125"/>
            <a:ext cx="39624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600" b="1">
                <a:solidFill>
                  <a:srgbClr val="7000FF"/>
                </a:solidFill>
                <a:latin typeface="Spartan"/>
                <a:ea typeface="Spartan"/>
                <a:cs typeface="Spartan"/>
              </a:defRPr>
            </a:pPr>
            <a:r>
              <a:rPr sz="3600" b="1">
                <a:solidFill>
                  <a:srgbClr val="7000FF"/>
                </a:solidFill>
                <a:latin typeface="Spartan"/>
                <a:ea typeface="Spartan"/>
                <a:cs typeface="Spartan"/>
              </a:rPr>
              <a:t>AED 16.17m</a:t>
            </a:r>
          </a:p>
        </p:txBody>
      </p:sp>
      <p:sp>
        <p:nvSpPr>
          <p:cNvPr id="9" name="average-label">
            <a:extLst xmlns:a="http://schemas.openxmlformats.org/drawingml/2006/main">
              <a:ext uri="{FF2B5EF4-FFF2-40B4-BE49-F238E27FC236}">
                <a16:creationId xmlns:a16="http://schemas.microsoft.com/office/drawing/2014/main" id="{1378B8B7-DC7D-495C-AD9D-ED14B4C65799}"/>
              </a:ext>
            </a:extLst>
          </p:cNvPr>
          <p:cNvSpPr>
            <a:spLocks xmlns:a="http://schemas.openxmlformats.org/drawingml/2006/main" noGrp="1"/>
          </p:cNvSpPr>
          <p:nvPr/>
        </p:nvSpPr>
        <p:spPr>
          <a:xfrm xmlns:a="http://schemas.openxmlformats.org/drawingml/2006/main">
            <a:off x="7772400" y="4857750"/>
            <a:ext cx="39624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1">
                <a:solidFill>
                  <a:srgbClr val="1D0090"/>
                </a:solidFill>
                <a:latin typeface="Mulish"/>
                <a:ea typeface="Mulish"/>
                <a:cs typeface="Mulish"/>
              </a:defRPr>
            </a:pPr>
            <a:r>
              <a:rPr sz="1875" b="1">
                <a:solidFill>
                  <a:srgbClr val="1D0090"/>
                </a:solidFill>
                <a:latin typeface="Mulish"/>
                <a:ea typeface="Mulish"/>
                <a:cs typeface="Mulish"/>
              </a:rPr>
              <a:t>saving vs. weighted average</a:t>
            </a:r>
          </a:p>
          <a:p xmlns:a="http://schemas.openxmlformats.org/drawingml/2006/main">
            <a:pPr algn="l">
              <a:defRPr sz="1875" b="1">
                <a:solidFill>
                  <a:srgbClr val="1D0090"/>
                </a:solidFill>
                <a:latin typeface="Mulish"/>
                <a:ea typeface="Mulish"/>
                <a:cs typeface="Mulish"/>
              </a:defRPr>
            </a:pPr>
            <a:r>
              <a:rPr sz="1875" b="1">
                <a:solidFill>
                  <a:srgbClr val="1D0090"/>
                </a:solidFill>
                <a:latin typeface="Mulish"/>
                <a:ea typeface="Mulish"/>
                <a:cs typeface="Mulish"/>
              </a:rPr>
              <a:t>19.87% reduction</a:t>
            </a:r>
          </a:p>
        </p:txBody>
      </p:sp>
      <p:sp>
        <p:nvSpPr>
          <p:cNvPr id="10" name="qualification">
            <a:extLst xmlns:a="http://schemas.openxmlformats.org/drawingml/2006/main">
              <a:ext uri="{FF2B5EF4-FFF2-40B4-BE49-F238E27FC236}">
                <a16:creationId xmlns:a16="http://schemas.microsoft.com/office/drawing/2014/main" id="{CC3BF6F3-A413-4A0D-8346-9F1D171A5438}"/>
              </a:ext>
            </a:extLst>
          </p:cNvPr>
          <p:cNvSpPr>
            <a:spLocks xmlns:a="http://schemas.openxmlformats.org/drawingml/2006/main" noGrp="1"/>
          </p:cNvSpPr>
          <p:nvPr/>
        </p:nvSpPr>
        <p:spPr>
          <a:xfrm xmlns:a="http://schemas.openxmlformats.org/drawingml/2006/main">
            <a:off x="457200" y="5705475"/>
            <a:ext cx="112776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344054"/>
                </a:solidFill>
                <a:latin typeface="Mulish"/>
                <a:ea typeface="Mulish"/>
                <a:cs typeface="Mulish"/>
              </a:defRPr>
            </a:pPr>
            <a:r>
              <a:rPr sz="1650" b="0">
                <a:solidFill>
                  <a:srgbClr val="344054"/>
                </a:solidFill>
                <a:latin typeface="Mulish"/>
                <a:ea typeface="Mulish"/>
                <a:cs typeface="Mulish"/>
              </a:rPr>
              <a:t>Mixed: existing at current prices; Survey / Other at AED 2,950 list price.</a:t>
            </a:r>
          </a:p>
          <a:p xmlns:a="http://schemas.openxmlformats.org/drawingml/2006/main">
            <a:pPr algn="l">
              <a:defRPr sz="1650" b="0">
                <a:solidFill>
                  <a:srgbClr val="344054"/>
                </a:solidFill>
                <a:latin typeface="Mulish"/>
                <a:ea typeface="Mulish"/>
                <a:cs typeface="Mulish"/>
              </a:defRPr>
            </a:pPr>
            <a:r>
              <a:rPr sz="1650" b="0">
                <a:solidFill>
                  <a:srgbClr val="344054"/>
                </a:solidFill>
                <a:latin typeface="Mulish"/>
                <a:ea typeface="Mulish"/>
                <a:cs typeface="Mulish"/>
              </a:rPr>
              <a:t>Weighted average: AED 1,472.65 applied to all forecast paid users.</a:t>
            </a:r>
          </a:p>
          <a:p xmlns:a="http://schemas.openxmlformats.org/drawingml/2006/main">
            <a:pPr algn="l">
              <a:defRPr sz="1650" b="0">
                <a:solidFill>
                  <a:srgbClr val="344054"/>
                </a:solidFill>
                <a:latin typeface="Mulish"/>
                <a:ea typeface="Mulish"/>
                <a:cs typeface="Mulish"/>
              </a:defRPr>
            </a:pPr>
            <a:r>
              <a:rPr sz="1650" b="0">
                <a:solidFill>
                  <a:srgbClr val="344054"/>
                </a:solidFill>
                <a:latin typeface="Mulish"/>
                <a:ea typeface="Mulish"/>
                <a:cs typeface="Mulish"/>
              </a:rPr>
              <a:t>Both are modeled subscription comparisons. Support and other charges are separate.</a:t>
            </a:r>
          </a:p>
        </p:txBody>
      </p:sp>
    </p:spTree>
    <p:extLst>
      <p:ext uri="{BB962C8B-B14F-4D97-AF65-F5344CB8AC3E}">
        <p14:creationId xmlns:p14="http://schemas.microsoft.com/office/powerpoint/2010/main" val="61501351"/>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e79a5f62d7874be3"/>
          <a:stretch xmlns:a="http://schemas.openxmlformats.org/drawingml/2006/main"/>
        </p:blipFill>
        <p:spPr>
          <a:xfrm xmlns:a="http://schemas.openxmlformats.org/drawingml/2006/main">
            <a:off x="457200" y="228600"/>
            <a:ext cx="381000" cy="381000"/>
          </a:xfrm>
          <a:prstGeom xmlns:a="http://schemas.openxmlformats.org/drawingml/2006/main" prst="rect">
            <a:avLst/>
          </a:prstGeom>
        </p:spPr>
      </p:pic>
      <p:sp>
        <p:nvSpPr>
          <p:cNvPr id="2" name="page-number">
            <a:extLst xmlns:a="http://schemas.openxmlformats.org/drawingml/2006/main">
              <a:ext uri="{FF2B5EF4-FFF2-40B4-BE49-F238E27FC236}">
                <a16:creationId xmlns:a16="http://schemas.microsoft.com/office/drawing/2014/main" id="{14D62EF0-15C9-4D7B-9BB6-9FB3B0324AE8}"/>
              </a:ext>
            </a:extLst>
          </p:cNvPr>
          <p:cNvSpPr>
            <a:spLocks xmlns:a="http://schemas.openxmlformats.org/drawingml/2006/main" noGrp="1"/>
          </p:cNvSpPr>
          <p:nvPr/>
        </p:nvSpPr>
        <p:spPr>
          <a:xfrm xmlns:a="http://schemas.openxmlformats.org/drawingml/2006/main">
            <a:off x="11277600" y="643890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050" b="1">
                <a:solidFill>
                  <a:srgbClr val="1D0090"/>
                </a:solidFill>
                <a:latin typeface="Mulish"/>
                <a:ea typeface="Mulish"/>
                <a:cs typeface="Mulish"/>
              </a:defRPr>
            </a:pPr>
            <a:r>
              <a:rPr sz="1050" b="1">
                <a:solidFill>
                  <a:srgbClr val="1D0090"/>
                </a:solidFill>
                <a:latin typeface="Mulish"/>
                <a:ea typeface="Mulish"/>
                <a:cs typeface="Mulish"/>
              </a:rPr>
              <a:t>09</a:t>
            </a:r>
          </a:p>
        </p:txBody>
      </p:sp>
      <p:sp>
        <p:nvSpPr>
          <p:cNvPr id="3" name="eyebrow">
            <a:extLst xmlns:a="http://schemas.openxmlformats.org/drawingml/2006/main">
              <a:ext uri="{FF2B5EF4-FFF2-40B4-BE49-F238E27FC236}">
                <a16:creationId xmlns:a16="http://schemas.microsoft.com/office/drawing/2014/main" id="{DDF6C15E-A752-4030-8A43-94CC7D720677}"/>
              </a:ext>
            </a:extLst>
          </p:cNvPr>
          <p:cNvSpPr>
            <a:spLocks xmlns:a="http://schemas.openxmlformats.org/drawingml/2006/main" noGrp="1"/>
          </p:cNvSpPr>
          <p:nvPr/>
        </p:nvSpPr>
        <p:spPr>
          <a:xfrm xmlns:a="http://schemas.openxmlformats.org/drawingml/2006/main">
            <a:off x="990600" y="266700"/>
            <a:ext cx="1009650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7000FF"/>
                </a:solidFill>
                <a:latin typeface="Mulish"/>
                <a:ea typeface="Mulish"/>
                <a:cs typeface="Mulish"/>
              </a:defRPr>
            </a:pPr>
            <a:r>
              <a:rPr sz="1650" b="1">
                <a:solidFill>
                  <a:srgbClr val="7000FF"/>
                </a:solidFill>
                <a:latin typeface="Mulish"/>
                <a:ea typeface="Mulish"/>
                <a:cs typeface="Mulish"/>
              </a:rPr>
              <a:t>DDA MANAGEMENT DISCUSSION / OPTIONAL DETAIL 5</a:t>
            </a:r>
          </a:p>
        </p:txBody>
      </p:sp>
      <p:sp>
        <p:nvSpPr>
          <p:cNvPr id="4" name="title">
            <a:extLst xmlns:a="http://schemas.openxmlformats.org/drawingml/2006/main">
              <a:ext uri="{FF2B5EF4-FFF2-40B4-BE49-F238E27FC236}">
                <a16:creationId xmlns:a16="http://schemas.microsoft.com/office/drawing/2014/main" id="{961D09EE-98CA-412A-BA8C-902F4198C257}"/>
              </a:ext>
            </a:extLst>
          </p:cNvPr>
          <p:cNvSpPr>
            <a:spLocks xmlns:a="http://schemas.openxmlformats.org/drawingml/2006/main" noGrp="1"/>
          </p:cNvSpPr>
          <p:nvPr/>
        </p:nvSpPr>
        <p:spPr>
          <a:xfrm xmlns:a="http://schemas.openxmlformats.org/drawingml/2006/main">
            <a:off x="457200" y="914400"/>
            <a:ext cx="1127760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450" b="1">
                <a:solidFill>
                  <a:srgbClr val="1D0090"/>
                </a:solidFill>
                <a:latin typeface="Spartan"/>
                <a:ea typeface="Spartan"/>
                <a:cs typeface="Spartan"/>
              </a:defRPr>
            </a:pPr>
            <a:r>
              <a:rPr sz="3450" b="1">
                <a:solidFill>
                  <a:srgbClr val="1D0090"/>
                </a:solidFill>
                <a:latin typeface="Spartan"/>
                <a:ea typeface="Spartan"/>
                <a:cs typeface="Spartan"/>
              </a:rPr>
              <a:t>Additional commercial value and charges</a:t>
            </a:r>
          </a:p>
        </p:txBody>
      </p:sp>
      <p:graphicFrame>
        <p:nvGraphicFramePr>
          <p:cNvPr id="11" name=""/>
          <p:cNvGraphicFramePr/>
          <p:nvPr/>
        </p:nvGraphicFramePr>
        <p:xfrm>
          <a:off xmlns:a="http://schemas.openxmlformats.org/drawingml/2006/main" x="457200" y="2362200"/>
          <a:ext xmlns:a="http://schemas.openxmlformats.org/drawingml/2006/main" cx="11277600" cy="3086100"/>
        </p:xfrm>
        <a:graphic xmlns:a="http://schemas.openxmlformats.org/drawingml/2006/main">
          <a:graphicData uri="http://schemas.openxmlformats.org/drawingml/2006/table">
            <a:tbl>
              <a:tblPr firstRow="1" bandRow="0"/>
              <a:tblGrid>
                <a:gridCol w="2524125"/>
                <a:gridCol w="4514850"/>
                <a:gridCol w="4238625"/>
              </a:tblGrid>
              <a:tr h="617220">
                <a:tc>
                  <a:txBody>
                    <a:bodyPr/>
                    <a:lstStyle/>
                    <a:p>
                      <a:pPr algn="l"/>
                      <a:r>
                        <a:rPr sz="1725" b="1">
                          <a:solidFill>
                            <a:srgbClr val="FFFFFF"/>
                          </a:solidFill>
                          <a:latin typeface="Mulish"/>
                          <a:ea typeface="Mulish"/>
                          <a:cs typeface="Mulish"/>
                        </a:rPr>
                        <a:t>Item</a:t>
                      </a:r>
                    </a:p>
                  </a:txBody>
                  <a:tcPr marL="95250" marR="95250" marT="76200" marB="76200">
                    <a:solidFill>
                      <a:srgbClr val="1D0090"/>
                    </a:solidFill>
                  </a:tcPr>
                </a:tc>
                <a:tc>
                  <a:txBody>
                    <a:bodyPr/>
                    <a:lstStyle/>
                    <a:p>
                      <a:pPr algn="r"/>
                      <a:r>
                        <a:rPr sz="1725" b="1">
                          <a:solidFill>
                            <a:srgbClr val="FFFFFF"/>
                          </a:solidFill>
                          <a:latin typeface="Mulish"/>
                          <a:ea typeface="Mulish"/>
                          <a:cs typeface="Mulish"/>
                        </a:rPr>
                        <a:t>Commercial proposition</a:t>
                      </a:r>
                    </a:p>
                  </a:txBody>
                  <a:tcPr marL="95250" marR="95250" marT="76200" marB="76200">
                    <a:solidFill>
                      <a:srgbClr val="1D0090"/>
                    </a:solidFill>
                  </a:tcPr>
                </a:tc>
                <a:tc>
                  <a:txBody>
                    <a:bodyPr/>
                    <a:lstStyle/>
                    <a:p>
                      <a:pPr algn="r"/>
                      <a:r>
                        <a:rPr sz="1725" b="1">
                          <a:solidFill>
                            <a:srgbClr val="FFFFFF"/>
                          </a:solidFill>
                          <a:latin typeface="Mulish"/>
                          <a:ea typeface="Mulish"/>
                          <a:cs typeface="Mulish"/>
                        </a:rPr>
                        <a:t>Treatment</a:t>
                      </a:r>
                    </a:p>
                  </a:txBody>
                  <a:tcPr marL="95250" marR="95250" marT="76200" marB="76200">
                    <a:solidFill>
                      <a:srgbClr val="1D0090"/>
                    </a:solidFill>
                  </a:tcPr>
                </a:tc>
              </a:tr>
              <a:tr h="617220">
                <a:tc>
                  <a:txBody>
                    <a:bodyPr/>
                    <a:lstStyle/>
                    <a:p>
                      <a:pPr algn="l"/>
                      <a:r>
                        <a:rPr sz="1725" b="0">
                          <a:solidFill>
                            <a:srgbClr val="3D3D3D"/>
                          </a:solidFill>
                          <a:latin typeface="Mulish"/>
                          <a:ea typeface="Mulish"/>
                          <a:cs typeface="Mulish"/>
                        </a:rPr>
                        <a:t>Enterprise package</a:t>
                      </a:r>
                    </a:p>
                  </a:txBody>
                  <a:tcPr marL="95250" marR="95250" marT="76200" marB="76200">
                    <a:solidFill>
                      <a:srgbClr val="FFFFFF"/>
                    </a:solidFill>
                  </a:tcPr>
                </a:tc>
                <a:tc>
                  <a:txBody>
                    <a:bodyPr/>
                    <a:lstStyle/>
                    <a:p>
                      <a:pPr algn="r"/>
                      <a:r>
                        <a:rPr sz="1725" b="0">
                          <a:solidFill>
                            <a:srgbClr val="3D3D3D"/>
                          </a:solidFill>
                          <a:latin typeface="Mulish"/>
                          <a:ea typeface="Mulish"/>
                          <a:cs typeface="Mulish"/>
                        </a:rPr>
                        <a:t>Most agreed feature add-ons included</a:t>
                      </a:r>
                    </a:p>
                  </a:txBody>
                  <a:tcPr marL="95250" marR="95250" marT="76200" marB="76200">
                    <a:solidFill>
                      <a:srgbClr val="FFFFFF"/>
                    </a:solidFill>
                  </a:tcPr>
                </a:tc>
                <a:tc>
                  <a:txBody>
                    <a:bodyPr/>
                    <a:lstStyle/>
                    <a:p>
                      <a:pPr algn="r"/>
                      <a:r>
                        <a:rPr sz="1725" b="0">
                          <a:solidFill>
                            <a:srgbClr val="3D3D3D"/>
                          </a:solidFill>
                          <a:latin typeface="Mulish"/>
                          <a:ea typeface="Mulish"/>
                          <a:cs typeface="Mulish"/>
                        </a:rPr>
                        <a:t>~AED 20K/entity/year indicative value</a:t>
                      </a:r>
                    </a:p>
                  </a:txBody>
                  <a:tcPr marL="95250" marR="95250" marT="76200" marB="76200">
                    <a:solidFill>
                      <a:srgbClr val="FFFFFF"/>
                    </a:solidFill>
                  </a:tcPr>
                </a:tc>
              </a:tr>
              <a:tr h="617220">
                <a:tc>
                  <a:txBody>
                    <a:bodyPr/>
                    <a:lstStyle/>
                    <a:p>
                      <a:pPr algn="l"/>
                      <a:r>
                        <a:rPr sz="1725" b="0">
                          <a:solidFill>
                            <a:srgbClr val="3D3D3D"/>
                          </a:solidFill>
                          <a:latin typeface="Mulish"/>
                          <a:ea typeface="Mulish"/>
                          <a:cs typeface="Mulish"/>
                        </a:rPr>
                        <a:t>Support above 10K</a:t>
                      </a:r>
                    </a:p>
                  </a:txBody>
                  <a:tcPr marL="95250" marR="95250" marT="76200" marB="76200">
                    <a:solidFill>
                      <a:srgbClr val="F5EDFF"/>
                    </a:solidFill>
                  </a:tcPr>
                </a:tc>
                <a:tc>
                  <a:txBody>
                    <a:bodyPr/>
                    <a:lstStyle/>
                    <a:p>
                      <a:pPr algn="r"/>
                      <a:r>
                        <a:rPr sz="1725" b="0">
                          <a:solidFill>
                            <a:srgbClr val="3D3D3D"/>
                          </a:solidFill>
                          <a:latin typeface="Mulish"/>
                          <a:ea typeface="Mulish"/>
                          <a:cs typeface="Mulish"/>
                        </a:rPr>
                        <a:t>12.5% versus 25% standard rate</a:t>
                      </a:r>
                    </a:p>
                  </a:txBody>
                  <a:tcPr marL="95250" marR="95250" marT="76200" marB="76200">
                    <a:solidFill>
                      <a:srgbClr val="F5EDFF"/>
                    </a:solidFill>
                  </a:tcPr>
                </a:tc>
                <a:tc>
                  <a:txBody>
                    <a:bodyPr/>
                    <a:lstStyle/>
                    <a:p>
                      <a:pPr algn="r"/>
                      <a:r>
                        <a:rPr sz="1725" b="0">
                          <a:solidFill>
                            <a:srgbClr val="3D3D3D"/>
                          </a:solidFill>
                          <a:latin typeface="Mulish"/>
                          <a:ea typeface="Mulish"/>
                          <a:cs typeface="Mulish"/>
                        </a:rPr>
                        <a:t>50% lower rate on the same fee base</a:t>
                      </a:r>
                    </a:p>
                  </a:txBody>
                  <a:tcPr marL="95250" marR="95250" marT="76200" marB="76200">
                    <a:solidFill>
                      <a:srgbClr val="F5EDFF"/>
                    </a:solidFill>
                  </a:tcPr>
                </a:tc>
              </a:tr>
              <a:tr h="617220">
                <a:tc>
                  <a:txBody>
                    <a:bodyPr/>
                    <a:lstStyle/>
                    <a:p>
                      <a:pPr algn="l"/>
                      <a:r>
                        <a:rPr sz="1725" b="0">
                          <a:solidFill>
                            <a:srgbClr val="3D3D3D"/>
                          </a:solidFill>
                          <a:latin typeface="Mulish"/>
                          <a:ea typeface="Mulish"/>
                          <a:cs typeface="Mulish"/>
                        </a:rPr>
                        <a:t>New-entity onboarding</a:t>
                      </a:r>
                    </a:p>
                  </a:txBody>
                  <a:tcPr marL="95250" marR="95250" marT="76200" marB="76200">
                    <a:solidFill>
                      <a:srgbClr val="FFFFFF"/>
                    </a:solidFill>
                  </a:tcPr>
                </a:tc>
                <a:tc>
                  <a:txBody>
                    <a:bodyPr/>
                    <a:lstStyle/>
                    <a:p>
                      <a:pPr algn="r"/>
                      <a:r>
                        <a:rPr sz="1725" b="0">
                          <a:solidFill>
                            <a:srgbClr val="3D3D3D"/>
                          </a:solidFill>
                          <a:latin typeface="Mulish"/>
                          <a:ea typeface="Mulish"/>
                          <a:cs typeface="Mulish"/>
                        </a:rPr>
                        <a:t>AED 20,000 once per new entity</a:t>
                      </a:r>
                    </a:p>
                  </a:txBody>
                  <a:tcPr marL="95250" marR="95250" marT="76200" marB="76200">
                    <a:solidFill>
                      <a:srgbClr val="FFFFFF"/>
                    </a:solidFill>
                  </a:tcPr>
                </a:tc>
                <a:tc>
                  <a:txBody>
                    <a:bodyPr/>
                    <a:lstStyle/>
                    <a:p>
                      <a:pPr algn="r"/>
                      <a:r>
                        <a:rPr sz="1725" b="0">
                          <a:solidFill>
                            <a:srgbClr val="3D3D3D"/>
                          </a:solidFill>
                          <a:latin typeface="Mulish"/>
                          <a:ea typeface="Mulish"/>
                          <a:cs typeface="Mulish"/>
                        </a:rPr>
                        <a:t>Existing entities exempt</a:t>
                      </a:r>
                    </a:p>
                  </a:txBody>
                  <a:tcPr marL="95250" marR="95250" marT="76200" marB="76200">
                    <a:solidFill>
                      <a:srgbClr val="FFFFFF"/>
                    </a:solidFill>
                  </a:tcPr>
                </a:tc>
              </a:tr>
              <a:tr h="617220">
                <a:tc>
                  <a:txBody>
                    <a:bodyPr/>
                    <a:lstStyle/>
                    <a:p>
                      <a:pPr algn="l"/>
                      <a:r>
                        <a:rPr sz="1725" b="0">
                          <a:solidFill>
                            <a:srgbClr val="3D3D3D"/>
                          </a:solidFill>
                          <a:latin typeface="Mulish"/>
                          <a:ea typeface="Mulish"/>
                          <a:cs typeface="Mulish"/>
                        </a:rPr>
                        <a:t>Specialist modules</a:t>
                      </a:r>
                    </a:p>
                  </a:txBody>
                  <a:tcPr marL="95250" marR="95250" marT="76200" marB="76200">
                    <a:solidFill>
                      <a:srgbClr val="F5EDFF"/>
                    </a:solidFill>
                  </a:tcPr>
                </a:tc>
                <a:tc>
                  <a:txBody>
                    <a:bodyPr/>
                    <a:lstStyle/>
                    <a:p>
                      <a:pPr algn="r"/>
                      <a:r>
                        <a:rPr sz="1725" b="0">
                          <a:solidFill>
                            <a:srgbClr val="3D3D3D"/>
                          </a:solidFill>
                          <a:latin typeface="Mulish"/>
                          <a:ea typeface="Mulish"/>
                          <a:cs typeface="Mulish"/>
                        </a:rPr>
                        <a:t>KYC, DESC eSeal Certificates,</a:t>
                      </a:r>
                    </a:p>
                    <a:p>
                      <a:pPr algn="r"/>
                      <a:r>
                        <a:rPr sz="1725" b="0">
                          <a:solidFill>
                            <a:srgbClr val="3D3D3D"/>
                          </a:solidFill>
                          <a:latin typeface="Mulish"/>
                          <a:ea typeface="Mulish"/>
                          <a:cs typeface="Mulish"/>
                        </a:rPr>
                        <a:t>Collaboration &amp; DMS, AI Services</a:t>
                      </a:r>
                    </a:p>
                  </a:txBody>
                  <a:tcPr marL="95250" marR="95250" marT="76200" marB="76200">
                    <a:solidFill>
                      <a:srgbClr val="F5EDFF"/>
                    </a:solidFill>
                  </a:tcPr>
                </a:tc>
                <a:tc>
                  <a:txBody>
                    <a:bodyPr/>
                    <a:lstStyle/>
                    <a:p>
                      <a:pPr algn="r"/>
                      <a:r>
                        <a:rPr sz="1725" b="0">
                          <a:solidFill>
                            <a:srgbClr val="3D3D3D"/>
                          </a:solidFill>
                          <a:latin typeface="Mulish"/>
                          <a:ea typeface="Mulish"/>
                          <a:cs typeface="Mulish"/>
                        </a:rPr>
                        <a:t>Purchased separately</a:t>
                      </a:r>
                    </a:p>
                  </a:txBody>
                  <a:tcPr marL="95250" marR="95250" marT="76200" marB="76200">
                    <a:solidFill>
                      <a:srgbClr val="F5EDFF"/>
                    </a:solidFill>
                  </a:tcPr>
                </a:tc>
              </a:tr>
            </a:tbl>
          </a:graphicData>
        </a:graphic>
      </p:graphicFrame>
      <p:sp>
        <p:nvSpPr>
          <p:cNvPr id="6" name="qualification">
            <a:extLst xmlns:a="http://schemas.openxmlformats.org/drawingml/2006/main">
              <a:ext uri="{FF2B5EF4-FFF2-40B4-BE49-F238E27FC236}">
                <a16:creationId xmlns:a16="http://schemas.microsoft.com/office/drawing/2014/main" id="{99C3F3DF-AE39-4734-967E-44C5648EA574}"/>
              </a:ext>
            </a:extLst>
          </p:cNvPr>
          <p:cNvSpPr>
            <a:spLocks xmlns:a="http://schemas.openxmlformats.org/drawingml/2006/main" noGrp="1"/>
          </p:cNvSpPr>
          <p:nvPr/>
        </p:nvSpPr>
        <p:spPr>
          <a:xfrm xmlns:a="http://schemas.openxmlformats.org/drawingml/2006/main">
            <a:off x="457200" y="5924550"/>
            <a:ext cx="112776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344054"/>
                </a:solidFill>
                <a:latin typeface="Mulish"/>
                <a:ea typeface="Mulish"/>
                <a:cs typeface="Mulish"/>
              </a:defRPr>
            </a:pPr>
            <a:r>
              <a:rPr sz="1650" b="0">
                <a:solidFill>
                  <a:srgbClr val="344054"/>
                </a:solidFill>
                <a:latin typeface="Mulish"/>
                <a:ea typeface="Mulish"/>
                <a:cs typeface="Mulish"/>
              </a:rPr>
              <a:t>These additional benefits are outside the subscription-savings total.</a:t>
            </a:r>
          </a:p>
          <a:p xmlns:a="http://schemas.openxmlformats.org/drawingml/2006/main">
            <a:pPr algn="l">
              <a:defRPr sz="1650" b="0">
                <a:solidFill>
                  <a:srgbClr val="344054"/>
                </a:solidFill>
                <a:latin typeface="Mulish"/>
                <a:ea typeface="Mulish"/>
                <a:cs typeface="Mulish"/>
              </a:defRPr>
            </a:pPr>
            <a:r>
              <a:rPr sz="1650" b="0">
                <a:solidFill>
                  <a:srgbClr val="344054"/>
                </a:solidFill>
                <a:latin typeface="Mulish"/>
                <a:ea typeface="Mulish"/>
                <a:cs typeface="Mulish"/>
              </a:rPr>
              <a:t>12.5% support applies strictly above 10K; the exact 10K model uses 14%.</a:t>
            </a:r>
          </a:p>
        </p:txBody>
      </p:sp>
    </p:spTree>
    <p:extLst>
      <p:ext uri="{BB962C8B-B14F-4D97-AF65-F5344CB8AC3E}">
        <p14:creationId xmlns:p14="http://schemas.microsoft.com/office/powerpoint/2010/main" val="907572760"/>
      </p:ext>
    </p:extLst>
  </p:cSld>
</p:sld>
</file>

<file path=ppt/slides/slide10.xml><?xml version="1.0" encoding="utf-8"?>
<p:sld xmlns:p="http://schemas.openxmlformats.org/presentationml/2006/main">
  <p:cSld>
    <p:bg>
      <p:bgPr>
        <a:solidFill xmlns:a="http://schemas.openxmlformats.org/drawingml/2006/main">
          <a:srgbClr val="1D0090"/>
        </a:solidFill>
      </p:bgPr>
    </p:bg>
    <p:spTree>
      <p:nvGrpSpPr>
        <p:cNvPr id="1" name=""/>
        <p:cNvGrpSpPr/>
        <p:nvPr/>
      </p:nvGrpSpPr>
      <p:grpSpPr>
        <a:xfrm xmlns:a="http://schemas.openxmlformats.org/drawingml/2006/main"/>
      </p:grpSpPr>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bb9b0de462c74083"/>
          <a:stretch xmlns:a="http://schemas.openxmlformats.org/drawingml/2006/main"/>
        </p:blipFill>
        <p:spPr>
          <a:xfrm xmlns:a="http://schemas.openxmlformats.org/drawingml/2006/main">
            <a:off x="457200" y="228600"/>
            <a:ext cx="381000" cy="381000"/>
          </a:xfrm>
          <a:prstGeom xmlns:a="http://schemas.openxmlformats.org/drawingml/2006/main" prst="rect">
            <a:avLst/>
          </a:prstGeom>
        </p:spPr>
      </p:pic>
      <p:sp>
        <p:nvSpPr>
          <p:cNvPr id="2" name="page-number">
            <a:extLst xmlns:a="http://schemas.openxmlformats.org/drawingml/2006/main">
              <a:ext uri="{FF2B5EF4-FFF2-40B4-BE49-F238E27FC236}">
                <a16:creationId xmlns:a16="http://schemas.microsoft.com/office/drawing/2014/main" id="{B476CFED-E617-44DF-B308-11E033A632CC}"/>
              </a:ext>
            </a:extLst>
          </p:cNvPr>
          <p:cNvSpPr>
            <a:spLocks xmlns:a="http://schemas.openxmlformats.org/drawingml/2006/main" noGrp="1"/>
          </p:cNvSpPr>
          <p:nvPr/>
        </p:nvSpPr>
        <p:spPr>
          <a:xfrm xmlns:a="http://schemas.openxmlformats.org/drawingml/2006/main">
            <a:off x="11277600" y="643890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050" b="1">
                <a:solidFill>
                  <a:srgbClr val="FFFFFF"/>
                </a:solidFill>
                <a:latin typeface="Mulish"/>
                <a:ea typeface="Mulish"/>
                <a:cs typeface="Mulish"/>
              </a:defRPr>
            </a:pPr>
            <a:r>
              <a:rPr sz="1050" b="1">
                <a:solidFill>
                  <a:srgbClr val="FFFFFF"/>
                </a:solidFill>
                <a:latin typeface="Mulish"/>
                <a:ea typeface="Mulish"/>
                <a:cs typeface="Mulish"/>
              </a:rPr>
              <a:t>10</a:t>
            </a:r>
          </a:p>
        </p:txBody>
      </p:sp>
      <p:sp>
        <p:nvSpPr>
          <p:cNvPr id="3" name="eyebrow">
            <a:extLst xmlns:a="http://schemas.openxmlformats.org/drawingml/2006/main">
              <a:ext uri="{FF2B5EF4-FFF2-40B4-BE49-F238E27FC236}">
                <a16:creationId xmlns:a16="http://schemas.microsoft.com/office/drawing/2014/main" id="{3C566B08-DBB7-42FD-8558-5D4159A45230}"/>
              </a:ext>
            </a:extLst>
          </p:cNvPr>
          <p:cNvSpPr>
            <a:spLocks xmlns:a="http://schemas.openxmlformats.org/drawingml/2006/main" noGrp="1"/>
          </p:cNvSpPr>
          <p:nvPr/>
        </p:nvSpPr>
        <p:spPr>
          <a:xfrm xmlns:a="http://schemas.openxmlformats.org/drawingml/2006/main">
            <a:off x="990600" y="266700"/>
            <a:ext cx="1009650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FFFFFF"/>
                </a:solidFill>
                <a:latin typeface="Mulish"/>
                <a:ea typeface="Mulish"/>
                <a:cs typeface="Mulish"/>
              </a:defRPr>
            </a:pPr>
            <a:r>
              <a:rPr sz="1650" b="1">
                <a:solidFill>
                  <a:srgbClr val="FFFFFF"/>
                </a:solidFill>
                <a:latin typeface="Mulish"/>
                <a:ea typeface="Mulish"/>
                <a:cs typeface="Mulish"/>
              </a:rPr>
              <a:t>DDA MANAGEMENT DISCUSSION / OPTIONAL DETAIL 6</a:t>
            </a:r>
          </a:p>
        </p:txBody>
      </p:sp>
      <p:sp>
        <p:nvSpPr>
          <p:cNvPr id="4" name="title">
            <a:extLst xmlns:a="http://schemas.openxmlformats.org/drawingml/2006/main">
              <a:ext uri="{FF2B5EF4-FFF2-40B4-BE49-F238E27FC236}">
                <a16:creationId xmlns:a16="http://schemas.microsoft.com/office/drawing/2014/main" id="{660C4A6E-1BA8-4BC6-A1CC-F11C427EDF81}"/>
              </a:ext>
            </a:extLst>
          </p:cNvPr>
          <p:cNvSpPr>
            <a:spLocks xmlns:a="http://schemas.openxmlformats.org/drawingml/2006/main" noGrp="1"/>
          </p:cNvSpPr>
          <p:nvPr/>
        </p:nvSpPr>
        <p:spPr>
          <a:xfrm xmlns:a="http://schemas.openxmlformats.org/drawingml/2006/main">
            <a:off x="457200" y="914400"/>
            <a:ext cx="1127760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450" b="1">
                <a:solidFill>
                  <a:srgbClr val="FFFFFF"/>
                </a:solidFill>
                <a:latin typeface="Spartan"/>
                <a:ea typeface="Spartan"/>
                <a:cs typeface="Spartan"/>
              </a:defRPr>
            </a:pPr>
            <a:r>
              <a:rPr sz="3450" b="1">
                <a:solidFill>
                  <a:srgbClr val="FFFFFF"/>
                </a:solidFill>
                <a:latin typeface="Spartan"/>
                <a:ea typeface="Spartan"/>
                <a:cs typeface="Spartan"/>
              </a:rPr>
              <a:t>Scale beyond the initial 10K commitment</a:t>
            </a:r>
          </a:p>
        </p:txBody>
      </p:sp>
      <p:sp>
        <p:nvSpPr>
          <p:cNvPr id="5" name="population">
            <a:extLst xmlns:a="http://schemas.openxmlformats.org/drawingml/2006/main">
              <a:ext uri="{FF2B5EF4-FFF2-40B4-BE49-F238E27FC236}">
                <a16:creationId xmlns:a16="http://schemas.microsoft.com/office/drawing/2014/main" id="{0E4CB3B9-0298-43E2-AC42-CCEB099545F2}"/>
              </a:ext>
            </a:extLst>
          </p:cNvPr>
          <p:cNvSpPr>
            <a:spLocks xmlns:a="http://schemas.openxmlformats.org/drawingml/2006/main" noGrp="1"/>
          </p:cNvSpPr>
          <p:nvPr/>
        </p:nvSpPr>
        <p:spPr>
          <a:xfrm xmlns:a="http://schemas.openxmlformats.org/drawingml/2006/main">
            <a:off x="457200" y="2552700"/>
            <a:ext cx="40957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4800" b="1">
                <a:solidFill>
                  <a:srgbClr val="FFFFFF"/>
                </a:solidFill>
                <a:latin typeface="Spartan"/>
                <a:ea typeface="Spartan"/>
                <a:cs typeface="Spartan"/>
              </a:defRPr>
            </a:pPr>
            <a:r>
              <a:rPr sz="4800" b="1">
                <a:solidFill>
                  <a:srgbClr val="FFFFFF"/>
                </a:solidFill>
                <a:latin typeface="Spartan"/>
                <a:ea typeface="Spartan"/>
                <a:cs typeface="Spartan"/>
              </a:rPr>
              <a:t>76,000</a:t>
            </a:r>
          </a:p>
        </p:txBody>
      </p:sp>
      <p:sp>
        <p:nvSpPr>
          <p:cNvPr id="6" name="population-label">
            <a:extLst xmlns:a="http://schemas.openxmlformats.org/drawingml/2006/main">
              <a:ext uri="{FF2B5EF4-FFF2-40B4-BE49-F238E27FC236}">
                <a16:creationId xmlns:a16="http://schemas.microsoft.com/office/drawing/2014/main" id="{66C83FF1-0F44-41F2-B690-61A9A6CB4541}"/>
              </a:ext>
            </a:extLst>
          </p:cNvPr>
          <p:cNvSpPr>
            <a:spLocks xmlns:a="http://schemas.openxmlformats.org/drawingml/2006/main" noGrp="1"/>
          </p:cNvSpPr>
          <p:nvPr/>
        </p:nvSpPr>
        <p:spPr>
          <a:xfrm xmlns:a="http://schemas.openxmlformats.org/drawingml/2006/main">
            <a:off x="457200" y="3524250"/>
            <a:ext cx="447675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0">
                <a:solidFill>
                  <a:srgbClr val="FFFFFF"/>
                </a:solidFill>
                <a:latin typeface="Mulish"/>
                <a:ea typeface="Mulish"/>
                <a:cs typeface="Mulish"/>
              </a:defRPr>
            </a:pPr>
            <a:r>
              <a:rPr sz="1950" b="0">
                <a:solidFill>
                  <a:srgbClr val="FFFFFF"/>
                </a:solidFill>
                <a:latin typeface="Mulish"/>
                <a:ea typeface="Mulish"/>
                <a:cs typeface="Mulish"/>
              </a:rPr>
              <a:t>employees in the planning population</a:t>
            </a:r>
          </a:p>
        </p:txBody>
      </p:sp>
      <p:sp>
        <p:nvSpPr>
          <p:cNvPr id="7" name="share">
            <a:extLst xmlns:a="http://schemas.openxmlformats.org/drawingml/2006/main">
              <a:ext uri="{FF2B5EF4-FFF2-40B4-BE49-F238E27FC236}">
                <a16:creationId xmlns:a16="http://schemas.microsoft.com/office/drawing/2014/main" id="{427EED56-5F7F-4CEF-9B78-05F69B34DD5C}"/>
              </a:ext>
            </a:extLst>
          </p:cNvPr>
          <p:cNvSpPr>
            <a:spLocks xmlns:a="http://schemas.openxmlformats.org/drawingml/2006/main" noGrp="1"/>
          </p:cNvSpPr>
          <p:nvPr/>
        </p:nvSpPr>
        <p:spPr>
          <a:xfrm xmlns:a="http://schemas.openxmlformats.org/drawingml/2006/main">
            <a:off x="5410200" y="2552700"/>
            <a:ext cx="31432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4800" b="1">
                <a:solidFill>
                  <a:srgbClr val="FFFFFF"/>
                </a:solidFill>
                <a:latin typeface="Spartan"/>
                <a:ea typeface="Spartan"/>
                <a:cs typeface="Spartan"/>
              </a:defRPr>
            </a:pPr>
            <a:r>
              <a:rPr sz="4800" b="1">
                <a:solidFill>
                  <a:srgbClr val="FFFFFF"/>
                </a:solidFill>
                <a:latin typeface="Spartan"/>
                <a:ea typeface="Spartan"/>
                <a:cs typeface="Spartan"/>
              </a:rPr>
              <a:t>20%</a:t>
            </a:r>
          </a:p>
        </p:txBody>
      </p:sp>
      <p:sp>
        <p:nvSpPr>
          <p:cNvPr id="8" name="share-label">
            <a:extLst xmlns:a="http://schemas.openxmlformats.org/drawingml/2006/main">
              <a:ext uri="{FF2B5EF4-FFF2-40B4-BE49-F238E27FC236}">
                <a16:creationId xmlns:a16="http://schemas.microsoft.com/office/drawing/2014/main" id="{C486E4B8-E950-479F-8AC9-CD1B3829C635}"/>
              </a:ext>
            </a:extLst>
          </p:cNvPr>
          <p:cNvSpPr>
            <a:spLocks xmlns:a="http://schemas.openxmlformats.org/drawingml/2006/main" noGrp="1"/>
          </p:cNvSpPr>
          <p:nvPr/>
        </p:nvSpPr>
        <p:spPr>
          <a:xfrm xmlns:a="http://schemas.openxmlformats.org/drawingml/2006/main">
            <a:off x="5410200" y="3524250"/>
            <a:ext cx="314325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0">
                <a:solidFill>
                  <a:srgbClr val="FFFFFF"/>
                </a:solidFill>
                <a:latin typeface="Mulish"/>
                <a:ea typeface="Mulish"/>
                <a:cs typeface="Mulish"/>
              </a:defRPr>
            </a:pPr>
            <a:r>
              <a:rPr sz="1950" b="0">
                <a:solidFill>
                  <a:srgbClr val="FFFFFF"/>
                </a:solidFill>
                <a:latin typeface="Mulish"/>
                <a:ea typeface="Mulish"/>
                <a:cs typeface="Mulish"/>
              </a:rPr>
              <a:t>assumed potential adoption</a:t>
            </a:r>
          </a:p>
        </p:txBody>
      </p:sp>
      <p:sp>
        <p:nvSpPr>
          <p:cNvPr id="9" name="potential">
            <a:extLst xmlns:a="http://schemas.openxmlformats.org/drawingml/2006/main">
              <a:ext uri="{FF2B5EF4-FFF2-40B4-BE49-F238E27FC236}">
                <a16:creationId xmlns:a16="http://schemas.microsoft.com/office/drawing/2014/main" id="{5B64F67E-88D7-4775-B7D8-8EE10808F3D2}"/>
              </a:ext>
            </a:extLst>
          </p:cNvPr>
          <p:cNvSpPr>
            <a:spLocks xmlns:a="http://schemas.openxmlformats.org/drawingml/2006/main" noGrp="1"/>
          </p:cNvSpPr>
          <p:nvPr/>
        </p:nvSpPr>
        <p:spPr>
          <a:xfrm xmlns:a="http://schemas.openxmlformats.org/drawingml/2006/main">
            <a:off x="9077325" y="2552700"/>
            <a:ext cx="2657475"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900" b="1">
                <a:solidFill>
                  <a:srgbClr val="FFFFFF"/>
                </a:solidFill>
                <a:latin typeface="Spartan"/>
                <a:ea typeface="Spartan"/>
                <a:cs typeface="Spartan"/>
              </a:defRPr>
            </a:pPr>
            <a:r>
              <a:rPr sz="3900" b="1">
                <a:solidFill>
                  <a:srgbClr val="FFFFFF"/>
                </a:solidFill>
                <a:latin typeface="Spartan"/>
                <a:ea typeface="Spartan"/>
                <a:cs typeface="Spartan"/>
              </a:rPr>
              <a:t>15,200</a:t>
            </a:r>
          </a:p>
        </p:txBody>
      </p:sp>
      <p:sp>
        <p:nvSpPr>
          <p:cNvPr id="10" name="potential-label">
            <a:extLst xmlns:a="http://schemas.openxmlformats.org/drawingml/2006/main">
              <a:ext uri="{FF2B5EF4-FFF2-40B4-BE49-F238E27FC236}">
                <a16:creationId xmlns:a16="http://schemas.microsoft.com/office/drawing/2014/main" id="{E4EFDB45-C539-410F-9B7B-CB167F15D736}"/>
              </a:ext>
            </a:extLst>
          </p:cNvPr>
          <p:cNvSpPr>
            <a:spLocks xmlns:a="http://schemas.openxmlformats.org/drawingml/2006/main" noGrp="1"/>
          </p:cNvSpPr>
          <p:nvPr/>
        </p:nvSpPr>
        <p:spPr>
          <a:xfrm xmlns:a="http://schemas.openxmlformats.org/drawingml/2006/main">
            <a:off x="9077325" y="3524250"/>
            <a:ext cx="2657475"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0">
                <a:solidFill>
                  <a:srgbClr val="FFFFFF"/>
                </a:solidFill>
                <a:latin typeface="Mulish"/>
                <a:ea typeface="Mulish"/>
                <a:cs typeface="Mulish"/>
              </a:defRPr>
            </a:pPr>
            <a:r>
              <a:rPr sz="1950" b="0">
                <a:solidFill>
                  <a:srgbClr val="FFFFFF"/>
                </a:solidFill>
                <a:latin typeface="Mulish"/>
                <a:ea typeface="Mulish"/>
                <a:cs typeface="Mulish"/>
              </a:rPr>
              <a:t>potential users</a:t>
            </a:r>
          </a:p>
        </p:txBody>
      </p:sp>
      <p:sp>
        <p:nvSpPr>
          <p:cNvPr id="11" name="scale-price">
            <a:extLst xmlns:a="http://schemas.openxmlformats.org/drawingml/2006/main">
              <a:ext uri="{FF2B5EF4-FFF2-40B4-BE49-F238E27FC236}">
                <a16:creationId xmlns:a16="http://schemas.microsoft.com/office/drawing/2014/main" id="{78DAA663-DB7C-47A0-8E15-7599533580F9}"/>
              </a:ext>
            </a:extLst>
          </p:cNvPr>
          <p:cNvSpPr>
            <a:spLocks xmlns:a="http://schemas.openxmlformats.org/drawingml/2006/main" noGrp="1"/>
          </p:cNvSpPr>
          <p:nvPr/>
        </p:nvSpPr>
        <p:spPr>
          <a:xfrm xmlns:a="http://schemas.openxmlformats.org/drawingml/2006/main">
            <a:off x="457200" y="4924425"/>
            <a:ext cx="11277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250" b="1">
                <a:solidFill>
                  <a:srgbClr val="FFFFFF"/>
                </a:solidFill>
                <a:latin typeface="Mulish"/>
                <a:ea typeface="Mulish"/>
                <a:cs typeface="Mulish"/>
              </a:defRPr>
            </a:pPr>
            <a:r>
              <a:rPr sz="2250" b="1">
                <a:solidFill>
                  <a:srgbClr val="FFFFFF"/>
                </a:solidFill>
                <a:latin typeface="Mulish"/>
                <a:ea typeface="Mulish"/>
                <a:cs typeface="Mulish"/>
              </a:rPr>
              <a:t>Separate full-scale illustration: AED 1,032.50/user/year</a:t>
            </a:r>
          </a:p>
        </p:txBody>
      </p:sp>
      <p:sp>
        <p:nvSpPr>
          <p:cNvPr id="12" name="qualification">
            <a:extLst xmlns:a="http://schemas.openxmlformats.org/drawingml/2006/main">
              <a:ext uri="{FF2B5EF4-FFF2-40B4-BE49-F238E27FC236}">
                <a16:creationId xmlns:a16="http://schemas.microsoft.com/office/drawing/2014/main" id="{87581536-20F2-4BEE-B574-5ED6335B7494}"/>
              </a:ext>
            </a:extLst>
          </p:cNvPr>
          <p:cNvSpPr>
            <a:spLocks xmlns:a="http://schemas.openxmlformats.org/drawingml/2006/main" noGrp="1"/>
          </p:cNvSpPr>
          <p:nvPr/>
        </p:nvSpPr>
        <p:spPr>
          <a:xfrm xmlns:a="http://schemas.openxmlformats.org/drawingml/2006/main">
            <a:off x="457200" y="5924550"/>
            <a:ext cx="112776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FFFFFF"/>
                </a:solidFill>
                <a:latin typeface="Mulish"/>
                <a:ea typeface="Mulish"/>
                <a:cs typeface="Mulish"/>
              </a:defRPr>
            </a:pPr>
            <a:r>
              <a:rPr sz="1650" b="0">
                <a:solidFill>
                  <a:srgbClr val="FFFFFF"/>
                </a:solidFill>
                <a:latin typeface="Mulish"/>
                <a:ea typeface="Mulish"/>
                <a:cs typeface="Mulish"/>
              </a:rPr>
              <a:t>Estimated planning potential, not committed demand or an additional cohort.</a:t>
            </a:r>
          </a:p>
          <a:p xmlns:a="http://schemas.openxmlformats.org/drawingml/2006/main">
            <a:pPr algn="l">
              <a:defRPr sz="1650" b="0">
                <a:solidFill>
                  <a:srgbClr val="FFFFFF"/>
                </a:solidFill>
                <a:latin typeface="Mulish"/>
                <a:ea typeface="Mulish"/>
                <a:cs typeface="Mulish"/>
              </a:defRPr>
            </a:pPr>
            <a:r>
              <a:rPr sz="1650" b="0">
                <a:solidFill>
                  <a:srgbClr val="FFFFFF"/>
                </a:solidFill>
                <a:latin typeface="Mulish"/>
                <a:ea typeface="Mulish"/>
                <a:cs typeface="Mulish"/>
              </a:rPr>
              <a:t>At 15,200 users: AED 15.694m annual subscription. Support is separate.</a:t>
            </a:r>
          </a:p>
        </p:txBody>
      </p:sp>
    </p:spTree>
    <p:extLst>
      <p:ext uri="{BB962C8B-B14F-4D97-AF65-F5344CB8AC3E}">
        <p14:creationId xmlns:p14="http://schemas.microsoft.com/office/powerpoint/2010/main" val="93699712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2026-09-21T16:44:02.8000000Z</dcterms:created>
  <dcterms:modified xsi:type="dcterms:W3CDTF">2026-09-21T16:44:02.8000000Z</dcterms:modified>
</coreProperties>
</file>