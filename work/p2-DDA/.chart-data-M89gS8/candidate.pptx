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d633148f054a7a" /><Relationship Type="http://schemas.openxmlformats.org/officeDocument/2006/relationships/extended-properties" Target="/docProps/app.xml" Id="Ra993b4938014412e" /><Relationship Type="http://schemas.openxmlformats.org/officeDocument/2006/relationships/officeDocument" Target="/ppt/presentation.xml" Id="R60f7a1a464ce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8464ef4026408a"/>
  </p:sldMasterIdLst>
  <p:notesMasterIdLst>
    <p:notesMasterId xmlns:r="http://schemas.openxmlformats.org/officeDocument/2006/relationships" r:id="Rb78bc4da20b047e6"/>
  </p:notesMasterIdLst>
  <p:sldIdLst>
    <p:sldId xmlns:r="http://schemas.openxmlformats.org/officeDocument/2006/relationships" id="256" r:id="Rf2d1f13712564354"/>
    <p:sldId xmlns:r="http://schemas.openxmlformats.org/officeDocument/2006/relationships" id="257" r:id="R508d92f46803466d"/>
    <p:sldId xmlns:r="http://schemas.openxmlformats.org/officeDocument/2006/relationships" id="258" r:id="Ra3aa68521069419a"/>
    <p:sldId xmlns:r="http://schemas.openxmlformats.org/officeDocument/2006/relationships" id="259" r:id="Rb09ba60320a04d6d"/>
    <p:sldId xmlns:r="http://schemas.openxmlformats.org/officeDocument/2006/relationships" id="260" r:id="Re5c5b4c773874dc5"/>
    <p:sldId xmlns:r="http://schemas.openxmlformats.org/officeDocument/2006/relationships" id="261" r:id="R4384226eed7c4d44"/>
    <p:sldId xmlns:r="http://schemas.openxmlformats.org/officeDocument/2006/relationships" id="262" r:id="R03b2dcab84524528"/>
    <p:sldId xmlns:r="http://schemas.openxmlformats.org/officeDocument/2006/relationships" id="263" r:id="R743c96183cb94ffb"/>
    <p:sldId xmlns:r="http://schemas.openxmlformats.org/officeDocument/2006/relationships" id="264" r:id="R5f2a0efcb1f54fe2"/>
    <p:sldId xmlns:r="http://schemas.openxmlformats.org/officeDocument/2006/relationships" id="265" r:id="R5aa7a5f1858549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cf4ec14d5a4153" /><Relationship Type="http://schemas.openxmlformats.org/officeDocument/2006/relationships/slideMaster" Target="/ppt/slideMasters/slideMaster1.xml" Id="Rd58464ef4026408a" /><Relationship Type="http://schemas.openxmlformats.org/officeDocument/2006/relationships/notesMaster" Target="/ppt/notesMasters/notesMaster1.xml" Id="Rb78bc4da20b047e6" /><Relationship Type="http://schemas.openxmlformats.org/officeDocument/2006/relationships/presProps" Target="/ppt/presProps.xml" Id="R8d3bc2a77b014c3f" /><Relationship Type="http://schemas.openxmlformats.org/officeDocument/2006/relationships/tableStyles" Target="/ppt/tableStyles.xml" Id="R3495c30f68614ac0" /><Relationship Type="http://schemas.openxmlformats.org/officeDocument/2006/relationships/slide" Target="/ppt/slides/slide1.xml" Id="Rf2d1f13712564354" /><Relationship Type="http://schemas.openxmlformats.org/officeDocument/2006/relationships/slide" Target="/ppt/slides/slide2.xml" Id="R508d92f46803466d" /><Relationship Type="http://schemas.openxmlformats.org/officeDocument/2006/relationships/slide" Target="/ppt/slides/slide3.xml" Id="Ra3aa68521069419a" /><Relationship Type="http://schemas.openxmlformats.org/officeDocument/2006/relationships/slide" Target="/ppt/slides/slide4.xml" Id="Rb09ba60320a04d6d" /><Relationship Type="http://schemas.openxmlformats.org/officeDocument/2006/relationships/slide" Target="/ppt/slides/slide5.xml" Id="Re5c5b4c773874dc5" /><Relationship Type="http://schemas.openxmlformats.org/officeDocument/2006/relationships/slide" Target="/ppt/slides/slide6.xml" Id="R4384226eed7c4d44" /><Relationship Type="http://schemas.openxmlformats.org/officeDocument/2006/relationships/slide" Target="/ppt/slides/slide7.xml" Id="R03b2dcab84524528" /><Relationship Type="http://schemas.openxmlformats.org/officeDocument/2006/relationships/slide" Target="/ppt/slides/slide8.xml" Id="R743c96183cb94ffb" /><Relationship Type="http://schemas.openxmlformats.org/officeDocument/2006/relationships/slide" Target="/ppt/slides/slide9.xml" Id="R5f2a0efcb1f54fe2" /><Relationship Type="http://schemas.openxmlformats.org/officeDocument/2006/relationships/slide" Target="/ppt/slides/slide10.xml" Id="R5aa7a5f18585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f948d0b8242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de79496dab4c84" /><Relationship Type="http://schemas.openxmlformats.org/officeDocument/2006/relationships/notesMaster" Target="/ppt/notesMasters/notesMaster1.xml" Id="R05a64820a71f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eb30cd842241f1" /><Relationship Type="http://schemas.openxmlformats.org/officeDocument/2006/relationships/notesMaster" Target="/ppt/notesMasters/notesMaster1.xml" Id="Rab9f87972bda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78bc9071564e70" /><Relationship Type="http://schemas.openxmlformats.org/officeDocument/2006/relationships/notesMaster" Target="/ppt/notesMasters/notesMaster1.xml" Id="Rc6c542d353514c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94f81a1a464a26" /><Relationship Type="http://schemas.openxmlformats.org/officeDocument/2006/relationships/notesMaster" Target="/ppt/notesMasters/notesMaster1.xml" Id="R3aec4a1658e543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ecd846ba98489b" /><Relationship Type="http://schemas.openxmlformats.org/officeDocument/2006/relationships/notesMaster" Target="/ppt/notesMasters/notesMaster1.xml" Id="R9fcecd90359243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96af46aadb48f9" /><Relationship Type="http://schemas.openxmlformats.org/officeDocument/2006/relationships/notesMaster" Target="/ppt/notesMasters/notesMaster1.xml" Id="R52ded1f7f72f44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d256466ab54add" /><Relationship Type="http://schemas.openxmlformats.org/officeDocument/2006/relationships/notesMaster" Target="/ppt/notesMasters/notesMaster1.xml" Id="R18b55aea5c2b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e302bad6fa46a7" /><Relationship Type="http://schemas.openxmlformats.org/officeDocument/2006/relationships/notesMaster" Target="/ppt/notesMasters/notesMaster1.xml" Id="R442c015343f144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791ebd2a4448b" /><Relationship Type="http://schemas.openxmlformats.org/officeDocument/2006/relationships/notesMaster" Target="/ppt/notesMasters/notesMaster1.xml" Id="R49cce07bd2ef4c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81a6f561454a07" /><Relationship Type="http://schemas.openxmlformats.org/officeDocument/2006/relationships/notesMaster" Target="/ppt/notesMasters/notesMaster1.xml" Id="R05c694e4d725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Year 1 existing growth is 50%, or 655 users, as corrected by the user. It is user-reported, not independently verified contracted users. 4,921 is the numerical minimum implied by 21 answered bands, not a confirmed new-customer pipeline. The user instructed full additive survey counts, with zero overlap deduction. The 58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50% Year 1 growth, the existing cohort saves AED 575,054.63,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146,967,073.90 less central subscription AED 65,202,080.00 gives modeled subscription benefit AED 81,764,993.90.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3be8e61e34f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28f6285084c16" /><Relationship Type="http://schemas.openxmlformats.org/officeDocument/2006/relationships/slideLayout" Target="/ppt/slideLayouts/slideLayout1.xml" Id="R3392d059cf7946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92d059cf7946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5e0bd3b234203" /><Relationship Type="http://schemas.openxmlformats.org/officeDocument/2006/relationships/image" Target="/ppt/media/image.png" Id="R06028f52160f4629" /><Relationship Type="http://schemas.openxmlformats.org/officeDocument/2006/relationships/notesSlide" Target="/ppt/notesSlides/notesSlide1.xml" Id="Rb5c48b9d235d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467c98d7b4b8e" /><Relationship Type="http://schemas.openxmlformats.org/officeDocument/2006/relationships/image" Target="/ppt/media/image2.png" Id="R2fed40e3e3cf45af" /><Relationship Type="http://schemas.openxmlformats.org/officeDocument/2006/relationships/notesSlide" Target="/ppt/notesSlides/notesSlide2.xml" Id="R1506e9abff1f4b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fcd8e89de4ebd" /><Relationship Type="http://schemas.openxmlformats.org/officeDocument/2006/relationships/image" Target="/ppt/media/image3.png" Id="R58e5213e51624804" /><Relationship Type="http://schemas.openxmlformats.org/officeDocument/2006/relationships/notesSlide" Target="/ppt/notesSlides/notesSlide3.xml" Id="R32335eb21a8340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08d3263ee413e" /><Relationship Type="http://schemas.openxmlformats.org/officeDocument/2006/relationships/image" Target="/ppt/media/image4.png" Id="R192cf07d53c642dd" /><Relationship Type="http://schemas.openxmlformats.org/officeDocument/2006/relationships/notesSlide" Target="/ppt/notesSlides/notesSlide4.xml" Id="R44019c597678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dee58a0bb42d8" /><Relationship Type="http://schemas.openxmlformats.org/officeDocument/2006/relationships/image" Target="/ppt/media/image5.png" Id="Rc9d97273b5214949" /><Relationship Type="http://schemas.openxmlformats.org/officeDocument/2006/relationships/notesSlide" Target="/ppt/notesSlides/notesSlide5.xml" Id="R68e1de076ec247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1e48cf4e24834" /><Relationship Type="http://schemas.openxmlformats.org/officeDocument/2006/relationships/image" Target="/ppt/media/image6.png" Id="R568c66522fe5493b" /><Relationship Type="http://schemas.openxmlformats.org/officeDocument/2006/relationships/notesSlide" Target="/ppt/notesSlides/notesSlide6.xml" Id="R2d5cfd019e4843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e5b0e8c804ce1" /><Relationship Type="http://schemas.openxmlformats.org/officeDocument/2006/relationships/image" Target="/ppt/media/image7.png" Id="R17d3a0aff85140be" /><Relationship Type="http://schemas.openxmlformats.org/officeDocument/2006/relationships/notesSlide" Target="/ppt/notesSlides/notesSlide7.xml" Id="R43638ce8a46b4c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d30c020c640b9" /><Relationship Type="http://schemas.openxmlformats.org/officeDocument/2006/relationships/image" Target="/ppt/media/image8.png" Id="R1e3826bb97394fc0" /><Relationship Type="http://schemas.openxmlformats.org/officeDocument/2006/relationships/chart" Target="/ppt/slides/charts/chart1.xml" Id="Rafcab52125344631" /><Relationship Type="http://schemas.openxmlformats.org/officeDocument/2006/relationships/notesSlide" Target="/ppt/notesSlides/notesSlide8.xml" Id="Rca1d5ac1035a40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13b4d8d2546a3" /><Relationship Type="http://schemas.openxmlformats.org/officeDocument/2006/relationships/image" Target="/ppt/media/image9.png" Id="Rfcb8dc5cedc34a10" /><Relationship Type="http://schemas.openxmlformats.org/officeDocument/2006/relationships/notesSlide" Target="/ppt/notesSlides/notesSlide9.xml" Id="R4a615e52a6a343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f5c339b34cdc" /><Relationship Type="http://schemas.openxmlformats.org/officeDocument/2006/relationships/image" Target="/ppt/media/image10.png" Id="Rec08fe80f3ca418f" /><Relationship Type="http://schemas.openxmlformats.org/officeDocument/2006/relationships/notesSlide" Target="/ppt/notesSlides/notesSlide10.xml" Id="Rcfcd04a62571412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146.97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28f52160f462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D534BA-1EF7-4D15-858E-78BE105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CE77E87-46F4-4237-8E76-51566C3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38E6DE-4744-4DF8-B757-DD663C00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6A1E14BD-5287-4BB2-A23F-7065BBFC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D2FB32F3-102E-405E-AA47-8BBCF58D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BA25685D-3A2D-4BB5-A703-BC6995EA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BE2512D3-1266-4AFE-AEDB-FC307CE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D31E67A3-6B58-44F2-ADEA-1E01076F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3AB4167F-ABD4-43E5-BC36-80C2F35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7F6D9E9C-6130-4134-B844-1FD2206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8FF83D55-017F-4516-96F5-F4358C73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CEDD8A2B-29CF-4A01-8FD3-F774888D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653873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d40e3e3cf45a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3819D9-46CC-4DC3-AF23-B7F9E2DF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F4003F-1016-4A87-B24C-9F297DC2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E32EAA-5D73-4BD4-9727-83C0DE55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D89D0021-3E36-4EB1-A0C1-26C5C35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936FD300-28DB-4E35-9B67-B305412D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90DFE6DD-1595-4C6C-BEDD-C5EF6455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CA837169-2B4B-4BAE-B6D7-1B9AB59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5A686AD1-798A-4F58-B9FF-83AAEFF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+655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F3713B35-340D-4C2F-BC47-AB188A5A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F6254FBB-7974-427B-89D8-C0792BE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50% Year 1 growth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D4E0CF3C-86CE-4D29-A0B9-B5D305AE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491B4630-BDE7-4A5D-B160-ADC2FBE9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F4CD269B-719F-4C3F-883F-8364BEE8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368F5154-B25B-43A0-A621-350F5D16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+3,114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2D646694-0AFB-4B02-B2F9-C58ED236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2A99CCEF-5C26-44A9-854B-0BD804BA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58EE83FA-6BDB-40B5-8C7D-1B0EEDC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47953A42-CB4E-40A1-810D-328C48BE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E66D533B-A6E5-4110-9E57-CF2F715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6D366C43-9806-4F00-90C2-4C026913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68.86%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DB66E53-21E4-404D-AEB7-524202E4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58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110424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5213e5162480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151FC0-EA9F-4AD6-A4AB-AFDC71E2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F632D1D-B78F-48DE-AFE4-997D9F12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169CA7-1DEF-4191-827F-B5502A3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B41260FE-FCEE-45D0-9494-6CE17D7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8C81D3C6-267D-4930-8582-44497EF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7BDC1816-3646-4F28-A8BB-4E2A22E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95E3F7CE-0DD1-45E2-8F55-BE710279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F1AF8EEA-B801-42A7-8D16-8325DE0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09ADFE7A-3946-4916-88E6-15EEE78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2D83232E-BB19-4C17-84AA-9B1CF57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6DB16650-D7DA-4AB5-82A3-9E1F503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14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E2DACB38-C6D2-449E-BE6F-B86F369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2ED68F23-D0C9-442C-B457-9529D820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3C1D2E8F-8A34-4D47-881B-19D7578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916490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cf07d53c642d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2D4332-E9D8-4659-890E-546F6DD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18E9C8E-816A-4AE9-BC33-996B634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257621-3F27-4E28-AB38-91C63357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3AE99347-272C-47E8-A3A8-09E436D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AEF62323-F178-413A-B86D-457FEC7E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2BDB63FB-E3D9-49DE-B1A4-252E3AC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806A0D20-F374-4B9D-92CE-06B0F5F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203EA20E-5E20-40E3-828B-E8C5CAC4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839BD250-37FC-4ACA-AF5A-F8B8A0E0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C5CA58A4-26DC-4ABD-8F0E-E19717DE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76117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97273b521494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C128DB-9B47-45DA-AAAF-9FCC586B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9B55927-0BE2-4CA7-A11F-570474C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637B8C-6D44-4EE3-8370-2C93409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930B5606-E6E5-4835-B1F4-5D374E3C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611F121-7132-435F-801B-52BCB1D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655 users: total cohort savings rise to AED 575,054.63.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283521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c66522fe5493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29CF28-6A0D-4C42-89B6-1B78D25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B2393E0-2A3E-47E4-9A51-7959563C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DCEA32-A115-4DEE-800C-2A85686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A8ED39D3-566D-4755-BFEF-EC981A5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2686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5EEA8AA2-FDB9-4209-BEDB-B999B2F0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B1B596DF-90BF-4C03-AF1C-7DFCFEA7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9B426822-86E7-44DD-815F-65F9D1A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7D7C0D26-3E2E-4F5C-9B17-C746D3E6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2262967-7CD6-47E5-8030-53759AE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125711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3a0aff85140b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49BDAA-8464-418F-9171-B680AAE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27917A-BB17-4285-8844-58F6C09A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87E8B9-3AEF-4704-AB61-14D2E08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196DC0E5-D22B-401F-BF30-0D5761F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50%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1,965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2,063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2,274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2,388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3,114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3,270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3,434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3,606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3,786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6BC7EFF-3D64-472A-B8C2-F921802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512384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826bb97394fc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F3EC54-F5C3-44BC-B997-1EE63858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6C80561-FD9B-4061-B8B0-1B2DC6E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67EA65-BF0C-4186-8427-7749CEF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cab52125344631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34EE54DF-C64B-4D78-96D2-065473B0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81.76m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45C476CC-5ECC-4A09-B5FD-0474714F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2C56B95E-D62B-4822-872B-E10FAAE7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62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B80AA00-27D6-44C8-A19C-9A22E99B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728098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8dc5cedc34a1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AB5305-B9ED-4E81-ADDA-079CA3D4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502808D-64E9-40B5-9B65-65F23110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52BB41-1BF4-4762-B8C0-CE6A5EB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7D07EA7-6E5E-4845-B19D-F1DDFC2B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847449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8fe80f3ca418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84225E-DFF3-4C1F-907A-F9B0F1B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CF417C8-4256-4DA1-98EA-68740A1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361025-E4AA-4200-8E1F-DAFF1FBC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CF8B2BC3-83A5-4E0A-990D-83698297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85074763-0723-4D6A-98CA-D84E24A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14162603-7877-4BC1-B751-8B56649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E785B1E7-2B03-45F6-8B84-F8CAA4B4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0E04DFC6-F1AC-4B04-9324-E17E64C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AF77999E-D3FC-4FAB-BA1F-72A2170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24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33B5D493-6DE6-4ECC-8FC8-8BD3FC3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743A05B-0096-466D-B1A8-32F6AADA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30497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2026-09-21T16:27:29.1910000Z</dcterms:created>
  <dcterms:modified xsi:type="dcterms:W3CDTF">2026-09-21T16:27:29.1910000Z</dcterms:modified>
</coreProperties>
</file>