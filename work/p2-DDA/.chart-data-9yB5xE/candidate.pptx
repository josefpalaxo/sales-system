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f037e0c6604e42" /><Relationship Type="http://schemas.openxmlformats.org/officeDocument/2006/relationships/extended-properties" Target="/docProps/app.xml" Id="R12dbe4056b49434e" /><Relationship Type="http://schemas.openxmlformats.org/officeDocument/2006/relationships/officeDocument" Target="/ppt/presentation.xml" Id="Rf4ed8f1dad984f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184f397fe44441"/>
  </p:sldMasterIdLst>
  <p:notesMasterIdLst>
    <p:notesMasterId xmlns:r="http://schemas.openxmlformats.org/officeDocument/2006/relationships" r:id="Rfc21c1261e704db5"/>
  </p:notesMasterIdLst>
  <p:sldIdLst>
    <p:sldId xmlns:r="http://schemas.openxmlformats.org/officeDocument/2006/relationships" id="256" r:id="R11c8fa5bdf0b4e80"/>
    <p:sldId xmlns:r="http://schemas.openxmlformats.org/officeDocument/2006/relationships" id="257" r:id="Re42289b72fba4673"/>
    <p:sldId xmlns:r="http://schemas.openxmlformats.org/officeDocument/2006/relationships" id="258" r:id="R3bf75e13773e47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f620102bfc4326" /><Relationship Type="http://schemas.openxmlformats.org/officeDocument/2006/relationships/slideMaster" Target="/ppt/slideMasters/slideMaster1.xml" Id="R37184f397fe44441" /><Relationship Type="http://schemas.openxmlformats.org/officeDocument/2006/relationships/notesMaster" Target="/ppt/notesMasters/notesMaster1.xml" Id="Rfc21c1261e704db5" /><Relationship Type="http://schemas.openxmlformats.org/officeDocument/2006/relationships/presProps" Target="/ppt/presProps.xml" Id="R25776283a34243e8" /><Relationship Type="http://schemas.openxmlformats.org/officeDocument/2006/relationships/tableStyles" Target="/ppt/tableStyles.xml" Id="Rc94b49f529354beb" /><Relationship Type="http://schemas.openxmlformats.org/officeDocument/2006/relationships/slide" Target="/ppt/slides/slide1.xml" Id="R11c8fa5bdf0b4e80" /><Relationship Type="http://schemas.openxmlformats.org/officeDocument/2006/relationships/slide" Target="/ppt/slides/slide2.xml" Id="Re42289b72fba4673" /><Relationship Type="http://schemas.openxmlformats.org/officeDocument/2006/relationships/slide" Target="/ppt/slides/slide3.xml" Id="R3bf75e13773e47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d5a3b95d224a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0a10a1eeeb43ed" /><Relationship Type="http://schemas.openxmlformats.org/officeDocument/2006/relationships/notesMaster" Target="/ppt/notesMasters/notesMaster1.xml" Id="Rf2a34c5e0d1249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7ed03add314889" /><Relationship Type="http://schemas.openxmlformats.org/officeDocument/2006/relationships/notesMaster" Target="/ppt/notesMasters/notesMaster1.xml" Id="Rab55e6091d5e47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00cbb43f8b45c9" /><Relationship Type="http://schemas.openxmlformats.org/officeDocument/2006/relationships/notesMaster" Target="/ppt/notesMasters/notesMaster1.xml" Id="R01c7716f0ef748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terms S01, S06–S10 in fact-register.md. DDA baseline AED 2,360; central AED 1,180. 10% hosted / 20% on-premise support. Regular Basic Price AED 2,950 is reference only, giving 60% discount.</a:t>
            </a:r>
          </a:p>
          <a:p xmlns:a="http://schemas.openxmlformats.org/drawingml/2006/main">
            <a:r>
              <a:t>- DDA-business-case-model.xlsx, Base case, Cost model K23=147,511,800; K32=74,475,900; K34=73,035,900. Five-year new-entity onboarding 720,000 included. Recurring central cost 73,755,900.</a:t>
            </a:r>
          </a:p>
          <a:p xmlns:a="http://schemas.openxmlformats.org/drawingml/2006/main">
            <a:r>
              <a:t>- Growth-seat price protection, allocation and rollout timing need confirmation. Base quantity path 10,000 / 10,625 / 11,250 / 11,875 / 12,500. Existing on-premise users retained at 1,260. Forty new entities is a planning assumption.</a:t>
            </a:r>
          </a:p>
          <a:p xmlns:a="http://schemas.openxmlformats.org/drawingml/2006/main">
            <a:r>
              <a:t>- Five-year procurement ROI 98.1% = 73,035,900 / 74,475,900. Net savings / matched baseline is 49.5%. This is an expanded-service benchmark, not actual current government spending.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S03 existing customer project users sum to 1,830 including RTA. Eight entities and nine projects. User counts are not verified unique active users.</a:t>
            </a:r>
          </a:p>
          <a:p xmlns:a="http://schemas.openxmlformats.org/drawingml/2006/main">
            <a:r>
              <a:t>- S04 DDA internal survey. Q3: six 1–50, four 51–100, seven 101–500, four &gt;1,000, one Other. Numerical minimum 6*1+4*51+7*101+4*1001=4,921. Q7 N=16, ten current/six future requirements. Q5 17 of 22 expect growth.</a:t>
            </a:r>
          </a:p>
          <a:p xmlns:a="http://schemas.openxmlformats.org/drawingml/2006/main">
            <a:r>
              <a:t>- Do not add survey minimum to the existing customer total without respondent mapping. No exact total for all surveyed entities is established.</a:t>
            </a:r>
          </a:p>
          <a:p xmlns:a="http://schemas.openxmlformats.org/drawingml/2006/main">
            <a:r>
              <a:t>- S02 DDA deparments shared service.xlsx, dda departments A2:B93 only. 92 name rows, 91 numbered, duplicate/alias and eligibility review pending.</a:t>
            </a:r>
          </a:p>
          <a:p xmlns:a="http://schemas.openxmlformats.org/drawingml/2006/main">
            <a:r>
              <a:t>- R01 Digital Dubai May 2025 Smart Employee scale: https://www.digitaldubai.ae/newsroom/news/dubai-to-make-presence-felt-at-gitex-europe-x-ai-everything-2025-with-a-joint-pavilion-featuring-12-government-and-private-entities</a:t>
            </a:r>
          </a:p>
          <a:p xmlns:a="http://schemas.openxmlformats.org/drawingml/2006/main">
            <a:r>
              <a:t>- Current contracts require reconciliation: central cost for the existing 1,830 users is 2,524,020 versus known reported charges of 2,047,235.66, conditional on AED/additive support. RTA rises from 608,000 support to 1,416,000 subscription plus support. Missing old support and tax details limit conclusions.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S07 initial 10,000 users, annual billing, five-year commitment, zero indexation, 25% cumulative growth. DDA central funding with tentative entity budget contributions. Internal transfers are not government-wide savings.</a:t>
            </a:r>
          </a:p>
          <a:p xmlns:a="http://schemas.openxmlformats.org/drawingml/2006/main">
            <a:r>
              <a:t>- Base model Year 1: subscription 11,800,000, hosted support 1,031,320, on-premise support 297,360, total recurring 13,128,680. Ten new entities at 18,000 = 180,000. Total 13,308,680.</a:t>
            </a:r>
          </a:p>
          <a:p xmlns:a="http://schemas.openxmlformats.org/drawingml/2006/main">
            <a:r>
              <a:t>- S08–S10 include Digital Sovereign Sign, unlimited manual transactions and external recipients, hosting and branding. Standard 8×5 support 10%, on-premise support 20% replaces 10% and old support.</a:t>
            </a:r>
          </a:p>
          <a:p xmlns:a="http://schemas.openxmlformats.org/drawingml/2006/main">
            <a:r>
              <a:t>- Automated/API add-ons, Sovereign Collaboration, AI services, Evidence based Archiving for Standalone Documents and files are separately purchased. Tax and unpriced implementation/operation costs excluded.</a:t>
            </a:r>
          </a:p>
          <a:p xmlns:a="http://schemas.openxmlformats.org/drawingml/2006/main">
            <a:r>
              <a:t>- A hypothetical 3% annual baseline escalation adds 9,629,287.0899516 of avoided cost over five years, excluded from headline benefit. No subscription escalation rate has been supplied for the baseline.</a:t>
            </a:r>
          </a:p>
          <a:p xmlns:a="http://schemas.openxmlformats.org/drawingml/2006/main">
            <a:r>
              <a:t>- Base Year 1 cost threshold is 5,013 deployed users at the DDA benchmark, including 1,260 on-premise. This is not current cash payback. Migration overlap and unused capacity remain risks.</a:t>
            </a:r>
          </a:p>
          <a:p xmlns:a="http://schemas.openxmlformats.org/drawingml/2006/main">
            <a:r>
              <a:t>- This is an internal review proposal. Growth-seat pricing and rollout schedules are assumptions, not finalized terms.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8897f0b2594c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a304ee04924a9e" /><Relationship Type="http://schemas.openxmlformats.org/officeDocument/2006/relationships/slideLayout" Target="/ppt/slideLayouts/slideLayout1.xml" Id="R99ccec6c62f248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ccec6c62f248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45fcaebdc4612" /><Relationship Type="http://schemas.openxmlformats.org/officeDocument/2006/relationships/image" Target="/ppt/media/image.png" Id="Rdcf1c6027ca24e44" /><Relationship Type="http://schemas.openxmlformats.org/officeDocument/2006/relationships/chart" Target="/ppt/slides/charts/chart1.xml" Id="Rcff75266875a4309" /><Relationship Type="http://schemas.openxmlformats.org/officeDocument/2006/relationships/notesSlide" Target="/ppt/notesSlides/notesSlide1.xml" Id="R3e8e3687e5c64a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c1999e065485f" /><Relationship Type="http://schemas.openxmlformats.org/officeDocument/2006/relationships/image" Target="/ppt/media/image2.png" Id="Rec15ab583b8d4f4d" /><Relationship Type="http://schemas.openxmlformats.org/officeDocument/2006/relationships/chart" Target="/ppt/slides/charts/chart2.xml" Id="R2e2bca4406d541c2" /><Relationship Type="http://schemas.openxmlformats.org/officeDocument/2006/relationships/notesSlide" Target="/ppt/notesSlides/notesSlide2.xml" Id="R883298cc89fd46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3efa440e94203" /><Relationship Type="http://schemas.openxmlformats.org/officeDocument/2006/relationships/image" Target="/ppt/media/image3.png" Id="Rddb90cd42c544348" /><Relationship Type="http://schemas.openxmlformats.org/officeDocument/2006/relationships/notesSlide" Target="/ppt/notesSlides/notesSlide3.xml" Id="Rb81a0e8a7d4343e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latin typeface="Mulish"/>
                <a:ea typeface="Mulish"/>
                <a:cs typeface="Mulish"/>
              </a:rPr>
              <a:t>Five-year cost (AED m)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latin typeface="Mulish"/>
              <a:ea typeface="Mulish"/>
              <a:cs typeface="Mulish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Five-year cost (AED m)</c:v>
          </c:tx>
          <c:spPr>
            <a:solidFill xmlns:a="http://schemas.openxmlformats.org/drawingml/2006/main">
              <a:srgbClr val="1D0090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7000FF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DDA baseline</c:v>
                </c:pt>
                <c:pt idx="1">
                  <c:v>Central program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147.5118</c:v>
                </c:pt>
                <c:pt idx="1">
                  <c:v>74.4759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latin typeface="Mulish"/>
                  <a:ea typeface="Mulish"/>
                  <a:cs typeface="Mulish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Existing users</c:v>
          </c:tx>
          <c:spPr>
            <a:solidFill xmlns:a="http://schemas.openxmlformats.org/drawingml/2006/main">
              <a:srgbClr val="7000FF"/>
            </a:solidFill>
          </c:spPr>
          <c:cat>
            <c:strRef>
              <c:f>'Chart Data'!$A$2:$A$2</c:f>
              <c:strCache>
                <c:ptCount val="1"/>
                <c:pt idx="0">
                  <c:v>Initial pool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1830</c:v>
                </c:pt>
              </c:numCache>
            </c:numRef>
          </c:val>
        </c:ser>
        <c:ser>
          <c:idx val="1"/>
          <c:order val="1"/>
          <c:tx>
            <c:v>Awaiting allocation</c:v>
          </c:tx>
          <c:spPr>
            <a:solidFill xmlns:a="http://schemas.openxmlformats.org/drawingml/2006/main">
              <a:srgbClr val="D0D5DD"/>
            </a:solidFill>
          </c:spPr>
          <c:cat>
            <c:strRef>
              <c:f>'Chart Data'!$C$2:$C$2</c:f>
              <c:strCache>
                <c:ptCount val="1"/>
                <c:pt idx="0">
                  <c:v>Initial pool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8170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D0090"/>
                  </a:solidFill>
                  <a:latin typeface="Mulish"/>
                  <a:ea typeface="Mulish"/>
                  <a:cs typeface="Mulish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1c6027ca24e44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722AEC4-1886-416E-8A14-E03E66CC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D3A8874-218A-4CF7-9ACE-A3F5BD58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DD7FFE0-8A67-41E9-A56D-4D899FDA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1144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AED 73.04m in modeled</a:t>
            </a:r>
          </a:p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savings</a:t>
            </a:r>
          </a:p>
        </p:txBody>
      </p:sp>
      <p:sp>
        <p:nvSpPr>
          <p:cNvPr id="5" name="discount">
            <a:extLst xmlns:a="http://schemas.openxmlformats.org/drawingml/2006/main">
              <a:ext uri="{FF2B5EF4-FFF2-40B4-BE49-F238E27FC236}">
                <a16:creationId xmlns:a16="http://schemas.microsoft.com/office/drawing/2014/main" id="{C03C4D3F-ED3B-4B1A-AA29-6C106E18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438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5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50%</a:t>
            </a:r>
          </a:p>
        </p:txBody>
      </p:sp>
      <p:sp>
        <p:nvSpPr>
          <p:cNvPr id="6" name="discount-explanation">
            <a:extLst xmlns:a="http://schemas.openxmlformats.org/drawingml/2006/main">
              <a:ext uri="{FF2B5EF4-FFF2-40B4-BE49-F238E27FC236}">
                <a16:creationId xmlns:a16="http://schemas.microsoft.com/office/drawing/2014/main" id="{3CF45244-9C0C-4205-AC90-9377219A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20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lower subscription price</a:t>
            </a:r>
          </a:p>
          <a:p xmlns:a="http://schemas.openxmlformats.org/drawingml/2006/main">
            <a:pPr algn="l">
              <a:defRPr sz="20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20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against the DDA baseline</a:t>
            </a:r>
          </a:p>
        </p:txBody>
      </p:sp>
      <p:sp>
        <p:nvSpPr>
          <p:cNvPr id="7" name="price">
            <a:extLst xmlns:a="http://schemas.openxmlformats.org/drawingml/2006/main">
              <a:ext uri="{FF2B5EF4-FFF2-40B4-BE49-F238E27FC236}">
                <a16:creationId xmlns:a16="http://schemas.microsoft.com/office/drawing/2014/main" id="{AEEC44F3-3C3B-4E3C-B012-2DEAEB3D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5775"/>
            <a:ext cx="452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AED 1,180 vs AED 2,360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per user per year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429250" y="2190750"/>
          <a:ext xmlns:a="http://schemas.openxmlformats.org/drawingml/2006/main" cx="6286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f75266875a4309"/>
          </a:graphicData>
        </a:graphic>
      </p:graphicFrame>
      <p:sp>
        <p:nvSpPr>
          <p:cNvPr id="9" name="scope">
            <a:extLst xmlns:a="http://schemas.openxmlformats.org/drawingml/2006/main">
              <a:ext uri="{FF2B5EF4-FFF2-40B4-BE49-F238E27FC236}">
                <a16:creationId xmlns:a16="http://schemas.microsoft.com/office/drawing/2014/main" id="{D6F1EB5B-51B6-4987-99E2-FA074ED7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Base assumption: 10,000 to 12,500 users, 1,260 on-premise and 40 new entities.</a:t>
            </a:r>
          </a:p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Includes modeled onboarding. Excludes tax and unpriced services. No baseline price increases.</a:t>
            </a:r>
          </a:p>
        </p:txBody>
      </p:sp>
    </p:spTree>
    <p:extLst>
      <p:ext uri="{BB962C8B-B14F-4D97-AF65-F5344CB8AC3E}">
        <p14:creationId xmlns:p14="http://schemas.microsoft.com/office/powerpoint/2010/main" val="13835649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15ab583b8d4f4d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F159231-912C-4A5A-9FB9-ACA2C6A6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E635372-D934-49CC-8514-318EF607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D5D30FC-1BC4-42DD-A4FE-665B50E6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1144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Evidence for the 10,000-user</a:t>
            </a:r>
          </a:p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starting pool</a:t>
            </a:r>
          </a:p>
        </p:txBody>
      </p:sp>
      <p:sp>
        <p:nvSpPr>
          <p:cNvPr id="5" name="existing">
            <a:extLst xmlns:a="http://schemas.openxmlformats.org/drawingml/2006/main">
              <a:ext uri="{FF2B5EF4-FFF2-40B4-BE49-F238E27FC236}">
                <a16:creationId xmlns:a16="http://schemas.microsoft.com/office/drawing/2014/main" id="{497B7920-517C-4F9A-83FD-418149F6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619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2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1,830 existing project users</a:t>
            </a:r>
          </a:p>
        </p:txBody>
      </p:sp>
      <p:sp>
        <p:nvSpPr>
          <p:cNvPr id="6" name="existing-detail">
            <a:extLst xmlns:a="http://schemas.openxmlformats.org/drawingml/2006/main">
              <a:ext uri="{FF2B5EF4-FFF2-40B4-BE49-F238E27FC236}">
                <a16:creationId xmlns:a16="http://schemas.microsoft.com/office/drawing/2014/main" id="{163F4F7A-5AB2-4B31-8A5A-3720A6A9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62275"/>
            <a:ext cx="600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Eight customer entities and nine projects,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including RTA’s 1,000 CAPEX users.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28625" y="3819525"/>
          <a:ext xmlns:a="http://schemas.openxmlformats.org/drawingml/2006/main" cx="6191250" cy="1209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2bca4406d541c2"/>
          </a:graphicData>
        </a:graphic>
      </p:graphicFrame>
      <p:sp>
        <p:nvSpPr>
          <p:cNvPr id="8" name="gap">
            <a:extLst xmlns:a="http://schemas.openxmlformats.org/drawingml/2006/main">
              <a:ext uri="{FF2B5EF4-FFF2-40B4-BE49-F238E27FC236}">
                <a16:creationId xmlns:a16="http://schemas.microsoft.com/office/drawing/2014/main" id="{87F7CBE1-E2CB-42FC-B464-82AA0B4D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57775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8,170 seats still need named allocations.</a:t>
            </a:r>
          </a:p>
        </p:txBody>
      </p:sp>
      <p:sp>
        <p:nvSpPr>
          <p:cNvPr id="9" name="survey-min">
            <a:extLst xmlns:a="http://schemas.openxmlformats.org/drawingml/2006/main">
              <a:ext uri="{FF2B5EF4-FFF2-40B4-BE49-F238E27FC236}">
                <a16:creationId xmlns:a16="http://schemas.microsoft.com/office/drawing/2014/main" id="{F9122E93-4E02-47A7-B3C4-50566944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381250"/>
            <a:ext cx="4572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15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4,921 users</a:t>
            </a:r>
          </a:p>
        </p:txBody>
      </p:sp>
      <p:sp>
        <p:nvSpPr>
          <p:cNvPr id="10" name="survey-min-detail">
            <a:extLst xmlns:a="http://schemas.openxmlformats.org/drawingml/2006/main">
              <a:ext uri="{FF2B5EF4-FFF2-40B4-BE49-F238E27FC236}">
                <a16:creationId xmlns:a16="http://schemas.microsoft.com/office/drawing/2014/main" id="{CDD56477-FC14-4DB6-A372-18BEA2E0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09900"/>
            <a:ext cx="4524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Minimum across 21 numerical</a:t>
            </a:r>
          </a:p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current or expected user responses</a:t>
            </a:r>
          </a:p>
        </p:txBody>
      </p:sp>
      <p:sp>
        <p:nvSpPr>
          <p:cNvPr id="11" name="interest">
            <a:extLst xmlns:a="http://schemas.openxmlformats.org/drawingml/2006/main">
              <a:ext uri="{FF2B5EF4-FFF2-40B4-BE49-F238E27FC236}">
                <a16:creationId xmlns:a16="http://schemas.microsoft.com/office/drawing/2014/main" id="{56035F1F-1338-410E-8EDD-62DE97E0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876675"/>
            <a:ext cx="4524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10 current requirements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6 possible future requirements</a:t>
            </a:r>
          </a:p>
        </p:txBody>
      </p:sp>
      <p:sp>
        <p:nvSpPr>
          <p:cNvPr id="12" name="growth">
            <a:extLst xmlns:a="http://schemas.openxmlformats.org/drawingml/2006/main">
              <a:ext uri="{FF2B5EF4-FFF2-40B4-BE49-F238E27FC236}">
                <a16:creationId xmlns:a16="http://schemas.microsoft.com/office/drawing/2014/main" id="{A460FA34-6AC4-4409-B750-D5B402D4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829175"/>
            <a:ext cx="4524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17 of 22 respondents expect growth.</a:t>
            </a:r>
          </a:p>
        </p:txBody>
      </p:sp>
      <p:sp>
        <p:nvSpPr>
          <p:cNvPr id="13" name="demand-caveat">
            <a:extLst xmlns:a="http://schemas.openxmlformats.org/drawingml/2006/main">
              <a:ext uri="{FF2B5EF4-FFF2-40B4-BE49-F238E27FC236}">
                <a16:creationId xmlns:a16="http://schemas.microsoft.com/office/drawing/2014/main" id="{53C524C0-1A74-4B5B-BCA3-7BBD30C9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Survey overlap with existing customers is unknown. The wider list has 92 source rows with aliases.</a:t>
            </a:r>
          </a:p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DDA’s 76,000+ Smart Employee users indicate scale, not paid-signature demand.</a:t>
            </a:r>
          </a:p>
        </p:txBody>
      </p:sp>
    </p:spTree>
    <p:extLst>
      <p:ext uri="{BB962C8B-B14F-4D97-AF65-F5344CB8AC3E}">
        <p14:creationId xmlns:p14="http://schemas.microsoft.com/office/powerpoint/2010/main" val="4682084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90cd42c544348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B3CE624-5CAE-48EB-9945-B3C8197E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A7C00CA-BDE0-4BF6-8234-BE00866F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63CCE06-58E3-4DC7-8DC4-096DBA71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1144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Five-year pricing with annual budgets</a:t>
            </a:r>
          </a:p>
        </p:txBody>
      </p:sp>
      <p:sp>
        <p:nvSpPr>
          <p:cNvPr id="5" name="budget">
            <a:extLst xmlns:a="http://schemas.openxmlformats.org/drawingml/2006/main">
              <a:ext uri="{FF2B5EF4-FFF2-40B4-BE49-F238E27FC236}">
                <a16:creationId xmlns:a16="http://schemas.microsoft.com/office/drawing/2014/main" id="{134BC313-1465-439A-8E10-EB3B6913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5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AED 13.31m</a:t>
            </a:r>
          </a:p>
        </p:txBody>
      </p:sp>
      <p:sp>
        <p:nvSpPr>
          <p:cNvPr id="6" name="budget-label">
            <a:extLst xmlns:a="http://schemas.openxmlformats.org/drawingml/2006/main">
              <a:ext uri="{FF2B5EF4-FFF2-40B4-BE49-F238E27FC236}">
                <a16:creationId xmlns:a16="http://schemas.microsoft.com/office/drawing/2014/main" id="{FF36E68E-D6A0-48EC-936A-50A61B71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1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modeled Year 1 budget</a:t>
            </a:r>
          </a:p>
        </p:txBody>
      </p:sp>
      <p:sp>
        <p:nvSpPr>
          <p:cNvPr id="7" name="budget-detail">
            <a:extLst xmlns:a="http://schemas.openxmlformats.org/drawingml/2006/main">
              <a:ext uri="{FF2B5EF4-FFF2-40B4-BE49-F238E27FC236}">
                <a16:creationId xmlns:a16="http://schemas.microsoft.com/office/drawing/2014/main" id="{A5B19722-1BDE-4084-B7E5-896690F4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1900"/>
            <a:ext cx="628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AED 13.13m subscription and support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AED 0.18m for 10 new entities</a:t>
            </a:r>
          </a:p>
        </p:txBody>
      </p:sp>
      <p:sp>
        <p:nvSpPr>
          <p:cNvPr id="8" name="lock">
            <a:extLst xmlns:a="http://schemas.openxmlformats.org/drawingml/2006/main">
              <a:ext uri="{FF2B5EF4-FFF2-40B4-BE49-F238E27FC236}">
                <a16:creationId xmlns:a16="http://schemas.microsoft.com/office/drawing/2014/main" id="{CF14DDFE-83F2-4C86-B456-EC2B315E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67275"/>
            <a:ext cx="600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2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No indexation for five years</a:t>
            </a:r>
          </a:p>
        </p:txBody>
      </p:sp>
      <p:sp>
        <p:nvSpPr>
          <p:cNvPr id="9" name="lock-detail">
            <a:extLst xmlns:a="http://schemas.openxmlformats.org/drawingml/2006/main">
              <a:ext uri="{FF2B5EF4-FFF2-40B4-BE49-F238E27FC236}">
                <a16:creationId xmlns:a16="http://schemas.microsoft.com/office/drawing/2014/main" id="{91A8A426-9ADB-4462-B736-358F775A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619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Growth changes the annual bill.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Confirm price protection for added seats.</a:t>
            </a:r>
          </a:p>
        </p:txBody>
      </p:sp>
      <p:sp>
        <p:nvSpPr>
          <p:cNvPr id="10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A5471AF7-BC38-4B9C-B649-1EA8BCBE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442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Proposed decision</a:t>
            </a:r>
          </a:p>
        </p:txBody>
      </p:sp>
      <p:sp>
        <p:nvSpPr>
          <p:cNvPr id="11" name="decision">
            <a:extLst xmlns:a="http://schemas.openxmlformats.org/drawingml/2006/main">
              <a:ext uri="{FF2B5EF4-FFF2-40B4-BE49-F238E27FC236}">
                <a16:creationId xmlns:a16="http://schemas.microsoft.com/office/drawing/2014/main" id="{17269A13-3167-45D5-B58A-25226F2E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19425"/>
            <a:ext cx="4429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0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Sponsor central procurement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0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for an initial 10,000 users.</a:t>
            </a:r>
          </a:p>
        </p:txBody>
      </p:sp>
      <p:sp>
        <p:nvSpPr>
          <p:cNvPr id="12" name="condition">
            <a:extLst xmlns:a="http://schemas.openxmlformats.org/drawingml/2006/main">
              <a:ext uri="{FF2B5EF4-FFF2-40B4-BE49-F238E27FC236}">
                <a16:creationId xmlns:a16="http://schemas.microsoft.com/office/drawing/2014/main" id="{0F3391EF-20CF-4925-AA42-23247C99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4429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Finalize funded allocations,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migration dates and unpriced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services before commitment.</a:t>
            </a:r>
          </a:p>
        </p:txBody>
      </p:sp>
      <p:sp>
        <p:nvSpPr>
          <p:cNvPr id="13" name="funding">
            <a:extLst xmlns:a="http://schemas.openxmlformats.org/drawingml/2006/main">
              <a:ext uri="{FF2B5EF4-FFF2-40B4-BE49-F238E27FC236}">
                <a16:creationId xmlns:a16="http://schemas.microsoft.com/office/drawing/2014/main" id="{D5D58244-19A7-4B5C-844E-1C9EA635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67325"/>
            <a:ext cx="4429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DDA funds annual payments.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Entity contributions can support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central budget.</a:t>
            </a:r>
          </a:p>
        </p:txBody>
      </p:sp>
    </p:spTree>
    <p:extLst>
      <p:ext uri="{BB962C8B-B14F-4D97-AF65-F5344CB8AC3E}">
        <p14:creationId xmlns:p14="http://schemas.microsoft.com/office/powerpoint/2010/main" val="5514503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2026-09-20T08:09:33.7710000Z</dcterms:created>
  <dcterms:modified xsi:type="dcterms:W3CDTF">2026-09-20T08:09:33.7710000Z</dcterms:modified>
</coreProperties>
</file>