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ccf1d43a424845" /><Relationship Type="http://schemas.openxmlformats.org/officeDocument/2006/relationships/extended-properties" Target="/docProps/app.xml" Id="R6157e6b0d4bc4e15" /><Relationship Type="http://schemas.openxmlformats.org/officeDocument/2006/relationships/officeDocument" Target="/ppt/presentation.xml" Id="Rc1ba3e2719da4e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9b277763b2471d"/>
  </p:sldMasterIdLst>
  <p:notesMasterIdLst>
    <p:notesMasterId xmlns:r="http://schemas.openxmlformats.org/officeDocument/2006/relationships" r:id="R7d178a0a5b184cd0"/>
  </p:notesMasterIdLst>
  <p:sldIdLst>
    <p:sldId xmlns:r="http://schemas.openxmlformats.org/officeDocument/2006/relationships" id="256" r:id="Rb9be023012a343e7"/>
    <p:sldId xmlns:r="http://schemas.openxmlformats.org/officeDocument/2006/relationships" id="257" r:id="Rdcebde6124b44ba1"/>
    <p:sldId xmlns:r="http://schemas.openxmlformats.org/officeDocument/2006/relationships" id="258" r:id="R3f76f22ca31140c3"/>
    <p:sldId xmlns:r="http://schemas.openxmlformats.org/officeDocument/2006/relationships" id="259" r:id="Rc921ad7c882d4479"/>
    <p:sldId xmlns:r="http://schemas.openxmlformats.org/officeDocument/2006/relationships" id="260" r:id="R45eed7c1070b438a"/>
    <p:sldId xmlns:r="http://schemas.openxmlformats.org/officeDocument/2006/relationships" id="261" r:id="Rb2dc870939834fc3"/>
    <p:sldId xmlns:r="http://schemas.openxmlformats.org/officeDocument/2006/relationships" id="262" r:id="R3215f5b73ebe4f6f"/>
    <p:sldId xmlns:r="http://schemas.openxmlformats.org/officeDocument/2006/relationships" id="263" r:id="R65ddf454d12e4269"/>
    <p:sldId xmlns:r="http://schemas.openxmlformats.org/officeDocument/2006/relationships" id="264" r:id="R0980cad7d4344eae"/>
    <p:sldId xmlns:r="http://schemas.openxmlformats.org/officeDocument/2006/relationships" id="265" r:id="R0641ba7138384fbb"/>
    <p:sldId xmlns:r="http://schemas.openxmlformats.org/officeDocument/2006/relationships" id="266" r:id="R62d77df0072c4ca3"/>
    <p:sldId xmlns:r="http://schemas.openxmlformats.org/officeDocument/2006/relationships" id="267" r:id="R154a4586eb0643f3"/>
    <p:sldId xmlns:r="http://schemas.openxmlformats.org/officeDocument/2006/relationships" id="268" r:id="R25de5c437534463c"/>
    <p:sldId xmlns:r="http://schemas.openxmlformats.org/officeDocument/2006/relationships" id="269" r:id="R82a352c76e5843c9"/>
    <p:sldId xmlns:r="http://schemas.openxmlformats.org/officeDocument/2006/relationships" id="270" r:id="R74350ec4aabe49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d2625bf0db405b" /><Relationship Type="http://schemas.openxmlformats.org/officeDocument/2006/relationships/slideMaster" Target="/ppt/slideMasters/slideMaster1.xml" Id="R029b277763b2471d" /><Relationship Type="http://schemas.openxmlformats.org/officeDocument/2006/relationships/notesMaster" Target="/ppt/notesMasters/notesMaster1.xml" Id="R7d178a0a5b184cd0" /><Relationship Type="http://schemas.openxmlformats.org/officeDocument/2006/relationships/presProps" Target="/ppt/presProps.xml" Id="R7b02df69e8dd41c9" /><Relationship Type="http://schemas.openxmlformats.org/officeDocument/2006/relationships/tableStyles" Target="/ppt/tableStyles.xml" Id="R60f9027d32b0415e" /><Relationship Type="http://schemas.openxmlformats.org/officeDocument/2006/relationships/slide" Target="/ppt/slides/slide1.xml" Id="Rb9be023012a343e7" /><Relationship Type="http://schemas.openxmlformats.org/officeDocument/2006/relationships/slide" Target="/ppt/slides/slide2.xml" Id="Rdcebde6124b44ba1" /><Relationship Type="http://schemas.openxmlformats.org/officeDocument/2006/relationships/slide" Target="/ppt/slides/slide3.xml" Id="R3f76f22ca31140c3" /><Relationship Type="http://schemas.openxmlformats.org/officeDocument/2006/relationships/slide" Target="/ppt/slides/slide4.xml" Id="Rc921ad7c882d4479" /><Relationship Type="http://schemas.openxmlformats.org/officeDocument/2006/relationships/slide" Target="/ppt/slides/slide5.xml" Id="R45eed7c1070b438a" /><Relationship Type="http://schemas.openxmlformats.org/officeDocument/2006/relationships/slide" Target="/ppt/slides/slide6.xml" Id="Rb2dc870939834fc3" /><Relationship Type="http://schemas.openxmlformats.org/officeDocument/2006/relationships/slide" Target="/ppt/slides/slide7.xml" Id="R3215f5b73ebe4f6f" /><Relationship Type="http://schemas.openxmlformats.org/officeDocument/2006/relationships/slide" Target="/ppt/slides/slide8.xml" Id="R65ddf454d12e4269" /><Relationship Type="http://schemas.openxmlformats.org/officeDocument/2006/relationships/slide" Target="/ppt/slides/slide9.xml" Id="R0980cad7d4344eae" /><Relationship Type="http://schemas.openxmlformats.org/officeDocument/2006/relationships/slide" Target="/ppt/slides/slide10.xml" Id="R0641ba7138384fbb" /><Relationship Type="http://schemas.openxmlformats.org/officeDocument/2006/relationships/slide" Target="/ppt/slides/slide11.xml" Id="R62d77df0072c4ca3" /><Relationship Type="http://schemas.openxmlformats.org/officeDocument/2006/relationships/slide" Target="/ppt/slides/slide12.xml" Id="R154a4586eb0643f3" /><Relationship Type="http://schemas.openxmlformats.org/officeDocument/2006/relationships/slide" Target="/ppt/slides/slide13.xml" Id="R25de5c437534463c" /><Relationship Type="http://schemas.openxmlformats.org/officeDocument/2006/relationships/slide" Target="/ppt/slides/slide14.xml" Id="R82a352c76e5843c9" /><Relationship Type="http://schemas.openxmlformats.org/officeDocument/2006/relationships/slide" Target="/ppt/slides/slide15.xml" Id="R74350ec4aabe49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695c452a940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45024fd7614f77" /><Relationship Type="http://schemas.openxmlformats.org/officeDocument/2006/relationships/notesMaster" Target="/ppt/notesMasters/notesMaster1.xml" Id="R5efe8841e9ed4e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1f4b1f1c8543fc" /><Relationship Type="http://schemas.openxmlformats.org/officeDocument/2006/relationships/notesMaster" Target="/ppt/notesMasters/notesMaster1.xml" Id="R5064a5cc231340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3fe517edac4317" /><Relationship Type="http://schemas.openxmlformats.org/officeDocument/2006/relationships/notesMaster" Target="/ppt/notesMasters/notesMaster1.xml" Id="R2b3679f69e3943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dfe3d4d11545d8" /><Relationship Type="http://schemas.openxmlformats.org/officeDocument/2006/relationships/notesMaster" Target="/ppt/notesMasters/notesMaster1.xml" Id="R1e404453ed1847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00b54ada604bf3" /><Relationship Type="http://schemas.openxmlformats.org/officeDocument/2006/relationships/notesMaster" Target="/ppt/notesMasters/notesMaster1.xml" Id="R10c0b5041beb41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ead98b1d604ebd" /><Relationship Type="http://schemas.openxmlformats.org/officeDocument/2006/relationships/notesMaster" Target="/ppt/notesMasters/notesMaster1.xml" Id="R9e22d253f04a4f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e326992c6249a0" /><Relationship Type="http://schemas.openxmlformats.org/officeDocument/2006/relationships/notesMaster" Target="/ppt/notesMasters/notesMaster1.xml" Id="R28751e5d02e445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8e8d45e59a4d6e" /><Relationship Type="http://schemas.openxmlformats.org/officeDocument/2006/relationships/notesMaster" Target="/ppt/notesMasters/notesMaster1.xml" Id="R88609456bfbd4b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e4e806743a43e0" /><Relationship Type="http://schemas.openxmlformats.org/officeDocument/2006/relationships/notesMaster" Target="/ppt/notesMasters/notesMaster1.xml" Id="R6299947818ca43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1563741d03475f" /><Relationship Type="http://schemas.openxmlformats.org/officeDocument/2006/relationships/notesMaster" Target="/ppt/notesMasters/notesMaster1.xml" Id="R76224235ca7b4e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a8d1432bcb4f32" /><Relationship Type="http://schemas.openxmlformats.org/officeDocument/2006/relationships/notesMaster" Target="/ppt/notesMasters/notesMaster1.xml" Id="R9b5bea38d22a46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bcab3d94434874" /><Relationship Type="http://schemas.openxmlformats.org/officeDocument/2006/relationships/notesMaster" Target="/ppt/notesMasters/notesMaster1.xml" Id="Rb0b9cc288a7744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795e9c428a42b1" /><Relationship Type="http://schemas.openxmlformats.org/officeDocument/2006/relationships/notesMaster" Target="/ppt/notesMasters/notesMaster1.xml" Id="R52f9488ec13347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5d2eec2c344731" /><Relationship Type="http://schemas.openxmlformats.org/officeDocument/2006/relationships/notesMaster" Target="/ppt/notesMasters/notesMaster1.xml" Id="Rf22530842cd04f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b42c248d664948" /><Relationship Type="http://schemas.openxmlformats.org/officeDocument/2006/relationships/notesMaster" Target="/ppt/notesMasters/notesMaster1.xml" Id="Rc0721472318942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work/p1/decks/03-sovereign-trust-shared-services.md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1238339ad41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d5209732ef45dd" /><Relationship Type="http://schemas.openxmlformats.org/officeDocument/2006/relationships/slideLayout" Target="/ppt/slideLayouts/slideLayout1.xml" Id="Rf4cfa30ba0d043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cfa30ba0d043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e9a26c1d5479c" /><Relationship Type="http://schemas.openxmlformats.org/officeDocument/2006/relationships/image" Target="/ppt/media/image.png" Id="Re714b1a909124ddc" /><Relationship Type="http://schemas.openxmlformats.org/officeDocument/2006/relationships/notesSlide" Target="/ppt/notesSlides/notesSlide1.xml" Id="R90d0f22e931948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44011846a49fc" /><Relationship Type="http://schemas.openxmlformats.org/officeDocument/2006/relationships/image" Target="/ppt/media/image2.png" Id="R5e644583f9d6439d" /><Relationship Type="http://schemas.openxmlformats.org/officeDocument/2006/relationships/notesSlide" Target="/ppt/notesSlides/notesSlide2.xml" Id="Rbf7b596ea2bb4e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3ab43431b460b" /><Relationship Type="http://schemas.openxmlformats.org/officeDocument/2006/relationships/image" Target="/ppt/media/image3.png" Id="R71f325fbea3c4968" /><Relationship Type="http://schemas.openxmlformats.org/officeDocument/2006/relationships/notesSlide" Target="/ppt/notesSlides/notesSlide3.xml" Id="R5fca4539b77e4a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dd42cc64c40d5" /><Relationship Type="http://schemas.openxmlformats.org/officeDocument/2006/relationships/image" Target="/ppt/media/image4.png" Id="R69e3691303f74b14" /><Relationship Type="http://schemas.openxmlformats.org/officeDocument/2006/relationships/notesSlide" Target="/ppt/notesSlides/notesSlide4.xml" Id="R98eca88bb92c45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5bc331d9a41bc" /><Relationship Type="http://schemas.openxmlformats.org/officeDocument/2006/relationships/image" Target="/ppt/media/image5.png" Id="R1c5c7c7bc2ca492c" /><Relationship Type="http://schemas.openxmlformats.org/officeDocument/2006/relationships/notesSlide" Target="/ppt/notesSlides/notesSlide5.xml" Id="R36621bbc85cb48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e1d2e3c964a6d" /><Relationship Type="http://schemas.openxmlformats.org/officeDocument/2006/relationships/image" Target="/ppt/media/image6.png" Id="Rb3cabb62926d42a5" /><Relationship Type="http://schemas.openxmlformats.org/officeDocument/2006/relationships/notesSlide" Target="/ppt/notesSlides/notesSlide6.xml" Id="R83579044299d4b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2e1de971148f1" /><Relationship Type="http://schemas.openxmlformats.org/officeDocument/2006/relationships/image" Target="/ppt/media/image7.png" Id="Ra2695c75c90f41b1" /><Relationship Type="http://schemas.openxmlformats.org/officeDocument/2006/relationships/notesSlide" Target="/ppt/notesSlides/notesSlide7.xml" Id="Re32d0d8d45304f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0591d414b413b" /><Relationship Type="http://schemas.openxmlformats.org/officeDocument/2006/relationships/image" Target="/ppt/media/image8.png" Id="Rada886ede4ec4ab0" /><Relationship Type="http://schemas.openxmlformats.org/officeDocument/2006/relationships/notesSlide" Target="/ppt/notesSlides/notesSlide8.xml" Id="Ra045dd5ea64a48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a893ff9e04f88" /><Relationship Type="http://schemas.openxmlformats.org/officeDocument/2006/relationships/image" Target="/ppt/media/image9.png" Id="Rab400f4c15974db8" /><Relationship Type="http://schemas.openxmlformats.org/officeDocument/2006/relationships/notesSlide" Target="/ppt/notesSlides/notesSlide9.xml" Id="R9fd84562706e4f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ce434a96f4f04" /><Relationship Type="http://schemas.openxmlformats.org/officeDocument/2006/relationships/image" Target="/ppt/media/image10.png" Id="R0a9a34140ef9401f" /><Relationship Type="http://schemas.openxmlformats.org/officeDocument/2006/relationships/notesSlide" Target="/ppt/notesSlides/notesSlide10.xml" Id="R8bb58b71143145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3ffb0b4fb480e" /><Relationship Type="http://schemas.openxmlformats.org/officeDocument/2006/relationships/image" Target="/ppt/media/image11.png" Id="R2909287911ef412c" /><Relationship Type="http://schemas.openxmlformats.org/officeDocument/2006/relationships/notesSlide" Target="/ppt/notesSlides/notesSlide11.xml" Id="Rcdfce28ab2814d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9f31990604ba5" /><Relationship Type="http://schemas.openxmlformats.org/officeDocument/2006/relationships/image" Target="/ppt/media/image12.png" Id="R99c30d52a7674a3d" /><Relationship Type="http://schemas.openxmlformats.org/officeDocument/2006/relationships/notesSlide" Target="/ppt/notesSlides/notesSlide12.xml" Id="R2f67b45000a74a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824f757b84c96" /><Relationship Type="http://schemas.openxmlformats.org/officeDocument/2006/relationships/image" Target="/ppt/media/image13.png" Id="Ra259e1e085164332" /><Relationship Type="http://schemas.openxmlformats.org/officeDocument/2006/relationships/notesSlide" Target="/ppt/notesSlides/notesSlide13.xml" Id="R37ad619660f247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5ab01df004806" /><Relationship Type="http://schemas.openxmlformats.org/officeDocument/2006/relationships/image" Target="/ppt/media/image14.png" Id="R2873faab62384952" /><Relationship Type="http://schemas.openxmlformats.org/officeDocument/2006/relationships/notesSlide" Target="/ppt/notesSlides/notesSlide14.xml" Id="Rebe6c22046ab43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5ea3137c64967" /><Relationship Type="http://schemas.openxmlformats.org/officeDocument/2006/relationships/image" Target="/ppt/media/image15.png" Id="R368a17f0b7224a55" /><Relationship Type="http://schemas.openxmlformats.org/officeDocument/2006/relationships/notesSlide" Target="/ppt/notesSlides/notesSlide15.xml" Id="Rd19a3e442da244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4b1a909124dd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871A84-1C24-4D41-8C9F-F7B99759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21CC3A6E-1A23-43F9-887A-93A65188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F0FF8043-225D-4AEB-9233-F62803DD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0EFBCA18-E77D-4FFF-9E1A-1B168524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cover-purple-band">
            <a:extLst xmlns:a="http://schemas.openxmlformats.org/drawingml/2006/main">
              <a:ext uri="{FF2B5EF4-FFF2-40B4-BE49-F238E27FC236}">
                <a16:creationId xmlns:a16="http://schemas.microsoft.com/office/drawing/2014/main" id="{62CB75DC-9824-4419-9119-06EEA969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0"/>
            <a:ext cx="200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dark-band">
            <a:extLst xmlns:a="http://schemas.openxmlformats.org/drawingml/2006/main">
              <a:ext uri="{FF2B5EF4-FFF2-40B4-BE49-F238E27FC236}">
                <a16:creationId xmlns:a16="http://schemas.microsoft.com/office/drawing/2014/main" id="{424E79AE-C798-4236-B5F3-74F2FD02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0C7045C-C105-40A7-91C4-577D1ADF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7524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Sovereign Trust Shared Services</a:t>
            </a:r>
          </a:p>
        </p:txBody>
      </p:sp>
      <p:sp>
        <p:nvSpPr>
          <p:cNvPr id="9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ECB249D6-8F66-4B63-8E2B-F9B3F364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Build trusted execution once. Make it reusable across government.</a:t>
            </a:r>
          </a:p>
        </p:txBody>
      </p:sp>
      <p:sp>
        <p:nvSpPr>
          <p:cNvPr id="10" name="cover-route">
            <a:extLst xmlns:a="http://schemas.openxmlformats.org/drawingml/2006/main">
              <a:ext uri="{FF2B5EF4-FFF2-40B4-BE49-F238E27FC236}">
                <a16:creationId xmlns:a16="http://schemas.microsoft.com/office/drawing/2014/main" id="{1234157D-949C-4EE2-BA96-F23B7E51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MINISTRIES · AGENCIES · PUBLIC SERVICES · APPLICATIONS · AI AGENTS</a:t>
            </a:r>
          </a:p>
        </p:txBody>
      </p:sp>
    </p:spTree>
    <p:extLst>
      <p:ext uri="{BB962C8B-B14F-4D97-AF65-F5344CB8AC3E}">
        <p14:creationId xmlns:p14="http://schemas.microsoft.com/office/powerpoint/2010/main" val="1601203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44583f9d6439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6A23F9-BC1D-48DE-AA4E-FA8E3DFB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E2D94E05-5BBF-4E26-BEF8-3F1CE114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980CFA4-C910-4A37-A8D5-387CAC32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290EAC34-D66D-4776-8C07-5AA8398C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7F30E6-482C-4201-8471-AD5FBEBD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Digital trust is becoming shared national infrastructure</a:t>
            </a:r>
          </a:p>
        </p:txBody>
      </p:sp>
      <p:sp>
        <p:nvSpPr>
          <p:cNvPr id="7" name="statement-primary">
            <a:extLst xmlns:a="http://schemas.openxmlformats.org/drawingml/2006/main">
              <a:ext uri="{FF2B5EF4-FFF2-40B4-BE49-F238E27FC236}">
                <a16:creationId xmlns:a16="http://schemas.microsoft.com/office/drawing/2014/main" id="{7E15F275-4657-4C05-B275-53122E34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Identity. Networks. Payments. Cloud. Cybersecurity. Trusted execution.</a:t>
            </a:r>
          </a:p>
        </p:txBody>
      </p:sp>
      <p:sp>
        <p:nvSpPr>
          <p:cNvPr id="8" name="statement-support">
            <a:extLst xmlns:a="http://schemas.openxmlformats.org/drawingml/2006/main">
              <a:ext uri="{FF2B5EF4-FFF2-40B4-BE49-F238E27FC236}">
                <a16:creationId xmlns:a16="http://schemas.microsoft.com/office/drawing/2014/main" id="{25639869-F968-43D0-A5EC-041B9C9E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As public services become more automated and agentic, trusted execution becomes another reusable infrastructure layer.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DF567080-7867-4F30-826E-87758B5A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D70E22BF-A609-423B-A2EA-1AF4BD72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opportunity is to establish the trust layer once—then make it consumable across government.</a:t>
            </a:r>
          </a:p>
        </p:txBody>
      </p:sp>
    </p:spTree>
    <p:extLst>
      <p:ext uri="{BB962C8B-B14F-4D97-AF65-F5344CB8AC3E}">
        <p14:creationId xmlns:p14="http://schemas.microsoft.com/office/powerpoint/2010/main" val="1654984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325fbea3c496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A94C7E-8297-48A5-ADCB-910F6A05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68ACBFF-B9B3-406A-9154-8655B3FD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2EB3D7D0-5144-4592-AA6B-A1B57274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58DD33CD-4865-4DAE-ADF8-F6CAB1E3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1F7BA1-CB58-49C7-845A-732CAFF5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Government transactions are becoming machine-executable</a:t>
            </a:r>
          </a:p>
        </p:txBody>
      </p:sp>
      <p:sp>
        <p:nvSpPr>
          <p:cNvPr id="7" name="evolution-baseline">
            <a:extLst xmlns:a="http://schemas.openxmlformats.org/drawingml/2006/main">
              <a:ext uri="{FF2B5EF4-FFF2-40B4-BE49-F238E27FC236}">
                <a16:creationId xmlns:a16="http://schemas.microsoft.com/office/drawing/2014/main" id="{E46257F7-1B8C-45EE-9453-EA032A76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olution-node-1">
            <a:extLst xmlns:a="http://schemas.openxmlformats.org/drawingml/2006/main">
              <a:ext uri="{FF2B5EF4-FFF2-40B4-BE49-F238E27FC236}">
                <a16:creationId xmlns:a16="http://schemas.microsoft.com/office/drawing/2014/main" id="{3E1440B2-06CA-4716-AAB6-935DBC86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olution-stage-1">
            <a:extLst xmlns:a="http://schemas.openxmlformats.org/drawingml/2006/main">
              <a:ext uri="{FF2B5EF4-FFF2-40B4-BE49-F238E27FC236}">
                <a16:creationId xmlns:a16="http://schemas.microsoft.com/office/drawing/2014/main" id="{80E908ED-29CB-48E0-9C83-A1BB09BB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Paper</a:t>
            </a:r>
          </a:p>
        </p:txBody>
      </p:sp>
      <p:sp>
        <p:nvSpPr>
          <p:cNvPr id="10" name="evolution-node-2">
            <a:extLst xmlns:a="http://schemas.openxmlformats.org/drawingml/2006/main">
              <a:ext uri="{FF2B5EF4-FFF2-40B4-BE49-F238E27FC236}">
                <a16:creationId xmlns:a16="http://schemas.microsoft.com/office/drawing/2014/main" id="{2C0C3701-EC0E-4583-92F2-8071C133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volution-stage-2">
            <a:extLst xmlns:a="http://schemas.openxmlformats.org/drawingml/2006/main">
              <a:ext uri="{FF2B5EF4-FFF2-40B4-BE49-F238E27FC236}">
                <a16:creationId xmlns:a16="http://schemas.microsoft.com/office/drawing/2014/main" id="{E1372E9F-BFA9-4462-B455-A2899022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</a:t>
            </a:r>
          </a:p>
        </p:txBody>
      </p:sp>
      <p:sp>
        <p:nvSpPr>
          <p:cNvPr id="12" name="evolution-node-3">
            <a:extLst xmlns:a="http://schemas.openxmlformats.org/drawingml/2006/main">
              <a:ext uri="{FF2B5EF4-FFF2-40B4-BE49-F238E27FC236}">
                <a16:creationId xmlns:a16="http://schemas.microsoft.com/office/drawing/2014/main" id="{FCBF3588-3029-4969-96D9-D8D5E155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olution-stage-3">
            <a:extLst xmlns:a="http://schemas.openxmlformats.org/drawingml/2006/main">
              <a:ext uri="{FF2B5EF4-FFF2-40B4-BE49-F238E27FC236}">
                <a16:creationId xmlns:a16="http://schemas.microsoft.com/office/drawing/2014/main" id="{32DAC4FF-5AB9-4C18-8217-6D274BC4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Automated</a:t>
            </a:r>
          </a:p>
        </p:txBody>
      </p:sp>
      <p:sp>
        <p:nvSpPr>
          <p:cNvPr id="14" name="evolution-node-4">
            <a:extLst xmlns:a="http://schemas.openxmlformats.org/drawingml/2006/main">
              <a:ext uri="{FF2B5EF4-FFF2-40B4-BE49-F238E27FC236}">
                <a16:creationId xmlns:a16="http://schemas.microsoft.com/office/drawing/2014/main" id="{CB6A9317-45ED-4D14-A198-44F1DEA6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olution-stage-4">
            <a:extLst xmlns:a="http://schemas.openxmlformats.org/drawingml/2006/main">
              <a:ext uri="{FF2B5EF4-FFF2-40B4-BE49-F238E27FC236}">
                <a16:creationId xmlns:a16="http://schemas.microsoft.com/office/drawing/2014/main" id="{C15D5C12-6A59-4669-8B76-9E8BAC69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AI-Assisted</a:t>
            </a:r>
          </a:p>
        </p:txBody>
      </p:sp>
      <p:sp>
        <p:nvSpPr>
          <p:cNvPr id="16" name="evolution-node-5">
            <a:extLst xmlns:a="http://schemas.openxmlformats.org/drawingml/2006/main">
              <a:ext uri="{FF2B5EF4-FFF2-40B4-BE49-F238E27FC236}">
                <a16:creationId xmlns:a16="http://schemas.microsoft.com/office/drawing/2014/main" id="{674FEE71-2709-4153-B541-FBAD869A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olution-stage-5">
            <a:extLst xmlns:a="http://schemas.openxmlformats.org/drawingml/2006/main">
              <a:ext uri="{FF2B5EF4-FFF2-40B4-BE49-F238E27FC236}">
                <a16:creationId xmlns:a16="http://schemas.microsoft.com/office/drawing/2014/main" id="{9862121A-CE77-4CE6-AA48-0369898D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Agentic</a:t>
            </a:r>
          </a:p>
        </p:txBody>
      </p:sp>
      <p:sp>
        <p:nvSpPr>
          <p:cNvPr id="18" name="evolution-support">
            <a:extLst xmlns:a="http://schemas.openxmlformats.org/drawingml/2006/main">
              <a:ext uri="{FF2B5EF4-FFF2-40B4-BE49-F238E27FC236}">
                <a16:creationId xmlns:a16="http://schemas.microsoft.com/office/drawing/2014/main" id="{01EE66E9-BEC9-4977-A72E-6BDB9B76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Applications and AI agents will increasingly prepare, initiate, and execute public-sector processes.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8F019641-DA49-4748-A4B5-408E879C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1C124578-EF0D-469E-91BF-34BADD67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As autonomy increases, government must strengthen authority, policy, approval, evidence, and audit.</a:t>
            </a:r>
          </a:p>
        </p:txBody>
      </p:sp>
    </p:spTree>
    <p:extLst>
      <p:ext uri="{BB962C8B-B14F-4D97-AF65-F5344CB8AC3E}">
        <p14:creationId xmlns:p14="http://schemas.microsoft.com/office/powerpoint/2010/main" val="1939564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3691303f74b1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81D37D-4354-4881-A206-36853423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1E08EDC7-B423-4A76-9785-5C5BE83E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A24699F-CA9D-4DDD-8868-AE2A28DE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840D67AF-0C41-4923-9ABB-AFA39205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28E570-FC1F-4907-8D07-FD46D0B0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National identity answers who. Trusted execution answers what may happen.</a:t>
            </a:r>
          </a:p>
        </p:txBody>
      </p:sp>
      <p:sp>
        <p:nvSpPr>
          <p:cNvPr id="7" name="tile-1">
            <a:extLst xmlns:a="http://schemas.openxmlformats.org/drawingml/2006/main">
              <a:ext uri="{FF2B5EF4-FFF2-40B4-BE49-F238E27FC236}">
                <a16:creationId xmlns:a16="http://schemas.microsoft.com/office/drawing/2014/main" id="{D220C7E3-A248-41F1-895A-B7B05C9A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tile-title-1">
            <a:extLst xmlns:a="http://schemas.openxmlformats.org/drawingml/2006/main">
              <a:ext uri="{FF2B5EF4-FFF2-40B4-BE49-F238E27FC236}">
                <a16:creationId xmlns:a16="http://schemas.microsoft.com/office/drawing/2014/main" id="{6D0B5299-2E51-457C-9CD9-93BD4675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9" name="tile-body-1">
            <a:extLst xmlns:a="http://schemas.openxmlformats.org/drawingml/2006/main">
              <a:ext uri="{FF2B5EF4-FFF2-40B4-BE49-F238E27FC236}">
                <a16:creationId xmlns:a16="http://schemas.microsoft.com/office/drawing/2014/main" id="{2507FCA9-D3CE-47F0-93EE-C60FCE59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are you?</a:t>
            </a:r>
          </a:p>
        </p:txBody>
      </p:sp>
      <p:sp>
        <p:nvSpPr>
          <p:cNvPr id="10" name="tile-2">
            <a:extLst xmlns:a="http://schemas.openxmlformats.org/drawingml/2006/main">
              <a:ext uri="{FF2B5EF4-FFF2-40B4-BE49-F238E27FC236}">
                <a16:creationId xmlns:a16="http://schemas.microsoft.com/office/drawing/2014/main" id="{AA7E7334-0B48-487C-8768-720AD15A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tile-title-2">
            <a:extLst xmlns:a="http://schemas.openxmlformats.org/drawingml/2006/main">
              <a:ext uri="{FF2B5EF4-FFF2-40B4-BE49-F238E27FC236}">
                <a16:creationId xmlns:a16="http://schemas.microsoft.com/office/drawing/2014/main" id="{BA3729D5-1499-4E74-AC29-E1B7C65D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Representation</a:t>
            </a:r>
          </a:p>
        </p:txBody>
      </p:sp>
      <p:sp>
        <p:nvSpPr>
          <p:cNvPr id="12" name="tile-body-2">
            <a:extLst xmlns:a="http://schemas.openxmlformats.org/drawingml/2006/main">
              <a:ext uri="{FF2B5EF4-FFF2-40B4-BE49-F238E27FC236}">
                <a16:creationId xmlns:a16="http://schemas.microsoft.com/office/drawing/2014/main" id="{5E4A6049-CAB1-4CB5-8429-5DA804F8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Whom do you represent?</a:t>
            </a:r>
          </a:p>
        </p:txBody>
      </p:sp>
      <p:sp>
        <p:nvSpPr>
          <p:cNvPr id="13" name="tile-3">
            <a:extLst xmlns:a="http://schemas.openxmlformats.org/drawingml/2006/main">
              <a:ext uri="{FF2B5EF4-FFF2-40B4-BE49-F238E27FC236}">
                <a16:creationId xmlns:a16="http://schemas.microsoft.com/office/drawing/2014/main" id="{A3A99757-5037-44E8-9003-8AEC6D75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tile-title-3">
            <a:extLst xmlns:a="http://schemas.openxmlformats.org/drawingml/2006/main">
              <a:ext uri="{FF2B5EF4-FFF2-40B4-BE49-F238E27FC236}">
                <a16:creationId xmlns:a16="http://schemas.microsoft.com/office/drawing/2014/main" id="{062DF42D-B142-4B97-BE0E-54A9C064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5" name="tile-body-3">
            <a:extLst xmlns:a="http://schemas.openxmlformats.org/drawingml/2006/main">
              <a:ext uri="{FF2B5EF4-FFF2-40B4-BE49-F238E27FC236}">
                <a16:creationId xmlns:a16="http://schemas.microsoft.com/office/drawing/2014/main" id="{63BABC18-12A7-4DEA-AA7B-9BB3EF98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may you do?</a:t>
            </a:r>
          </a:p>
        </p:txBody>
      </p:sp>
      <p:sp>
        <p:nvSpPr>
          <p:cNvPr id="16" name="tile-4">
            <a:extLst xmlns:a="http://schemas.openxmlformats.org/drawingml/2006/main">
              <a:ext uri="{FF2B5EF4-FFF2-40B4-BE49-F238E27FC236}">
                <a16:creationId xmlns:a16="http://schemas.microsoft.com/office/drawing/2014/main" id="{0E74C80C-61F9-486E-B569-CE5E5212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tile-title-4">
            <a:extLst xmlns:a="http://schemas.openxmlformats.org/drawingml/2006/main">
              <a:ext uri="{FF2B5EF4-FFF2-40B4-BE49-F238E27FC236}">
                <a16:creationId xmlns:a16="http://schemas.microsoft.com/office/drawing/2014/main" id="{C31C5F94-671B-4191-9E20-14F4027B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  <p:sp>
        <p:nvSpPr>
          <p:cNvPr id="18" name="tile-body-4">
            <a:extLst xmlns:a="http://schemas.openxmlformats.org/drawingml/2006/main">
              <a:ext uri="{FF2B5EF4-FFF2-40B4-BE49-F238E27FC236}">
                <a16:creationId xmlns:a16="http://schemas.microsoft.com/office/drawing/2014/main" id="{9DAD7FF0-89A5-4AA3-A489-69EB71A3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was approved and executed?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11AE1E86-07D1-4E67-B88C-1A612A80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6DF07AE9-164F-4E8B-AC1F-5B1E3719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 is foundational. It is not the complete execution model.</a:t>
            </a:r>
          </a:p>
        </p:txBody>
      </p:sp>
    </p:spTree>
    <p:extLst>
      <p:ext uri="{BB962C8B-B14F-4D97-AF65-F5344CB8AC3E}">
        <p14:creationId xmlns:p14="http://schemas.microsoft.com/office/powerpoint/2010/main" val="1765787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c7c7bc2ca492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033EAC-3595-461D-9493-2B2BE4E8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E1E554D-DE5F-42C0-A806-892CEEC9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015BB00-AD18-4253-BAB9-2BCBA817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ADAACDF9-8EDD-4F22-AFB9-7311AAA3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F83870-B482-4EEB-AFEA-C3504FF6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Separate trust stacks fragment government</a:t>
            </a:r>
          </a:p>
        </p:txBody>
      </p:sp>
      <p:sp>
        <p:nvSpPr>
          <p:cNvPr id="7" name="process-subtitle">
            <a:extLst xmlns:a="http://schemas.openxmlformats.org/drawingml/2006/main">
              <a:ext uri="{FF2B5EF4-FFF2-40B4-BE49-F238E27FC236}">
                <a16:creationId xmlns:a16="http://schemas.microsoft.com/office/drawing/2014/main" id="{64C94CA0-518B-43D3-A189-8F1F8A97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Each entity separately procures and integrates part of the trust lifecycle.</a:t>
            </a:r>
          </a:p>
        </p:txBody>
      </p:sp>
      <p:sp>
        <p:nvSpPr>
          <p:cNvPr id="8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EC2247F5-8CA1-4DB1-827B-458CF545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C3302714-D5C1-4B2A-B21D-AF9EA4E6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6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0" name="process-number-1">
            <a:extLst xmlns:a="http://schemas.openxmlformats.org/drawingml/2006/main">
              <a:ext uri="{FF2B5EF4-FFF2-40B4-BE49-F238E27FC236}">
                <a16:creationId xmlns:a16="http://schemas.microsoft.com/office/drawing/2014/main" id="{94CC2C52-985C-43F7-B875-B33C367E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1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1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4EF1F87E-7EDC-4C17-A09A-5A52A208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</a:t>
            </a:r>
          </a:p>
        </p:txBody>
      </p:sp>
      <p:sp>
        <p:nvSpPr>
          <p:cNvPr id="12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F25E59C8-7251-4335-B06D-22F38F25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process-number-2">
            <a:extLst xmlns:a="http://schemas.openxmlformats.org/drawingml/2006/main">
              <a:ext uri="{FF2B5EF4-FFF2-40B4-BE49-F238E27FC236}">
                <a16:creationId xmlns:a16="http://schemas.microsoft.com/office/drawing/2014/main" id="{4478BD22-CFED-41A0-BA42-75F70AEE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4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CC8C5AD3-CF38-410F-9553-9FD35F3A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eSignature</a:t>
            </a:r>
          </a:p>
        </p:txBody>
      </p:sp>
      <p:sp>
        <p:nvSpPr>
          <p:cNvPr id="15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82FF5219-9AC4-4FFF-ADEE-F2AC38D5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21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6" name="process-number-3">
            <a:extLst xmlns:a="http://schemas.openxmlformats.org/drawingml/2006/main">
              <a:ext uri="{FF2B5EF4-FFF2-40B4-BE49-F238E27FC236}">
                <a16:creationId xmlns:a16="http://schemas.microsoft.com/office/drawing/2014/main" id="{789B5ADF-7E34-4CA6-9A58-5A7C037D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36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17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F2CDF887-2C0C-402C-BC3D-D113DBF8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8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0F80A2E8-D4AA-4022-AB0B-AAAFED50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38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9" name="process-number-4">
            <a:extLst xmlns:a="http://schemas.openxmlformats.org/drawingml/2006/main">
              <a:ext uri="{FF2B5EF4-FFF2-40B4-BE49-F238E27FC236}">
                <a16:creationId xmlns:a16="http://schemas.microsoft.com/office/drawing/2014/main" id="{7D9CC034-066F-4703-8DE6-02BFFE1F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53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4</a:t>
            </a:r>
          </a:p>
        </p:txBody>
      </p:sp>
      <p:sp>
        <p:nvSpPr>
          <p:cNvPr id="20" name="process-label-4">
            <a:extLst xmlns:a="http://schemas.openxmlformats.org/drawingml/2006/main">
              <a:ext uri="{FF2B5EF4-FFF2-40B4-BE49-F238E27FC236}">
                <a16:creationId xmlns:a16="http://schemas.microsoft.com/office/drawing/2014/main" id="{C8F1C489-BB9A-4E67-A4A2-B9A98B4B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1" name="process-node-5">
            <a:extLst xmlns:a="http://schemas.openxmlformats.org/drawingml/2006/main">
              <a:ext uri="{FF2B5EF4-FFF2-40B4-BE49-F238E27FC236}">
                <a16:creationId xmlns:a16="http://schemas.microsoft.com/office/drawing/2014/main" id="{BF08CC20-EFD7-4752-A478-84A7F555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2" name="process-number-5">
            <a:extLst xmlns:a="http://schemas.openxmlformats.org/drawingml/2006/main">
              <a:ext uri="{FF2B5EF4-FFF2-40B4-BE49-F238E27FC236}">
                <a16:creationId xmlns:a16="http://schemas.microsoft.com/office/drawing/2014/main" id="{1B83540D-A7BB-45B0-951E-238E5FF9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5</a:t>
            </a:r>
          </a:p>
        </p:txBody>
      </p:sp>
      <p:sp>
        <p:nvSpPr>
          <p:cNvPr id="23" name="process-label-5">
            <a:extLst xmlns:a="http://schemas.openxmlformats.org/drawingml/2006/main">
              <a:ext uri="{FF2B5EF4-FFF2-40B4-BE49-F238E27FC236}">
                <a16:creationId xmlns:a16="http://schemas.microsoft.com/office/drawing/2014/main" id="{5BC2F5A2-9AE7-43C6-992E-B4E5D682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Records</a:t>
            </a:r>
          </a:p>
        </p:txBody>
      </p:sp>
      <p:sp>
        <p:nvSpPr>
          <p:cNvPr id="24" name="process-node-6">
            <a:extLst xmlns:a="http://schemas.openxmlformats.org/drawingml/2006/main">
              <a:ext uri="{FF2B5EF4-FFF2-40B4-BE49-F238E27FC236}">
                <a16:creationId xmlns:a16="http://schemas.microsoft.com/office/drawing/2014/main" id="{C185C8A9-DBAF-4386-ABF9-93B06D7C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73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5" name="process-number-6">
            <a:extLst xmlns:a="http://schemas.openxmlformats.org/drawingml/2006/main">
              <a:ext uri="{FF2B5EF4-FFF2-40B4-BE49-F238E27FC236}">
                <a16:creationId xmlns:a16="http://schemas.microsoft.com/office/drawing/2014/main" id="{222C6CA2-3D62-43E5-8A44-5CBF4EC9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88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6</a:t>
            </a:r>
          </a:p>
        </p:txBody>
      </p:sp>
      <p:sp>
        <p:nvSpPr>
          <p:cNvPr id="26" name="process-label-6">
            <a:extLst xmlns:a="http://schemas.openxmlformats.org/drawingml/2006/main">
              <a:ext uri="{FF2B5EF4-FFF2-40B4-BE49-F238E27FC236}">
                <a16:creationId xmlns:a16="http://schemas.microsoft.com/office/drawing/2014/main" id="{96DDFAEB-FBAC-4B3F-BB8A-B76A488C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</a:t>
            </a:r>
          </a:p>
        </p:txBody>
      </p:sp>
      <p:sp>
        <p:nvSpPr>
          <p:cNvPr id="27" name="divider">
            <a:extLst xmlns:a="http://schemas.openxmlformats.org/drawingml/2006/main">
              <a:ext uri="{FF2B5EF4-FFF2-40B4-BE49-F238E27FC236}">
                <a16:creationId xmlns:a16="http://schemas.microsoft.com/office/drawing/2014/main" id="{B0201A99-2AB4-4350-A146-B4C1BFE4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95639536-33D8-4635-8A8A-7446120C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result is duplicated integration, inconsistent governance, and incompatible evidence models.</a:t>
            </a:r>
          </a:p>
        </p:txBody>
      </p:sp>
    </p:spTree>
    <p:extLst>
      <p:ext uri="{BB962C8B-B14F-4D97-AF65-F5344CB8AC3E}">
        <p14:creationId xmlns:p14="http://schemas.microsoft.com/office/powerpoint/2010/main" val="1453068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abb62926d42a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DA539CB-C55C-4143-BCAE-BF083A27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FEADC8A-CFF1-437F-A708-2E91D214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DDE9775-2DDF-44E0-A9D0-2F041EE4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F9ECCAA8-E9FD-4BBF-ABD9-DF8F0D39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D9A307-AB05-4BBB-BAD4-E56A5F5D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The alternative is trust as a shared service</a:t>
            </a:r>
          </a:p>
        </p:txBody>
      </p:sp>
      <p:sp>
        <p:nvSpPr>
          <p:cNvPr id="7" name="statement-primary">
            <a:extLst xmlns:a="http://schemas.openxmlformats.org/drawingml/2006/main">
              <a:ext uri="{FF2B5EF4-FFF2-40B4-BE49-F238E27FC236}">
                <a16:creationId xmlns:a16="http://schemas.microsoft.com/office/drawing/2014/main" id="{83ACEAA1-E9C6-4A5F-911B-41353E0D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9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Build once. Govern centrally. Consume across government.</a:t>
            </a:r>
          </a:p>
        </p:txBody>
      </p:sp>
      <p:sp>
        <p:nvSpPr>
          <p:cNvPr id="8" name="statement-support">
            <a:extLst xmlns:a="http://schemas.openxmlformats.org/drawingml/2006/main">
              <a:ext uri="{FF2B5EF4-FFF2-40B4-BE49-F238E27FC236}">
                <a16:creationId xmlns:a16="http://schemas.microsoft.com/office/drawing/2014/main" id="{138E6F61-749F-4019-9D82-64DE1D2F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Shared infrastructure establishes common trust capabilities while each entity retains its own services, roles, policies, and adoption path.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FA7FD41E-4D6E-4B66-86A0-7A844873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51B9381B-0F78-4324-8803-56B20E12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One shared trust model. Many entity-owned services.</a:t>
            </a:r>
          </a:p>
        </p:txBody>
      </p:sp>
    </p:spTree>
    <p:extLst>
      <p:ext uri="{BB962C8B-B14F-4D97-AF65-F5344CB8AC3E}">
        <p14:creationId xmlns:p14="http://schemas.microsoft.com/office/powerpoint/2010/main" val="6109245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95c75c90f41b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96FD57-BD76-4AF1-890F-1A0E0D5E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387D5A7-EAC7-4401-9766-2FF04BC0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2E5AB6EA-5ABE-4A90-850B-99374A6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D98522E5-AECC-4E3E-9795-F72C3EE1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388D4F-73DF-4CFA-BD00-96D986C9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national Trusted Execution Layer connects identity to evidence</a:t>
            </a:r>
          </a:p>
        </p:txBody>
      </p:sp>
      <p:sp>
        <p:nvSpPr>
          <p:cNvPr id="7" name="layer-1">
            <a:extLst xmlns:a="http://schemas.openxmlformats.org/drawingml/2006/main">
              <a:ext uri="{FF2B5EF4-FFF2-40B4-BE49-F238E27FC236}">
                <a16:creationId xmlns:a16="http://schemas.microsoft.com/office/drawing/2014/main" id="{7145C4D9-E31E-4E33-8ECC-A8517F7A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1277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yer-label-1">
            <a:extLst xmlns:a="http://schemas.openxmlformats.org/drawingml/2006/main">
              <a:ext uri="{FF2B5EF4-FFF2-40B4-BE49-F238E27FC236}">
                <a16:creationId xmlns:a16="http://schemas.microsoft.com/office/drawing/2014/main" id="{53205D68-3B63-417E-86F7-08CF60B8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ACTORS</a:t>
            </a:r>
          </a:p>
        </p:txBody>
      </p:sp>
      <p:sp>
        <p:nvSpPr>
          <p:cNvPr id="9" name="layer-text-1">
            <a:extLst xmlns:a="http://schemas.openxmlformats.org/drawingml/2006/main">
              <a:ext uri="{FF2B5EF4-FFF2-40B4-BE49-F238E27FC236}">
                <a16:creationId xmlns:a16="http://schemas.microsoft.com/office/drawing/2014/main" id="{A37D9D7C-6C43-42CB-98F0-141D2244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Citizens · Employees · Organizations · Applications · AI Agents</a:t>
            </a:r>
          </a:p>
        </p:txBody>
      </p:sp>
      <p:sp>
        <p:nvSpPr>
          <p:cNvPr id="10" name="layer-2">
            <a:extLst xmlns:a="http://schemas.openxmlformats.org/drawingml/2006/main">
              <a:ext uri="{FF2B5EF4-FFF2-40B4-BE49-F238E27FC236}">
                <a16:creationId xmlns:a16="http://schemas.microsoft.com/office/drawing/2014/main" id="{D9ECA29E-39F3-4BCF-B0A8-756CA0F3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yer-label-2">
            <a:extLst xmlns:a="http://schemas.openxmlformats.org/drawingml/2006/main">
              <a:ext uri="{FF2B5EF4-FFF2-40B4-BE49-F238E27FC236}">
                <a16:creationId xmlns:a16="http://schemas.microsoft.com/office/drawing/2014/main" id="{8F551B9C-D0ED-4C4C-BAAC-86C286DC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SHARED LAYER</a:t>
            </a:r>
          </a:p>
        </p:txBody>
      </p:sp>
      <p:sp>
        <p:nvSpPr>
          <p:cNvPr id="12" name="layer-text-2">
            <a:extLst xmlns:a="http://schemas.openxmlformats.org/drawingml/2006/main">
              <a:ext uri="{FF2B5EF4-FFF2-40B4-BE49-F238E27FC236}">
                <a16:creationId xmlns:a16="http://schemas.microsoft.com/office/drawing/2014/main" id="{6F853988-B8DD-4173-8A5F-3E2FF24B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5282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Sovereign Trusted Execution Layer</a:t>
            </a:r>
          </a:p>
        </p:txBody>
      </p:sp>
      <p:sp>
        <p:nvSpPr>
          <p:cNvPr id="13" name="layer-3">
            <a:extLst xmlns:a="http://schemas.openxmlformats.org/drawingml/2006/main">
              <a:ext uri="{FF2B5EF4-FFF2-40B4-BE49-F238E27FC236}">
                <a16:creationId xmlns:a16="http://schemas.microsoft.com/office/drawing/2014/main" id="{BBDD9E0E-2569-4C73-935D-BB38BF31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1277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yer-label-3">
            <a:extLst xmlns:a="http://schemas.openxmlformats.org/drawingml/2006/main">
              <a:ext uri="{FF2B5EF4-FFF2-40B4-BE49-F238E27FC236}">
                <a16:creationId xmlns:a16="http://schemas.microsoft.com/office/drawing/2014/main" id="{46B197F2-874C-4296-ADAB-775551A9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 CHAIN</a:t>
            </a:r>
          </a:p>
        </p:txBody>
      </p:sp>
      <p:sp>
        <p:nvSpPr>
          <p:cNvPr id="15" name="layer-text-3">
            <a:extLst xmlns:a="http://schemas.openxmlformats.org/drawingml/2006/main">
              <a:ext uri="{FF2B5EF4-FFF2-40B4-BE49-F238E27FC236}">
                <a16:creationId xmlns:a16="http://schemas.microsoft.com/office/drawing/2014/main" id="{497CDD5D-54D3-4343-8A80-A603959F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· Authority · Policy · Approval · Trust Services · Evidence · Records · Audit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AE1DA978-02C9-4A41-931F-02FD0EA1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0EAD0EAC-EEB7-41F3-A601-4262DAE6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shared layer turns national trust infrastructure into reusable execution capabilities.</a:t>
            </a:r>
          </a:p>
        </p:txBody>
      </p:sp>
    </p:spTree>
    <p:extLst>
      <p:ext uri="{BB962C8B-B14F-4D97-AF65-F5344CB8AC3E}">
        <p14:creationId xmlns:p14="http://schemas.microsoft.com/office/powerpoint/2010/main" val="254747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886ede4ec4ab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AA184A-E8E9-4D31-B428-17B9D267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22CF4FBD-BF71-4287-BE88-BA31D1E6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F107D1F4-A6C9-4B4C-9DEF-7716DE71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A15C6A4D-234D-4DE5-8757-FC9F1FF6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3453B7-9601-435D-92D6-D0ECD8D3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This is enabling infrastructure—not another government application</a:t>
            </a:r>
          </a:p>
        </p:txBody>
      </p:sp>
      <p:sp>
        <p:nvSpPr>
          <p:cNvPr id="7" name="band-1">
            <a:extLst xmlns:a="http://schemas.openxmlformats.org/drawingml/2006/main">
              <a:ext uri="{FF2B5EF4-FFF2-40B4-BE49-F238E27FC236}">
                <a16:creationId xmlns:a16="http://schemas.microsoft.com/office/drawing/2014/main" id="{A62C6C8A-0A2A-4910-93CF-6620DE25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1277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band-label-1">
            <a:extLst xmlns:a="http://schemas.openxmlformats.org/drawingml/2006/main">
              <a:ext uri="{FF2B5EF4-FFF2-40B4-BE49-F238E27FC236}">
                <a16:creationId xmlns:a16="http://schemas.microsoft.com/office/drawing/2014/main" id="{750D7034-EC8A-4CEF-ADA6-93BCA0DE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ENTITIES</a:t>
            </a:r>
          </a:p>
        </p:txBody>
      </p:sp>
      <p:sp>
        <p:nvSpPr>
          <p:cNvPr id="9" name="band-text-1">
            <a:extLst xmlns:a="http://schemas.openxmlformats.org/drawingml/2006/main">
              <a:ext uri="{FF2B5EF4-FFF2-40B4-BE49-F238E27FC236}">
                <a16:creationId xmlns:a16="http://schemas.microsoft.com/office/drawing/2014/main" id="{C2BAC71E-EAD7-403F-B92B-5BA8DEF6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336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Ministries · Agencies · Municipalities · Authorities · Government-owned organizations</a:t>
            </a:r>
          </a:p>
        </p:txBody>
      </p:sp>
      <p:sp>
        <p:nvSpPr>
          <p:cNvPr id="10" name="band-2">
            <a:extLst xmlns:a="http://schemas.openxmlformats.org/drawingml/2006/main">
              <a:ext uri="{FF2B5EF4-FFF2-40B4-BE49-F238E27FC236}">
                <a16:creationId xmlns:a16="http://schemas.microsoft.com/office/drawing/2014/main" id="{E89F8C69-E973-435A-BE9A-F11EB572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11277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band-label-2">
            <a:extLst xmlns:a="http://schemas.openxmlformats.org/drawingml/2006/main">
              <a:ext uri="{FF2B5EF4-FFF2-40B4-BE49-F238E27FC236}">
                <a16:creationId xmlns:a16="http://schemas.microsoft.com/office/drawing/2014/main" id="{7CCBDD3F-B9B8-4D58-9BA4-AEC18066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SHARED PLATFORM</a:t>
            </a:r>
          </a:p>
        </p:txBody>
      </p:sp>
      <p:sp>
        <p:nvSpPr>
          <p:cNvPr id="12" name="band-text-2">
            <a:extLst xmlns:a="http://schemas.openxmlformats.org/drawingml/2006/main">
              <a:ext uri="{FF2B5EF4-FFF2-40B4-BE49-F238E27FC236}">
                <a16:creationId xmlns:a16="http://schemas.microsoft.com/office/drawing/2014/main" id="{A781DCA2-6E3C-4468-A0B8-A9374B15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Common execution, trust, evidence, and API capabilities</a:t>
            </a:r>
          </a:p>
        </p:txBody>
      </p:sp>
      <p:sp>
        <p:nvSpPr>
          <p:cNvPr id="13" name="band-3">
            <a:extLst xmlns:a="http://schemas.openxmlformats.org/drawingml/2006/main">
              <a:ext uri="{FF2B5EF4-FFF2-40B4-BE49-F238E27FC236}">
                <a16:creationId xmlns:a16="http://schemas.microsoft.com/office/drawing/2014/main" id="{CD46DC26-FCDD-4758-BBAA-C53B32BF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77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band-label-3">
            <a:extLst xmlns:a="http://schemas.openxmlformats.org/drawingml/2006/main">
              <a:ext uri="{FF2B5EF4-FFF2-40B4-BE49-F238E27FC236}">
                <a16:creationId xmlns:a16="http://schemas.microsoft.com/office/drawing/2014/main" id="{37C647FE-62BE-45FC-85F5-5C2BE6CB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ENTITY SERVICES</a:t>
            </a:r>
          </a:p>
        </p:txBody>
      </p:sp>
      <p:sp>
        <p:nvSpPr>
          <p:cNvPr id="15" name="band-text-3">
            <a:extLst xmlns:a="http://schemas.openxmlformats.org/drawingml/2006/main">
              <a:ext uri="{FF2B5EF4-FFF2-40B4-BE49-F238E27FC236}">
                <a16:creationId xmlns:a16="http://schemas.microsoft.com/office/drawing/2014/main" id="{A35E247F-89D5-413D-B38F-BE4D1283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Each entity builds and operates services within the shared governance model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3D654950-420B-4014-A3B8-8643FC5F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1923F2D0-F7F3-4417-A6F1-D43D8508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platform is shared. Service ownership and policy remain explicit.</a:t>
            </a:r>
          </a:p>
        </p:txBody>
      </p:sp>
    </p:spTree>
    <p:extLst>
      <p:ext uri="{BB962C8B-B14F-4D97-AF65-F5344CB8AC3E}">
        <p14:creationId xmlns:p14="http://schemas.microsoft.com/office/powerpoint/2010/main" val="4933433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00f4c15974db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785028-5F7D-4F2C-99B9-487F230D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B1D38F50-02C6-415C-BB77-264D1043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4218C81-AC1B-48AC-84AA-36A05902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90BBAA97-D2E9-48C9-8983-E06ECD3F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11E2BD-B055-414A-A090-1315BF70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Reusable services reduce repeated integration</a:t>
            </a:r>
          </a:p>
        </p:txBody>
      </p:sp>
      <p:sp>
        <p:nvSpPr>
          <p:cNvPr id="7" name="tile-1">
            <a:extLst xmlns:a="http://schemas.openxmlformats.org/drawingml/2006/main">
              <a:ext uri="{FF2B5EF4-FFF2-40B4-BE49-F238E27FC236}">
                <a16:creationId xmlns:a16="http://schemas.microsoft.com/office/drawing/2014/main" id="{16505465-E191-46B8-AAE6-6B2B1F08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tile-title-1">
            <a:extLst xmlns:a="http://schemas.openxmlformats.org/drawingml/2006/main">
              <a:ext uri="{FF2B5EF4-FFF2-40B4-BE49-F238E27FC236}">
                <a16:creationId xmlns:a16="http://schemas.microsoft.com/office/drawing/2014/main" id="{A7D87A51-0844-45A2-BD43-4D92D7C8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Execute</a:t>
            </a:r>
          </a:p>
        </p:txBody>
      </p:sp>
      <p:sp>
        <p:nvSpPr>
          <p:cNvPr id="9" name="tile-body-1">
            <a:extLst xmlns:a="http://schemas.openxmlformats.org/drawingml/2006/main">
              <a:ext uri="{FF2B5EF4-FFF2-40B4-BE49-F238E27FC236}">
                <a16:creationId xmlns:a16="http://schemas.microsoft.com/office/drawing/2014/main" id="{2049B943-B35E-41D3-A9EF-5792D95C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Workflow · Approval · eSigning · eSealing · Timestamps</a:t>
            </a:r>
          </a:p>
        </p:txBody>
      </p:sp>
      <p:sp>
        <p:nvSpPr>
          <p:cNvPr id="10" name="tile-2">
            <a:extLst xmlns:a="http://schemas.openxmlformats.org/drawingml/2006/main">
              <a:ext uri="{FF2B5EF4-FFF2-40B4-BE49-F238E27FC236}">
                <a16:creationId xmlns:a16="http://schemas.microsoft.com/office/drawing/2014/main" id="{9F64C6AD-7F7B-469B-993B-30299DBB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tile-title-2">
            <a:extLst xmlns:a="http://schemas.openxmlformats.org/drawingml/2006/main">
              <a:ext uri="{FF2B5EF4-FFF2-40B4-BE49-F238E27FC236}">
                <a16:creationId xmlns:a16="http://schemas.microsoft.com/office/drawing/2014/main" id="{34CCFFE3-AD0C-469C-A59D-1FDA2CC0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12" name="tile-body-2">
            <a:extLst xmlns:a="http://schemas.openxmlformats.org/drawingml/2006/main">
              <a:ext uri="{FF2B5EF4-FFF2-40B4-BE49-F238E27FC236}">
                <a16:creationId xmlns:a16="http://schemas.microsoft.com/office/drawing/2014/main" id="{099D5B19-8E63-4EE5-B851-AE98D6CE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Identity integration · Evidence · Trusted records · Verification</a:t>
            </a:r>
          </a:p>
        </p:txBody>
      </p:sp>
      <p:sp>
        <p:nvSpPr>
          <p:cNvPr id="13" name="tile-3">
            <a:extLst xmlns:a="http://schemas.openxmlformats.org/drawingml/2006/main">
              <a:ext uri="{FF2B5EF4-FFF2-40B4-BE49-F238E27FC236}">
                <a16:creationId xmlns:a16="http://schemas.microsoft.com/office/drawing/2014/main" id="{7696B5A2-F181-4A75-A01A-81E148B8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tile-title-3">
            <a:extLst xmlns:a="http://schemas.openxmlformats.org/drawingml/2006/main">
              <a:ext uri="{FF2B5EF4-FFF2-40B4-BE49-F238E27FC236}">
                <a16:creationId xmlns:a16="http://schemas.microsoft.com/office/drawing/2014/main" id="{36DA97C2-1689-423F-90DF-9122E68C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Extend</a:t>
            </a:r>
          </a:p>
        </p:txBody>
      </p:sp>
      <p:sp>
        <p:nvSpPr>
          <p:cNvPr id="15" name="tile-body-3">
            <a:extLst xmlns:a="http://schemas.openxmlformats.org/drawingml/2006/main">
              <a:ext uri="{FF2B5EF4-FFF2-40B4-BE49-F238E27FC236}">
                <a16:creationId xmlns:a16="http://schemas.microsoft.com/office/drawing/2014/main" id="{6AA87514-C9BA-407E-879C-BE01B49B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Governed APIs · Automation · Approved AI execution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E53A7D83-D19C-4131-9041-8A959A68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A3D494ED-8260-4955-A4F8-449F177A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Each entity consumes the capabilities it needs within the shared trust model.</a:t>
            </a:r>
          </a:p>
        </p:txBody>
      </p:sp>
    </p:spTree>
    <p:extLst>
      <p:ext uri="{BB962C8B-B14F-4D97-AF65-F5344CB8AC3E}">
        <p14:creationId xmlns:p14="http://schemas.microsoft.com/office/powerpoint/2010/main" val="17352114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a34140ef9401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8A2766-D133-4BDD-AB9F-20405B18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2B5467A2-EF89-4B49-87DA-F4F8ED36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662AB02-4B2E-4582-B4F9-8A5B5C81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636E8078-2EEA-45F3-A1E4-79D9D4DF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266D9A-723C-4CE8-89F0-E5D29DB4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Preserve existing national investments</a:t>
            </a:r>
          </a:p>
        </p:txBody>
      </p:sp>
      <p:sp>
        <p:nvSpPr>
          <p:cNvPr id="7" name="split-panel-1">
            <a:extLst xmlns:a="http://schemas.openxmlformats.org/drawingml/2006/main">
              <a:ext uri="{FF2B5EF4-FFF2-40B4-BE49-F238E27FC236}">
                <a16:creationId xmlns:a16="http://schemas.microsoft.com/office/drawing/2014/main" id="{178AF1BD-2759-4010-BBC9-4079B59A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5486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split-title-1">
            <a:extLst xmlns:a="http://schemas.openxmlformats.org/drawingml/2006/main">
              <a:ext uri="{FF2B5EF4-FFF2-40B4-BE49-F238E27FC236}">
                <a16:creationId xmlns:a16="http://schemas.microsoft.com/office/drawing/2014/main" id="{B2405636-D27E-4FB2-AB11-F52D24D7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National infrastructure</a:t>
            </a:r>
          </a:p>
        </p:txBody>
      </p:sp>
      <p:sp>
        <p:nvSpPr>
          <p:cNvPr id="9" name="split-body-1">
            <a:extLst xmlns:a="http://schemas.openxmlformats.org/drawingml/2006/main">
              <a:ext uri="{FF2B5EF4-FFF2-40B4-BE49-F238E27FC236}">
                <a16:creationId xmlns:a16="http://schemas.microsoft.com/office/drawing/2014/main" id="{49F832A4-C338-43DC-AE67-0841DF42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National eID · Government IAM · PKI and CA · HSM · TSA · Trust-Service Providers · Government Cloud</a:t>
            </a:r>
          </a:p>
        </p:txBody>
      </p:sp>
      <p:sp>
        <p:nvSpPr>
          <p:cNvPr id="10" name="split-panel-2">
            <a:extLst xmlns:a="http://schemas.openxmlformats.org/drawingml/2006/main">
              <a:ext uri="{FF2B5EF4-FFF2-40B4-BE49-F238E27FC236}">
                <a16:creationId xmlns:a16="http://schemas.microsoft.com/office/drawing/2014/main" id="{71B9BBE7-345A-4622-AF6B-9C42883A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5486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split-title-2">
            <a:extLst xmlns:a="http://schemas.openxmlformats.org/drawingml/2006/main">
              <a:ext uri="{FF2B5EF4-FFF2-40B4-BE49-F238E27FC236}">
                <a16:creationId xmlns:a16="http://schemas.microsoft.com/office/drawing/2014/main" id="{E4661CA1-A18B-4D51-844B-1D757817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Circularo's role</a:t>
            </a:r>
          </a:p>
        </p:txBody>
      </p:sp>
      <p:sp>
        <p:nvSpPr>
          <p:cNvPr id="12" name="split-body-2">
            <a:extLst xmlns:a="http://schemas.openxmlformats.org/drawingml/2006/main">
              <a:ext uri="{FF2B5EF4-FFF2-40B4-BE49-F238E27FC236}">
                <a16:creationId xmlns:a16="http://schemas.microsoft.com/office/drawing/2014/main" id="{308466C0-619C-4F49-9B31-105E0BB0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Connect trusted infrastructure to business workflows, institutional authority, execution, evidence, and records.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4C813AB6-CC45-4FE4-82D8-7D08A44D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CF219849-F68D-475D-8732-2BD7EE29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Integrate national investments—do not replace them unnecessarily.</a:t>
            </a:r>
          </a:p>
        </p:txBody>
      </p:sp>
    </p:spTree>
    <p:extLst>
      <p:ext uri="{BB962C8B-B14F-4D97-AF65-F5344CB8AC3E}">
        <p14:creationId xmlns:p14="http://schemas.microsoft.com/office/powerpoint/2010/main" val="13746038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9287911ef412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175138-6ADE-410B-AB68-B5160985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1DA82AD-F766-4791-A136-3FDBCADA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0649386-4214-4716-B794-7D6DDA23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BDEEF529-9BD3-48B6-99AD-FA44A8AE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0B7C80-016E-4E56-BEA8-E4C931E9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evidence model strengthens accountability across government</a:t>
            </a:r>
          </a:p>
        </p:txBody>
      </p:sp>
      <p:sp>
        <p:nvSpPr>
          <p:cNvPr id="7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35037AFF-94C5-43E8-A7E5-EABB61DA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19CA352E-77F0-4572-BB34-BB751E77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6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process-number-1">
            <a:extLst xmlns:a="http://schemas.openxmlformats.org/drawingml/2006/main">
              <a:ext uri="{FF2B5EF4-FFF2-40B4-BE49-F238E27FC236}">
                <a16:creationId xmlns:a16="http://schemas.microsoft.com/office/drawing/2014/main" id="{CE18AF1C-5B05-42AC-AFDF-288C681D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1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0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43CFF2DB-F570-47AA-B743-8459350F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11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42E777BD-075E-48F6-B41D-C0557A55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2" name="process-number-2">
            <a:extLst xmlns:a="http://schemas.openxmlformats.org/drawingml/2006/main">
              <a:ext uri="{FF2B5EF4-FFF2-40B4-BE49-F238E27FC236}">
                <a16:creationId xmlns:a16="http://schemas.microsoft.com/office/drawing/2014/main" id="{788E852B-C381-4802-B3EC-7FC9B195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3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CB6A722A-E496-4561-B6EF-8282AB0F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Review</a:t>
            </a:r>
          </a:p>
        </p:txBody>
      </p:sp>
      <p:sp>
        <p:nvSpPr>
          <p:cNvPr id="14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64A24BB4-A38C-4345-A211-56EAE9FB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21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5" name="process-number-3">
            <a:extLst xmlns:a="http://schemas.openxmlformats.org/drawingml/2006/main">
              <a:ext uri="{FF2B5EF4-FFF2-40B4-BE49-F238E27FC236}">
                <a16:creationId xmlns:a16="http://schemas.microsoft.com/office/drawing/2014/main" id="{50D99AC7-E2F0-4FB9-857C-EDA59E64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36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16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98C2F8C3-308A-40CC-9E44-0E143A90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17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9E19EB9D-637B-4FC7-AB04-6343E09D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38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8" name="process-number-4">
            <a:extLst xmlns:a="http://schemas.openxmlformats.org/drawingml/2006/main">
              <a:ext uri="{FF2B5EF4-FFF2-40B4-BE49-F238E27FC236}">
                <a16:creationId xmlns:a16="http://schemas.microsoft.com/office/drawing/2014/main" id="{863211F7-A96C-4753-94CA-ACB552B9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53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4</a:t>
            </a:r>
          </a:p>
        </p:txBody>
      </p:sp>
      <p:sp>
        <p:nvSpPr>
          <p:cNvPr id="19" name="process-label-4">
            <a:extLst xmlns:a="http://schemas.openxmlformats.org/drawingml/2006/main">
              <a:ext uri="{FF2B5EF4-FFF2-40B4-BE49-F238E27FC236}">
                <a16:creationId xmlns:a16="http://schemas.microsoft.com/office/drawing/2014/main" id="{CA657085-F2F2-44DE-A48D-8EC9B06D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Execute</a:t>
            </a:r>
          </a:p>
        </p:txBody>
      </p:sp>
      <p:sp>
        <p:nvSpPr>
          <p:cNvPr id="20" name="process-node-5">
            <a:extLst xmlns:a="http://schemas.openxmlformats.org/drawingml/2006/main">
              <a:ext uri="{FF2B5EF4-FFF2-40B4-BE49-F238E27FC236}">
                <a16:creationId xmlns:a16="http://schemas.microsoft.com/office/drawing/2014/main" id="{E8189478-FCCE-4030-BBDC-AB923B17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process-number-5">
            <a:extLst xmlns:a="http://schemas.openxmlformats.org/drawingml/2006/main">
              <a:ext uri="{FF2B5EF4-FFF2-40B4-BE49-F238E27FC236}">
                <a16:creationId xmlns:a16="http://schemas.microsoft.com/office/drawing/2014/main" id="{9E990A34-1F2C-4D2A-98CD-42F6FC53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5</a:t>
            </a:r>
          </a:p>
        </p:txBody>
      </p:sp>
      <p:sp>
        <p:nvSpPr>
          <p:cNvPr id="22" name="process-label-5">
            <a:extLst xmlns:a="http://schemas.openxmlformats.org/drawingml/2006/main">
              <a:ext uri="{FF2B5EF4-FFF2-40B4-BE49-F238E27FC236}">
                <a16:creationId xmlns:a16="http://schemas.microsoft.com/office/drawing/2014/main" id="{2FAEE7BB-E856-49C2-8C4B-A1B2E096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3" name="process-node-6">
            <a:extLst xmlns:a="http://schemas.openxmlformats.org/drawingml/2006/main">
              <a:ext uri="{FF2B5EF4-FFF2-40B4-BE49-F238E27FC236}">
                <a16:creationId xmlns:a16="http://schemas.microsoft.com/office/drawing/2014/main" id="{7B7B62F8-0766-4273-A6B9-B6F9B94F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73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4" name="process-number-6">
            <a:extLst xmlns:a="http://schemas.openxmlformats.org/drawingml/2006/main">
              <a:ext uri="{FF2B5EF4-FFF2-40B4-BE49-F238E27FC236}">
                <a16:creationId xmlns:a16="http://schemas.microsoft.com/office/drawing/2014/main" id="{BA1A5062-5950-485C-A06C-6286F53D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88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6</a:t>
            </a:r>
          </a:p>
        </p:txBody>
      </p:sp>
      <p:sp>
        <p:nvSpPr>
          <p:cNvPr id="25" name="process-label-6">
            <a:extLst xmlns:a="http://schemas.openxmlformats.org/drawingml/2006/main">
              <a:ext uri="{FF2B5EF4-FFF2-40B4-BE49-F238E27FC236}">
                <a16:creationId xmlns:a16="http://schemas.microsoft.com/office/drawing/2014/main" id="{52A327B0-4AEF-4882-B21A-B946902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Verify</a:t>
            </a:r>
          </a:p>
        </p:txBody>
      </p:sp>
      <p:sp>
        <p:nvSpPr>
          <p:cNvPr id="26" name="divider">
            <a:extLst xmlns:a="http://schemas.openxmlformats.org/drawingml/2006/main">
              <a:ext uri="{FF2B5EF4-FFF2-40B4-BE49-F238E27FC236}">
                <a16:creationId xmlns:a16="http://schemas.microsoft.com/office/drawing/2014/main" id="{B3667539-4B69-4E0D-8ACC-07ABD9E6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BFC60E13-4DF8-4872-A33F-D4AFD4B2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Consistent evidence principles can coexist with clear entity ownership, permissions, and record boundaries.</a:t>
            </a:r>
          </a:p>
        </p:txBody>
      </p:sp>
    </p:spTree>
    <p:extLst>
      <p:ext uri="{BB962C8B-B14F-4D97-AF65-F5344CB8AC3E}">
        <p14:creationId xmlns:p14="http://schemas.microsoft.com/office/powerpoint/2010/main" val="7971023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30d52a7674a3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524D38-E87C-4648-AE88-08DD2BF3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6F727135-39F8-49B8-8E59-BB29C3F8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E8BE61C-340B-4076-865E-B3A8DCF2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06297A54-9336-4B33-8F98-6565AC11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DD1DB5-0307-49CD-8351-8136C447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Trusted records create institutional memory at every level</a:t>
            </a:r>
          </a:p>
        </p:txBody>
      </p:sp>
      <p:sp>
        <p:nvSpPr>
          <p:cNvPr id="7" name="tile-1">
            <a:extLst xmlns:a="http://schemas.openxmlformats.org/drawingml/2006/main">
              <a:ext uri="{FF2B5EF4-FFF2-40B4-BE49-F238E27FC236}">
                <a16:creationId xmlns:a16="http://schemas.microsoft.com/office/drawing/2014/main" id="{BD48D6AE-F3E7-4686-B294-7E5D40B2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tile-title-1">
            <a:extLst xmlns:a="http://schemas.openxmlformats.org/drawingml/2006/main">
              <a:ext uri="{FF2B5EF4-FFF2-40B4-BE49-F238E27FC236}">
                <a16:creationId xmlns:a16="http://schemas.microsoft.com/office/drawing/2014/main" id="{104AA5A7-A6EB-495F-A367-C8643948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Entity records</a:t>
            </a:r>
          </a:p>
        </p:txBody>
      </p:sp>
      <p:sp>
        <p:nvSpPr>
          <p:cNvPr id="9" name="tile-body-1">
            <a:extLst xmlns:a="http://schemas.openxmlformats.org/drawingml/2006/main">
              <a:ext uri="{FF2B5EF4-FFF2-40B4-BE49-F238E27FC236}">
                <a16:creationId xmlns:a16="http://schemas.microsoft.com/office/drawing/2014/main" id="{9D4B4BF1-F24F-4A59-A5DC-A870ADC8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Preserve the context of local decisions and services.</a:t>
            </a:r>
          </a:p>
        </p:txBody>
      </p:sp>
      <p:sp>
        <p:nvSpPr>
          <p:cNvPr id="10" name="tile-2">
            <a:extLst xmlns:a="http://schemas.openxmlformats.org/drawingml/2006/main">
              <a:ext uri="{FF2B5EF4-FFF2-40B4-BE49-F238E27FC236}">
                <a16:creationId xmlns:a16="http://schemas.microsoft.com/office/drawing/2014/main" id="{B562DB0D-A14D-47D4-8FC1-706758C3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tile-title-2">
            <a:extLst xmlns:a="http://schemas.openxmlformats.org/drawingml/2006/main">
              <a:ext uri="{FF2B5EF4-FFF2-40B4-BE49-F238E27FC236}">
                <a16:creationId xmlns:a16="http://schemas.microsoft.com/office/drawing/2014/main" id="{3BD17DA4-3767-40C7-9D61-53911FF2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Shared standards</a:t>
            </a:r>
          </a:p>
        </p:txBody>
      </p:sp>
      <p:sp>
        <p:nvSpPr>
          <p:cNvPr id="12" name="tile-body-2">
            <a:extLst xmlns:a="http://schemas.openxmlformats.org/drawingml/2006/main">
              <a:ext uri="{FF2B5EF4-FFF2-40B4-BE49-F238E27FC236}">
                <a16:creationId xmlns:a16="http://schemas.microsoft.com/office/drawing/2014/main" id="{3715F0E6-3E48-45C4-B484-86CDF246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Make execution more consistent and verifiable.</a:t>
            </a:r>
          </a:p>
        </p:txBody>
      </p:sp>
      <p:sp>
        <p:nvSpPr>
          <p:cNvPr id="13" name="tile-3">
            <a:extLst xmlns:a="http://schemas.openxmlformats.org/drawingml/2006/main">
              <a:ext uri="{FF2B5EF4-FFF2-40B4-BE49-F238E27FC236}">
                <a16:creationId xmlns:a16="http://schemas.microsoft.com/office/drawing/2014/main" id="{071FA965-EB99-454B-A8A0-99631919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tile-title-3">
            <a:extLst xmlns:a="http://schemas.openxmlformats.org/drawingml/2006/main">
              <a:ext uri="{FF2B5EF4-FFF2-40B4-BE49-F238E27FC236}">
                <a16:creationId xmlns:a16="http://schemas.microsoft.com/office/drawing/2014/main" id="{2CB44FE5-819D-44AE-9927-FF3E9F4E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Governed knowledge</a:t>
            </a:r>
          </a:p>
        </p:txBody>
      </p:sp>
      <p:sp>
        <p:nvSpPr>
          <p:cNvPr id="15" name="tile-body-3">
            <a:extLst xmlns:a="http://schemas.openxmlformats.org/drawingml/2006/main">
              <a:ext uri="{FF2B5EF4-FFF2-40B4-BE49-F238E27FC236}">
                <a16:creationId xmlns:a16="http://schemas.microsoft.com/office/drawing/2014/main" id="{7C4094C7-B69E-4C4C-94A5-21932854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Support learning where policy and classification allow it.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8471B53C-6096-4AEE-90A8-957484B5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17E09E7B-DE16-4EDA-BA07-93234EFF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Shared infrastructure does not require unrestricted cross-entity data access.</a:t>
            </a:r>
          </a:p>
        </p:txBody>
      </p:sp>
    </p:spTree>
    <p:extLst>
      <p:ext uri="{BB962C8B-B14F-4D97-AF65-F5344CB8AC3E}">
        <p14:creationId xmlns:p14="http://schemas.microsoft.com/office/powerpoint/2010/main" val="13079627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9e1e08516433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0A010E-C264-42CB-B558-44A403E5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EAF5E79C-2D3F-4632-9C13-62D85BFF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79B236DF-F48F-4804-8D18-9BBC4820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C378A7B1-A172-4D35-93EB-884223BE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982E5C-EA3F-4544-A362-6562D3CC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Agentic government requires governed, programmable execution</a:t>
            </a:r>
          </a:p>
        </p:txBody>
      </p:sp>
      <p:sp>
        <p:nvSpPr>
          <p:cNvPr id="7" name="band-1">
            <a:extLst xmlns:a="http://schemas.openxmlformats.org/drawingml/2006/main">
              <a:ext uri="{FF2B5EF4-FFF2-40B4-BE49-F238E27FC236}">
                <a16:creationId xmlns:a16="http://schemas.microsoft.com/office/drawing/2014/main" id="{7E71AA15-5D8E-481D-B4D9-AE9F5A12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1277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band-label-1">
            <a:extLst xmlns:a="http://schemas.openxmlformats.org/drawingml/2006/main">
              <a:ext uri="{FF2B5EF4-FFF2-40B4-BE49-F238E27FC236}">
                <a16:creationId xmlns:a16="http://schemas.microsoft.com/office/drawing/2014/main" id="{F9E266DE-00C5-41E3-8A6A-CC6B5934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ACTORS + CHANNELS</a:t>
            </a:r>
          </a:p>
        </p:txBody>
      </p:sp>
      <p:sp>
        <p:nvSpPr>
          <p:cNvPr id="9" name="band-text-1">
            <a:extLst xmlns:a="http://schemas.openxmlformats.org/drawingml/2006/main">
              <a:ext uri="{FF2B5EF4-FFF2-40B4-BE49-F238E27FC236}">
                <a16:creationId xmlns:a16="http://schemas.microsoft.com/office/drawing/2014/main" id="{31B985BC-6488-47B3-AE6E-2BDED2D1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336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Portals · Mobile services · Ministry systems · Shared platforms · Approved AI agents</a:t>
            </a:r>
          </a:p>
        </p:txBody>
      </p:sp>
      <p:sp>
        <p:nvSpPr>
          <p:cNvPr id="10" name="band-2">
            <a:extLst xmlns:a="http://schemas.openxmlformats.org/drawingml/2006/main">
              <a:ext uri="{FF2B5EF4-FFF2-40B4-BE49-F238E27FC236}">
                <a16:creationId xmlns:a16="http://schemas.microsoft.com/office/drawing/2014/main" id="{C60A8690-2EA2-42FD-A9ED-795441CD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11277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1" name="band-label-2">
            <a:extLst xmlns:a="http://schemas.openxmlformats.org/drawingml/2006/main">
              <a:ext uri="{FF2B5EF4-FFF2-40B4-BE49-F238E27FC236}">
                <a16:creationId xmlns:a16="http://schemas.microsoft.com/office/drawing/2014/main" id="{376AD982-34CC-4BD6-BB01-4ADF2AB6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AUTHORITY BOUNDARY</a:t>
            </a:r>
          </a:p>
        </p:txBody>
      </p:sp>
      <p:sp>
        <p:nvSpPr>
          <p:cNvPr id="12" name="band-text-2">
            <a:extLst xmlns:a="http://schemas.openxmlformats.org/drawingml/2006/main">
              <a:ext uri="{FF2B5EF4-FFF2-40B4-BE49-F238E27FC236}">
                <a16:creationId xmlns:a16="http://schemas.microsoft.com/office/drawing/2014/main" id="{A05BFA0E-631B-4A0F-8E51-006912E0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· Delegated authority · Policy · Approval</a:t>
            </a:r>
          </a:p>
        </p:txBody>
      </p:sp>
      <p:sp>
        <p:nvSpPr>
          <p:cNvPr id="13" name="band-3">
            <a:extLst xmlns:a="http://schemas.openxmlformats.org/drawingml/2006/main">
              <a:ext uri="{FF2B5EF4-FFF2-40B4-BE49-F238E27FC236}">
                <a16:creationId xmlns:a16="http://schemas.microsoft.com/office/drawing/2014/main" id="{650A5A65-11D5-42FF-98F0-5A2C5A64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77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band-label-3">
            <a:extLst xmlns:a="http://schemas.openxmlformats.org/drawingml/2006/main">
              <a:ext uri="{FF2B5EF4-FFF2-40B4-BE49-F238E27FC236}">
                <a16:creationId xmlns:a16="http://schemas.microsoft.com/office/drawing/2014/main" id="{8A9659C0-1073-412F-BB02-9D6E7D3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EXECUTION RECORD</a:t>
            </a:r>
          </a:p>
        </p:txBody>
      </p:sp>
      <p:sp>
        <p:nvSpPr>
          <p:cNvPr id="15" name="band-text-3">
            <a:extLst xmlns:a="http://schemas.openxmlformats.org/drawingml/2006/main">
              <a:ext uri="{FF2B5EF4-FFF2-40B4-BE49-F238E27FC236}">
                <a16:creationId xmlns:a16="http://schemas.microsoft.com/office/drawing/2014/main" id="{C2D3E920-26E1-45F6-BBDB-DA044D1B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Governed APIs · Execution · Evidence · Audit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AECDE2A0-805B-4BFE-B32C-550A56B9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6B1A90F9-2868-473E-8874-91965CA1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 may prepare or initiate an action. Public authority still determines what may execute.</a:t>
            </a:r>
          </a:p>
        </p:txBody>
      </p:sp>
    </p:spTree>
    <p:extLst>
      <p:ext uri="{BB962C8B-B14F-4D97-AF65-F5344CB8AC3E}">
        <p14:creationId xmlns:p14="http://schemas.microsoft.com/office/powerpoint/2010/main" val="10930829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3faab6238495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57CB63-A52F-48EF-880E-5063A404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D9651B9-D97D-4C01-ADFE-9EC62B04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937DF89-BF1F-4757-BBF9-84E40448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C0BF8D6F-BAD9-403F-93E4-C9EE66B8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F16EAE-A77E-4D29-BE04-F69E3465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Sovereignty and shared governance must be designed together</a:t>
            </a:r>
          </a:p>
        </p:txBody>
      </p:sp>
      <p:sp>
        <p:nvSpPr>
          <p:cNvPr id="7" name="tile-1">
            <a:extLst xmlns:a="http://schemas.openxmlformats.org/drawingml/2006/main">
              <a:ext uri="{FF2B5EF4-FFF2-40B4-BE49-F238E27FC236}">
                <a16:creationId xmlns:a16="http://schemas.microsoft.com/office/drawing/2014/main" id="{256EC4A4-71E5-44E4-B07E-EF6E5D99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tile-title-1">
            <a:extLst xmlns:a="http://schemas.openxmlformats.org/drawingml/2006/main">
              <a:ext uri="{FF2B5EF4-FFF2-40B4-BE49-F238E27FC236}">
                <a16:creationId xmlns:a16="http://schemas.microsoft.com/office/drawing/2014/main" id="{B82646E1-76F9-41A5-B4AE-18ADBE90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Ownership</a:t>
            </a:r>
          </a:p>
        </p:txBody>
      </p:sp>
      <p:sp>
        <p:nvSpPr>
          <p:cNvPr id="9" name="tile-body-1">
            <a:extLst xmlns:a="http://schemas.openxmlformats.org/drawingml/2006/main">
              <a:ext uri="{FF2B5EF4-FFF2-40B4-BE49-F238E27FC236}">
                <a16:creationId xmlns:a16="http://schemas.microsoft.com/office/drawing/2014/main" id="{49DD78BB-1ADF-4040-B50E-C06D64E7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Platform · Funding · Service management</a:t>
            </a:r>
          </a:p>
        </p:txBody>
      </p:sp>
      <p:sp>
        <p:nvSpPr>
          <p:cNvPr id="10" name="tile-2">
            <a:extLst xmlns:a="http://schemas.openxmlformats.org/drawingml/2006/main">
              <a:ext uri="{FF2B5EF4-FFF2-40B4-BE49-F238E27FC236}">
                <a16:creationId xmlns:a16="http://schemas.microsoft.com/office/drawing/2014/main" id="{4586E2B7-F59D-4946-8F8C-8B8DC1F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tile-title-2">
            <a:extLst xmlns:a="http://schemas.openxmlformats.org/drawingml/2006/main">
              <a:ext uri="{FF2B5EF4-FFF2-40B4-BE49-F238E27FC236}">
                <a16:creationId xmlns:a16="http://schemas.microsoft.com/office/drawing/2014/main" id="{0105C691-BF9F-4546-AC99-0A9ECB1E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Control</a:t>
            </a:r>
          </a:p>
        </p:txBody>
      </p:sp>
      <p:sp>
        <p:nvSpPr>
          <p:cNvPr id="12" name="tile-body-2">
            <a:extLst xmlns:a="http://schemas.openxmlformats.org/drawingml/2006/main">
              <a:ext uri="{FF2B5EF4-FFF2-40B4-BE49-F238E27FC236}">
                <a16:creationId xmlns:a16="http://schemas.microsoft.com/office/drawing/2014/main" id="{521135E7-3B48-4F09-A8C7-0DC610E4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Infrastructure · Data · Identity · Keys</a:t>
            </a:r>
          </a:p>
        </p:txBody>
      </p:sp>
      <p:sp>
        <p:nvSpPr>
          <p:cNvPr id="13" name="tile-3">
            <a:extLst xmlns:a="http://schemas.openxmlformats.org/drawingml/2006/main">
              <a:ext uri="{FF2B5EF4-FFF2-40B4-BE49-F238E27FC236}">
                <a16:creationId xmlns:a16="http://schemas.microsoft.com/office/drawing/2014/main" id="{E63BCF7F-8A7E-4D68-BC76-9B6356EF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tile-title-3">
            <a:extLst xmlns:a="http://schemas.openxmlformats.org/drawingml/2006/main">
              <a:ext uri="{FF2B5EF4-FFF2-40B4-BE49-F238E27FC236}">
                <a16:creationId xmlns:a16="http://schemas.microsoft.com/office/drawing/2014/main" id="{C951B322-E580-43DE-B951-14BE3800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Entities</a:t>
            </a:r>
          </a:p>
        </p:txBody>
      </p:sp>
      <p:sp>
        <p:nvSpPr>
          <p:cNvPr id="15" name="tile-body-3">
            <a:extLst xmlns:a="http://schemas.openxmlformats.org/drawingml/2006/main">
              <a:ext uri="{FF2B5EF4-FFF2-40B4-BE49-F238E27FC236}">
                <a16:creationId xmlns:a16="http://schemas.microsoft.com/office/drawing/2014/main" id="{F972836E-16A1-464C-A9CE-741EB2C2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Tenancy · Policy · Evidence · Onboarding</a:t>
            </a:r>
          </a:p>
        </p:txBody>
      </p:sp>
      <p:sp>
        <p:nvSpPr>
          <p:cNvPr id="16" name="tile-4">
            <a:extLst xmlns:a="http://schemas.openxmlformats.org/drawingml/2006/main">
              <a:ext uri="{FF2B5EF4-FFF2-40B4-BE49-F238E27FC236}">
                <a16:creationId xmlns:a16="http://schemas.microsoft.com/office/drawing/2014/main" id="{A8724E57-6936-4EB6-A733-FEDB9C69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tile-title-4">
            <a:extLst xmlns:a="http://schemas.openxmlformats.org/drawingml/2006/main">
              <a:ext uri="{FF2B5EF4-FFF2-40B4-BE49-F238E27FC236}">
                <a16:creationId xmlns:a16="http://schemas.microsoft.com/office/drawing/2014/main" id="{C79C6FEE-353C-47A6-869F-063700BD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Operations</a:t>
            </a:r>
          </a:p>
        </p:txBody>
      </p:sp>
      <p:sp>
        <p:nvSpPr>
          <p:cNvPr id="18" name="tile-body-4">
            <a:extLst xmlns:a="http://schemas.openxmlformats.org/drawingml/2006/main">
              <a:ext uri="{FF2B5EF4-FFF2-40B4-BE49-F238E27FC236}">
                <a16:creationId xmlns:a16="http://schemas.microsoft.com/office/drawing/2014/main" id="{36062CF3-CEB7-4191-A4C5-45F3C722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Security · Support · Continuity · Lifecycle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2BB2FBB4-3C49-41F4-95CC-22AAC741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F299387A-A80B-4CD6-A0DF-F7A330D1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architecture can be national from the beginning without requiring every entity to migrate at once.</a:t>
            </a:r>
          </a:p>
        </p:txBody>
      </p:sp>
    </p:spTree>
    <p:extLst>
      <p:ext uri="{BB962C8B-B14F-4D97-AF65-F5344CB8AC3E}">
        <p14:creationId xmlns:p14="http://schemas.microsoft.com/office/powerpoint/2010/main" val="11211803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a17f0b7224a5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869C8B-4BC3-4A1C-85CC-A69019F7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C31A322-DD8D-4253-B8C3-15E78052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273CEFA4-4636-491A-BF58-218D2783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6B6ABDC4-8563-4A71-B458-38C4F7BE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88B5F0FC-A523-48A4-ABAD-4E5497CE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NEXT STEP</a:t>
            </a:r>
          </a:p>
        </p:txBody>
      </p:sp>
      <p:sp>
        <p:nvSpPr>
          <p:cNvPr id="7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C23B9E3-FB7B-4E03-AFB5-1EDF782B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009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Define the shared trust architecture</a:t>
            </a:r>
          </a:p>
        </p:txBody>
      </p:sp>
      <p:sp>
        <p:nvSpPr>
          <p:cNvPr id="8" name="close-body">
            <a:extLst xmlns:a="http://schemas.openxmlformats.org/drawingml/2006/main">
              <a:ext uri="{FF2B5EF4-FFF2-40B4-BE49-F238E27FC236}">
                <a16:creationId xmlns:a16="http://schemas.microsoft.com/office/drawing/2014/main" id="{B2E399EA-D34C-4784-A2B2-297D834B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Begin with common capabilities that remove duplication, strengthen accountability, and can be proven across more than one entity.</a:t>
            </a:r>
          </a:p>
        </p:txBody>
      </p:sp>
      <p:sp>
        <p:nvSpPr>
          <p:cNvPr id="9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76EDFB98-7ED9-4078-8EC0-ABB0FCF4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066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action-text">
            <a:extLst xmlns:a="http://schemas.openxmlformats.org/drawingml/2006/main">
              <a:ext uri="{FF2B5EF4-FFF2-40B4-BE49-F238E27FC236}">
                <a16:creationId xmlns:a16="http://schemas.microsoft.com/office/drawing/2014/main" id="{55374CAD-F1DE-4ACF-AE64-565CA218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Discovery → Stakeholder alignment → Blueprint → Initial services → Multi-entity pilot</a:t>
            </a:r>
          </a:p>
        </p:txBody>
      </p:sp>
    </p:spTree>
    <p:extLst>
      <p:ext uri="{BB962C8B-B14F-4D97-AF65-F5344CB8AC3E}">
        <p14:creationId xmlns:p14="http://schemas.microsoft.com/office/powerpoint/2010/main" val="1131958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2026-08-28T12:18:54.3820000Z</dcterms:created>
  <dcterms:modified xsi:type="dcterms:W3CDTF">2026-08-28T12:18:54.3820000Z</dcterms:modified>
</coreProperties>
</file>