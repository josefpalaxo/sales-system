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cc748afa640c0" /><Relationship Type="http://schemas.openxmlformats.org/officeDocument/2006/relationships/extended-properties" Target="/docProps/app.xml" Id="Rf4443e7d1e28454d" /><Relationship Type="http://schemas.openxmlformats.org/officeDocument/2006/relationships/officeDocument" Target="/ppt/presentation.xml" Id="R1fc48ec3732247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ec7d4c82549d7"/>
  </p:sldMasterIdLst>
  <p:notesMasterIdLst>
    <p:notesMasterId xmlns:r="http://schemas.openxmlformats.org/officeDocument/2006/relationships" r:id="R6fc7a10355d14adb"/>
  </p:notesMasterIdLst>
  <p:sldIdLst>
    <p:sldId xmlns:r="http://schemas.openxmlformats.org/officeDocument/2006/relationships" id="256" r:id="R0bdb34ac0c864f34"/>
    <p:sldId xmlns:r="http://schemas.openxmlformats.org/officeDocument/2006/relationships" id="257" r:id="R4f3768c3a1c84d73"/>
    <p:sldId xmlns:r="http://schemas.openxmlformats.org/officeDocument/2006/relationships" id="258" r:id="R87592e930d5b4f65"/>
    <p:sldId xmlns:r="http://schemas.openxmlformats.org/officeDocument/2006/relationships" id="259" r:id="Rcfb7b676eb114fab"/>
    <p:sldId xmlns:r="http://schemas.openxmlformats.org/officeDocument/2006/relationships" id="260" r:id="Rf59595a2adf24b67"/>
    <p:sldId xmlns:r="http://schemas.openxmlformats.org/officeDocument/2006/relationships" id="261" r:id="Rc88926ddeca7427e"/>
    <p:sldId xmlns:r="http://schemas.openxmlformats.org/officeDocument/2006/relationships" id="262" r:id="R0319ead8a6a8406f"/>
    <p:sldId xmlns:r="http://schemas.openxmlformats.org/officeDocument/2006/relationships" id="263" r:id="Rbe10b73b1fee4643"/>
    <p:sldId xmlns:r="http://schemas.openxmlformats.org/officeDocument/2006/relationships" id="264" r:id="R800b8ee2cb4a4566"/>
    <p:sldId xmlns:r="http://schemas.openxmlformats.org/officeDocument/2006/relationships" id="265" r:id="R035a924d08af41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6b34f6accd42d8" /><Relationship Type="http://schemas.openxmlformats.org/officeDocument/2006/relationships/slideMaster" Target="/ppt/slideMasters/slideMaster1.xml" Id="Ra55ec7d4c82549d7" /><Relationship Type="http://schemas.openxmlformats.org/officeDocument/2006/relationships/notesMaster" Target="/ppt/notesMasters/notesMaster1.xml" Id="R6fc7a10355d14adb" /><Relationship Type="http://schemas.openxmlformats.org/officeDocument/2006/relationships/presProps" Target="/ppt/presProps.xml" Id="R267b11dfb57e43bc" /><Relationship Type="http://schemas.openxmlformats.org/officeDocument/2006/relationships/tableStyles" Target="/ppt/tableStyles.xml" Id="R88c1c219a12a4880" /><Relationship Type="http://schemas.openxmlformats.org/officeDocument/2006/relationships/slide" Target="/ppt/slides/slide1.xml" Id="R0bdb34ac0c864f34" /><Relationship Type="http://schemas.openxmlformats.org/officeDocument/2006/relationships/slide" Target="/ppt/slides/slide2.xml" Id="R4f3768c3a1c84d73" /><Relationship Type="http://schemas.openxmlformats.org/officeDocument/2006/relationships/slide" Target="/ppt/slides/slide3.xml" Id="R87592e930d5b4f65" /><Relationship Type="http://schemas.openxmlformats.org/officeDocument/2006/relationships/slide" Target="/ppt/slides/slide4.xml" Id="Rcfb7b676eb114fab" /><Relationship Type="http://schemas.openxmlformats.org/officeDocument/2006/relationships/slide" Target="/ppt/slides/slide5.xml" Id="Rf59595a2adf24b67" /><Relationship Type="http://schemas.openxmlformats.org/officeDocument/2006/relationships/slide" Target="/ppt/slides/slide6.xml" Id="Rc88926ddeca7427e" /><Relationship Type="http://schemas.openxmlformats.org/officeDocument/2006/relationships/slide" Target="/ppt/slides/slide7.xml" Id="R0319ead8a6a8406f" /><Relationship Type="http://schemas.openxmlformats.org/officeDocument/2006/relationships/slide" Target="/ppt/slides/slide8.xml" Id="Rbe10b73b1fee4643" /><Relationship Type="http://schemas.openxmlformats.org/officeDocument/2006/relationships/slide" Target="/ppt/slides/slide9.xml" Id="R800b8ee2cb4a4566" /><Relationship Type="http://schemas.openxmlformats.org/officeDocument/2006/relationships/slide" Target="/ppt/slides/slide10.xml" Id="R035a924d08af41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b1612a77f0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18cc5fc984c2d" /><Relationship Type="http://schemas.openxmlformats.org/officeDocument/2006/relationships/notesMaster" Target="/ppt/notesMasters/notesMaster1.xml" Id="R4e5b2cd0cd8c47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cdd9d60dd544e1" /><Relationship Type="http://schemas.openxmlformats.org/officeDocument/2006/relationships/notesMaster" Target="/ppt/notesMasters/notesMaster1.xml" Id="Rea9163d039cb40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80877ac4ee47d5" /><Relationship Type="http://schemas.openxmlformats.org/officeDocument/2006/relationships/notesMaster" Target="/ppt/notesMasters/notesMaster1.xml" Id="R462ff082a7a7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c32320913341d9" /><Relationship Type="http://schemas.openxmlformats.org/officeDocument/2006/relationships/notesMaster" Target="/ppt/notesMasters/notesMaster1.xml" Id="R18578fe9f42d4f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8c5db5ef03450e" /><Relationship Type="http://schemas.openxmlformats.org/officeDocument/2006/relationships/notesMaster" Target="/ppt/notesMasters/notesMaster1.xml" Id="R01b363bfecbe4a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f9afb9be524ea2" /><Relationship Type="http://schemas.openxmlformats.org/officeDocument/2006/relationships/notesMaster" Target="/ppt/notesMasters/notesMaster1.xml" Id="R5b30c0d3280e49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31dc55bd6148b1" /><Relationship Type="http://schemas.openxmlformats.org/officeDocument/2006/relationships/notesMaster" Target="/ppt/notesMasters/notesMaster1.xml" Id="R481594c8258745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414529d68a4ae5" /><Relationship Type="http://schemas.openxmlformats.org/officeDocument/2006/relationships/notesMaster" Target="/ppt/notesMasters/notesMaster1.xml" Id="R811a4bb51c5b42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50e59eff9542cb" /><Relationship Type="http://schemas.openxmlformats.org/officeDocument/2006/relationships/notesMaster" Target="/ppt/notesMasters/notesMaster1.xml" Id="R1413df6d1f784f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ac11f3eb854a9f" /><Relationship Type="http://schemas.openxmlformats.org/officeDocument/2006/relationships/notesMaster" Target="/ppt/notesMasters/notesMaster1.xml" Id="R11e822cab459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  <a:p xmlns:a="http://schemas.openxmlformats.org/drawingml/2006/main">
            <a:r>
              <a:t>- Illustrative values created for the specimen; not business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/Users/josefneumann/Projects/ai-workspace/html-design-system/docs/circularo-design/Circularo Design System Master Specification.md</a:t>
            </a:r>
          </a:p>
          <a:p xmlns:a="http://schemas.openxmlformats.org/drawingml/2006/main">
            <a:r>
              <a:t>- /Users/josefneumann/Projects/ai-workspace/html-design-system/docs/circularo-design/Circularo Brand Compliance.md</a:t>
            </a:r>
          </a:p>
          <a:p xmlns:a="http://schemas.openxmlformats.org/drawingml/2006/main">
            <a:r>
              <a:t>- /Users/josefneumann/Projects/ai-workspace/html-design-system/docs/circularo-design/Typography Specification for Circularo Presentations.md</a:t>
            </a:r>
          </a:p>
          <a:p xmlns:a="http://schemas.openxmlformats.org/drawingml/2006/main">
            <a:r>
              <a:t>- /Users/josefneumann/Projects/ai-workspace/html-design-system/docs/circularo-design/Circularo Google Slides Presentation Specification.md</a:t>
            </a:r>
          </a:p>
          <a:p xmlns:a="http://schemas.openxmlformats.org/drawingml/2006/main">
            <a:r>
              <a:t>- /Users/josefneumann/Projects/ai-workspace/html-design-system/theme/circularo-theme.css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14f535c4240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ec8272c4b34b65" /><Relationship Type="http://schemas.openxmlformats.org/officeDocument/2006/relationships/slideLayout" Target="/ppt/slideLayouts/slideLayout1.xml" Id="Ra6e1133a7ac344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e1133a7ac3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183b642564cf0" /><Relationship Type="http://schemas.openxmlformats.org/officeDocument/2006/relationships/image" Target="/ppt/media/image.png" Id="R204cc46b2e214bff" /><Relationship Type="http://schemas.openxmlformats.org/officeDocument/2006/relationships/notesSlide" Target="/ppt/notesSlides/notesSlide1.xml" Id="Re8850a2bda2641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07354966a4a6a" /><Relationship Type="http://schemas.openxmlformats.org/officeDocument/2006/relationships/image" Target="/ppt/media/image2.png" Id="R9e134b4c97ef423d" /><Relationship Type="http://schemas.openxmlformats.org/officeDocument/2006/relationships/notesSlide" Target="/ppt/notesSlides/notesSlide2.xml" Id="Rf3cef781345645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0517c373d4ecb" /><Relationship Type="http://schemas.openxmlformats.org/officeDocument/2006/relationships/image" Target="/ppt/media/image3.png" Id="Ra2f69393c3c6426d" /><Relationship Type="http://schemas.openxmlformats.org/officeDocument/2006/relationships/notesSlide" Target="/ppt/notesSlides/notesSlide3.xml" Id="Rcc3591cede1f45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ccf7dba3a4ea0" /><Relationship Type="http://schemas.openxmlformats.org/officeDocument/2006/relationships/image" Target="/ppt/media/image4.png" Id="R219411dbe4f64f8d" /><Relationship Type="http://schemas.openxmlformats.org/officeDocument/2006/relationships/notesSlide" Target="/ppt/notesSlides/notesSlide4.xml" Id="Rf1e5e272fed54d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40d3ef59c4d60" /><Relationship Type="http://schemas.openxmlformats.org/officeDocument/2006/relationships/image" Target="/ppt/media/image5.png" Id="Rf59b034c6c59415e" /><Relationship Type="http://schemas.openxmlformats.org/officeDocument/2006/relationships/notesSlide" Target="/ppt/notesSlides/notesSlide5.xml" Id="R672d36b8114c49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54c43be444f4d" /><Relationship Type="http://schemas.openxmlformats.org/officeDocument/2006/relationships/image" Target="/ppt/media/image6.png" Id="R5db7526893a84011" /><Relationship Type="http://schemas.openxmlformats.org/officeDocument/2006/relationships/notesSlide" Target="/ppt/notesSlides/notesSlide6.xml" Id="R3eaec3f4d03047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72a7e37e747bf" /><Relationship Type="http://schemas.openxmlformats.org/officeDocument/2006/relationships/image" Target="/ppt/media/image7.png" Id="Ra78674af9bec4435" /><Relationship Type="http://schemas.openxmlformats.org/officeDocument/2006/relationships/notesSlide" Target="/ppt/notesSlides/notesSlide7.xml" Id="Rb97a9c366dec42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c530aec340ab" /><Relationship Type="http://schemas.openxmlformats.org/officeDocument/2006/relationships/image" Target="/ppt/media/image8.png" Id="Rc738eabfc72d48b1" /><Relationship Type="http://schemas.openxmlformats.org/officeDocument/2006/relationships/notesSlide" Target="/ppt/notesSlides/notesSlide8.xml" Id="Rb479fa07bf4d49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78885ed784f6c" /><Relationship Type="http://schemas.openxmlformats.org/officeDocument/2006/relationships/image" Target="/ppt/media/image9.png" Id="R774aa8622ce74b67" /><Relationship Type="http://schemas.openxmlformats.org/officeDocument/2006/relationships/notesSlide" Target="/ppt/notesSlides/notesSlide9.xml" Id="R7bdb2de547bd4f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e927b539848bf" /><Relationship Type="http://schemas.openxmlformats.org/officeDocument/2006/relationships/image" Target="/ppt/media/image10.png" Id="Re03569d7e684471b" /><Relationship Type="http://schemas.openxmlformats.org/officeDocument/2006/relationships/notesSlide" Target="/ppt/notesSlides/notesSlide10.xml" Id="Re0956d837a4c46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brand-field">
            <a:extLst xmlns:a="http://schemas.openxmlformats.org/drawingml/2006/main">
              <a:ext uri="{FF2B5EF4-FFF2-40B4-BE49-F238E27FC236}">
                <a16:creationId xmlns:a16="http://schemas.microsoft.com/office/drawing/2014/main" id="{3414C991-9D0E-405F-9A9E-13F0A07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dark-field">
            <a:extLst xmlns:a="http://schemas.openxmlformats.org/drawingml/2006/main">
              <a:ext uri="{FF2B5EF4-FFF2-40B4-BE49-F238E27FC236}">
                <a16:creationId xmlns:a16="http://schemas.microsoft.com/office/drawing/2014/main" id="{F58B889C-EFC6-409C-87D3-AF4A451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64E1A70-78D8-4E95-B72A-639B5491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slide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design system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2174F8-B06D-4E6A-BA2B-5DC592FE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 reusable system for clear, trusted, enterprise presentations.</a:t>
            </a:r>
          </a:p>
        </p:txBody>
      </p:sp>
      <p:sp>
        <p:nvSpPr>
          <p:cNvPr id="5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B4C745AE-C0B7-439F-BD5A-C3645120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WIP · INTERNAL USE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cc46b2e214bf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92C523-46F8-400F-B44F-CA09103F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4713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5B2406-0F3B-444A-8BA4-29F1CB2E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identity. Two typefaces. Three core colors.</a:t>
            </a:r>
          </a:p>
        </p:txBody>
      </p:sp>
      <p:sp>
        <p:nvSpPr>
          <p:cNvPr id="2" name="foundation-copy">
            <a:extLst xmlns:a="http://schemas.openxmlformats.org/drawingml/2006/main">
              <a:ext uri="{FF2B5EF4-FFF2-40B4-BE49-F238E27FC236}">
                <a16:creationId xmlns:a16="http://schemas.microsoft.com/office/drawing/2014/main" id="{5F9C525E-3803-421F-9BCE-7D7A00EF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system is deliberately narrow: Spartan creates authority, Mulish carries information, and the palette keeps every slide recognizably Circularo.</a:t>
            </a:r>
          </a:p>
        </p:txBody>
      </p:sp>
      <p:sp>
        <p:nvSpPr>
          <p:cNvPr id="3" name="swatch-1">
            <a:extLst xmlns:a="http://schemas.openxmlformats.org/drawingml/2006/main">
              <a:ext uri="{FF2B5EF4-FFF2-40B4-BE49-F238E27FC236}">
                <a16:creationId xmlns:a16="http://schemas.microsoft.com/office/drawing/2014/main" id="{F5506BFB-D867-4E2B-8B83-9D680B00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714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watch-label-1">
            <a:extLst xmlns:a="http://schemas.openxmlformats.org/drawingml/2006/main">
              <a:ext uri="{FF2B5EF4-FFF2-40B4-BE49-F238E27FC236}">
                <a16:creationId xmlns:a16="http://schemas.microsoft.com/office/drawing/2014/main" id="{E25A5D1D-CF4F-4414-80C7-7FC279C0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Purple</a:t>
            </a:r>
          </a:p>
        </p:txBody>
      </p:sp>
      <p:sp>
        <p:nvSpPr>
          <p:cNvPr id="5" name="swatch-value-1">
            <a:extLst xmlns:a="http://schemas.openxmlformats.org/drawingml/2006/main">
              <a:ext uri="{FF2B5EF4-FFF2-40B4-BE49-F238E27FC236}">
                <a16:creationId xmlns:a16="http://schemas.microsoft.com/office/drawing/2014/main" id="{EAB5F656-0117-4CD7-99F2-1874E4EA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#7000FF</a:t>
            </a:r>
          </a:p>
        </p:txBody>
      </p:sp>
      <p:sp>
        <p:nvSpPr>
          <p:cNvPr id="6" name="swatch-2">
            <a:extLst xmlns:a="http://schemas.openxmlformats.org/drawingml/2006/main">
              <a:ext uri="{FF2B5EF4-FFF2-40B4-BE49-F238E27FC236}">
                <a16:creationId xmlns:a16="http://schemas.microsoft.com/office/drawing/2014/main" id="{BFD040F3-3514-4552-87EF-04543301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76600"/>
            <a:ext cx="1714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watch-label-2">
            <a:extLst xmlns:a="http://schemas.openxmlformats.org/drawingml/2006/main">
              <a:ext uri="{FF2B5EF4-FFF2-40B4-BE49-F238E27FC236}">
                <a16:creationId xmlns:a16="http://schemas.microsoft.com/office/drawing/2014/main" id="{F854784B-469B-446B-ABC5-7E5A51F6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29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Dark blue</a:t>
            </a:r>
          </a:p>
        </p:txBody>
      </p:sp>
      <p:sp>
        <p:nvSpPr>
          <p:cNvPr id="8" name="swatch-value-2">
            <a:extLst xmlns:a="http://schemas.openxmlformats.org/drawingml/2006/main">
              <a:ext uri="{FF2B5EF4-FFF2-40B4-BE49-F238E27FC236}">
                <a16:creationId xmlns:a16="http://schemas.microsoft.com/office/drawing/2014/main" id="{6CDDD78F-18CD-4DEE-9EEF-CA616D8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#1D0090</a:t>
            </a:r>
          </a:p>
        </p:txBody>
      </p:sp>
      <p:sp>
        <p:nvSpPr>
          <p:cNvPr id="9" name="swatch-3">
            <a:extLst xmlns:a="http://schemas.openxmlformats.org/drawingml/2006/main">
              <a:ext uri="{FF2B5EF4-FFF2-40B4-BE49-F238E27FC236}">
                <a16:creationId xmlns:a16="http://schemas.microsoft.com/office/drawing/2014/main" id="{727CC6F0-63E1-4DBD-B3A7-44D33D0F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1714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3D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watch-label-3">
            <a:extLst xmlns:a="http://schemas.openxmlformats.org/drawingml/2006/main">
              <a:ext uri="{FF2B5EF4-FFF2-40B4-BE49-F238E27FC236}">
                <a16:creationId xmlns:a16="http://schemas.microsoft.com/office/drawing/2014/main" id="{0326B6BB-4B4A-4BED-AFF6-C1721C79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Body gray</a:t>
            </a:r>
          </a:p>
        </p:txBody>
      </p:sp>
      <p:sp>
        <p:nvSpPr>
          <p:cNvPr id="11" name="swatch-value-3">
            <a:extLst xmlns:a="http://schemas.openxmlformats.org/drawingml/2006/main">
              <a:ext uri="{FF2B5EF4-FFF2-40B4-BE49-F238E27FC236}">
                <a16:creationId xmlns:a16="http://schemas.microsoft.com/office/drawing/2014/main" id="{596038BE-8623-4EEB-8EC4-D01FF1BA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#3D3D3D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B832D9BD-0D52-449F-A5D3-12C9D01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95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ype-spartan">
            <a:extLst xmlns:a="http://schemas.openxmlformats.org/drawingml/2006/main">
              <a:ext uri="{FF2B5EF4-FFF2-40B4-BE49-F238E27FC236}">
                <a16:creationId xmlns:a16="http://schemas.microsoft.com/office/drawing/2014/main" id="{80A7EBEF-F947-4146-AA1F-F6326120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Spartan Bold</a:t>
            </a:r>
          </a:p>
        </p:txBody>
      </p:sp>
      <p:sp>
        <p:nvSpPr>
          <p:cNvPr id="14" name="type-spartan-role">
            <a:extLst xmlns:a="http://schemas.openxmlformats.org/drawingml/2006/main">
              <a:ext uri="{FF2B5EF4-FFF2-40B4-BE49-F238E27FC236}">
                <a16:creationId xmlns:a16="http://schemas.microsoft.com/office/drawing/2014/main" id="{A45144C5-553E-4EC6-BE03-66DD8C6D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Headlines · Hero facts · Section titles</a:t>
            </a:r>
          </a:p>
        </p:txBody>
      </p:sp>
      <p:sp>
        <p:nvSpPr>
          <p:cNvPr id="15" name="type-mulish">
            <a:extLst xmlns:a="http://schemas.openxmlformats.org/drawingml/2006/main">
              <a:ext uri="{FF2B5EF4-FFF2-40B4-BE49-F238E27FC236}">
                <a16:creationId xmlns:a16="http://schemas.microsoft.com/office/drawing/2014/main" id="{1D0C0211-2D6E-4203-9C5E-2ECFBBEE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Mulish Regular + Bold</a:t>
            </a:r>
          </a:p>
        </p:txBody>
      </p:sp>
      <p:sp>
        <p:nvSpPr>
          <p:cNvPr id="16" name="type-mulish-role">
            <a:extLst xmlns:a="http://schemas.openxmlformats.org/drawingml/2006/main">
              <a:ext uri="{FF2B5EF4-FFF2-40B4-BE49-F238E27FC236}">
                <a16:creationId xmlns:a16="http://schemas.microsoft.com/office/drawing/2014/main" id="{2FFBF0AE-9CDE-4B38-A741-C0146F67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863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Body copy · Labels · Captions · Notes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34b4c97ef423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F196D5-40DB-4F56-BB45-E7B32AF5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9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3446B56-74E1-4EF8-8BFF-BBB00CB9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2735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-field">
            <a:extLst xmlns:a="http://schemas.openxmlformats.org/drawingml/2006/main">
              <a:ext uri="{FF2B5EF4-FFF2-40B4-BE49-F238E27FC236}">
                <a16:creationId xmlns:a16="http://schemas.microsoft.com/office/drawing/2014/main" id="{04931990-88DD-4908-908E-6676E7C0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deep-field">
            <a:extLst xmlns:a="http://schemas.openxmlformats.org/drawingml/2006/main">
              <a:ext uri="{FF2B5EF4-FFF2-40B4-BE49-F238E27FC236}">
                <a16:creationId xmlns:a16="http://schemas.microsoft.com/office/drawing/2014/main" id="{04BEB41F-BAF6-4DB6-886E-2D17E1E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-label">
            <a:extLst xmlns:a="http://schemas.openxmlformats.org/drawingml/2006/main">
              <a:ext uri="{FF2B5EF4-FFF2-40B4-BE49-F238E27FC236}">
                <a16:creationId xmlns:a16="http://schemas.microsoft.com/office/drawing/2014/main" id="{94A11A04-9686-49DF-8925-FC42670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CHAPTER DIVIDER</a:t>
            </a:r>
          </a:p>
        </p:txBody>
      </p:sp>
      <p:sp>
        <p:nvSpPr>
          <p:cNvPr id="4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F02FA23A-0D06-4C7C-9CCE-D8CF913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42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Change the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42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narrative pace</a:t>
            </a:r>
          </a:p>
        </p:txBody>
      </p:sp>
      <p:sp>
        <p:nvSpPr>
          <p:cNvPr id="5" name="chapter-copy">
            <a:extLst xmlns:a="http://schemas.openxmlformats.org/drawingml/2006/main">
              <a:ext uri="{FF2B5EF4-FFF2-40B4-BE49-F238E27FC236}">
                <a16:creationId xmlns:a16="http://schemas.microsoft.com/office/drawing/2014/main" id="{30DA4DB7-6D14-4FE5-823C-B54A2A0A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Use chapter slides when the audience needs a clear mental reset—not as decoration between every topic.</a:t>
            </a:r>
          </a:p>
        </p:txBody>
      </p:sp>
      <p:sp>
        <p:nvSpPr>
          <p:cNvPr id="6" name="chapter-number">
            <a:extLst xmlns:a="http://schemas.openxmlformats.org/drawingml/2006/main">
              <a:ext uri="{FF2B5EF4-FFF2-40B4-BE49-F238E27FC236}">
                <a16:creationId xmlns:a16="http://schemas.microsoft.com/office/drawing/2014/main" id="{AAA15AD5-BE0A-476E-9302-2A1F495E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5260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3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69393c3c6426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9D5F65-85F1-4156-9E29-1B31071F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3195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ighlight-label">
            <a:extLst xmlns:a="http://schemas.openxmlformats.org/drawingml/2006/main">
              <a:ext uri="{FF2B5EF4-FFF2-40B4-BE49-F238E27FC236}">
                <a16:creationId xmlns:a16="http://schemas.microsoft.com/office/drawing/2014/main" id="{9DF1D21F-BEE1-4835-83C0-EE29526C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HIGHLIGHT STATEMENT</a:t>
            </a:r>
          </a:p>
        </p:txBody>
      </p:sp>
      <p:sp>
        <p:nvSpPr>
          <p:cNvPr id="2" name="highlight-title">
            <a:extLst xmlns:a="http://schemas.openxmlformats.org/drawingml/2006/main">
              <a:ext uri="{FF2B5EF4-FFF2-40B4-BE49-F238E27FC236}">
                <a16:creationId xmlns:a16="http://schemas.microsoft.com/office/drawing/2014/main" id="{51F33368-C5A5-4C2F-97BE-7DA3704A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647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Readable typography is a commercial advantage.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2AE0360A-9FCE-4DE9-9CEC-B3E4E396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920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ighlight-value">
            <a:extLst xmlns:a="http://schemas.openxmlformats.org/drawingml/2006/main">
              <a:ext uri="{FF2B5EF4-FFF2-40B4-BE49-F238E27FC236}">
                <a16:creationId xmlns:a16="http://schemas.microsoft.com/office/drawing/2014/main" id="{B33DE9D6-7221-4D4C-87CE-573B299C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16.5 pt</a:t>
            </a:r>
          </a:p>
        </p:txBody>
      </p:sp>
      <p:sp>
        <p:nvSpPr>
          <p:cNvPr id="5" name="highlight-caption">
            <a:extLst xmlns:a="http://schemas.openxmlformats.org/drawingml/2006/main">
              <a:ext uri="{FF2B5EF4-FFF2-40B4-BE49-F238E27FC236}">
                <a16:creationId xmlns:a16="http://schemas.microsoft.com/office/drawing/2014/main" id="{E59388CD-9DB3-4705-AC14-7BB757A1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Default body size</a:t>
            </a:r>
          </a:p>
        </p:txBody>
      </p:sp>
      <p:sp>
        <p:nvSpPr>
          <p:cNvPr id="6" name="highlight-explanation">
            <a:extLst xmlns:a="http://schemas.openxmlformats.org/drawingml/2006/main">
              <a:ext uri="{FF2B5EF4-FFF2-40B4-BE49-F238E27FC236}">
                <a16:creationId xmlns:a16="http://schemas.microsoft.com/office/drawing/2014/main" id="{017FC1FD-2F68-4741-8C8B-6782EA40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If copy does not fit, shorten it or split the slide. Never trade comprehension for density.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411dbe4f64f8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991E28-4D35-442E-B4B6-72CEDD0A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9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118E90B-375F-4C1D-A11B-57A6853B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253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plit-dark-panel">
            <a:extLst xmlns:a="http://schemas.openxmlformats.org/drawingml/2006/main">
              <a:ext uri="{FF2B5EF4-FFF2-40B4-BE49-F238E27FC236}">
                <a16:creationId xmlns:a16="http://schemas.microsoft.com/office/drawing/2014/main" id="{022D7591-7BF7-426B-92FF-E89B221E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plit-title">
            <a:extLst xmlns:a="http://schemas.openxmlformats.org/drawingml/2006/main">
              <a:ext uri="{FF2B5EF4-FFF2-40B4-BE49-F238E27FC236}">
                <a16:creationId xmlns:a16="http://schemas.microsoft.com/office/drawing/2014/main" id="{64E52E36-E922-4501-910A-E652D1D9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Use contrast to frame the decision.</a:t>
            </a:r>
          </a:p>
        </p:txBody>
      </p:sp>
      <p:sp>
        <p:nvSpPr>
          <p:cNvPr id="3" name="split-subtitle">
            <a:extLst xmlns:a="http://schemas.openxmlformats.org/drawingml/2006/main">
              <a:ext uri="{FF2B5EF4-FFF2-40B4-BE49-F238E27FC236}">
                <a16:creationId xmlns:a16="http://schemas.microsoft.com/office/drawing/2014/main" id="{AC3EAB27-57DB-48EE-9A4D-74FF9741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 dark claim panel creates tension; the open canvas resolves it with evidence or action.</a:t>
            </a:r>
          </a:p>
        </p:txBody>
      </p:sp>
      <p:sp>
        <p:nvSpPr>
          <p:cNvPr id="4" name="split-right-title">
            <a:extLst xmlns:a="http://schemas.openxmlformats.org/drawingml/2006/main">
              <a:ext uri="{FF2B5EF4-FFF2-40B4-BE49-F238E27FC236}">
                <a16:creationId xmlns:a16="http://schemas.microsoft.com/office/drawing/2014/main" id="{D128BDDF-45F0-4AB3-8FD3-5FA405E1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009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Best for</a:t>
            </a:r>
          </a:p>
        </p:txBody>
      </p:sp>
      <p:sp>
        <p:nvSpPr>
          <p:cNvPr id="5" name="split-list-bullet-1">
            <a:extLst xmlns:a="http://schemas.openxmlformats.org/drawingml/2006/main">
              <a:ext uri="{FF2B5EF4-FFF2-40B4-BE49-F238E27FC236}">
                <a16:creationId xmlns:a16="http://schemas.microsoft.com/office/drawing/2014/main" id="{38729A02-0ED4-49E7-A54D-3F8722A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plit-list-text-1">
            <a:extLst xmlns:a="http://schemas.openxmlformats.org/drawingml/2006/main">
              <a:ext uri="{FF2B5EF4-FFF2-40B4-BE49-F238E27FC236}">
                <a16:creationId xmlns:a16="http://schemas.microsoft.com/office/drawing/2014/main" id="{FAE17F65-581A-4C16-9701-90E49E92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47850"/>
            <a:ext cx="539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Problem framing and market tension</a:t>
            </a:r>
          </a:p>
        </p:txBody>
      </p:sp>
      <p:sp>
        <p:nvSpPr>
          <p:cNvPr id="7" name="split-list-bullet-2">
            <a:extLst xmlns:a="http://schemas.openxmlformats.org/drawingml/2006/main">
              <a:ext uri="{FF2B5EF4-FFF2-40B4-BE49-F238E27FC236}">
                <a16:creationId xmlns:a16="http://schemas.microsoft.com/office/drawing/2014/main" id="{6057C7BB-F2C8-401E-839E-858999E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lit-list-text-2">
            <a:extLst xmlns:a="http://schemas.openxmlformats.org/drawingml/2006/main">
              <a:ext uri="{FF2B5EF4-FFF2-40B4-BE49-F238E27FC236}">
                <a16:creationId xmlns:a16="http://schemas.microsoft.com/office/drawing/2014/main" id="{4E8ADBE3-2BD6-45F5-AD44-85ABA6A3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47950"/>
            <a:ext cx="539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Before-and-after comparisons</a:t>
            </a:r>
          </a:p>
        </p:txBody>
      </p:sp>
      <p:sp>
        <p:nvSpPr>
          <p:cNvPr id="9" name="split-list-bullet-3">
            <a:extLst xmlns:a="http://schemas.openxmlformats.org/drawingml/2006/main">
              <a:ext uri="{FF2B5EF4-FFF2-40B4-BE49-F238E27FC236}">
                <a16:creationId xmlns:a16="http://schemas.microsoft.com/office/drawing/2014/main" id="{7796A3AE-00A7-4ABF-B318-57662F71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43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plit-list-text-3">
            <a:extLst xmlns:a="http://schemas.openxmlformats.org/drawingml/2006/main">
              <a:ext uri="{FF2B5EF4-FFF2-40B4-BE49-F238E27FC236}">
                <a16:creationId xmlns:a16="http://schemas.microsoft.com/office/drawing/2014/main" id="{A91D71F1-7014-4018-A659-B87C5B73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48050"/>
            <a:ext cx="539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 recommendation with supporting rationale</a:t>
            </a:r>
          </a:p>
        </p:txBody>
      </p:sp>
      <p:sp>
        <p:nvSpPr>
          <p:cNvPr id="11" name="split-rule">
            <a:extLst xmlns:a="http://schemas.openxmlformats.org/drawingml/2006/main">
              <a:ext uri="{FF2B5EF4-FFF2-40B4-BE49-F238E27FC236}">
                <a16:creationId xmlns:a16="http://schemas.microsoft.com/office/drawing/2014/main" id="{C3F76D3A-7FE5-44F8-A695-23F9245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Keep the dark side concise. The audience should read the claim before the explanation.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b034c6c59415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D2C877-0A2F-41AA-AE32-14077345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14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0EDD124-EABC-40AF-B1D6-20D15876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341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6D409A-39E3-482A-AC1F-A043477E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Compare categories without turning the slide into a dashboard.</a:t>
            </a:r>
          </a:p>
        </p:txBody>
      </p:sp>
      <p:sp>
        <p:nvSpPr>
          <p:cNvPr id="2" name="comparison-subtitle">
            <a:extLst xmlns:a="http://schemas.openxmlformats.org/drawingml/2006/main">
              <a:ext uri="{FF2B5EF4-FFF2-40B4-BE49-F238E27FC236}">
                <a16:creationId xmlns:a16="http://schemas.microsoft.com/office/drawing/2014/main" id="{5E91557D-3142-4946-9D5B-EF1B436C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Equal columns, thin rules, direct language, and no more than three points per category.</a:t>
            </a:r>
          </a:p>
        </p:txBody>
      </p:sp>
      <p:sp>
        <p:nvSpPr>
          <p:cNvPr id="3" name="column-rule-438">
            <a:extLst xmlns:a="http://schemas.openxmlformats.org/drawingml/2006/main">
              <a:ext uri="{FF2B5EF4-FFF2-40B4-BE49-F238E27FC236}">
                <a16:creationId xmlns:a16="http://schemas.microsoft.com/office/drawing/2014/main" id="{B0B0D203-76BA-41D3-8859-2DCCACD4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lumn-rule-840">
            <a:extLst xmlns:a="http://schemas.openxmlformats.org/drawingml/2006/main">
              <a:ext uri="{FF2B5EF4-FFF2-40B4-BE49-F238E27FC236}">
                <a16:creationId xmlns:a16="http://schemas.microsoft.com/office/drawing/2014/main" id="{E529A1C4-0DC0-4535-A65E-0DD0913C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30442F9B-5AE5-499A-905B-EAA1DEAF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Access</a:t>
            </a:r>
          </a:p>
        </p:txBody>
      </p:sp>
      <p:sp>
        <p:nvSpPr>
          <p:cNvPr id="6" name="comparison-summary-1">
            <a:extLst xmlns:a="http://schemas.openxmlformats.org/drawingml/2006/main">
              <a:ext uri="{FF2B5EF4-FFF2-40B4-BE49-F238E27FC236}">
                <a16:creationId xmlns:a16="http://schemas.microsoft.com/office/drawing/2014/main" id="{46FC607B-B944-4E6C-9A2E-0ACFA616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can use the platform</a:t>
            </a:r>
          </a:p>
        </p:txBody>
      </p:sp>
      <p:sp>
        <p:nvSpPr>
          <p:cNvPr id="7" name="comparison-points-1-bullet-1">
            <a:extLst xmlns:a="http://schemas.openxmlformats.org/drawingml/2006/main">
              <a:ext uri="{FF2B5EF4-FFF2-40B4-BE49-F238E27FC236}">
                <a16:creationId xmlns:a16="http://schemas.microsoft.com/office/drawing/2014/main" id="{5094F0E9-369D-443A-88CA-BD63AADA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points-1-text-1">
            <a:extLst xmlns:a="http://schemas.openxmlformats.org/drawingml/2006/main">
              <a:ext uri="{FF2B5EF4-FFF2-40B4-BE49-F238E27FC236}">
                <a16:creationId xmlns:a16="http://schemas.microsoft.com/office/drawing/2014/main" id="{0160F71F-6620-4CA5-B47A-60FA6211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Named users</a:t>
            </a:r>
          </a:p>
        </p:txBody>
      </p:sp>
      <p:sp>
        <p:nvSpPr>
          <p:cNvPr id="9" name="comparison-points-1-bullet-2">
            <a:extLst xmlns:a="http://schemas.openxmlformats.org/drawingml/2006/main">
              <a:ext uri="{FF2B5EF4-FFF2-40B4-BE49-F238E27FC236}">
                <a16:creationId xmlns:a16="http://schemas.microsoft.com/office/drawing/2014/main" id="{7A1BFDA9-5230-41EF-BEFA-0B360874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points-1-text-2">
            <a:extLst xmlns:a="http://schemas.openxmlformats.org/drawingml/2006/main">
              <a:ext uri="{FF2B5EF4-FFF2-40B4-BE49-F238E27FC236}">
                <a16:creationId xmlns:a16="http://schemas.microsoft.com/office/drawing/2014/main" id="{2CFB8E32-94BB-4B62-B66F-98EB6F3D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Roles and permissions</a:t>
            </a:r>
          </a:p>
        </p:txBody>
      </p:sp>
      <p:sp>
        <p:nvSpPr>
          <p:cNvPr id="11" name="comparison-points-1-bullet-3">
            <a:extLst xmlns:a="http://schemas.openxmlformats.org/drawingml/2006/main">
              <a:ext uri="{FF2B5EF4-FFF2-40B4-BE49-F238E27FC236}">
                <a16:creationId xmlns:a16="http://schemas.microsoft.com/office/drawing/2014/main" id="{4F066D9B-8C60-4994-B5D8-8556F3B8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mparison-points-1-text-3">
            <a:extLst xmlns:a="http://schemas.openxmlformats.org/drawingml/2006/main">
              <a:ext uri="{FF2B5EF4-FFF2-40B4-BE49-F238E27FC236}">
                <a16:creationId xmlns:a16="http://schemas.microsoft.com/office/drawing/2014/main" id="{AFC7161F-E263-441E-8EFB-C3CB6EB7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subscription</a:t>
            </a:r>
          </a:p>
        </p:txBody>
      </p:sp>
      <p:sp>
        <p:nvSpPr>
          <p:cNvPr id="13" name="comparison-title-2">
            <a:extLst xmlns:a="http://schemas.openxmlformats.org/drawingml/2006/main">
              <a:ext uri="{FF2B5EF4-FFF2-40B4-BE49-F238E27FC236}">
                <a16:creationId xmlns:a16="http://schemas.microsoft.com/office/drawing/2014/main" id="{96187CC9-0D7C-49E4-8158-E4D4FA3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Execution</a:t>
            </a:r>
          </a:p>
        </p:txBody>
      </p:sp>
      <p:sp>
        <p:nvSpPr>
          <p:cNvPr id="14" name="comparison-summary-2">
            <a:extLst xmlns:a="http://schemas.openxmlformats.org/drawingml/2006/main">
              <a:ext uri="{FF2B5EF4-FFF2-40B4-BE49-F238E27FC236}">
                <a16:creationId xmlns:a16="http://schemas.microsoft.com/office/drawing/2014/main" id="{9648A798-7281-48B2-B789-99ECE104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work the platform performs</a:t>
            </a:r>
          </a:p>
        </p:txBody>
      </p:sp>
      <p:sp>
        <p:nvSpPr>
          <p:cNvPr id="15" name="comparison-points-2-bullet-1">
            <a:extLst xmlns:a="http://schemas.openxmlformats.org/drawingml/2006/main">
              <a:ext uri="{FF2B5EF4-FFF2-40B4-BE49-F238E27FC236}">
                <a16:creationId xmlns:a16="http://schemas.microsoft.com/office/drawing/2014/main" id="{1E914BA2-1F13-4D3F-9762-A171ED98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arison-points-2-text-1">
            <a:extLst xmlns:a="http://schemas.openxmlformats.org/drawingml/2006/main">
              <a:ext uri="{FF2B5EF4-FFF2-40B4-BE49-F238E27FC236}">
                <a16:creationId xmlns:a16="http://schemas.microsoft.com/office/drawing/2014/main" id="{9CAC3241-BB1C-471A-B8A9-CB8A2C59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Business actions</a:t>
            </a:r>
          </a:p>
        </p:txBody>
      </p:sp>
      <p:sp>
        <p:nvSpPr>
          <p:cNvPr id="17" name="comparison-points-2-bullet-2">
            <a:extLst xmlns:a="http://schemas.openxmlformats.org/drawingml/2006/main">
              <a:ext uri="{FF2B5EF4-FFF2-40B4-BE49-F238E27FC236}">
                <a16:creationId xmlns:a16="http://schemas.microsoft.com/office/drawing/2014/main" id="{9E8D714F-93C8-4EC5-942D-CBF76327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points-2-text-2">
            <a:extLst xmlns:a="http://schemas.openxmlformats.org/drawingml/2006/main">
              <a:ext uri="{FF2B5EF4-FFF2-40B4-BE49-F238E27FC236}">
                <a16:creationId xmlns:a16="http://schemas.microsoft.com/office/drawing/2014/main" id="{CF9D28D5-30D8-4EF7-B0C6-777D8568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149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Automation and workflows</a:t>
            </a:r>
          </a:p>
        </p:txBody>
      </p:sp>
      <p:sp>
        <p:nvSpPr>
          <p:cNvPr id="19" name="comparison-points-2-bullet-3">
            <a:extLst xmlns:a="http://schemas.openxmlformats.org/drawingml/2006/main">
              <a:ext uri="{FF2B5EF4-FFF2-40B4-BE49-F238E27FC236}">
                <a16:creationId xmlns:a16="http://schemas.microsoft.com/office/drawing/2014/main" id="{830389A6-DEAF-41E2-A14A-D567E1BD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8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arison-points-2-text-3">
            <a:extLst xmlns:a="http://schemas.openxmlformats.org/drawingml/2006/main">
              <a:ext uri="{FF2B5EF4-FFF2-40B4-BE49-F238E27FC236}">
                <a16:creationId xmlns:a16="http://schemas.microsoft.com/office/drawing/2014/main" id="{FF5DB265-7C28-43F6-837F-EDEEBA01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86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Usage-linked expansion</a:t>
            </a:r>
          </a:p>
        </p:txBody>
      </p:sp>
      <p:sp>
        <p:nvSpPr>
          <p:cNvPr id="21" name="comparison-title-3">
            <a:extLst xmlns:a="http://schemas.openxmlformats.org/drawingml/2006/main">
              <a:ext uri="{FF2B5EF4-FFF2-40B4-BE49-F238E27FC236}">
                <a16:creationId xmlns:a16="http://schemas.microsoft.com/office/drawing/2014/main" id="{0334609D-2AD2-4629-9D39-B1E8E423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</a:t>
            </a:r>
          </a:p>
        </p:txBody>
      </p:sp>
      <p:sp>
        <p:nvSpPr>
          <p:cNvPr id="22" name="comparison-summary-3">
            <a:extLst xmlns:a="http://schemas.openxmlformats.org/drawingml/2006/main">
              <a:ext uri="{FF2B5EF4-FFF2-40B4-BE49-F238E27FC236}">
                <a16:creationId xmlns:a16="http://schemas.microsoft.com/office/drawing/2014/main" id="{37CE1FA9-4275-465F-B8FF-C6230B9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evidence the action creates</a:t>
            </a:r>
          </a:p>
        </p:txBody>
      </p:sp>
      <p:sp>
        <p:nvSpPr>
          <p:cNvPr id="23" name="comparison-points-3-bullet-1">
            <a:extLst xmlns:a="http://schemas.openxmlformats.org/drawingml/2006/main">
              <a:ext uri="{FF2B5EF4-FFF2-40B4-BE49-F238E27FC236}">
                <a16:creationId xmlns:a16="http://schemas.microsoft.com/office/drawing/2014/main" id="{3558C1A2-C684-4AFA-BE2D-E8CD632B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arison-points-3-text-1">
            <a:extLst xmlns:a="http://schemas.openxmlformats.org/drawingml/2006/main">
              <a:ext uri="{FF2B5EF4-FFF2-40B4-BE49-F238E27FC236}">
                <a16:creationId xmlns:a16="http://schemas.microsoft.com/office/drawing/2014/main" id="{11D30AEA-0878-478E-BFCD-9C1710A5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43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Verified identity</a:t>
            </a:r>
          </a:p>
        </p:txBody>
      </p:sp>
      <p:sp>
        <p:nvSpPr>
          <p:cNvPr id="25" name="comparison-points-3-bullet-2">
            <a:extLst xmlns:a="http://schemas.openxmlformats.org/drawingml/2006/main">
              <a:ext uri="{FF2B5EF4-FFF2-40B4-BE49-F238E27FC236}">
                <a16:creationId xmlns:a16="http://schemas.microsoft.com/office/drawing/2014/main" id="{E0B15C71-9570-4FF3-BF51-C8F9099D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10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parison-points-3-text-2">
            <a:extLst xmlns:a="http://schemas.openxmlformats.org/drawingml/2006/main">
              <a:ext uri="{FF2B5EF4-FFF2-40B4-BE49-F238E27FC236}">
                <a16:creationId xmlns:a16="http://schemas.microsoft.com/office/drawing/2014/main" id="{EADADA57-F350-4557-BC8D-B4C640F5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149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Tamper-evident proof</a:t>
            </a:r>
          </a:p>
        </p:txBody>
      </p:sp>
      <p:sp>
        <p:nvSpPr>
          <p:cNvPr id="27" name="comparison-points-3-bullet-3">
            <a:extLst xmlns:a="http://schemas.openxmlformats.org/drawingml/2006/main">
              <a:ext uri="{FF2B5EF4-FFF2-40B4-BE49-F238E27FC236}">
                <a16:creationId xmlns:a16="http://schemas.microsoft.com/office/drawing/2014/main" id="{37E39075-8893-4C91-85E1-ACE5175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81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rison-points-3-text-3">
            <a:extLst xmlns:a="http://schemas.openxmlformats.org/drawingml/2006/main">
              <a:ext uri="{FF2B5EF4-FFF2-40B4-BE49-F238E27FC236}">
                <a16:creationId xmlns:a16="http://schemas.microsoft.com/office/drawing/2014/main" id="{12517D9D-5860-4CF0-93FC-50F1B191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86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Assurance premium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7526893a8401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3EB23D-A981-429A-AEA2-E9CE9D24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1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C5FD1BA-1EF4-4B49-B09A-CA947E6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79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341108-ED23-4D87-8062-B736B9EB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Show sequences on one calm baseline.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A7C862-2688-4368-AD4C-E75EC708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Connectors appear behind nodes; stage labels stay short and parallel.</a:t>
            </a:r>
          </a:p>
        </p:txBody>
      </p:sp>
      <p:sp>
        <p:nvSpPr>
          <p:cNvPr id="3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DE651BAF-7FC9-4CB5-89CC-E5396B72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415523D6-4D88-4A28-8F56-33E6B0C8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479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5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5FB1CA85-2925-4111-88D1-A0C0BB5B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</a:t>
            </a:r>
          </a:p>
        </p:txBody>
      </p:sp>
      <p:sp>
        <p:nvSpPr>
          <p:cNvPr id="6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C2336958-6E06-40B2-B58F-AB7F63A1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Frame</a:t>
            </a:r>
          </a:p>
        </p:txBody>
      </p:sp>
      <p:sp>
        <p:nvSpPr>
          <p:cNvPr id="7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2DB6E904-6AAA-4A77-898F-CD50A18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205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Name the audience and the decision.</a:t>
            </a:r>
          </a:p>
        </p:txBody>
      </p:sp>
      <p:sp>
        <p:nvSpPr>
          <p:cNvPr id="8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AFF3CD5C-6D22-4F52-AEC0-3A06FBEC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479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9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5F204453-0EC6-4602-B396-38CA7E6C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2</a:t>
            </a:r>
          </a:p>
        </p:txBody>
      </p:sp>
      <p:sp>
        <p:nvSpPr>
          <p:cNvPr id="10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2775E9D9-B085-4828-AE67-E3EA172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Distill</a:t>
            </a:r>
          </a:p>
        </p:txBody>
      </p:sp>
      <p:sp>
        <p:nvSpPr>
          <p:cNvPr id="11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5D5C7642-9177-4D7D-9969-B62DC0E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05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Give each slide one primary claim.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5F28F85D-8D6C-4FBC-9FD2-61582E1F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479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7336F2A2-2829-4E4D-8343-CC428287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3</a:t>
            </a:r>
          </a:p>
        </p:txBody>
      </p:sp>
      <p:sp>
        <p:nvSpPr>
          <p:cNvPr id="14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A8A051EE-043A-47FC-8A67-C79E0C66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Compose</a:t>
            </a:r>
          </a:p>
        </p:txBody>
      </p:sp>
      <p:sp>
        <p:nvSpPr>
          <p:cNvPr id="15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DE7445A4-3F03-4DC6-BE26-FF18B010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205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Choose the layout that proves the claim.</a:t>
            </a:r>
          </a:p>
        </p:txBody>
      </p:sp>
      <p:sp>
        <p:nvSpPr>
          <p:cNvPr id="16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AD33BCB9-8A6C-4358-8E79-753D32CC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47975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17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1E5C931B-BB48-4403-9D19-E2FEA898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4</a:t>
            </a:r>
          </a:p>
        </p:txBody>
      </p:sp>
      <p:sp>
        <p:nvSpPr>
          <p:cNvPr id="18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673689F7-1852-49B0-9D53-BDA89EEB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29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Verify</a:t>
            </a:r>
          </a:p>
        </p:txBody>
      </p:sp>
      <p:sp>
        <p:nvSpPr>
          <p:cNvPr id="19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554666F1-FD1C-4BCD-9435-5F3909E0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05300"/>
            <a:ext cx="205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Render, inspect, and fix every slide.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674af9bec443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1CE9D1-27C9-4842-A707-2DDF6F29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22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FE580D1-80D2-494A-BC98-A9A69D68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6202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6A4C2B-3B4C-4B00-96D1-31BDCE09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Architecture should clarify layers, not inventory features.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DFAE77B6-E3C6-405D-A0EB-0A5F8D0B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Use no more than three layers and six total nodes. The label on the left explains the role of each layer.</a:t>
            </a:r>
          </a:p>
        </p:txBody>
      </p:sp>
      <p:sp>
        <p:nvSpPr>
          <p:cNvPr id="3" name="architecture-layer-1">
            <a:extLst xmlns:a="http://schemas.openxmlformats.org/drawingml/2006/main">
              <a:ext uri="{FF2B5EF4-FFF2-40B4-BE49-F238E27FC236}">
                <a16:creationId xmlns:a16="http://schemas.microsoft.com/office/drawing/2014/main" id="{32543BB7-606E-4BCE-826E-70E5B896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1277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D565EE7A-5E64-4A55-9028-A5517A35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OUTCOME</a:t>
            </a:r>
          </a:p>
        </p:txBody>
      </p:sp>
      <p:sp>
        <p:nvSpPr>
          <p:cNvPr id="5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BD9D5A34-0EC8-4FFB-876A-F3A464C5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decisions</a:t>
            </a:r>
          </a:p>
        </p:txBody>
      </p:sp>
      <p:sp>
        <p:nvSpPr>
          <p:cNvPr id="6" name="architecture-node-1-1">
            <a:extLst xmlns:a="http://schemas.openxmlformats.org/drawingml/2006/main">
              <a:ext uri="{FF2B5EF4-FFF2-40B4-BE49-F238E27FC236}">
                <a16:creationId xmlns:a16="http://schemas.microsoft.com/office/drawing/2014/main" id="{D1DA00DD-8BDD-4C0F-9C1C-806337A3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38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7" name="architecture-node-1-2">
            <a:extLst xmlns:a="http://schemas.openxmlformats.org/drawingml/2006/main">
              <a:ext uri="{FF2B5EF4-FFF2-40B4-BE49-F238E27FC236}">
                <a16:creationId xmlns:a16="http://schemas.microsoft.com/office/drawing/2014/main" id="{6A3EC4A5-1FA1-48C1-BCB7-1ADE42A7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38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Confidence</a:t>
            </a:r>
          </a:p>
        </p:txBody>
      </p:sp>
      <p:sp>
        <p:nvSpPr>
          <p:cNvPr id="8" name="architecture-layer-2">
            <a:extLst xmlns:a="http://schemas.openxmlformats.org/drawingml/2006/main">
              <a:ext uri="{FF2B5EF4-FFF2-40B4-BE49-F238E27FC236}">
                <a16:creationId xmlns:a16="http://schemas.microsoft.com/office/drawing/2014/main" id="{87753448-0158-45BA-9143-3C020FED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11277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1609F635-CA5E-4497-A751-3841A654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10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5D576B57-8CD1-400B-9478-E738AA6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Business actions</a:t>
            </a:r>
          </a:p>
        </p:txBody>
      </p:sp>
      <p:sp>
        <p:nvSpPr>
          <p:cNvPr id="11" name="architecture-node-2-1">
            <a:extLst xmlns:a="http://schemas.openxmlformats.org/drawingml/2006/main">
              <a:ext uri="{FF2B5EF4-FFF2-40B4-BE49-F238E27FC236}">
                <a16:creationId xmlns:a16="http://schemas.microsoft.com/office/drawing/2014/main" id="{3C77A9DE-FB73-4B72-8EE7-9EF2FE9B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2" name="architecture-node-2-2">
            <a:extLst xmlns:a="http://schemas.openxmlformats.org/drawingml/2006/main">
              <a:ext uri="{FF2B5EF4-FFF2-40B4-BE49-F238E27FC236}">
                <a16:creationId xmlns:a16="http://schemas.microsoft.com/office/drawing/2014/main" id="{82FDEE8E-8ED0-4099-A4A7-FCF8087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Automation</a:t>
            </a:r>
          </a:p>
        </p:txBody>
      </p:sp>
      <p:sp>
        <p:nvSpPr>
          <p:cNvPr id="13" name="architecture-layer-3">
            <a:extLst xmlns:a="http://schemas.openxmlformats.org/drawingml/2006/main">
              <a:ext uri="{FF2B5EF4-FFF2-40B4-BE49-F238E27FC236}">
                <a16:creationId xmlns:a16="http://schemas.microsoft.com/office/drawing/2014/main" id="{6C2D6F08-59D7-4319-8FFF-BF98CF46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1277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solidFill>
              <a:srgbClr val="1D0090"/>
            </a:solidFill>
            <a:prstDash val="solid"/>
          </a:ln>
        </p:spPr>
      </p:sp>
      <p:sp>
        <p:nvSpPr>
          <p:cNvPr id="14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F88C010A-0550-416F-A145-6EAE192B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FOUNDATION</a:t>
            </a:r>
          </a:p>
        </p:txBody>
      </p:sp>
      <p:sp>
        <p:nvSpPr>
          <p:cNvPr id="15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56F163E4-ECDE-423D-A5D1-01047AD4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Access and control</a:t>
            </a:r>
          </a:p>
        </p:txBody>
      </p:sp>
      <p:sp>
        <p:nvSpPr>
          <p:cNvPr id="16" name="architecture-node-3-1">
            <a:extLst xmlns:a="http://schemas.openxmlformats.org/drawingml/2006/main">
              <a:ext uri="{FF2B5EF4-FFF2-40B4-BE49-F238E27FC236}">
                <a16:creationId xmlns:a16="http://schemas.microsoft.com/office/drawing/2014/main" id="{B5AF6007-06ED-45E6-BACF-4E22B223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38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7" name="architecture-node-3-2">
            <a:extLst xmlns:a="http://schemas.openxmlformats.org/drawingml/2006/main">
              <a:ext uri="{FF2B5EF4-FFF2-40B4-BE49-F238E27FC236}">
                <a16:creationId xmlns:a16="http://schemas.microsoft.com/office/drawing/2014/main" id="{2ED629E7-6304-49AD-9471-1D2A1D5A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38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8eabfc72d48b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7797F1-2505-4331-BB9E-6B8D2CA5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20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01778B4-5377-4125-9A19-47BE2FA9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152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162592-60CF-4B3A-A9AD-D1176F07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Rankings work best when the conclusion is already visible.</a:t>
            </a:r>
          </a:p>
        </p:txBody>
      </p:sp>
      <p:sp>
        <p:nvSpPr>
          <p:cNvPr id="2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406BA2E7-066F-4D78-A263-265065F6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Use one focus bar and direct labels. The example values are illustrative only.</a:t>
            </a:r>
          </a:p>
        </p:txBody>
      </p:sp>
      <p:sp>
        <p:nvSpPr>
          <p:cNvPr id="3" name="bar-label-1">
            <a:extLst xmlns:a="http://schemas.openxmlformats.org/drawingml/2006/main">
              <a:ext uri="{FF2B5EF4-FFF2-40B4-BE49-F238E27FC236}">
                <a16:creationId xmlns:a16="http://schemas.microsoft.com/office/drawing/2014/main" id="{E332685F-67F7-4F05-9FDE-91EF1667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Clarity</a:t>
            </a:r>
          </a:p>
        </p:txBody>
      </p:sp>
      <p:sp>
        <p:nvSpPr>
          <p:cNvPr id="4" name="bar-track-1">
            <a:extLst xmlns:a="http://schemas.openxmlformats.org/drawingml/2006/main">
              <a:ext uri="{FF2B5EF4-FFF2-40B4-BE49-F238E27FC236}">
                <a16:creationId xmlns:a16="http://schemas.microsoft.com/office/drawing/2014/main" id="{1F2EAAAC-3ED0-4E0E-A21A-77966F79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7620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r-value-1">
            <a:extLst xmlns:a="http://schemas.openxmlformats.org/drawingml/2006/main">
              <a:ext uri="{FF2B5EF4-FFF2-40B4-BE49-F238E27FC236}">
                <a16:creationId xmlns:a16="http://schemas.microsoft.com/office/drawing/2014/main" id="{C7791627-63B3-4B47-B821-9369EDC4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7010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r-number-1">
            <a:extLst xmlns:a="http://schemas.openxmlformats.org/drawingml/2006/main">
              <a:ext uri="{FF2B5EF4-FFF2-40B4-BE49-F238E27FC236}">
                <a16:creationId xmlns:a16="http://schemas.microsoft.com/office/drawing/2014/main" id="{D2B3DB83-DA1A-4B99-897F-C62B446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92</a:t>
            </a:r>
          </a:p>
        </p:txBody>
      </p:sp>
      <p:sp>
        <p:nvSpPr>
          <p:cNvPr id="7" name="bar-label-2">
            <a:extLst xmlns:a="http://schemas.openxmlformats.org/drawingml/2006/main">
              <a:ext uri="{FF2B5EF4-FFF2-40B4-BE49-F238E27FC236}">
                <a16:creationId xmlns:a16="http://schemas.microsoft.com/office/drawing/2014/main" id="{2D14DBE6-83D5-4FFB-850A-B368F7AE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8" name="bar-track-2">
            <a:extLst xmlns:a="http://schemas.openxmlformats.org/drawingml/2006/main">
              <a:ext uri="{FF2B5EF4-FFF2-40B4-BE49-F238E27FC236}">
                <a16:creationId xmlns:a16="http://schemas.microsoft.com/office/drawing/2014/main" id="{A1548788-D0F3-40AC-93B1-296808EA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57600"/>
            <a:ext cx="7620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r-value-2">
            <a:extLst xmlns:a="http://schemas.openxmlformats.org/drawingml/2006/main">
              <a:ext uri="{FF2B5EF4-FFF2-40B4-BE49-F238E27FC236}">
                <a16:creationId xmlns:a16="http://schemas.microsoft.com/office/drawing/2014/main" id="{EAE44D1D-C93C-49E2-9683-10FBC5D8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57600"/>
            <a:ext cx="64008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r-number-2">
            <a:extLst xmlns:a="http://schemas.openxmlformats.org/drawingml/2006/main">
              <a:ext uri="{FF2B5EF4-FFF2-40B4-BE49-F238E27FC236}">
                <a16:creationId xmlns:a16="http://schemas.microsoft.com/office/drawing/2014/main" id="{4401DAC2-EEF0-4664-A4A6-9B898887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004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84</a:t>
            </a:r>
          </a:p>
        </p:txBody>
      </p:sp>
      <p:sp>
        <p:nvSpPr>
          <p:cNvPr id="11" name="bar-label-3">
            <a:extLst xmlns:a="http://schemas.openxmlformats.org/drawingml/2006/main">
              <a:ext uri="{FF2B5EF4-FFF2-40B4-BE49-F238E27FC236}">
                <a16:creationId xmlns:a16="http://schemas.microsoft.com/office/drawing/2014/main" id="{32B1114D-742F-48EC-975B-D078885D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Consistency</a:t>
            </a:r>
          </a:p>
        </p:txBody>
      </p:sp>
      <p:sp>
        <p:nvSpPr>
          <p:cNvPr id="12" name="bar-track-3">
            <a:extLst xmlns:a="http://schemas.openxmlformats.org/drawingml/2006/main">
              <a:ext uri="{FF2B5EF4-FFF2-40B4-BE49-F238E27FC236}">
                <a16:creationId xmlns:a16="http://schemas.microsoft.com/office/drawing/2014/main" id="{1CB6F15A-4B8D-489F-8492-4D2867D9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81500"/>
            <a:ext cx="7620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r-value-3">
            <a:extLst xmlns:a="http://schemas.openxmlformats.org/drawingml/2006/main">
              <a:ext uri="{FF2B5EF4-FFF2-40B4-BE49-F238E27FC236}">
                <a16:creationId xmlns:a16="http://schemas.microsoft.com/office/drawing/2014/main" id="{6614CD2E-127B-46D7-813C-E14E70DA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81500"/>
            <a:ext cx="5791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r-number-3">
            <a:extLst xmlns:a="http://schemas.openxmlformats.org/drawingml/2006/main">
              <a:ext uri="{FF2B5EF4-FFF2-40B4-BE49-F238E27FC236}">
                <a16:creationId xmlns:a16="http://schemas.microsoft.com/office/drawing/2014/main" id="{E3C2A92A-D5C7-4CBD-8F8D-98EA5C22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243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76</a:t>
            </a:r>
          </a:p>
        </p:txBody>
      </p:sp>
      <p:sp>
        <p:nvSpPr>
          <p:cNvPr id="15" name="bar-label-4">
            <a:extLst xmlns:a="http://schemas.openxmlformats.org/drawingml/2006/main">
              <a:ext uri="{FF2B5EF4-FFF2-40B4-BE49-F238E27FC236}">
                <a16:creationId xmlns:a16="http://schemas.microsoft.com/office/drawing/2014/main" id="{CE07CF67-A386-4917-B7EB-66420B6F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Density</a:t>
            </a:r>
          </a:p>
        </p:txBody>
      </p:sp>
      <p:sp>
        <p:nvSpPr>
          <p:cNvPr id="16" name="bar-track-4">
            <a:extLst xmlns:a="http://schemas.openxmlformats.org/drawingml/2006/main">
              <a:ext uri="{FF2B5EF4-FFF2-40B4-BE49-F238E27FC236}">
                <a16:creationId xmlns:a16="http://schemas.microsoft.com/office/drawing/2014/main" id="{6DAB53A9-F2DC-4884-968E-41E3F980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7620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r-value-4">
            <a:extLst xmlns:a="http://schemas.openxmlformats.org/drawingml/2006/main">
              <a:ext uri="{FF2B5EF4-FFF2-40B4-BE49-F238E27FC236}">
                <a16:creationId xmlns:a16="http://schemas.microsoft.com/office/drawing/2014/main" id="{1812C058-310C-47D0-80C2-13E6449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4419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r-number-4">
            <a:extLst xmlns:a="http://schemas.openxmlformats.org/drawingml/2006/main">
              <a:ext uri="{FF2B5EF4-FFF2-40B4-BE49-F238E27FC236}">
                <a16:creationId xmlns:a16="http://schemas.microsoft.com/office/drawing/2014/main" id="{C6994770-4B85-46F8-97AC-A31F2C19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48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58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aa8622ce74b6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AF4CFB-68CC-4922-82E7-3F19136B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21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CC49999-DBB3-452C-99A4-089AF23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2310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37E2347-541B-468B-91C8-9DEAF44E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981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If a slide is hard to read, the slide is unfinished.</a:t>
            </a:r>
          </a:p>
        </p:txBody>
      </p:sp>
      <p:sp>
        <p:nvSpPr>
          <p:cNvPr id="2" name="divider">
            <a:extLst xmlns:a="http://schemas.openxmlformats.org/drawingml/2006/main">
              <a:ext uri="{FF2B5EF4-FFF2-40B4-BE49-F238E27FC236}">
                <a16:creationId xmlns:a16="http://schemas.microsoft.com/office/drawing/2014/main" id="{32CBD55D-BEB9-4DCE-A5D4-8ACA46D9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number-1">
            <a:extLst xmlns:a="http://schemas.openxmlformats.org/drawingml/2006/main">
              <a:ext uri="{FF2B5EF4-FFF2-40B4-BE49-F238E27FC236}">
                <a16:creationId xmlns:a16="http://schemas.microsoft.com/office/drawing/2014/main" id="{79874348-A505-4B7C-BB03-E9DDBEFC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01</a:t>
            </a:r>
          </a:p>
        </p:txBody>
      </p:sp>
      <p:sp>
        <p:nvSpPr>
          <p:cNvPr id="4" name="close-rule-1">
            <a:extLst xmlns:a="http://schemas.openxmlformats.org/drawingml/2006/main">
              <a:ext uri="{FF2B5EF4-FFF2-40B4-BE49-F238E27FC236}">
                <a16:creationId xmlns:a16="http://schemas.microsoft.com/office/drawing/2014/main" id="{EB9DBCEE-7474-4432-92CD-123FC897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Shorten the copy</a:t>
            </a:r>
          </a:p>
        </p:txBody>
      </p:sp>
      <p:sp>
        <p:nvSpPr>
          <p:cNvPr id="5" name="close-number-2">
            <a:extLst xmlns:a="http://schemas.openxmlformats.org/drawingml/2006/main">
              <a:ext uri="{FF2B5EF4-FFF2-40B4-BE49-F238E27FC236}">
                <a16:creationId xmlns:a16="http://schemas.microsoft.com/office/drawing/2014/main" id="{C441ED79-F3BD-4E22-8C15-3970C07D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528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02</a:t>
            </a:r>
          </a:p>
        </p:txBody>
      </p:sp>
      <p:sp>
        <p:nvSpPr>
          <p:cNvPr id="6" name="close-rule-2">
            <a:extLst xmlns:a="http://schemas.openxmlformats.org/drawingml/2006/main">
              <a:ext uri="{FF2B5EF4-FFF2-40B4-BE49-F238E27FC236}">
                <a16:creationId xmlns:a16="http://schemas.microsoft.com/office/drawing/2014/main" id="{73CEC859-300A-4318-AF07-E5567BF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81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Change the layout</a:t>
            </a:r>
          </a:p>
        </p:txBody>
      </p:sp>
      <p:sp>
        <p:nvSpPr>
          <p:cNvPr id="7" name="close-number-3">
            <a:extLst xmlns:a="http://schemas.openxmlformats.org/drawingml/2006/main">
              <a:ext uri="{FF2B5EF4-FFF2-40B4-BE49-F238E27FC236}">
                <a16:creationId xmlns:a16="http://schemas.microsoft.com/office/drawing/2014/main" id="{286F1086-CBE5-4E51-A01A-E1AEAEAA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528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sp>
        <p:nvSpPr>
          <p:cNvPr id="8" name="close-rule-3">
            <a:extLst xmlns:a="http://schemas.openxmlformats.org/drawingml/2006/main">
              <a:ext uri="{FF2B5EF4-FFF2-40B4-BE49-F238E27FC236}">
                <a16:creationId xmlns:a16="http://schemas.microsoft.com/office/drawing/2014/main" id="{C1461B86-2978-4780-B8AB-D2D3BF44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Split the slide</a:t>
            </a:r>
          </a:p>
        </p:txBody>
      </p:sp>
      <p:sp>
        <p:nvSpPr>
          <p:cNvPr id="9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26D47856-F175-490B-9050-8912D84E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Use this system as the starting point for every Circularo deck.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569d7e684471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62B485-B206-43C1-9310-06128BB5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7740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2026-08-24T12:35:42.7510000Z</dcterms:created>
  <dcterms:modified xsi:type="dcterms:W3CDTF">2026-08-24T12:35:42.7510000Z</dcterms:modified>
</coreProperties>
</file>