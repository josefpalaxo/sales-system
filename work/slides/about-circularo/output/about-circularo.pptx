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fac6c8b954a1e" /><Relationship Type="http://schemas.openxmlformats.org/officeDocument/2006/relationships/extended-properties" Target="/docProps/app.xml" Id="R9e5200c48e6e4634" /><Relationship Type="http://schemas.openxmlformats.org/officeDocument/2006/relationships/officeDocument" Target="/ppt/presentation.xml" Id="R630b6786707b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e7355b1d524923"/>
  </p:sldMasterIdLst>
  <p:notesMasterIdLst>
    <p:notesMasterId xmlns:r="http://schemas.openxmlformats.org/officeDocument/2006/relationships" r:id="R7e8a474cd9884e25"/>
  </p:notesMasterIdLst>
  <p:sldIdLst>
    <p:sldId xmlns:r="http://schemas.openxmlformats.org/officeDocument/2006/relationships" id="256" r:id="Raabdbbb892f949ac"/>
    <p:sldId xmlns:r="http://schemas.openxmlformats.org/officeDocument/2006/relationships" id="257" r:id="Rcde2db086cc6470c"/>
    <p:sldId xmlns:r="http://schemas.openxmlformats.org/officeDocument/2006/relationships" id="258" r:id="R857c045a65d54f9c"/>
    <p:sldId xmlns:r="http://schemas.openxmlformats.org/officeDocument/2006/relationships" id="259" r:id="Re8b72dded4ac4dec"/>
    <p:sldId xmlns:r="http://schemas.openxmlformats.org/officeDocument/2006/relationships" id="260" r:id="R54ef71e96c7c457c"/>
    <p:sldId xmlns:r="http://schemas.openxmlformats.org/officeDocument/2006/relationships" id="261" r:id="R286900acea874797"/>
    <p:sldId xmlns:r="http://schemas.openxmlformats.org/officeDocument/2006/relationships" id="262" r:id="R131dd946b0524856"/>
    <p:sldId xmlns:r="http://schemas.openxmlformats.org/officeDocument/2006/relationships" id="263" r:id="R9f23d2fa070a46ac"/>
    <p:sldId xmlns:r="http://schemas.openxmlformats.org/officeDocument/2006/relationships" id="264" r:id="R23fd5775df4b406f"/>
    <p:sldId xmlns:r="http://schemas.openxmlformats.org/officeDocument/2006/relationships" id="265" r:id="R6aa52a08a7a245f3"/>
    <p:sldId xmlns:r="http://schemas.openxmlformats.org/officeDocument/2006/relationships" id="266" r:id="R53d2bdca4a754f7e"/>
    <p:sldId xmlns:r="http://schemas.openxmlformats.org/officeDocument/2006/relationships" id="267" r:id="Re224d940c57640ef"/>
    <p:sldId xmlns:r="http://schemas.openxmlformats.org/officeDocument/2006/relationships" id="268" r:id="R31233bc9191241b2"/>
    <p:sldId xmlns:r="http://schemas.openxmlformats.org/officeDocument/2006/relationships" id="269" r:id="R780ab808fffa415c"/>
    <p:sldId xmlns:r="http://schemas.openxmlformats.org/officeDocument/2006/relationships" id="270" r:id="R40c2267b8b1c4c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26440acb1a4056" /><Relationship Type="http://schemas.openxmlformats.org/officeDocument/2006/relationships/slideMaster" Target="/ppt/slideMasters/slideMaster1.xml" Id="Rbbe7355b1d524923" /><Relationship Type="http://schemas.openxmlformats.org/officeDocument/2006/relationships/notesMaster" Target="/ppt/notesMasters/notesMaster1.xml" Id="R7e8a474cd9884e25" /><Relationship Type="http://schemas.openxmlformats.org/officeDocument/2006/relationships/presProps" Target="/ppt/presProps.xml" Id="R9b80c53e0cba493d" /><Relationship Type="http://schemas.openxmlformats.org/officeDocument/2006/relationships/tableStyles" Target="/ppt/tableStyles.xml" Id="Re9c0d03cb94444a4" /><Relationship Type="http://schemas.openxmlformats.org/officeDocument/2006/relationships/slide" Target="/ppt/slides/slide1.xml" Id="Raabdbbb892f949ac" /><Relationship Type="http://schemas.openxmlformats.org/officeDocument/2006/relationships/slide" Target="/ppt/slides/slide2.xml" Id="Rcde2db086cc6470c" /><Relationship Type="http://schemas.openxmlformats.org/officeDocument/2006/relationships/slide" Target="/ppt/slides/slide3.xml" Id="R857c045a65d54f9c" /><Relationship Type="http://schemas.openxmlformats.org/officeDocument/2006/relationships/slide" Target="/ppt/slides/slide4.xml" Id="Re8b72dded4ac4dec" /><Relationship Type="http://schemas.openxmlformats.org/officeDocument/2006/relationships/slide" Target="/ppt/slides/slide5.xml" Id="R54ef71e96c7c457c" /><Relationship Type="http://schemas.openxmlformats.org/officeDocument/2006/relationships/slide" Target="/ppt/slides/slide6.xml" Id="R286900acea874797" /><Relationship Type="http://schemas.openxmlformats.org/officeDocument/2006/relationships/slide" Target="/ppt/slides/slide7.xml" Id="R131dd946b0524856" /><Relationship Type="http://schemas.openxmlformats.org/officeDocument/2006/relationships/slide" Target="/ppt/slides/slide8.xml" Id="R9f23d2fa070a46ac" /><Relationship Type="http://schemas.openxmlformats.org/officeDocument/2006/relationships/slide" Target="/ppt/slides/slide9.xml" Id="R23fd5775df4b406f" /><Relationship Type="http://schemas.openxmlformats.org/officeDocument/2006/relationships/slide" Target="/ppt/slides/slide10.xml" Id="R6aa52a08a7a245f3" /><Relationship Type="http://schemas.openxmlformats.org/officeDocument/2006/relationships/slide" Target="/ppt/slides/slide11.xml" Id="R53d2bdca4a754f7e" /><Relationship Type="http://schemas.openxmlformats.org/officeDocument/2006/relationships/slide" Target="/ppt/slides/slide12.xml" Id="Re224d940c57640ef" /><Relationship Type="http://schemas.openxmlformats.org/officeDocument/2006/relationships/slide" Target="/ppt/slides/slide13.xml" Id="R31233bc9191241b2" /><Relationship Type="http://schemas.openxmlformats.org/officeDocument/2006/relationships/slide" Target="/ppt/slides/slide14.xml" Id="R780ab808fffa415c" /><Relationship Type="http://schemas.openxmlformats.org/officeDocument/2006/relationships/slide" Target="/ppt/slides/slide15.xml" Id="R40c2267b8b1c4c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844a17bf71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7c418d4ad34e9a" /><Relationship Type="http://schemas.openxmlformats.org/officeDocument/2006/relationships/notesMaster" Target="/ppt/notesMasters/notesMaster1.xml" Id="R11fec9cecbe74f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cb3ec3dbc547ea" /><Relationship Type="http://schemas.openxmlformats.org/officeDocument/2006/relationships/notesMaster" Target="/ppt/notesMasters/notesMaster1.xml" Id="R2e1b9a20fc0a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1d03a697ff4078" /><Relationship Type="http://schemas.openxmlformats.org/officeDocument/2006/relationships/notesMaster" Target="/ppt/notesMasters/notesMaster1.xml" Id="Rb96122dbfb5a44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712a6794d46b3" /><Relationship Type="http://schemas.openxmlformats.org/officeDocument/2006/relationships/notesMaster" Target="/ppt/notesMasters/notesMaster1.xml" Id="R47faede9e5e4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ac8139cd3e441a" /><Relationship Type="http://schemas.openxmlformats.org/officeDocument/2006/relationships/notesMaster" Target="/ppt/notesMasters/notesMaster1.xml" Id="R2907b092008844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c72584893e4f52" /><Relationship Type="http://schemas.openxmlformats.org/officeDocument/2006/relationships/notesMaster" Target="/ppt/notesMasters/notesMaster1.xml" Id="R3cee491d726546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0e33b408be4d28" /><Relationship Type="http://schemas.openxmlformats.org/officeDocument/2006/relationships/notesMaster" Target="/ppt/notesMasters/notesMaster1.xml" Id="R77a8f570c5a543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eb2415c67e4b54" /><Relationship Type="http://schemas.openxmlformats.org/officeDocument/2006/relationships/notesMaster" Target="/ppt/notesMasters/notesMaster1.xml" Id="R53ae30a4ecf341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2fced9ca64432c" /><Relationship Type="http://schemas.openxmlformats.org/officeDocument/2006/relationships/notesMaster" Target="/ppt/notesMasters/notesMaster1.xml" Id="Rc16e0412938341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d1a9fbf127477d" /><Relationship Type="http://schemas.openxmlformats.org/officeDocument/2006/relationships/notesMaster" Target="/ppt/notesMasters/notesMaster1.xml" Id="R2b7b24655ecb47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4c818b42a740e9" /><Relationship Type="http://schemas.openxmlformats.org/officeDocument/2006/relationships/notesMaster" Target="/ppt/notesMasters/notesMaster1.xml" Id="Rd3c524ebe9ea41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6b8769132043ae" /><Relationship Type="http://schemas.openxmlformats.org/officeDocument/2006/relationships/notesMaster" Target="/ppt/notesMasters/notesMaster1.xml" Id="R6e1c520093b647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d35db9142045bc" /><Relationship Type="http://schemas.openxmlformats.org/officeDocument/2006/relationships/notesMaster" Target="/ppt/notesMasters/notesMaster1.xml" Id="R70207e703a2247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31f55cc37148d9" /><Relationship Type="http://schemas.openxmlformats.org/officeDocument/2006/relationships/notesMaster" Target="/ppt/notesMasters/notesMaster1.xml" Id="R321929c2b43e48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9a0fc0640a481c" /><Relationship Type="http://schemas.openxmlformats.org/officeDocument/2006/relationships/notesMaster" Target="/ppt/notesMasters/notesMaster1.xml" Id="R9ef3b8be8c0e45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work/ideas/About Circularo.md</a:t>
            </a:r>
          </a:p>
          <a:p xmlns:a="http://schemas.openxmlformats.org/drawingml/2006/main">
            <a:r>
              <a:t>- work/p1/decks/00-circularo-company.md</a:t>
            </a:r>
          </a:p>
          <a:p xmlns:a="http://schemas.openxmlformats.org/drawingml/2006/main">
            <a:r>
              <a:t>- shared/knowledge/company/circularo.md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Corporate proof, certifications, locations, customer references, and quantified outcomes are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f838be55a4b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a7d721ac244e4d" /><Relationship Type="http://schemas.openxmlformats.org/officeDocument/2006/relationships/slideLayout" Target="/ppt/slideLayouts/slideLayout1.xml" Id="R22c03a00d86948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03a00d86948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54a56f4584400" /><Relationship Type="http://schemas.openxmlformats.org/officeDocument/2006/relationships/image" Target="/ppt/media/image.png" Id="Rb75c2c28c9504195" /><Relationship Type="http://schemas.openxmlformats.org/officeDocument/2006/relationships/notesSlide" Target="/ppt/notesSlides/notesSlide1.xml" Id="R1197c23cc17444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025908ded4560" /><Relationship Type="http://schemas.openxmlformats.org/officeDocument/2006/relationships/image" Target="/ppt/media/image2.png" Id="Rfbbb8cefe2364749" /><Relationship Type="http://schemas.openxmlformats.org/officeDocument/2006/relationships/image" Target="/ppt/media/image3.png" Id="R142a4ad199bd4f0e" /><Relationship Type="http://schemas.openxmlformats.org/officeDocument/2006/relationships/notesSlide" Target="/ppt/notesSlides/notesSlide2.xml" Id="Rc2cceff0b1c0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1fd64c1704651" /><Relationship Type="http://schemas.openxmlformats.org/officeDocument/2006/relationships/image" Target="/ppt/media/image4.png" Id="R656b270fb8474131" /><Relationship Type="http://schemas.openxmlformats.org/officeDocument/2006/relationships/notesSlide" Target="/ppt/notesSlides/notesSlide3.xml" Id="Rc1a15905614043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83305d3b94f22" /><Relationship Type="http://schemas.openxmlformats.org/officeDocument/2006/relationships/image" Target="/ppt/media/image5.png" Id="Rfd6ddba6ec2a4c44" /><Relationship Type="http://schemas.openxmlformats.org/officeDocument/2006/relationships/notesSlide" Target="/ppt/notesSlides/notesSlide4.xml" Id="Rfccbc08d691d4f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cdaab11344c65" /><Relationship Type="http://schemas.openxmlformats.org/officeDocument/2006/relationships/image" Target="/ppt/media/image6.png" Id="R6809b5bb9f464046" /><Relationship Type="http://schemas.openxmlformats.org/officeDocument/2006/relationships/notesSlide" Target="/ppt/notesSlides/notesSlide5.xml" Id="R1a0c4de56b2940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83abc57954b3f" /><Relationship Type="http://schemas.openxmlformats.org/officeDocument/2006/relationships/image" Target="/ppt/media/image7.png" Id="R252aba50ddbf485c" /><Relationship Type="http://schemas.openxmlformats.org/officeDocument/2006/relationships/image" Target="/ppt/media/image8.png" Id="R841229ddd41d40d6" /><Relationship Type="http://schemas.openxmlformats.org/officeDocument/2006/relationships/image" Target="/ppt/media/image9.png" Id="R701612249a4443a4" /><Relationship Type="http://schemas.openxmlformats.org/officeDocument/2006/relationships/image" Target="/ppt/media/image10.png" Id="Rcedf9f5132a34cfe" /><Relationship Type="http://schemas.openxmlformats.org/officeDocument/2006/relationships/image" Target="/ppt/media/image11.png" Id="Rc7b2872a756449fb" /><Relationship Type="http://schemas.openxmlformats.org/officeDocument/2006/relationships/notesSlide" Target="/ppt/notesSlides/notesSlide6.xml" Id="R2bd9cd360670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9626c4f2849b0" /><Relationship Type="http://schemas.openxmlformats.org/officeDocument/2006/relationships/image" Target="/ppt/media/image12.png" Id="R21508766445d4598" /><Relationship Type="http://schemas.openxmlformats.org/officeDocument/2006/relationships/image" Target="/ppt/media/image13.png" Id="R53046ef6002846e0" /><Relationship Type="http://schemas.openxmlformats.org/officeDocument/2006/relationships/image" Target="/ppt/media/image14.png" Id="Re5e91c8ba35040de" /><Relationship Type="http://schemas.openxmlformats.org/officeDocument/2006/relationships/image" Target="/ppt/media/image15.png" Id="R3c6ec23e6abc4261" /><Relationship Type="http://schemas.openxmlformats.org/officeDocument/2006/relationships/notesSlide" Target="/ppt/notesSlides/notesSlide7.xml" Id="Rf87963046d8e4d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3f83687344f1c" /><Relationship Type="http://schemas.openxmlformats.org/officeDocument/2006/relationships/image" Target="/ppt/media/image16.png" Id="R74f34df34abe4af8" /><Relationship Type="http://schemas.openxmlformats.org/officeDocument/2006/relationships/notesSlide" Target="/ppt/notesSlides/notesSlide8.xml" Id="R89d1ec01aaf045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21fd100884afe" /><Relationship Type="http://schemas.openxmlformats.org/officeDocument/2006/relationships/image" Target="/ppt/media/image17.png" Id="R22b7fa61dbb44499" /><Relationship Type="http://schemas.openxmlformats.org/officeDocument/2006/relationships/notesSlide" Target="/ppt/notesSlides/notesSlide9.xml" Id="R3e14bc4399de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3df66bdda4f3c" /><Relationship Type="http://schemas.openxmlformats.org/officeDocument/2006/relationships/image" Target="/ppt/media/image18.png" Id="R76fc9437e12f41a9" /><Relationship Type="http://schemas.openxmlformats.org/officeDocument/2006/relationships/notesSlide" Target="/ppt/notesSlides/notesSlide10.xml" Id="R337f2a227a7f41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753be465d441a" /><Relationship Type="http://schemas.openxmlformats.org/officeDocument/2006/relationships/image" Target="/ppt/media/image19.png" Id="Rd1a6616ad5464524" /><Relationship Type="http://schemas.openxmlformats.org/officeDocument/2006/relationships/image" Target="/ppt/media/image20.png" Id="Rf62acde9d9a5467a" /><Relationship Type="http://schemas.openxmlformats.org/officeDocument/2006/relationships/notesSlide" Target="/ppt/notesSlides/notesSlide11.xml" Id="R304f40fd9cfd4a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166c89a404302" /><Relationship Type="http://schemas.openxmlformats.org/officeDocument/2006/relationships/image" Target="/ppt/media/image21.png" Id="R10967993bbbb47ee" /><Relationship Type="http://schemas.openxmlformats.org/officeDocument/2006/relationships/image" Target="/ppt/media/image22.png" Id="R49e6a626498d4721" /><Relationship Type="http://schemas.openxmlformats.org/officeDocument/2006/relationships/notesSlide" Target="/ppt/notesSlides/notesSlide12.xml" Id="R23e8e477154845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01aaac8bb42fb" /><Relationship Type="http://schemas.openxmlformats.org/officeDocument/2006/relationships/image" Target="/ppt/media/image23.png" Id="Rd0cf133c86744fc1" /><Relationship Type="http://schemas.openxmlformats.org/officeDocument/2006/relationships/notesSlide" Target="/ppt/notesSlides/notesSlide13.xml" Id="R069b72f3f06d4c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38c554bbe4127" /><Relationship Type="http://schemas.openxmlformats.org/officeDocument/2006/relationships/image" Target="/ppt/media/image24.png" Id="Re5a4a561abd74993" /><Relationship Type="http://schemas.openxmlformats.org/officeDocument/2006/relationships/notesSlide" Target="/ppt/notesSlides/notesSlide14.xml" Id="Rad107f600a6942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e38c7a9114180" /><Relationship Type="http://schemas.openxmlformats.org/officeDocument/2006/relationships/image" Target="/ppt/media/image25.png" Id="Rd57d905af6804cba" /><Relationship Type="http://schemas.openxmlformats.org/officeDocument/2006/relationships/notesSlide" Target="/ppt/notesSlides/notesSlide15.xml" Id="R3835c04d3bb642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c2c28c950419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37DBE2-DE9A-4812-85EA-EA79BFCB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1FF50CC-32F3-4896-94DB-C97D0285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D88B5B8-D291-4781-A938-0B36F772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F5170D61-DE30-45F0-B3F4-61C18B5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cover-band-1">
            <a:extLst xmlns:a="http://schemas.openxmlformats.org/drawingml/2006/main">
              <a:ext uri="{FF2B5EF4-FFF2-40B4-BE49-F238E27FC236}">
                <a16:creationId xmlns:a16="http://schemas.microsoft.com/office/drawing/2014/main" id="{2391B32B-C9A0-4963-A451-64780AD0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1943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band-2">
            <a:extLst xmlns:a="http://schemas.openxmlformats.org/drawingml/2006/main">
              <a:ext uri="{FF2B5EF4-FFF2-40B4-BE49-F238E27FC236}">
                <a16:creationId xmlns:a16="http://schemas.microsoft.com/office/drawing/2014/main" id="{9300B778-E1BD-434D-80AB-574DA3E7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EBAAB6A-5F87-4074-B293-9CB4C3D7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1734922-47D4-416C-A86A-8AAFA394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781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Digital trust infrastructure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for the agentic era</a:t>
            </a:r>
          </a:p>
        </p:txBody>
      </p:sp>
      <p:sp>
        <p:nvSpPr>
          <p:cNvPr id="10" name="cover-body">
            <a:extLst xmlns:a="http://schemas.openxmlformats.org/drawingml/2006/main">
              <a:ext uri="{FF2B5EF4-FFF2-40B4-BE49-F238E27FC236}">
                <a16:creationId xmlns:a16="http://schemas.microsoft.com/office/drawing/2014/main" id="{3ED4EE5E-CE4F-4412-AB50-D99A1041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Connecting business processes, trust services, and trusted records.</a:t>
            </a:r>
          </a:p>
        </p:txBody>
      </p:sp>
      <p:sp>
        <p:nvSpPr>
          <p:cNvPr id="11" name="cover-route">
            <a:extLst xmlns:a="http://schemas.openxmlformats.org/drawingml/2006/main">
              <a:ext uri="{FF2B5EF4-FFF2-40B4-BE49-F238E27FC236}">
                <a16:creationId xmlns:a16="http://schemas.microsoft.com/office/drawing/2014/main" id="{7214E041-49CC-4A2A-9FB7-151C06E0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PEOPLE · ORGANIZATIONS · APPLICATIONS · AI AGENTS</a:t>
            </a:r>
          </a:p>
        </p:txBody>
      </p:sp>
    </p:spTree>
    <p:extLst>
      <p:ext uri="{BB962C8B-B14F-4D97-AF65-F5344CB8AC3E}">
        <p14:creationId xmlns:p14="http://schemas.microsoft.com/office/powerpoint/2010/main" val="568834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b8cefe236474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4BFB54-6592-423E-AA89-C9EEDC3F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DC99825-816E-4ACD-BB66-84B8A07C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D087571-55A3-4B67-B6D7-96A9564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E01BA68E-5A20-4B2D-AA73-3AB49596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7F12A0-12AB-43EB-96E2-2881762A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builds trust infrastructure for consequential digital work</a:t>
            </a:r>
          </a:p>
        </p:txBody>
      </p:sp>
      <p:sp>
        <p:nvSpPr>
          <p:cNvPr id="7" name="s2-statement">
            <a:extLst xmlns:a="http://schemas.openxmlformats.org/drawingml/2006/main">
              <a:ext uri="{FF2B5EF4-FFF2-40B4-BE49-F238E27FC236}">
                <a16:creationId xmlns:a16="http://schemas.microsoft.com/office/drawing/2014/main" id="{FC048F44-1D84-4FD4-88E8-0173C34C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33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5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We connect the authority behind an action with the process that executes it and the evidence that remains.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a4ad199bd4f0e"/>
          <a:stretch xmlns:a="http://schemas.openxmlformats.org/drawingml/2006/main"/>
        </p:blipFill>
        <p:spPr>
          <a:xfrm xmlns:a="http://schemas.openxmlformats.org/drawingml/2006/main">
            <a:off x="9010650" y="22669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9" name="pill-ENTERPRISE DIGITAL TRUST">
            <a:extLst xmlns:a="http://schemas.openxmlformats.org/drawingml/2006/main">
              <a:ext uri="{FF2B5EF4-FFF2-40B4-BE49-F238E27FC236}">
                <a16:creationId xmlns:a16="http://schemas.microsoft.com/office/drawing/2014/main" id="{913E012A-9FA2-4789-9BB0-D98F168C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0" name="pill-text-ENTERPRISE DIGITAL TRUST">
            <a:extLst xmlns:a="http://schemas.openxmlformats.org/drawingml/2006/main">
              <a:ext uri="{FF2B5EF4-FFF2-40B4-BE49-F238E27FC236}">
                <a16:creationId xmlns:a16="http://schemas.microsoft.com/office/drawing/2014/main" id="{1F6AE1A7-6EB3-43C1-B673-4E9B72FD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ENTERPRISE DIGITAL TRUST</a:t>
            </a:r>
          </a:p>
        </p:txBody>
      </p:sp>
      <p:sp>
        <p:nvSpPr>
          <p:cNvPr id="11" name="pill-SOVEREIGN DIGITAL TRUST">
            <a:extLst xmlns:a="http://schemas.openxmlformats.org/drawingml/2006/main">
              <a:ext uri="{FF2B5EF4-FFF2-40B4-BE49-F238E27FC236}">
                <a16:creationId xmlns:a16="http://schemas.microsoft.com/office/drawing/2014/main" id="{B9A18DBD-4741-4CC0-9047-FC726C87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2" name="pill-text-SOVEREIGN DIGITAL TRUST">
            <a:extLst xmlns:a="http://schemas.openxmlformats.org/drawingml/2006/main">
              <a:ext uri="{FF2B5EF4-FFF2-40B4-BE49-F238E27FC236}">
                <a16:creationId xmlns:a16="http://schemas.microsoft.com/office/drawing/2014/main" id="{B4037A47-8488-4095-AC1B-7279E390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482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SOVEREIGN DIGITAL TRUST</a:t>
            </a:r>
          </a:p>
        </p:txBody>
      </p:sp>
      <p:sp>
        <p:nvSpPr>
          <p:cNvPr id="13" name="pill-GOVERNMENT SHARED SERVICES">
            <a:extLst xmlns:a="http://schemas.openxmlformats.org/drawingml/2006/main">
              <a:ext uri="{FF2B5EF4-FFF2-40B4-BE49-F238E27FC236}">
                <a16:creationId xmlns:a16="http://schemas.microsoft.com/office/drawing/2014/main" id="{1AF27146-1CFD-4185-A45D-A8ADF08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4" name="pill-text-GOVERNMENT SHARED SERVICES">
            <a:extLst xmlns:a="http://schemas.openxmlformats.org/drawingml/2006/main">
              <a:ext uri="{FF2B5EF4-FFF2-40B4-BE49-F238E27FC236}">
                <a16:creationId xmlns:a16="http://schemas.microsoft.com/office/drawing/2014/main" id="{EF93E8F2-D790-44FD-BB49-4E0691A1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GOVERNMENT SHARED SERVICES</a:t>
            </a:r>
          </a:p>
        </p:txBody>
      </p:sp>
      <p:sp>
        <p:nvSpPr>
          <p:cNvPr id="15" name="pill-AGENTIC AI TRUST">
            <a:extLst xmlns:a="http://schemas.openxmlformats.org/drawingml/2006/main">
              <a:ext uri="{FF2B5EF4-FFF2-40B4-BE49-F238E27FC236}">
                <a16:creationId xmlns:a16="http://schemas.microsoft.com/office/drawing/2014/main" id="{9ED7A3F0-9C09-4CE6-B96A-34B7410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530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6" name="pill-text-AGENTIC AI TRUST">
            <a:extLst xmlns:a="http://schemas.openxmlformats.org/drawingml/2006/main">
              <a:ext uri="{FF2B5EF4-FFF2-40B4-BE49-F238E27FC236}">
                <a16:creationId xmlns:a16="http://schemas.microsoft.com/office/drawing/2014/main" id="{EAE08E9D-A0BA-4972-8C3B-BEDE617F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482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AGENTIC AI TRUST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F99A1295-886E-4AFD-A913-0E83E1F0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ttom-line">
            <a:extLst xmlns:a="http://schemas.openxmlformats.org/drawingml/2006/main">
              <a:ext uri="{FF2B5EF4-FFF2-40B4-BE49-F238E27FC236}">
                <a16:creationId xmlns:a16="http://schemas.microsoft.com/office/drawing/2014/main" id="{F121BA2F-29D8-43D2-9786-DC0C09A9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From trusted documents to trusted execution.</a:t>
            </a:r>
          </a:p>
        </p:txBody>
      </p:sp>
    </p:spTree>
    <p:extLst>
      <p:ext uri="{BB962C8B-B14F-4D97-AF65-F5344CB8AC3E}">
        <p14:creationId xmlns:p14="http://schemas.microsoft.com/office/powerpoint/2010/main" val="397423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b270fb847413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424CBE-23C5-4147-AAA0-92AC9AE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607C7D7-5E2A-47E0-BCC8-DB508453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D0BE2FE-8A02-47D6-9E13-61210465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EB8E2F51-C13F-40CC-80E1-573FF7A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CE4D8-E113-4677-9B0A-380B6D3D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Digital work is becoming more autonomous</a:t>
            </a:r>
          </a:p>
        </p:txBody>
      </p:sp>
      <p:sp>
        <p:nvSpPr>
          <p:cNvPr id="7" name="s3-subtitle">
            <a:extLst xmlns:a="http://schemas.openxmlformats.org/drawingml/2006/main">
              <a:ext uri="{FF2B5EF4-FFF2-40B4-BE49-F238E27FC236}">
                <a16:creationId xmlns:a16="http://schemas.microsoft.com/office/drawing/2014/main" id="{187BF9EE-3B4B-4197-9997-F9B81F11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Applications and AI increasingly participate in work once performed only by people.</a:t>
            </a:r>
          </a:p>
        </p:txBody>
      </p:sp>
      <p:sp>
        <p:nvSpPr>
          <p:cNvPr id="8" name="s3-baseline">
            <a:extLst xmlns:a="http://schemas.openxmlformats.org/drawingml/2006/main">
              <a:ext uri="{FF2B5EF4-FFF2-40B4-BE49-F238E27FC236}">
                <a16:creationId xmlns:a16="http://schemas.microsoft.com/office/drawing/2014/main" id="{BE5BC52F-FD2E-4ED8-83B3-D38B19C8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node-0">
            <a:extLst xmlns:a="http://schemas.openxmlformats.org/drawingml/2006/main">
              <a:ext uri="{FF2B5EF4-FFF2-40B4-BE49-F238E27FC236}">
                <a16:creationId xmlns:a16="http://schemas.microsoft.com/office/drawing/2014/main" id="{991A0795-0C16-4CBE-AF3C-D3A25AF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9431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s3-label-0">
            <a:extLst xmlns:a="http://schemas.openxmlformats.org/drawingml/2006/main">
              <a:ext uri="{FF2B5EF4-FFF2-40B4-BE49-F238E27FC236}">
                <a16:creationId xmlns:a16="http://schemas.microsoft.com/office/drawing/2014/main" id="{C859FCF2-CDB8-4098-B10E-0D8CF160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1" name="s3-node-1">
            <a:extLst xmlns:a="http://schemas.openxmlformats.org/drawingml/2006/main">
              <a:ext uri="{FF2B5EF4-FFF2-40B4-BE49-F238E27FC236}">
                <a16:creationId xmlns:a16="http://schemas.microsoft.com/office/drawing/2014/main" id="{F83AA3A5-D4B8-4CCD-9E02-3FA6201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19431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s3-label-1">
            <a:extLst xmlns:a="http://schemas.openxmlformats.org/drawingml/2006/main">
              <a:ext uri="{FF2B5EF4-FFF2-40B4-BE49-F238E27FC236}">
                <a16:creationId xmlns:a16="http://schemas.microsoft.com/office/drawing/2014/main" id="{53D48F9A-54B9-436A-A52F-3CB8ED8C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623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3" name="s3-node-2">
            <a:extLst xmlns:a="http://schemas.openxmlformats.org/drawingml/2006/main">
              <a:ext uri="{FF2B5EF4-FFF2-40B4-BE49-F238E27FC236}">
                <a16:creationId xmlns:a16="http://schemas.microsoft.com/office/drawing/2014/main" id="{F4237587-8A83-43E2-B900-2FA6BCF3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19431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s3-label-2">
            <a:extLst xmlns:a="http://schemas.openxmlformats.org/drawingml/2006/main">
              <a:ext uri="{FF2B5EF4-FFF2-40B4-BE49-F238E27FC236}">
                <a16:creationId xmlns:a16="http://schemas.microsoft.com/office/drawing/2014/main" id="{262E4E77-66C1-46C3-9D30-25E572A3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AI-ASSISTED</a:t>
            </a:r>
          </a:p>
        </p:txBody>
      </p:sp>
      <p:sp>
        <p:nvSpPr>
          <p:cNvPr id="15" name="s3-node-3">
            <a:extLst xmlns:a="http://schemas.openxmlformats.org/drawingml/2006/main">
              <a:ext uri="{FF2B5EF4-FFF2-40B4-BE49-F238E27FC236}">
                <a16:creationId xmlns:a16="http://schemas.microsoft.com/office/drawing/2014/main" id="{337C9C80-4199-4E53-B4AE-3DDC4CD3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00400"/>
            <a:ext cx="19431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sp>
        <p:nvSpPr>
          <p:cNvPr id="16" name="s3-label-3">
            <a:extLst xmlns:a="http://schemas.openxmlformats.org/drawingml/2006/main">
              <a:ext uri="{FF2B5EF4-FFF2-40B4-BE49-F238E27FC236}">
                <a16:creationId xmlns:a16="http://schemas.microsoft.com/office/drawing/2014/main" id="{D2BCE42E-E2EB-47BA-AC8B-8785E3E6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623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17" name="s3-implication">
            <a:extLst xmlns:a="http://schemas.openxmlformats.org/drawingml/2006/main">
              <a:ext uri="{FF2B5EF4-FFF2-40B4-BE49-F238E27FC236}">
                <a16:creationId xmlns:a16="http://schemas.microsoft.com/office/drawing/2014/main" id="{67E75ED3-4684-46B7-AEA4-FABAE19B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 autonomy increases, identity, authority, policy, approval, evidence, and audit must become more explicit.</a:t>
            </a:r>
          </a:p>
        </p:txBody>
      </p:sp>
    </p:spTree>
    <p:extLst>
      <p:ext uri="{BB962C8B-B14F-4D97-AF65-F5344CB8AC3E}">
        <p14:creationId xmlns:p14="http://schemas.microsoft.com/office/powerpoint/2010/main" val="339934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ddba6ec2a4c4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F470DF-45B6-4380-AF9B-28F08235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6543DA9-6123-4EC7-B627-C72A41D1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CA16150-5DB8-4621-BAA9-A4D60A6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2D6DA8A5-0A8E-4968-8E00-2A30DCDA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7ABD47-2955-4AAE-82EA-84FA7669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Intelligence does not create institutional authority</a:t>
            </a:r>
          </a:p>
        </p:txBody>
      </p:sp>
      <p:sp>
        <p:nvSpPr>
          <p:cNvPr id="7" name="s4-left">
            <a:extLst xmlns:a="http://schemas.openxmlformats.org/drawingml/2006/main">
              <a:ext uri="{FF2B5EF4-FFF2-40B4-BE49-F238E27FC236}">
                <a16:creationId xmlns:a16="http://schemas.microsoft.com/office/drawing/2014/main" id="{C31C5F6F-7F2D-4DDE-BB9D-7E7B15D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4095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left-kicker">
            <a:extLst xmlns:a="http://schemas.openxmlformats.org/drawingml/2006/main">
              <a:ext uri="{FF2B5EF4-FFF2-40B4-BE49-F238E27FC236}">
                <a16:creationId xmlns:a16="http://schemas.microsoft.com/office/drawing/2014/main" id="{56954D30-9C30-4F7F-A3CB-5749548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AI CAPABILITY</a:t>
            </a:r>
          </a:p>
        </p:txBody>
      </p:sp>
      <p:sp>
        <p:nvSpPr>
          <p:cNvPr id="9" name="s4-left-text">
            <a:extLst xmlns:a="http://schemas.openxmlformats.org/drawingml/2006/main">
              <a:ext uri="{FF2B5EF4-FFF2-40B4-BE49-F238E27FC236}">
                <a16:creationId xmlns:a16="http://schemas.microsoft.com/office/drawing/2014/main" id="{14FBF00E-B008-432A-B3BA-FA51B628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04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Understand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Analyze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Recommend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Generate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Plan</a:t>
            </a:r>
          </a:p>
        </p:txBody>
      </p:sp>
      <p:sp>
        <p:nvSpPr>
          <p:cNvPr id="10" name="s4-right-kicker">
            <a:extLst xmlns:a="http://schemas.openxmlformats.org/drawingml/2006/main">
              <a:ext uri="{FF2B5EF4-FFF2-40B4-BE49-F238E27FC236}">
                <a16:creationId xmlns:a16="http://schemas.microsoft.com/office/drawing/2014/main" id="{D9E18BF2-AD15-4264-8DFA-856CE91F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BEFORE A CONSEQUENTIAL ACTION EXECUTES</a:t>
            </a:r>
          </a:p>
        </p:txBody>
      </p:sp>
      <p:sp>
        <p:nvSpPr>
          <p:cNvPr id="11" name="s4-dot-0">
            <a:extLst xmlns:a="http://schemas.openxmlformats.org/drawingml/2006/main">
              <a:ext uri="{FF2B5EF4-FFF2-40B4-BE49-F238E27FC236}">
                <a16:creationId xmlns:a16="http://schemas.microsoft.com/office/drawing/2014/main" id="{CD595728-CE87-449C-B34A-E4C16160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question-0">
            <a:extLst xmlns:a="http://schemas.openxmlformats.org/drawingml/2006/main">
              <a:ext uri="{FF2B5EF4-FFF2-40B4-BE49-F238E27FC236}">
                <a16:creationId xmlns:a16="http://schemas.microsoft.com/office/drawing/2014/main" id="{15A4270A-6680-4F71-993C-B7F22C97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14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or what is acting?</a:t>
            </a:r>
          </a:p>
        </p:txBody>
      </p:sp>
      <p:sp>
        <p:nvSpPr>
          <p:cNvPr id="13" name="s4-dot-1">
            <a:extLst xmlns:a="http://schemas.openxmlformats.org/drawingml/2006/main">
              <a:ext uri="{FF2B5EF4-FFF2-40B4-BE49-F238E27FC236}">
                <a16:creationId xmlns:a16="http://schemas.microsoft.com/office/drawing/2014/main" id="{13364696-6BD5-498F-84AC-39F2E9A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question-1">
            <a:extLst xmlns:a="http://schemas.openxmlformats.org/drawingml/2006/main">
              <a:ext uri="{FF2B5EF4-FFF2-40B4-BE49-F238E27FC236}">
                <a16:creationId xmlns:a16="http://schemas.microsoft.com/office/drawing/2014/main" id="{4846A5A2-B6FB-4FF7-AB17-377E6066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Whom does the actor represent?</a:t>
            </a:r>
          </a:p>
        </p:txBody>
      </p:sp>
      <p:sp>
        <p:nvSpPr>
          <p:cNvPr id="15" name="s4-dot-2">
            <a:extLst xmlns:a="http://schemas.openxmlformats.org/drawingml/2006/main">
              <a:ext uri="{FF2B5EF4-FFF2-40B4-BE49-F238E27FC236}">
                <a16:creationId xmlns:a16="http://schemas.microsoft.com/office/drawing/2014/main" id="{11B23B49-A500-4724-A08D-3BDA3A55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29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question-2">
            <a:extLst xmlns:a="http://schemas.openxmlformats.org/drawingml/2006/main">
              <a:ext uri="{FF2B5EF4-FFF2-40B4-BE49-F238E27FC236}">
                <a16:creationId xmlns:a16="http://schemas.microsoft.com/office/drawing/2014/main" id="{EE764386-B59B-4A21-8F2C-EA5634E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433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is the actor permitted to do?</a:t>
            </a:r>
          </a:p>
        </p:txBody>
      </p:sp>
      <p:sp>
        <p:nvSpPr>
          <p:cNvPr id="17" name="s4-dot-3">
            <a:extLst xmlns:a="http://schemas.openxmlformats.org/drawingml/2006/main">
              <a:ext uri="{FF2B5EF4-FFF2-40B4-BE49-F238E27FC236}">
                <a16:creationId xmlns:a16="http://schemas.microsoft.com/office/drawing/2014/main" id="{3F05F7DA-800C-40B9-BE55-4A17B1A8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43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4-question-3">
            <a:extLst xmlns:a="http://schemas.openxmlformats.org/drawingml/2006/main">
              <a:ext uri="{FF2B5EF4-FFF2-40B4-BE49-F238E27FC236}">
                <a16:creationId xmlns:a16="http://schemas.microsoft.com/office/drawing/2014/main" id="{657BFF33-8CAD-422D-BC1B-690C0C85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policy and approval apply?</a:t>
            </a:r>
          </a:p>
        </p:txBody>
      </p:sp>
      <p:sp>
        <p:nvSpPr>
          <p:cNvPr id="19" name="s4-dot-4">
            <a:extLst xmlns:a="http://schemas.openxmlformats.org/drawingml/2006/main">
              <a:ext uri="{FF2B5EF4-FFF2-40B4-BE49-F238E27FC236}">
                <a16:creationId xmlns:a16="http://schemas.microsoft.com/office/drawing/2014/main" id="{01427859-E120-4E58-B472-C9EB927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57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4-question-4">
            <a:extLst xmlns:a="http://schemas.openxmlformats.org/drawingml/2006/main">
              <a:ext uri="{FF2B5EF4-FFF2-40B4-BE49-F238E27FC236}">
                <a16:creationId xmlns:a16="http://schemas.microsoft.com/office/drawing/2014/main" id="{61715E75-8116-438D-8C45-542E28EA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720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evidence will remain?</a:t>
            </a:r>
          </a:p>
        </p:txBody>
      </p:sp>
      <p:sp>
        <p:nvSpPr>
          <p:cNvPr id="21" name="divider">
            <a:extLst xmlns:a="http://schemas.openxmlformats.org/drawingml/2006/main">
              <a:ext uri="{FF2B5EF4-FFF2-40B4-BE49-F238E27FC236}">
                <a16:creationId xmlns:a16="http://schemas.microsoft.com/office/drawing/2014/main" id="{FCC3D4DF-74E9-434A-A688-565D543A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B531C11-23E6-4E8D-9E51-09A377D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Capability may propose an action. The institution determines what may execute.</a:t>
            </a:r>
          </a:p>
        </p:txBody>
      </p:sp>
    </p:spTree>
    <p:extLst>
      <p:ext uri="{BB962C8B-B14F-4D97-AF65-F5344CB8AC3E}">
        <p14:creationId xmlns:p14="http://schemas.microsoft.com/office/powerpoint/2010/main" val="1620102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9b5bb9f46404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5A712B-78FE-4BE0-B511-EA7EA74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31CC4CD-94AC-49D3-8BC8-462F193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7B8005E-C528-4C3C-82B6-C318B364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1ADC33E2-E32F-4EDE-8D87-0C9A620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35BBF2-5FE1-4029-9C85-48A448DC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provides the Trusted Execution Layer</a:t>
            </a:r>
          </a:p>
        </p:txBody>
      </p:sp>
      <p:sp>
        <p:nvSpPr>
          <p:cNvPr id="7" name="pill-PEOPLE">
            <a:extLst xmlns:a="http://schemas.openxmlformats.org/drawingml/2006/main">
              <a:ext uri="{FF2B5EF4-FFF2-40B4-BE49-F238E27FC236}">
                <a16:creationId xmlns:a16="http://schemas.microsoft.com/office/drawing/2014/main" id="{89744F1B-1B2F-4E6C-AD96-F0EBD334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pill-text-PEOPLE">
            <a:extLst xmlns:a="http://schemas.openxmlformats.org/drawingml/2006/main">
              <a:ext uri="{FF2B5EF4-FFF2-40B4-BE49-F238E27FC236}">
                <a16:creationId xmlns:a16="http://schemas.microsoft.com/office/drawing/2014/main" id="{D651E36A-9E72-4FB6-89A6-F911F99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9" name="pill-ORGANIZATIONS">
            <a:extLst xmlns:a="http://schemas.openxmlformats.org/drawingml/2006/main">
              <a:ext uri="{FF2B5EF4-FFF2-40B4-BE49-F238E27FC236}">
                <a16:creationId xmlns:a16="http://schemas.microsoft.com/office/drawing/2014/main" id="{B498AE02-C449-4BEC-8DD7-AA4E7C0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pill-text-ORGANIZATIONS">
            <a:extLst xmlns:a="http://schemas.openxmlformats.org/drawingml/2006/main">
              <a:ext uri="{FF2B5EF4-FFF2-40B4-BE49-F238E27FC236}">
                <a16:creationId xmlns:a16="http://schemas.microsoft.com/office/drawing/2014/main" id="{AF8818C8-9DFE-420E-BC16-04F4E082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ORGANIZATIONS</a:t>
            </a:r>
          </a:p>
        </p:txBody>
      </p:sp>
      <p:sp>
        <p:nvSpPr>
          <p:cNvPr id="11" name="pill-APPLICATIONS">
            <a:extLst xmlns:a="http://schemas.openxmlformats.org/drawingml/2006/main">
              <a:ext uri="{FF2B5EF4-FFF2-40B4-BE49-F238E27FC236}">
                <a16:creationId xmlns:a16="http://schemas.microsoft.com/office/drawing/2014/main" id="{48D34AFA-D94F-4518-A667-38614A8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pill-text-APPLICATIONS">
            <a:extLst xmlns:a="http://schemas.openxmlformats.org/drawingml/2006/main">
              <a:ext uri="{FF2B5EF4-FFF2-40B4-BE49-F238E27FC236}">
                <a16:creationId xmlns:a16="http://schemas.microsoft.com/office/drawing/2014/main" id="{B2C6A98A-C355-4D40-8DD9-C1D4BA4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3" name="pill-AI AGENTS">
            <a:extLst xmlns:a="http://schemas.openxmlformats.org/drawingml/2006/main">
              <a:ext uri="{FF2B5EF4-FFF2-40B4-BE49-F238E27FC236}">
                <a16:creationId xmlns:a16="http://schemas.microsoft.com/office/drawing/2014/main" id="{E8393D98-ACDD-45DD-9A69-D6C2DA3A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pill-text-AI AGENTS">
            <a:extLst xmlns:a="http://schemas.openxmlformats.org/drawingml/2006/main">
              <a:ext uri="{FF2B5EF4-FFF2-40B4-BE49-F238E27FC236}">
                <a16:creationId xmlns:a16="http://schemas.microsoft.com/office/drawing/2014/main" id="{5CF85FB6-9A11-4855-AC02-36E17F36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5" name="s5-layer">
            <a:extLst xmlns:a="http://schemas.openxmlformats.org/drawingml/2006/main">
              <a:ext uri="{FF2B5EF4-FFF2-40B4-BE49-F238E27FC236}">
                <a16:creationId xmlns:a16="http://schemas.microsoft.com/office/drawing/2014/main" id="{4382F91D-11E1-4391-A4B9-695C594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4394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sp>
        <p:nvSpPr>
          <p:cNvPr id="16" name="s5-layer-kicker">
            <a:extLst xmlns:a="http://schemas.openxmlformats.org/drawingml/2006/main">
              <a:ext uri="{FF2B5EF4-FFF2-40B4-BE49-F238E27FC236}">
                <a16:creationId xmlns:a16="http://schemas.microsoft.com/office/drawing/2014/main" id="{62071D40-65C8-4E7C-893E-AF966CC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CIRCULARO</a:t>
            </a:r>
          </a:p>
        </p:txBody>
      </p:sp>
      <p:sp>
        <p:nvSpPr>
          <p:cNvPr id="17" name="s5-layer-title">
            <a:extLst xmlns:a="http://schemas.openxmlformats.org/drawingml/2006/main">
              <a:ext uri="{FF2B5EF4-FFF2-40B4-BE49-F238E27FC236}">
                <a16:creationId xmlns:a16="http://schemas.microsoft.com/office/drawing/2014/main" id="{AACE0C87-277D-4E79-91E4-5A2B1E90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 Layer</a:t>
            </a:r>
          </a:p>
        </p:txBody>
      </p:sp>
      <p:sp>
        <p:nvSpPr>
          <p:cNvPr id="18" name="pill-IDENTITY">
            <a:extLst xmlns:a="http://schemas.openxmlformats.org/drawingml/2006/main">
              <a:ext uri="{FF2B5EF4-FFF2-40B4-BE49-F238E27FC236}">
                <a16:creationId xmlns:a16="http://schemas.microsoft.com/office/drawing/2014/main" id="{01871D97-A8CE-4246-A670-2250B6E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29200"/>
            <a:ext cx="1447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9" name="pill-text-IDENTITY">
            <a:extLst xmlns:a="http://schemas.openxmlformats.org/drawingml/2006/main">
              <a:ext uri="{FF2B5EF4-FFF2-40B4-BE49-F238E27FC236}">
                <a16:creationId xmlns:a16="http://schemas.microsoft.com/office/drawing/2014/main" id="{24281BDA-7B0C-42DF-8E62-5A410DD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24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20" name="pill-AUTHORITY">
            <a:extLst xmlns:a="http://schemas.openxmlformats.org/drawingml/2006/main">
              <a:ext uri="{FF2B5EF4-FFF2-40B4-BE49-F238E27FC236}">
                <a16:creationId xmlns:a16="http://schemas.microsoft.com/office/drawing/2014/main" id="{497ECDC3-E68C-4D0C-9C2E-F672573B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29200"/>
            <a:ext cx="1447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1" name="pill-text-AUTHORITY">
            <a:extLst xmlns:a="http://schemas.openxmlformats.org/drawingml/2006/main">
              <a:ext uri="{FF2B5EF4-FFF2-40B4-BE49-F238E27FC236}">
                <a16:creationId xmlns:a16="http://schemas.microsoft.com/office/drawing/2014/main" id="{9087429D-346B-46E4-B308-1CD651AF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124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22" name="pill-POLICY">
            <a:extLst xmlns:a="http://schemas.openxmlformats.org/drawingml/2006/main">
              <a:ext uri="{FF2B5EF4-FFF2-40B4-BE49-F238E27FC236}">
                <a16:creationId xmlns:a16="http://schemas.microsoft.com/office/drawing/2014/main" id="{2BE1F106-AB69-4B57-9E38-DC11FB5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29200"/>
            <a:ext cx="1447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3" name="pill-text-POLICY">
            <a:extLst xmlns:a="http://schemas.openxmlformats.org/drawingml/2006/main">
              <a:ext uri="{FF2B5EF4-FFF2-40B4-BE49-F238E27FC236}">
                <a16:creationId xmlns:a16="http://schemas.microsoft.com/office/drawing/2014/main" id="{E6C4A060-B5C4-4420-A630-CD370F22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24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24" name="pill-APPROVAL">
            <a:extLst xmlns:a="http://schemas.openxmlformats.org/drawingml/2006/main">
              <a:ext uri="{FF2B5EF4-FFF2-40B4-BE49-F238E27FC236}">
                <a16:creationId xmlns:a16="http://schemas.microsoft.com/office/drawing/2014/main" id="{81E3E149-FFA0-4FEE-8514-1B671E9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029200"/>
            <a:ext cx="1447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5" name="pill-text-APPROVAL">
            <a:extLst xmlns:a="http://schemas.openxmlformats.org/drawingml/2006/main">
              <a:ext uri="{FF2B5EF4-FFF2-40B4-BE49-F238E27FC236}">
                <a16:creationId xmlns:a16="http://schemas.microsoft.com/office/drawing/2014/main" id="{72013BF1-A7FF-4E94-AE60-04A83940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24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6" name="pill-TRUST">
            <a:extLst xmlns:a="http://schemas.openxmlformats.org/drawingml/2006/main">
              <a:ext uri="{FF2B5EF4-FFF2-40B4-BE49-F238E27FC236}">
                <a16:creationId xmlns:a16="http://schemas.microsoft.com/office/drawing/2014/main" id="{17DD83E6-75D9-4AC3-9F88-7C0E8219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29200"/>
            <a:ext cx="1447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7" name="pill-text-TRUST">
            <a:extLst xmlns:a="http://schemas.openxmlformats.org/drawingml/2006/main">
              <a:ext uri="{FF2B5EF4-FFF2-40B4-BE49-F238E27FC236}">
                <a16:creationId xmlns:a16="http://schemas.microsoft.com/office/drawing/2014/main" id="{FFFF863E-E536-49FD-AEDB-81EC7F83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124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28" name="pill-EVIDENCE">
            <a:extLst xmlns:a="http://schemas.openxmlformats.org/drawingml/2006/main">
              <a:ext uri="{FF2B5EF4-FFF2-40B4-BE49-F238E27FC236}">
                <a16:creationId xmlns:a16="http://schemas.microsoft.com/office/drawing/2014/main" id="{EC2B83EE-F124-4C4E-B129-68E2B92F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29200"/>
            <a:ext cx="1447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9" name="pill-text-EVIDENCE">
            <a:extLst xmlns:a="http://schemas.openxmlformats.org/drawingml/2006/main">
              <a:ext uri="{FF2B5EF4-FFF2-40B4-BE49-F238E27FC236}">
                <a16:creationId xmlns:a16="http://schemas.microsoft.com/office/drawing/2014/main" id="{52FBF8C4-FCE4-44EB-B416-AAAA324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124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0" name="pill-RECORDS">
            <a:extLst xmlns:a="http://schemas.openxmlformats.org/drawingml/2006/main">
              <a:ext uri="{FF2B5EF4-FFF2-40B4-BE49-F238E27FC236}">
                <a16:creationId xmlns:a16="http://schemas.microsoft.com/office/drawing/2014/main" id="{A64B565C-6EE9-4C1E-A665-6065DF1D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029200"/>
            <a:ext cx="1447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31" name="pill-text-RECORDS">
            <a:extLst xmlns:a="http://schemas.openxmlformats.org/drawingml/2006/main">
              <a:ext uri="{FF2B5EF4-FFF2-40B4-BE49-F238E27FC236}">
                <a16:creationId xmlns:a16="http://schemas.microsoft.com/office/drawing/2014/main" id="{8F6D39ED-AB09-4761-A56B-65A96FFD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124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RECORDS</a:t>
            </a:r>
          </a:p>
        </p:txBody>
      </p:sp>
      <p:sp>
        <p:nvSpPr>
          <p:cNvPr id="32" name="divider">
            <a:extLst xmlns:a="http://schemas.openxmlformats.org/drawingml/2006/main">
              <a:ext uri="{FF2B5EF4-FFF2-40B4-BE49-F238E27FC236}">
                <a16:creationId xmlns:a16="http://schemas.microsoft.com/office/drawing/2014/main" id="{BA8D26B3-3726-4BE3-B502-61CF9DBC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070D2A9-8FE3-43AF-B961-040EF06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Institutional control remains connected to actual execution.</a:t>
            </a:r>
          </a:p>
        </p:txBody>
      </p:sp>
    </p:spTree>
    <p:extLst>
      <p:ext uri="{BB962C8B-B14F-4D97-AF65-F5344CB8AC3E}">
        <p14:creationId xmlns:p14="http://schemas.microsoft.com/office/powerpoint/2010/main" val="2022778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aba50ddbf485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7D6C5C9-3725-4640-A193-043BC1DD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F8816EA-A608-4D40-9D9D-2B14DA82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07A79F9-22D5-42FB-BF58-7774A433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33C1178-E24B-4514-A40A-7996F4DF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CD446-28A2-48EC-8628-8F3CACB9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trust layer connects every kind of digital actor</a:t>
            </a:r>
          </a:p>
        </p:txBody>
      </p:sp>
      <p:sp>
        <p:nvSpPr>
          <p:cNvPr id="7" name="s6-panel-0">
            <a:extLst xmlns:a="http://schemas.openxmlformats.org/drawingml/2006/main">
              <a:ext uri="{FF2B5EF4-FFF2-40B4-BE49-F238E27FC236}">
                <a16:creationId xmlns:a16="http://schemas.microsoft.com/office/drawing/2014/main" id="{E44D5339-3945-460E-8918-C1F16054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590800" cy="29527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229ddd41d40d6"/>
          <a:stretch xmlns:a="http://schemas.openxmlformats.org/drawingml/2006/main"/>
        </p:blipFill>
        <p:spPr>
          <a:xfrm xmlns:a="http://schemas.openxmlformats.org/drawingml/2006/main">
            <a:off x="1247775" y="26860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9" name="s6-title-0">
            <a:extLst xmlns:a="http://schemas.openxmlformats.org/drawingml/2006/main">
              <a:ext uri="{FF2B5EF4-FFF2-40B4-BE49-F238E27FC236}">
                <a16:creationId xmlns:a16="http://schemas.microsoft.com/office/drawing/2014/main" id="{F5215E35-2033-4F2B-9578-F2B4C937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10" name="s6-body-0">
            <a:extLst xmlns:a="http://schemas.openxmlformats.org/drawingml/2006/main">
              <a:ext uri="{FF2B5EF4-FFF2-40B4-BE49-F238E27FC236}">
                <a16:creationId xmlns:a16="http://schemas.microsoft.com/office/drawing/2014/main" id="{9973E1A2-E5AA-4094-8C30-B6616EC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Individuals acting in their own role</a:t>
            </a:r>
          </a:p>
        </p:txBody>
      </p:sp>
      <p:sp>
        <p:nvSpPr>
          <p:cNvPr id="11" name="s6-panel-1">
            <a:extLst xmlns:a="http://schemas.openxmlformats.org/drawingml/2006/main">
              <a:ext uri="{FF2B5EF4-FFF2-40B4-BE49-F238E27FC236}">
                <a16:creationId xmlns:a16="http://schemas.microsoft.com/office/drawing/2014/main" id="{CE2B2250-A156-4920-874D-6F7D676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590800" cy="29527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612249a4443a4"/>
          <a:stretch xmlns:a="http://schemas.openxmlformats.org/drawingml/2006/main"/>
        </p:blipFill>
        <p:spPr>
          <a:xfrm xmlns:a="http://schemas.openxmlformats.org/drawingml/2006/main">
            <a:off x="4067175" y="2792329"/>
            <a:ext cx="1009650" cy="797092"/>
          </a:xfrm>
          <a:prstGeom xmlns:a="http://schemas.openxmlformats.org/drawingml/2006/main" prst="rect">
            <a:avLst/>
          </a:prstGeom>
        </p:spPr>
      </p:pic>
      <p:sp>
        <p:nvSpPr>
          <p:cNvPr id="13" name="s6-title-1">
            <a:extLst xmlns:a="http://schemas.openxmlformats.org/drawingml/2006/main">
              <a:ext uri="{FF2B5EF4-FFF2-40B4-BE49-F238E27FC236}">
                <a16:creationId xmlns:a16="http://schemas.microsoft.com/office/drawing/2014/main" id="{1F5EB5E5-B772-46FA-B97F-7B535171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Organizations</a:t>
            </a:r>
          </a:p>
        </p:txBody>
      </p:sp>
      <p:sp>
        <p:nvSpPr>
          <p:cNvPr id="14" name="s6-body-1">
            <a:extLst xmlns:a="http://schemas.openxmlformats.org/drawingml/2006/main">
              <a:ext uri="{FF2B5EF4-FFF2-40B4-BE49-F238E27FC236}">
                <a16:creationId xmlns:a16="http://schemas.microsoft.com/office/drawing/2014/main" id="{7AB5A6D0-90EC-4362-85FD-D3DC4949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339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Entities represented through authority</a:t>
            </a:r>
          </a:p>
        </p:txBody>
      </p:sp>
      <p:sp>
        <p:nvSpPr>
          <p:cNvPr id="15" name="s6-panel-2">
            <a:extLst xmlns:a="http://schemas.openxmlformats.org/drawingml/2006/main">
              <a:ext uri="{FF2B5EF4-FFF2-40B4-BE49-F238E27FC236}">
                <a16:creationId xmlns:a16="http://schemas.microsoft.com/office/drawing/2014/main" id="{CC967A73-D20A-4C6B-98D4-5A7EC236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590800" cy="29527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f9f5132a34cfe"/>
          <a:stretch xmlns:a="http://schemas.openxmlformats.org/drawingml/2006/main"/>
        </p:blipFill>
        <p:spPr>
          <a:xfrm xmlns:a="http://schemas.openxmlformats.org/drawingml/2006/main">
            <a:off x="6886575" y="2770188"/>
            <a:ext cx="1009650" cy="841375"/>
          </a:xfrm>
          <a:prstGeom xmlns:a="http://schemas.openxmlformats.org/drawingml/2006/main" prst="rect">
            <a:avLst/>
          </a:prstGeom>
        </p:spPr>
      </p:pic>
      <p:sp>
        <p:nvSpPr>
          <p:cNvPr id="17" name="s6-title-2">
            <a:extLst xmlns:a="http://schemas.openxmlformats.org/drawingml/2006/main">
              <a:ext uri="{FF2B5EF4-FFF2-40B4-BE49-F238E27FC236}">
                <a16:creationId xmlns:a16="http://schemas.microsoft.com/office/drawing/2014/main" id="{5AD087D1-6B36-49E3-8671-CCA0882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8" name="s6-body-2">
            <a:extLst xmlns:a="http://schemas.openxmlformats.org/drawingml/2006/main">
              <a:ext uri="{FF2B5EF4-FFF2-40B4-BE49-F238E27FC236}">
                <a16:creationId xmlns:a16="http://schemas.microsoft.com/office/drawing/2014/main" id="{BA9D8120-9438-4EA8-8715-69AD0724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 invoking governed services</a:t>
            </a:r>
          </a:p>
        </p:txBody>
      </p:sp>
      <p:sp>
        <p:nvSpPr>
          <p:cNvPr id="19" name="s6-panel-3">
            <a:extLst xmlns:a="http://schemas.openxmlformats.org/drawingml/2006/main">
              <a:ext uri="{FF2B5EF4-FFF2-40B4-BE49-F238E27FC236}">
                <a16:creationId xmlns:a16="http://schemas.microsoft.com/office/drawing/2014/main" id="{F5F9E784-C6AC-4B54-8ABB-3FCF87C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590800" cy="29527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2872a756449fb"/>
          <a:stretch xmlns:a="http://schemas.openxmlformats.org/drawingml/2006/main"/>
        </p:blipFill>
        <p:spPr>
          <a:xfrm xmlns:a="http://schemas.openxmlformats.org/drawingml/2006/main">
            <a:off x="9705975" y="2770188"/>
            <a:ext cx="1009650" cy="841375"/>
          </a:xfrm>
          <a:prstGeom xmlns:a="http://schemas.openxmlformats.org/drawingml/2006/main" prst="rect">
            <a:avLst/>
          </a:prstGeom>
        </p:spPr>
      </p:pic>
      <p:sp>
        <p:nvSpPr>
          <p:cNvPr id="21" name="s6-title-3">
            <a:extLst xmlns:a="http://schemas.openxmlformats.org/drawingml/2006/main">
              <a:ext uri="{FF2B5EF4-FFF2-40B4-BE49-F238E27FC236}">
                <a16:creationId xmlns:a16="http://schemas.microsoft.com/office/drawing/2014/main" id="{8ABF9D98-7F8A-4517-AAD5-7560C4CD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22" name="s6-body-3">
            <a:extLst xmlns:a="http://schemas.openxmlformats.org/drawingml/2006/main">
              <a:ext uri="{FF2B5EF4-FFF2-40B4-BE49-F238E27FC236}">
                <a16:creationId xmlns:a16="http://schemas.microsoft.com/office/drawing/2014/main" id="{EBDE4DA9-5CAD-47E5-81DA-02C529D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Software acting within permitted bounds</a:t>
            </a:r>
          </a:p>
        </p:txBody>
      </p:sp>
      <p:sp>
        <p:nvSpPr>
          <p:cNvPr id="23" name="divider">
            <a:extLst xmlns:a="http://schemas.openxmlformats.org/drawingml/2006/main">
              <a:ext uri="{FF2B5EF4-FFF2-40B4-BE49-F238E27FC236}">
                <a16:creationId xmlns:a16="http://schemas.microsoft.com/office/drawing/2014/main" id="{7294F9CD-548C-496D-A3AD-E038ACEB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36BD7B9-ED7E-4BB4-9F0C-78F297C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actor changes. The governance and evidence model remains consistent.</a:t>
            </a:r>
          </a:p>
        </p:txBody>
      </p:sp>
    </p:spTree>
    <p:extLst>
      <p:ext uri="{BB962C8B-B14F-4D97-AF65-F5344CB8AC3E}">
        <p14:creationId xmlns:p14="http://schemas.microsoft.com/office/powerpoint/2010/main" val="133814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08766445d459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F5A302-AD96-44FB-890A-D916D6D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99AF5FB-B626-4435-A04E-570337F1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0944965-8C55-4C42-A290-C115377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7DECAD04-0659-446E-9ADE-06A482FD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AB26BF-B84E-4F30-B976-1AD779E4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unifies process, trust, and evidence</a:t>
            </a:r>
          </a:p>
        </p:txBody>
      </p:sp>
      <p:sp>
        <p:nvSpPr>
          <p:cNvPr id="7" name="s7-column-0">
            <a:extLst xmlns:a="http://schemas.openxmlformats.org/drawingml/2006/main">
              <a:ext uri="{FF2B5EF4-FFF2-40B4-BE49-F238E27FC236}">
                <a16:creationId xmlns:a16="http://schemas.microsoft.com/office/drawing/2014/main" id="{C97CF021-3A14-444C-8D0E-0164362A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46ef6002846e0"/>
          <a:stretch xmlns:a="http://schemas.openxmlformats.org/drawingml/2006/main"/>
        </p:blipFill>
        <p:spPr>
          <a:xfrm xmlns:a="http://schemas.openxmlformats.org/drawingml/2006/main">
            <a:off x="1771650" y="2701925"/>
            <a:ext cx="971550" cy="863600"/>
          </a:xfrm>
          <a:prstGeom xmlns:a="http://schemas.openxmlformats.org/drawingml/2006/main" prst="rect">
            <a:avLst/>
          </a:prstGeom>
        </p:spPr>
      </p:pic>
      <p:sp>
        <p:nvSpPr>
          <p:cNvPr id="9" name="s7-label-0">
            <a:extLst xmlns:a="http://schemas.openxmlformats.org/drawingml/2006/main">
              <a:ext uri="{FF2B5EF4-FFF2-40B4-BE49-F238E27FC236}">
                <a16:creationId xmlns:a16="http://schemas.microsoft.com/office/drawing/2014/main" id="{C9FAA915-240D-406D-A03B-2CBE6FD0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BUSINESS PROCESSES</a:t>
            </a:r>
          </a:p>
        </p:txBody>
      </p:sp>
      <p:sp>
        <p:nvSpPr>
          <p:cNvPr id="10" name="s7-body-0">
            <a:extLst xmlns:a="http://schemas.openxmlformats.org/drawingml/2006/main">
              <a:ext uri="{FF2B5EF4-FFF2-40B4-BE49-F238E27FC236}">
                <a16:creationId xmlns:a16="http://schemas.microsoft.com/office/drawing/2014/main" id="{3BFD3CA5-32CB-410C-BF29-C32FEC3C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3028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 · Collaborate</a:t>
            </a:r>
          </a:p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 · Approval</a:t>
            </a:r>
          </a:p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Automation</a:t>
            </a:r>
          </a:p>
        </p:txBody>
      </p:sp>
      <p:sp>
        <p:nvSpPr>
          <p:cNvPr id="11" name="s7-column-1">
            <a:extLst xmlns:a="http://schemas.openxmlformats.org/drawingml/2006/main">
              <a:ext uri="{FF2B5EF4-FFF2-40B4-BE49-F238E27FC236}">
                <a16:creationId xmlns:a16="http://schemas.microsoft.com/office/drawing/2014/main" id="{82354AEB-93C1-4B0F-B420-7A50F9FC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91c8ba35040de"/>
          <a:stretch xmlns:a="http://schemas.openxmlformats.org/drawingml/2006/main"/>
        </p:blipFill>
        <p:spPr>
          <a:xfrm xmlns:a="http://schemas.openxmlformats.org/drawingml/2006/main">
            <a:off x="5600700" y="26479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13" name="s7-label-1">
            <a:extLst xmlns:a="http://schemas.openxmlformats.org/drawingml/2006/main">
              <a:ext uri="{FF2B5EF4-FFF2-40B4-BE49-F238E27FC236}">
                <a16:creationId xmlns:a16="http://schemas.microsoft.com/office/drawing/2014/main" id="{A89B2F2D-FF99-4D6A-993B-717F4D7E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14" name="s7-body-1">
            <a:extLst xmlns:a="http://schemas.openxmlformats.org/drawingml/2006/main">
              <a:ext uri="{FF2B5EF4-FFF2-40B4-BE49-F238E27FC236}">
                <a16:creationId xmlns:a16="http://schemas.microsoft.com/office/drawing/2014/main" id="{5736BBBB-D339-42E8-9BE6-49F152B8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3028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· Authority</a:t>
            </a:r>
          </a:p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Signatures · Seals</a:t>
            </a:r>
          </a:p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Verification</a:t>
            </a:r>
          </a:p>
        </p:txBody>
      </p:sp>
      <p:sp>
        <p:nvSpPr>
          <p:cNvPr id="15" name="s7-column-2">
            <a:extLst xmlns:a="http://schemas.openxmlformats.org/drawingml/2006/main">
              <a:ext uri="{FF2B5EF4-FFF2-40B4-BE49-F238E27FC236}">
                <a16:creationId xmlns:a16="http://schemas.microsoft.com/office/drawing/2014/main" id="{CAF6A0A9-41E0-4413-A6D9-8D01E305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ec23e6abc4261"/>
          <a:stretch xmlns:a="http://schemas.openxmlformats.org/drawingml/2006/main"/>
        </p:blipFill>
        <p:spPr>
          <a:xfrm xmlns:a="http://schemas.openxmlformats.org/drawingml/2006/main">
            <a:off x="9429750" y="2701925"/>
            <a:ext cx="971550" cy="863600"/>
          </a:xfrm>
          <a:prstGeom xmlns:a="http://schemas.openxmlformats.org/drawingml/2006/main" prst="rect">
            <a:avLst/>
          </a:prstGeom>
        </p:spPr>
      </p:pic>
      <p:sp>
        <p:nvSpPr>
          <p:cNvPr id="17" name="s7-label-2">
            <a:extLst xmlns:a="http://schemas.openxmlformats.org/drawingml/2006/main">
              <a:ext uri="{FF2B5EF4-FFF2-40B4-BE49-F238E27FC236}">
                <a16:creationId xmlns:a16="http://schemas.microsoft.com/office/drawing/2014/main" id="{AC0A9EF6-FC11-48B7-B90C-A834A591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18" name="s7-body-2">
            <a:extLst xmlns:a="http://schemas.openxmlformats.org/drawingml/2006/main">
              <a:ext uri="{FF2B5EF4-FFF2-40B4-BE49-F238E27FC236}">
                <a16:creationId xmlns:a16="http://schemas.microsoft.com/office/drawing/2014/main" id="{8608BA4E-8A2E-4057-9ACE-BC3CB417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3028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 · Audit</a:t>
            </a:r>
          </a:p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 · Retrieval</a:t>
            </a:r>
          </a:p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Institutional memory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63E4058E-E5B1-4EE2-A32E-B01604EC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line">
            <a:extLst xmlns:a="http://schemas.openxmlformats.org/drawingml/2006/main">
              <a:ext uri="{FF2B5EF4-FFF2-40B4-BE49-F238E27FC236}">
                <a16:creationId xmlns:a16="http://schemas.microsoft.com/office/drawing/2014/main" id="{2895380C-E2E7-4DEF-A400-274605C9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One platform · One governance model · One continuous evidence chain.</a:t>
            </a:r>
          </a:p>
        </p:txBody>
      </p:sp>
    </p:spTree>
    <p:extLst>
      <p:ext uri="{BB962C8B-B14F-4D97-AF65-F5344CB8AC3E}">
        <p14:creationId xmlns:p14="http://schemas.microsoft.com/office/powerpoint/2010/main" val="1123453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34df34abe4af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07D716-E0FE-41AB-961F-35DBF5C4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8C60B07-E5F1-4F65-84F1-CA934077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67D4EBE-1194-4C7C-B2E1-212BB56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E9AA272F-6E77-49AB-AA4A-EC3AE48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598A28-755C-4D86-9B2B-C2B070A1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remains connected across the full lifecycle</a:t>
            </a:r>
          </a:p>
        </p:txBody>
      </p:sp>
      <p:sp>
        <p:nvSpPr>
          <p:cNvPr id="7" name="s8-subtitle">
            <a:extLst xmlns:a="http://schemas.openxmlformats.org/drawingml/2006/main">
              <a:ext uri="{FF2B5EF4-FFF2-40B4-BE49-F238E27FC236}">
                <a16:creationId xmlns:a16="http://schemas.microsoft.com/office/drawing/2014/main" id="{86CE6F96-789F-4F1A-98CD-D6D137F0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The signature is one trust event within a broader governed execution.</a:t>
            </a:r>
          </a:p>
        </p:txBody>
      </p:sp>
      <p:sp>
        <p:nvSpPr>
          <p:cNvPr id="8" name="s8-baseline">
            <a:extLst xmlns:a="http://schemas.openxmlformats.org/drawingml/2006/main">
              <a:ext uri="{FF2B5EF4-FFF2-40B4-BE49-F238E27FC236}">
                <a16:creationId xmlns:a16="http://schemas.microsoft.com/office/drawing/2014/main" id="{5BF8638B-9165-4E40-849E-7CDF7C0F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0172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8-node-0">
            <a:extLst xmlns:a="http://schemas.openxmlformats.org/drawingml/2006/main">
              <a:ext uri="{FF2B5EF4-FFF2-40B4-BE49-F238E27FC236}">
                <a16:creationId xmlns:a16="http://schemas.microsoft.com/office/drawing/2014/main" id="{A988B143-9917-4B43-883D-162CAAA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s8-num-0">
            <a:extLst xmlns:a="http://schemas.openxmlformats.org/drawingml/2006/main">
              <a:ext uri="{FF2B5EF4-FFF2-40B4-BE49-F238E27FC236}">
                <a16:creationId xmlns:a16="http://schemas.microsoft.com/office/drawing/2014/main" id="{C739CA1C-65EF-43D8-A9F3-782A6BE4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1" name="s8-stage-0">
            <a:extLst xmlns:a="http://schemas.openxmlformats.org/drawingml/2006/main">
              <a:ext uri="{FF2B5EF4-FFF2-40B4-BE49-F238E27FC236}">
                <a16:creationId xmlns:a16="http://schemas.microsoft.com/office/drawing/2014/main" id="{14CBB646-DC2A-4B55-A7F5-048BD70A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958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2" name="s8-node-1">
            <a:extLst xmlns:a="http://schemas.openxmlformats.org/drawingml/2006/main">
              <a:ext uri="{FF2B5EF4-FFF2-40B4-BE49-F238E27FC236}">
                <a16:creationId xmlns:a16="http://schemas.microsoft.com/office/drawing/2014/main" id="{7F8B76AB-F592-486B-BB11-C8D7A4D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04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3" name="s8-num-1">
            <a:extLst xmlns:a="http://schemas.openxmlformats.org/drawingml/2006/main">
              <a:ext uri="{FF2B5EF4-FFF2-40B4-BE49-F238E27FC236}">
                <a16:creationId xmlns:a16="http://schemas.microsoft.com/office/drawing/2014/main" id="{20B25609-ACE6-4E70-8B6F-15C2A1A3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s8-stage-1">
            <a:extLst xmlns:a="http://schemas.openxmlformats.org/drawingml/2006/main">
              <a:ext uri="{FF2B5EF4-FFF2-40B4-BE49-F238E27FC236}">
                <a16:creationId xmlns:a16="http://schemas.microsoft.com/office/drawing/2014/main" id="{C7D07FA3-C712-43FD-9EB5-A4ACEF03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5" name="s8-node-2">
            <a:extLst xmlns:a="http://schemas.openxmlformats.org/drawingml/2006/main">
              <a:ext uri="{FF2B5EF4-FFF2-40B4-BE49-F238E27FC236}">
                <a16:creationId xmlns:a16="http://schemas.microsoft.com/office/drawing/2014/main" id="{2D7851D0-26B2-48E1-9D23-4F81D95C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6" name="s8-num-2">
            <a:extLst xmlns:a="http://schemas.openxmlformats.org/drawingml/2006/main">
              <a:ext uri="{FF2B5EF4-FFF2-40B4-BE49-F238E27FC236}">
                <a16:creationId xmlns:a16="http://schemas.microsoft.com/office/drawing/2014/main" id="{81E26D2E-B15D-4DFE-BA60-9E916C1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48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s8-stage-2">
            <a:extLst xmlns:a="http://schemas.openxmlformats.org/drawingml/2006/main">
              <a:ext uri="{FF2B5EF4-FFF2-40B4-BE49-F238E27FC236}">
                <a16:creationId xmlns:a16="http://schemas.microsoft.com/office/drawing/2014/main" id="{61EF0DC7-4214-4F32-9BA0-45598847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958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8" name="s8-node-3">
            <a:extLst xmlns:a="http://schemas.openxmlformats.org/drawingml/2006/main">
              <a:ext uri="{FF2B5EF4-FFF2-40B4-BE49-F238E27FC236}">
                <a16:creationId xmlns:a16="http://schemas.microsoft.com/office/drawing/2014/main" id="{1B1BAE30-0758-4CCD-A502-2B3203A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sp>
        <p:nvSpPr>
          <p:cNvPr id="19" name="s8-num-3">
            <a:extLst xmlns:a="http://schemas.openxmlformats.org/drawingml/2006/main">
              <a:ext uri="{FF2B5EF4-FFF2-40B4-BE49-F238E27FC236}">
                <a16:creationId xmlns:a16="http://schemas.microsoft.com/office/drawing/2014/main" id="{4CC96AFF-9DBB-42D6-9B82-B023B66B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0" name="s8-stage-3">
            <a:extLst xmlns:a="http://schemas.openxmlformats.org/drawingml/2006/main">
              <a:ext uri="{FF2B5EF4-FFF2-40B4-BE49-F238E27FC236}">
                <a16:creationId xmlns:a16="http://schemas.microsoft.com/office/drawing/2014/main" id="{9230346A-28AD-4174-93C3-1705EEE1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1" name="s8-node-4">
            <a:extLst xmlns:a="http://schemas.openxmlformats.org/drawingml/2006/main">
              <a:ext uri="{FF2B5EF4-FFF2-40B4-BE49-F238E27FC236}">
                <a16:creationId xmlns:a16="http://schemas.microsoft.com/office/drawing/2014/main" id="{7B5A9EC4-5B30-4067-8032-8EFEEF7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2" name="s8-num-4">
            <a:extLst xmlns:a="http://schemas.openxmlformats.org/drawingml/2006/main">
              <a:ext uri="{FF2B5EF4-FFF2-40B4-BE49-F238E27FC236}">
                <a16:creationId xmlns:a16="http://schemas.microsoft.com/office/drawing/2014/main" id="{41FB7EE6-8418-4DCF-BF5C-1C5FE50E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3" name="s8-stage-4">
            <a:extLst xmlns:a="http://schemas.openxmlformats.org/drawingml/2006/main">
              <a:ext uri="{FF2B5EF4-FFF2-40B4-BE49-F238E27FC236}">
                <a16:creationId xmlns:a16="http://schemas.microsoft.com/office/drawing/2014/main" id="{E656B3B6-B75B-4F58-9ECF-E8528F6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958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Verify</a:t>
            </a:r>
          </a:p>
        </p:txBody>
      </p:sp>
      <p:sp>
        <p:nvSpPr>
          <p:cNvPr id="24" name="s8-node-5">
            <a:extLst xmlns:a="http://schemas.openxmlformats.org/drawingml/2006/main">
              <a:ext uri="{FF2B5EF4-FFF2-40B4-BE49-F238E27FC236}">
                <a16:creationId xmlns:a16="http://schemas.microsoft.com/office/drawing/2014/main" id="{BFA7A67D-A3C1-47E6-B438-95CF2BAD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004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5" name="s8-num-5">
            <a:extLst xmlns:a="http://schemas.openxmlformats.org/drawingml/2006/main">
              <a:ext uri="{FF2B5EF4-FFF2-40B4-BE49-F238E27FC236}">
                <a16:creationId xmlns:a16="http://schemas.microsoft.com/office/drawing/2014/main" id="{86A0685A-6CD0-4C7F-BE8B-CE8C9030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448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6" name="s8-stage-5">
            <a:extLst xmlns:a="http://schemas.openxmlformats.org/drawingml/2006/main">
              <a:ext uri="{FF2B5EF4-FFF2-40B4-BE49-F238E27FC236}">
                <a16:creationId xmlns:a16="http://schemas.microsoft.com/office/drawing/2014/main" id="{BE9DE757-A166-4AAE-B602-04F29180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958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Preserve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715A66A5-B152-47AD-836E-ED01C638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5ED6830-53F1-46A3-83F6-8E5084F5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Every step contributes context to the trusted record.</a:t>
            </a:r>
          </a:p>
        </p:txBody>
      </p:sp>
    </p:spTree>
    <p:extLst>
      <p:ext uri="{BB962C8B-B14F-4D97-AF65-F5344CB8AC3E}">
        <p14:creationId xmlns:p14="http://schemas.microsoft.com/office/powerpoint/2010/main" val="1495565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7fa61dbb4449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CABDF2-D478-4B48-A873-8986392F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04D5B21-DD10-4C9B-91C9-1F2263C5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83F476C-23B7-4969-BD59-A969E99D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3FD6438-2A6C-4F8A-9689-4158B10C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127890-3CF5-483D-80B0-D09A23E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becomes programmable across digital channels</a:t>
            </a:r>
          </a:p>
        </p:txBody>
      </p:sp>
      <p:sp>
        <p:nvSpPr>
          <p:cNvPr id="7" name="s9-band-0">
            <a:extLst xmlns:a="http://schemas.openxmlformats.org/drawingml/2006/main">
              <a:ext uri="{FF2B5EF4-FFF2-40B4-BE49-F238E27FC236}">
                <a16:creationId xmlns:a16="http://schemas.microsoft.com/office/drawing/2014/main" id="{9A49837B-7590-46ED-967A-8839217E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s9-label-0">
            <a:extLst xmlns:a="http://schemas.openxmlformats.org/drawingml/2006/main">
              <a:ext uri="{FF2B5EF4-FFF2-40B4-BE49-F238E27FC236}">
                <a16:creationId xmlns:a16="http://schemas.microsoft.com/office/drawing/2014/main" id="{6DC63377-AFD4-4440-95F9-B710D37F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CHANNELS</a:t>
            </a:r>
          </a:p>
        </p:txBody>
      </p:sp>
      <p:sp>
        <p:nvSpPr>
          <p:cNvPr id="9" name="s9-text-0">
            <a:extLst xmlns:a="http://schemas.openxmlformats.org/drawingml/2006/main">
              <a:ext uri="{FF2B5EF4-FFF2-40B4-BE49-F238E27FC236}">
                <a16:creationId xmlns:a16="http://schemas.microsoft.com/office/drawing/2014/main" id="{2A5A439F-CC78-4777-B663-A2C3D04F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 · Portals · Enterprise systems · Applications · AI agents</a:t>
            </a:r>
          </a:p>
        </p:txBody>
      </p:sp>
      <p:sp>
        <p:nvSpPr>
          <p:cNvPr id="10" name="s9-band-1">
            <a:extLst xmlns:a="http://schemas.openxmlformats.org/drawingml/2006/main">
              <a:ext uri="{FF2B5EF4-FFF2-40B4-BE49-F238E27FC236}">
                <a16:creationId xmlns:a16="http://schemas.microsoft.com/office/drawing/2014/main" id="{707DCE35-B59E-4BBD-8605-BCCEFD2E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s9-label-1">
            <a:extLst xmlns:a="http://schemas.openxmlformats.org/drawingml/2006/main">
              <a:ext uri="{FF2B5EF4-FFF2-40B4-BE49-F238E27FC236}">
                <a16:creationId xmlns:a16="http://schemas.microsoft.com/office/drawing/2014/main" id="{3B98409D-F6B5-4B0E-8BB4-CE8B0A6F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GOVERNED API</a:t>
            </a:r>
          </a:p>
        </p:txBody>
      </p:sp>
      <p:sp>
        <p:nvSpPr>
          <p:cNvPr id="12" name="s9-text-1">
            <a:extLst xmlns:a="http://schemas.openxmlformats.org/drawingml/2006/main">
              <a:ext uri="{FF2B5EF4-FFF2-40B4-BE49-F238E27FC236}">
                <a16:creationId xmlns:a16="http://schemas.microsoft.com/office/drawing/2014/main" id="{7B23C6CD-BFA7-4FA0-95AB-069EE37C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· Authority · Policy · Approval · Execution · Evidence</a:t>
            </a:r>
          </a:p>
        </p:txBody>
      </p:sp>
      <p:sp>
        <p:nvSpPr>
          <p:cNvPr id="13" name="s9-band-2">
            <a:extLst xmlns:a="http://schemas.openxmlformats.org/drawingml/2006/main">
              <a:ext uri="{FF2B5EF4-FFF2-40B4-BE49-F238E27FC236}">
                <a16:creationId xmlns:a16="http://schemas.microsoft.com/office/drawing/2014/main" id="{41BBFCBD-5DC7-4C34-8054-80C82FE8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1D0090"/>
            </a:solidFill>
            <a:prstDash val="solid"/>
          </a:ln>
        </p:spPr>
      </p:sp>
      <p:sp>
        <p:nvSpPr>
          <p:cNvPr id="14" name="s9-label-2">
            <a:extLst xmlns:a="http://schemas.openxmlformats.org/drawingml/2006/main">
              <a:ext uri="{FF2B5EF4-FFF2-40B4-BE49-F238E27FC236}">
                <a16:creationId xmlns:a16="http://schemas.microsoft.com/office/drawing/2014/main" id="{43CACF3D-F13E-4F49-A037-661C9DF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5" name="s9-text-2">
            <a:extLst xmlns:a="http://schemas.openxmlformats.org/drawingml/2006/main">
              <a:ext uri="{FF2B5EF4-FFF2-40B4-BE49-F238E27FC236}">
                <a16:creationId xmlns:a16="http://schemas.microsoft.com/office/drawing/2014/main" id="{A8FE98E5-8A73-4699-A70E-81009B81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Consistent trust and evidence wherever digital work happens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A162AD59-C502-4E4E-981B-942E45E9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225B922-B026-4AEF-ACE8-FA9D72C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API extends the trust model; it does not bypass it.</a:t>
            </a:r>
          </a:p>
        </p:txBody>
      </p:sp>
    </p:spTree>
    <p:extLst>
      <p:ext uri="{BB962C8B-B14F-4D97-AF65-F5344CB8AC3E}">
        <p14:creationId xmlns:p14="http://schemas.microsoft.com/office/powerpoint/2010/main" val="321118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c9437e12f41a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C362C4-C3E4-441B-9E11-B85A0AD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67E7B7E-4F4A-4B84-A9C6-E7D7D13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B270626-210F-4152-B3D8-0529621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D880A67-5061-4FBD-BE37-06766CF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FA60A4-2436-4C10-9A29-3C98F014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platform supports three delivery models</a:t>
            </a:r>
          </a:p>
        </p:txBody>
      </p:sp>
      <p:sp>
        <p:nvSpPr>
          <p:cNvPr id="7" name="s10-num-0">
            <a:extLst xmlns:a="http://schemas.openxmlformats.org/drawingml/2006/main">
              <a:ext uri="{FF2B5EF4-FFF2-40B4-BE49-F238E27FC236}">
                <a16:creationId xmlns:a16="http://schemas.microsoft.com/office/drawing/2014/main" id="{5FF12390-03DA-4C59-A909-84DFAAA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8" name="s10-title-0">
            <a:extLst xmlns:a="http://schemas.openxmlformats.org/drawingml/2006/main">
              <a:ext uri="{FF2B5EF4-FFF2-40B4-BE49-F238E27FC236}">
                <a16:creationId xmlns:a16="http://schemas.microsoft.com/office/drawing/2014/main" id="{4DDFD383-F30C-4AF6-A510-902723E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SaaS</a:t>
            </a:r>
          </a:p>
        </p:txBody>
      </p:sp>
      <p:sp>
        <p:nvSpPr>
          <p:cNvPr id="9" name="s10-body-0">
            <a:extLst xmlns:a="http://schemas.openxmlformats.org/drawingml/2006/main">
              <a:ext uri="{FF2B5EF4-FFF2-40B4-BE49-F238E27FC236}">
                <a16:creationId xmlns:a16="http://schemas.microsoft.com/office/drawing/2014/main" id="{677F9EC9-91A8-4397-A823-049B447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Managed enterprise digital trust</a:t>
            </a:r>
          </a:p>
        </p:txBody>
      </p:sp>
      <p:sp>
        <p:nvSpPr>
          <p:cNvPr id="10" name="s10-num-1">
            <a:extLst xmlns:a="http://schemas.openxmlformats.org/drawingml/2006/main">
              <a:ext uri="{FF2B5EF4-FFF2-40B4-BE49-F238E27FC236}">
                <a16:creationId xmlns:a16="http://schemas.microsoft.com/office/drawing/2014/main" id="{B84EDD19-C1D7-4E4B-AE94-1D0E6BB1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11" name="s10-title-1">
            <a:extLst xmlns:a="http://schemas.openxmlformats.org/drawingml/2006/main">
              <a:ext uri="{FF2B5EF4-FFF2-40B4-BE49-F238E27FC236}">
                <a16:creationId xmlns:a16="http://schemas.microsoft.com/office/drawing/2014/main" id="{EE97B947-1740-4E79-A716-DAAF6DB5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Sovereign</a:t>
            </a:r>
          </a:p>
        </p:txBody>
      </p:sp>
      <p:sp>
        <p:nvSpPr>
          <p:cNvPr id="12" name="s10-body-1">
            <a:extLst xmlns:a="http://schemas.openxmlformats.org/drawingml/2006/main">
              <a:ext uri="{FF2B5EF4-FFF2-40B4-BE49-F238E27FC236}">
                <a16:creationId xmlns:a16="http://schemas.microsoft.com/office/drawing/2014/main" id="{310AF9DF-18AB-4C1C-A69E-85B8B93C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Customer-controlled trusted execution</a:t>
            </a:r>
          </a:p>
        </p:txBody>
      </p:sp>
      <p:sp>
        <p:nvSpPr>
          <p:cNvPr id="13" name="s10-num-2">
            <a:extLst xmlns:a="http://schemas.openxmlformats.org/drawingml/2006/main">
              <a:ext uri="{FF2B5EF4-FFF2-40B4-BE49-F238E27FC236}">
                <a16:creationId xmlns:a16="http://schemas.microsoft.com/office/drawing/2014/main" id="{EC31268F-F99E-451B-A0BA-9AE6CCAA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14" name="s10-title-2">
            <a:extLst xmlns:a="http://schemas.openxmlformats.org/drawingml/2006/main">
              <a:ext uri="{FF2B5EF4-FFF2-40B4-BE49-F238E27FC236}">
                <a16:creationId xmlns:a16="http://schemas.microsoft.com/office/drawing/2014/main" id="{03493B0C-F71A-4517-B5A6-CA74313E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Sovereign Trust Shared Services</a:t>
            </a:r>
          </a:p>
        </p:txBody>
      </p:sp>
      <p:sp>
        <p:nvSpPr>
          <p:cNvPr id="15" name="s10-body-2">
            <a:extLst xmlns:a="http://schemas.openxmlformats.org/drawingml/2006/main">
              <a:ext uri="{FF2B5EF4-FFF2-40B4-BE49-F238E27FC236}">
                <a16:creationId xmlns:a16="http://schemas.microsoft.com/office/drawing/2014/main" id="{787BC583-5002-4FDD-B603-36E9ACA6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Reusable trust infrastructure across an ecosystem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458B4EE6-8AAA-45CF-B29E-E8D15120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D2593A4-D319-4DE5-BBE0-6445F723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trust model stays consistent; the control boundary changes.</a:t>
            </a:r>
          </a:p>
        </p:txBody>
      </p:sp>
    </p:spTree>
    <p:extLst>
      <p:ext uri="{BB962C8B-B14F-4D97-AF65-F5344CB8AC3E}">
        <p14:creationId xmlns:p14="http://schemas.microsoft.com/office/powerpoint/2010/main" val="81797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6616ad546452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A2FE1A-AA3E-4834-8E47-FA360195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762163D-8183-4A79-AEB4-48F88B7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01EA931-1676-4A97-8B27-B9FDA79C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19A8EEA-9CC6-494C-B3D6-DF676104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91C765-2551-4FD7-9CDD-5CE87553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SaaS simplifies trusted digital work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acde9d9a5467a"/>
          <a:stretch xmlns:a="http://schemas.openxmlformats.org/drawingml/2006/main"/>
        </p:blipFill>
        <p:spPr>
          <a:xfrm xmlns:a="http://schemas.openxmlformats.org/drawingml/2006/main">
            <a:off x="685800" y="2535767"/>
            <a:ext cx="2952750" cy="2624667"/>
          </a:xfrm>
          <a:prstGeom xmlns:a="http://schemas.openxmlformats.org/drawingml/2006/main" prst="rect">
            <a:avLst/>
          </a:prstGeom>
        </p:spPr>
      </p:pic>
      <p:sp>
        <p:nvSpPr>
          <p:cNvPr id="8" name="s11-kicker">
            <a:extLst xmlns:a="http://schemas.openxmlformats.org/drawingml/2006/main">
              <a:ext uri="{FF2B5EF4-FFF2-40B4-BE49-F238E27FC236}">
                <a16:creationId xmlns:a16="http://schemas.microsoft.com/office/drawing/2014/main" id="{03C3803C-39AF-470C-8D90-7A70CB0D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MANAGED ENTERPRISE DIGITAL TRUST</a:t>
            </a:r>
          </a:p>
        </p:txBody>
      </p:sp>
      <p:sp>
        <p:nvSpPr>
          <p:cNvPr id="9" name="s11-body">
            <a:extLst xmlns:a="http://schemas.openxmlformats.org/drawingml/2006/main">
              <a:ext uri="{FF2B5EF4-FFF2-40B4-BE49-F238E27FC236}">
                <a16:creationId xmlns:a16="http://schemas.microsoft.com/office/drawing/2014/main" id="{ED9F2DC8-1ECB-490D-9529-183D0343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52750"/>
            <a:ext cx="666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For organizations that want to unify trusted digital processes without operating the underlying platform infrastructure.</a:t>
            </a:r>
          </a:p>
        </p:txBody>
      </p:sp>
      <p:sp>
        <p:nvSpPr>
          <p:cNvPr id="10" name="pill-ADOPT">
            <a:extLst xmlns:a="http://schemas.openxmlformats.org/drawingml/2006/main">
              <a:ext uri="{FF2B5EF4-FFF2-40B4-BE49-F238E27FC236}">
                <a16:creationId xmlns:a16="http://schemas.microsoft.com/office/drawing/2014/main" id="{10618563-42A2-4374-B398-9F763883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0535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1" name="pill-text-ADOPT">
            <a:extLst xmlns:a="http://schemas.openxmlformats.org/drawingml/2006/main">
              <a:ext uri="{FF2B5EF4-FFF2-40B4-BE49-F238E27FC236}">
                <a16:creationId xmlns:a16="http://schemas.microsoft.com/office/drawing/2014/main" id="{6B6DAFF6-B2B0-489E-8FCD-F258336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ADOPT</a:t>
            </a:r>
          </a:p>
        </p:txBody>
      </p:sp>
      <p:sp>
        <p:nvSpPr>
          <p:cNvPr id="12" name="pill-CONFIGURE">
            <a:extLst xmlns:a="http://schemas.openxmlformats.org/drawingml/2006/main">
              <a:ext uri="{FF2B5EF4-FFF2-40B4-BE49-F238E27FC236}">
                <a16:creationId xmlns:a16="http://schemas.microsoft.com/office/drawing/2014/main" id="{B2EE4AD2-7B4C-4F43-B066-4E820B2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3" name="pill-text-CONFIGURE">
            <a:extLst xmlns:a="http://schemas.openxmlformats.org/drawingml/2006/main">
              <a:ext uri="{FF2B5EF4-FFF2-40B4-BE49-F238E27FC236}">
                <a16:creationId xmlns:a16="http://schemas.microsoft.com/office/drawing/2014/main" id="{9C0D698E-226F-45FF-A558-B6E7F33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CONFIGURE</a:t>
            </a:r>
          </a:p>
        </p:txBody>
      </p:sp>
      <p:sp>
        <p:nvSpPr>
          <p:cNvPr id="14" name="pill-CONNECT">
            <a:extLst xmlns:a="http://schemas.openxmlformats.org/drawingml/2006/main">
              <a:ext uri="{FF2B5EF4-FFF2-40B4-BE49-F238E27FC236}">
                <a16:creationId xmlns:a16="http://schemas.microsoft.com/office/drawing/2014/main" id="{BD515DA7-CDFF-437A-A47F-827AF784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0535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5" name="pill-text-CONNECT">
            <a:extLst xmlns:a="http://schemas.openxmlformats.org/drawingml/2006/main">
              <a:ext uri="{FF2B5EF4-FFF2-40B4-BE49-F238E27FC236}">
                <a16:creationId xmlns:a16="http://schemas.microsoft.com/office/drawing/2014/main" id="{A9F6453B-DCBF-4FEF-92F4-19EA8E2B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006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CONNECT</a:t>
            </a:r>
          </a:p>
        </p:txBody>
      </p:sp>
      <p:sp>
        <p:nvSpPr>
          <p:cNvPr id="16" name="pill-EXPAND">
            <a:extLst xmlns:a="http://schemas.openxmlformats.org/drawingml/2006/main">
              <a:ext uri="{FF2B5EF4-FFF2-40B4-BE49-F238E27FC236}">
                <a16:creationId xmlns:a16="http://schemas.microsoft.com/office/drawing/2014/main" id="{7F72AEB8-9847-4504-8A60-92FFB9D2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0535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7" name="pill-text-EXPAND">
            <a:extLst xmlns:a="http://schemas.openxmlformats.org/drawingml/2006/main">
              <a:ext uri="{FF2B5EF4-FFF2-40B4-BE49-F238E27FC236}">
                <a16:creationId xmlns:a16="http://schemas.microsoft.com/office/drawing/2014/main" id="{D0A3FB5C-41B9-4A99-BD2A-E90CDA63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006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EXPAND</a:t>
            </a:r>
          </a:p>
        </p:txBody>
      </p:sp>
      <p:sp>
        <p:nvSpPr>
          <p:cNvPr id="18" name="divider">
            <a:extLst xmlns:a="http://schemas.openxmlformats.org/drawingml/2006/main">
              <a:ext uri="{FF2B5EF4-FFF2-40B4-BE49-F238E27FC236}">
                <a16:creationId xmlns:a16="http://schemas.microsoft.com/office/drawing/2014/main" id="{F1EBD106-7CEE-4627-A67A-DE900F1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ttom-line">
            <a:extLst xmlns:a="http://schemas.openxmlformats.org/drawingml/2006/main">
              <a:ext uri="{FF2B5EF4-FFF2-40B4-BE49-F238E27FC236}">
                <a16:creationId xmlns:a16="http://schemas.microsoft.com/office/drawing/2014/main" id="{B7E20A57-9C9A-448D-9090-8F9CB539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 managed path to trusted execution across enterprise workflows.</a:t>
            </a:r>
          </a:p>
        </p:txBody>
      </p:sp>
    </p:spTree>
    <p:extLst>
      <p:ext uri="{BB962C8B-B14F-4D97-AF65-F5344CB8AC3E}">
        <p14:creationId xmlns:p14="http://schemas.microsoft.com/office/powerpoint/2010/main" val="421090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67993bbbb47e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3F827F-EEBF-4DDA-9CDB-04DA4C8B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57C428E-1DCF-42DF-ABBB-FB1A334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9B0D091-0D52-451D-8C82-FC4133F0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E2904641-4EA6-4212-A45E-8C6BE5F0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13F5E4-9B5B-4067-9113-8A01D5D9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Sovereign keeps execution inside the control boundary</a:t>
            </a:r>
          </a:p>
        </p:txBody>
      </p:sp>
      <p:sp>
        <p:nvSpPr>
          <p:cNvPr id="7" name="s12-boundary">
            <a:extLst xmlns:a="http://schemas.openxmlformats.org/drawingml/2006/main">
              <a:ext uri="{FF2B5EF4-FFF2-40B4-BE49-F238E27FC236}">
                <a16:creationId xmlns:a16="http://schemas.microsoft.com/office/drawing/2014/main" id="{B84BBAF5-0563-4F4A-809B-86EE53C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28575">
            <a:solidFill>
              <a:srgbClr val="C9AE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6a626498d4721"/>
          <a:stretch xmlns:a="http://schemas.openxmlformats.org/drawingml/2006/main"/>
        </p:blipFill>
        <p:spPr>
          <a:xfrm xmlns:a="http://schemas.openxmlformats.org/drawingml/2006/main">
            <a:off x="1066800" y="27432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9" name="s12-boundary-label">
            <a:extLst xmlns:a="http://schemas.openxmlformats.org/drawingml/2006/main">
              <a:ext uri="{FF2B5EF4-FFF2-40B4-BE49-F238E27FC236}">
                <a16:creationId xmlns:a16="http://schemas.microsoft.com/office/drawing/2014/main" id="{370D4613-A7B1-4DE7-AC73-2592FEB6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670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CUSTOMER-CONTROLLED ENVIRONMENT</a:t>
            </a:r>
          </a:p>
        </p:txBody>
      </p:sp>
      <p:sp>
        <p:nvSpPr>
          <p:cNvPr id="10" name="s12-boundary-title">
            <a:extLst xmlns:a="http://schemas.openxmlformats.org/drawingml/2006/main">
              <a:ext uri="{FF2B5EF4-FFF2-40B4-BE49-F238E27FC236}">
                <a16:creationId xmlns:a16="http://schemas.microsoft.com/office/drawing/2014/main" id="{5E88DCCB-46EF-469C-BE9C-E93CA588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00400"/>
            <a:ext cx="742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 under the organization's infrastructure, data, identity, policy, and operating requirements.</a:t>
            </a:r>
          </a:p>
        </p:txBody>
      </p:sp>
      <p:sp>
        <p:nvSpPr>
          <p:cNvPr id="11" name="pill-INFRASTRUCTURE">
            <a:extLst xmlns:a="http://schemas.openxmlformats.org/drawingml/2006/main">
              <a:ext uri="{FF2B5EF4-FFF2-40B4-BE49-F238E27FC236}">
                <a16:creationId xmlns:a16="http://schemas.microsoft.com/office/drawing/2014/main" id="{CD5E7F58-B96A-4A62-A714-B37640FC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72000"/>
            <a:ext cx="2228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pill-text-INFRASTRUCTURE">
            <a:extLst xmlns:a="http://schemas.openxmlformats.org/drawingml/2006/main">
              <a:ext uri="{FF2B5EF4-FFF2-40B4-BE49-F238E27FC236}">
                <a16:creationId xmlns:a16="http://schemas.microsoft.com/office/drawing/2014/main" id="{C5C36E5B-661F-4395-9FFE-74BE5485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INFRASTRUCTURE</a:t>
            </a:r>
          </a:p>
        </p:txBody>
      </p:sp>
      <p:sp>
        <p:nvSpPr>
          <p:cNvPr id="13" name="pill-DATA">
            <a:extLst xmlns:a="http://schemas.openxmlformats.org/drawingml/2006/main">
              <a:ext uri="{FF2B5EF4-FFF2-40B4-BE49-F238E27FC236}">
                <a16:creationId xmlns:a16="http://schemas.microsoft.com/office/drawing/2014/main" id="{57C1A310-F239-4CB0-ABD9-89F6307E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72000"/>
            <a:ext cx="2228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pill-text-DATA">
            <a:extLst xmlns:a="http://schemas.openxmlformats.org/drawingml/2006/main">
              <a:ext uri="{FF2B5EF4-FFF2-40B4-BE49-F238E27FC236}">
                <a16:creationId xmlns:a16="http://schemas.microsoft.com/office/drawing/2014/main" id="{76B7C1FD-5C4A-4DE4-98B9-0E95D85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67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DATA</a:t>
            </a:r>
          </a:p>
        </p:txBody>
      </p:sp>
      <p:sp>
        <p:nvSpPr>
          <p:cNvPr id="15" name="pill-IDENTITY">
            <a:extLst xmlns:a="http://schemas.openxmlformats.org/drawingml/2006/main">
              <a:ext uri="{FF2B5EF4-FFF2-40B4-BE49-F238E27FC236}">
                <a16:creationId xmlns:a16="http://schemas.microsoft.com/office/drawing/2014/main" id="{7A6BBF1A-CC18-478A-BEAF-5D2A3264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2228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6" name="pill-text-IDENTITY">
            <a:extLst xmlns:a="http://schemas.openxmlformats.org/drawingml/2006/main">
              <a:ext uri="{FF2B5EF4-FFF2-40B4-BE49-F238E27FC236}">
                <a16:creationId xmlns:a16="http://schemas.microsoft.com/office/drawing/2014/main" id="{0CCA726C-9AE8-4B5C-9D8C-B62541C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7" name="pill-KEYS">
            <a:extLst xmlns:a="http://schemas.openxmlformats.org/drawingml/2006/main">
              <a:ext uri="{FF2B5EF4-FFF2-40B4-BE49-F238E27FC236}">
                <a16:creationId xmlns:a16="http://schemas.microsoft.com/office/drawing/2014/main" id="{C85D4A60-D0A9-4D9A-BD27-A9DE1F1B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10150"/>
            <a:ext cx="2228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8" name="pill-text-KEYS">
            <a:extLst xmlns:a="http://schemas.openxmlformats.org/drawingml/2006/main">
              <a:ext uri="{FF2B5EF4-FFF2-40B4-BE49-F238E27FC236}">
                <a16:creationId xmlns:a16="http://schemas.microsoft.com/office/drawing/2014/main" id="{6ADBE486-114F-4934-8372-127F1E9C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5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KEYS</a:t>
            </a:r>
          </a:p>
        </p:txBody>
      </p:sp>
      <p:sp>
        <p:nvSpPr>
          <p:cNvPr id="19" name="pill-POLICY">
            <a:extLst xmlns:a="http://schemas.openxmlformats.org/drawingml/2006/main">
              <a:ext uri="{FF2B5EF4-FFF2-40B4-BE49-F238E27FC236}">
                <a16:creationId xmlns:a16="http://schemas.microsoft.com/office/drawing/2014/main" id="{338B2159-668F-46C5-83A5-15961AB3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0150"/>
            <a:ext cx="2228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0" name="pill-text-POLICY">
            <a:extLst xmlns:a="http://schemas.openxmlformats.org/drawingml/2006/main">
              <a:ext uri="{FF2B5EF4-FFF2-40B4-BE49-F238E27FC236}">
                <a16:creationId xmlns:a16="http://schemas.microsoft.com/office/drawing/2014/main" id="{161F8DE6-3822-4E98-8055-EA827BB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05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21" name="pill-EVIDENCE">
            <a:extLst xmlns:a="http://schemas.openxmlformats.org/drawingml/2006/main">
              <a:ext uri="{FF2B5EF4-FFF2-40B4-BE49-F238E27FC236}">
                <a16:creationId xmlns:a16="http://schemas.microsoft.com/office/drawing/2014/main" id="{F9D8953D-AF47-4A48-A55D-B50DA24B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10150"/>
            <a:ext cx="2228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2" name="pill-text-EVIDENCE">
            <a:extLst xmlns:a="http://schemas.openxmlformats.org/drawingml/2006/main">
              <a:ext uri="{FF2B5EF4-FFF2-40B4-BE49-F238E27FC236}">
                <a16:creationId xmlns:a16="http://schemas.microsoft.com/office/drawing/2014/main" id="{AD6905BA-4F1F-4878-AFEF-A3BFE03B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3" name="divider">
            <a:extLst xmlns:a="http://schemas.openxmlformats.org/drawingml/2006/main">
              <a:ext uri="{FF2B5EF4-FFF2-40B4-BE49-F238E27FC236}">
                <a16:creationId xmlns:a16="http://schemas.microsoft.com/office/drawing/2014/main" id="{0EC09BE0-51AB-4267-8F7D-CDB6048F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ttom-line">
            <a:extLst xmlns:a="http://schemas.openxmlformats.org/drawingml/2006/main">
              <a:ext uri="{FF2B5EF4-FFF2-40B4-BE49-F238E27FC236}">
                <a16:creationId xmlns:a16="http://schemas.microsoft.com/office/drawing/2014/main" id="{3633A867-D4E2-47F9-8215-241B0206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Modern platform capability inside a defined sovereignty boundary.</a:t>
            </a:r>
          </a:p>
        </p:txBody>
      </p:sp>
    </p:spTree>
    <p:extLst>
      <p:ext uri="{BB962C8B-B14F-4D97-AF65-F5344CB8AC3E}">
        <p14:creationId xmlns:p14="http://schemas.microsoft.com/office/powerpoint/2010/main" val="1885033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f133c86744fc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B9D96A-ED60-421D-9B8E-D2C4092F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5CEDE42-8703-4BE0-AF3E-911D2DD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9368B06-D98A-40DD-B0D1-AF11941D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3D99CDF6-E061-4E2E-83ED-57C174BD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1A6945-B414-499B-AD0D-2249715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Shared Services makes trust reusable across an ecosystem</a:t>
            </a:r>
          </a:p>
        </p:txBody>
      </p:sp>
      <p:sp>
        <p:nvSpPr>
          <p:cNvPr id="7" name="s13-arrow-0-line">
            <a:extLst xmlns:a="http://schemas.openxmlformats.org/drawingml/2006/main">
              <a:ext uri="{FF2B5EF4-FFF2-40B4-BE49-F238E27FC236}">
                <a16:creationId xmlns:a16="http://schemas.microsoft.com/office/drawing/2014/main" id="{44FF03A4-2674-4D78-B4A0-791A9C36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3-arrow-0-head">
            <a:extLst xmlns:a="http://schemas.openxmlformats.org/drawingml/2006/main">
              <a:ext uri="{FF2B5EF4-FFF2-40B4-BE49-F238E27FC236}">
                <a16:creationId xmlns:a16="http://schemas.microsoft.com/office/drawing/2014/main" id="{A6DAE59E-9723-4188-A120-F196409C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384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3-arrow-1-line">
            <a:extLst xmlns:a="http://schemas.openxmlformats.org/drawingml/2006/main">
              <a:ext uri="{FF2B5EF4-FFF2-40B4-BE49-F238E27FC236}">
                <a16:creationId xmlns:a16="http://schemas.microsoft.com/office/drawing/2014/main" id="{9811805B-7787-45C5-8142-68059F1C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67275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arrow-1-head">
            <a:extLst xmlns:a="http://schemas.openxmlformats.org/drawingml/2006/main">
              <a:ext uri="{FF2B5EF4-FFF2-40B4-BE49-F238E27FC236}">
                <a16:creationId xmlns:a16="http://schemas.microsoft.com/office/drawing/2014/main" id="{2DA8FEA4-16A9-4A09-9C6A-F6055AD2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0060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3-arrow-2-line">
            <a:extLst xmlns:a="http://schemas.openxmlformats.org/drawingml/2006/main">
              <a:ext uri="{FF2B5EF4-FFF2-40B4-BE49-F238E27FC236}">
                <a16:creationId xmlns:a16="http://schemas.microsoft.com/office/drawing/2014/main" id="{7B3171B0-68C7-4BF2-A85C-91DAE15B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05125"/>
            <a:ext cx="1876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3-arrow-2-head">
            <a:extLst xmlns:a="http://schemas.openxmlformats.org/drawingml/2006/main">
              <a:ext uri="{FF2B5EF4-FFF2-40B4-BE49-F238E27FC236}">
                <a16:creationId xmlns:a16="http://schemas.microsoft.com/office/drawing/2014/main" id="{BABC1D5E-F530-4FA5-B0A1-64F5D3FE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384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13-arrow-3-line">
            <a:extLst xmlns:a="http://schemas.openxmlformats.org/drawingml/2006/main">
              <a:ext uri="{FF2B5EF4-FFF2-40B4-BE49-F238E27FC236}">
                <a16:creationId xmlns:a16="http://schemas.microsoft.com/office/drawing/2014/main" id="{7F8A6356-5471-4756-B281-78F76521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67275"/>
            <a:ext cx="1876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arrow-3-head">
            <a:extLst xmlns:a="http://schemas.openxmlformats.org/drawingml/2006/main">
              <a:ext uri="{FF2B5EF4-FFF2-40B4-BE49-F238E27FC236}">
                <a16:creationId xmlns:a16="http://schemas.microsoft.com/office/drawing/2014/main" id="{9085FB73-6538-49C3-BA10-F286609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0060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3-center">
            <a:extLst xmlns:a="http://schemas.openxmlformats.org/drawingml/2006/main">
              <a:ext uri="{FF2B5EF4-FFF2-40B4-BE49-F238E27FC236}">
                <a16:creationId xmlns:a16="http://schemas.microsoft.com/office/drawing/2014/main" id="{8B23C2DD-929C-469C-8D7D-7CE7C2B6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194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sp>
        <p:nvSpPr>
          <p:cNvPr id="16" name="s13-center-kicker">
            <a:extLst xmlns:a="http://schemas.openxmlformats.org/drawingml/2006/main">
              <a:ext uri="{FF2B5EF4-FFF2-40B4-BE49-F238E27FC236}">
                <a16:creationId xmlns:a16="http://schemas.microsoft.com/office/drawing/2014/main" id="{E243541E-D4C5-4E13-B631-BFDCE9FA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337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SHARED TRUST INFRASTRUCTURE</a:t>
            </a:r>
          </a:p>
        </p:txBody>
      </p:sp>
      <p:sp>
        <p:nvSpPr>
          <p:cNvPr id="17" name="s13-center-title">
            <a:extLst xmlns:a="http://schemas.openxmlformats.org/drawingml/2006/main">
              <a:ext uri="{FF2B5EF4-FFF2-40B4-BE49-F238E27FC236}">
                <a16:creationId xmlns:a16="http://schemas.microsoft.com/office/drawing/2014/main" id="{2CE877CC-D763-4270-A78C-35B27301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Build once.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Consume many times.</a:t>
            </a:r>
          </a:p>
        </p:txBody>
      </p:sp>
      <p:sp>
        <p:nvSpPr>
          <p:cNvPr id="18" name="s13-node-0">
            <a:extLst xmlns:a="http://schemas.openxmlformats.org/drawingml/2006/main">
              <a:ext uri="{FF2B5EF4-FFF2-40B4-BE49-F238E27FC236}">
                <a16:creationId xmlns:a16="http://schemas.microsoft.com/office/drawing/2014/main" id="{D5AA2A84-0146-4F67-8441-F2A055BE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s13-node-text-0">
            <a:extLst xmlns:a="http://schemas.openxmlformats.org/drawingml/2006/main">
              <a:ext uri="{FF2B5EF4-FFF2-40B4-BE49-F238E27FC236}">
                <a16:creationId xmlns:a16="http://schemas.microsoft.com/office/drawing/2014/main" id="{B7D14B2A-0002-407A-B519-D09D22A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Ministries</a:t>
            </a:r>
          </a:p>
        </p:txBody>
      </p:sp>
      <p:sp>
        <p:nvSpPr>
          <p:cNvPr id="20" name="s13-node-1">
            <a:extLst xmlns:a="http://schemas.openxmlformats.org/drawingml/2006/main">
              <a:ext uri="{FF2B5EF4-FFF2-40B4-BE49-F238E27FC236}">
                <a16:creationId xmlns:a16="http://schemas.microsoft.com/office/drawing/2014/main" id="{B047D5A6-8CE2-473F-B4C7-0178FEAC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s13-node-text-1">
            <a:extLst xmlns:a="http://schemas.openxmlformats.org/drawingml/2006/main">
              <a:ext uri="{FF2B5EF4-FFF2-40B4-BE49-F238E27FC236}">
                <a16:creationId xmlns:a16="http://schemas.microsoft.com/office/drawing/2014/main" id="{6D36C05F-D3A7-49EC-8F37-A37AA5E8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Agencies</a:t>
            </a:r>
          </a:p>
        </p:txBody>
      </p:sp>
      <p:sp>
        <p:nvSpPr>
          <p:cNvPr id="22" name="s13-node-2">
            <a:extLst xmlns:a="http://schemas.openxmlformats.org/drawingml/2006/main">
              <a:ext uri="{FF2B5EF4-FFF2-40B4-BE49-F238E27FC236}">
                <a16:creationId xmlns:a16="http://schemas.microsoft.com/office/drawing/2014/main" id="{B01661E1-3837-4551-8CC2-BBBFAC3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s13-node-text-2">
            <a:extLst xmlns:a="http://schemas.openxmlformats.org/drawingml/2006/main">
              <a:ext uri="{FF2B5EF4-FFF2-40B4-BE49-F238E27FC236}">
                <a16:creationId xmlns:a16="http://schemas.microsoft.com/office/drawing/2014/main" id="{24515C16-5DD1-4FBC-BAAC-82CA8D6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955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Public services</a:t>
            </a:r>
          </a:p>
        </p:txBody>
      </p:sp>
      <p:sp>
        <p:nvSpPr>
          <p:cNvPr id="24" name="s13-node-3">
            <a:extLst xmlns:a="http://schemas.openxmlformats.org/drawingml/2006/main">
              <a:ext uri="{FF2B5EF4-FFF2-40B4-BE49-F238E27FC236}">
                <a16:creationId xmlns:a16="http://schemas.microsoft.com/office/drawing/2014/main" id="{3BB66184-6301-4D36-B653-22672EB5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s13-node-text-3">
            <a:extLst xmlns:a="http://schemas.openxmlformats.org/drawingml/2006/main">
              <a:ext uri="{FF2B5EF4-FFF2-40B4-BE49-F238E27FC236}">
                <a16:creationId xmlns:a16="http://schemas.microsoft.com/office/drawing/2014/main" id="{78FA00D3-FBE0-4C06-A19F-34461740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577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26" name="divider">
            <a:extLst xmlns:a="http://schemas.openxmlformats.org/drawingml/2006/main">
              <a:ext uri="{FF2B5EF4-FFF2-40B4-BE49-F238E27FC236}">
                <a16:creationId xmlns:a16="http://schemas.microsoft.com/office/drawing/2014/main" id="{E96AB2DD-8825-48B5-9011-A47DCB1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7877156-467F-4113-AD2F-5E3216EC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Common trust capabilities with explicit entity ownership and policy.</a:t>
            </a:r>
          </a:p>
        </p:txBody>
      </p:sp>
    </p:spTree>
    <p:extLst>
      <p:ext uri="{BB962C8B-B14F-4D97-AF65-F5344CB8AC3E}">
        <p14:creationId xmlns:p14="http://schemas.microsoft.com/office/powerpoint/2010/main" val="21250255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4a561abd7499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B85BC3-CC5D-401F-8530-C926B993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108A43D-E8ED-44EE-9FD9-7CDBF9FA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578E3CD-A542-4412-BEE6-DFB4E319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1524687-76A2-4962-98A2-FCE4029D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860046-A305-4A19-BF66-8480629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is positioned for the next shift in digital work</a:t>
            </a:r>
          </a:p>
        </p:txBody>
      </p:sp>
      <p:sp>
        <p:nvSpPr>
          <p:cNvPr id="7" name="s14-from-0">
            <a:extLst xmlns:a="http://schemas.openxmlformats.org/drawingml/2006/main">
              <a:ext uri="{FF2B5EF4-FFF2-40B4-BE49-F238E27FC236}">
                <a16:creationId xmlns:a16="http://schemas.microsoft.com/office/drawing/2014/main" id="{F06632E8-D357-4D74-82CB-C5388BEE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</a:t>
            </a:r>
          </a:p>
        </p:txBody>
      </p:sp>
      <p:sp>
        <p:nvSpPr>
          <p:cNvPr id="8" name="s14-left-0">
            <a:extLst xmlns:a="http://schemas.openxmlformats.org/drawingml/2006/main">
              <a:ext uri="{FF2B5EF4-FFF2-40B4-BE49-F238E27FC236}">
                <a16:creationId xmlns:a16="http://schemas.microsoft.com/office/drawing/2014/main" id="{42E87B00-C20D-4C89-A170-EEA9E6C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Signing documents</a:t>
            </a:r>
          </a:p>
        </p:txBody>
      </p:sp>
      <p:sp>
        <p:nvSpPr>
          <p:cNvPr id="9" name="s14-arrow-0-line">
            <a:extLst xmlns:a="http://schemas.openxmlformats.org/drawingml/2006/main">
              <a:ext uri="{FF2B5EF4-FFF2-40B4-BE49-F238E27FC236}">
                <a16:creationId xmlns:a16="http://schemas.microsoft.com/office/drawing/2014/main" id="{BDC3205B-AA9E-475A-8E36-D5DA2CA7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43175"/>
            <a:ext cx="752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4-arrow-0-head">
            <a:extLst xmlns:a="http://schemas.openxmlformats.org/drawingml/2006/main">
              <a:ext uri="{FF2B5EF4-FFF2-40B4-BE49-F238E27FC236}">
                <a16:creationId xmlns:a16="http://schemas.microsoft.com/office/drawing/2014/main" id="{CCEC19CE-E205-4ABE-B752-8FCA45B1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7650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4-to-0">
            <a:extLst xmlns:a="http://schemas.openxmlformats.org/drawingml/2006/main">
              <a:ext uri="{FF2B5EF4-FFF2-40B4-BE49-F238E27FC236}">
                <a16:creationId xmlns:a16="http://schemas.microsoft.com/office/drawing/2014/main" id="{065D99C1-7547-44B6-8796-0D627E7D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TO</a:t>
            </a:r>
          </a:p>
        </p:txBody>
      </p:sp>
      <p:sp>
        <p:nvSpPr>
          <p:cNvPr id="12" name="s14-right-0">
            <a:extLst xmlns:a="http://schemas.openxmlformats.org/drawingml/2006/main">
              <a:ext uri="{FF2B5EF4-FFF2-40B4-BE49-F238E27FC236}">
                <a16:creationId xmlns:a16="http://schemas.microsoft.com/office/drawing/2014/main" id="{0BFC9AC3-14A5-4E1A-B0C4-448BF46C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Governing trusted execution</a:t>
            </a:r>
          </a:p>
        </p:txBody>
      </p:sp>
      <p:sp>
        <p:nvSpPr>
          <p:cNvPr id="13" name="s14-rule-0">
            <a:extLst xmlns:a="http://schemas.openxmlformats.org/drawingml/2006/main">
              <a:ext uri="{FF2B5EF4-FFF2-40B4-BE49-F238E27FC236}">
                <a16:creationId xmlns:a16="http://schemas.microsoft.com/office/drawing/2014/main" id="{0F24CD08-9F53-4350-AF9E-3998E6E4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4-from-1">
            <a:extLst xmlns:a="http://schemas.openxmlformats.org/drawingml/2006/main">
              <a:ext uri="{FF2B5EF4-FFF2-40B4-BE49-F238E27FC236}">
                <a16:creationId xmlns:a16="http://schemas.microsoft.com/office/drawing/2014/main" id="{182AA372-03F8-48D0-9D19-8B40D82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</a:t>
            </a:r>
          </a:p>
        </p:txBody>
      </p:sp>
      <p:sp>
        <p:nvSpPr>
          <p:cNvPr id="15" name="s14-left-1">
            <a:extLst xmlns:a="http://schemas.openxmlformats.org/drawingml/2006/main">
              <a:ext uri="{FF2B5EF4-FFF2-40B4-BE49-F238E27FC236}">
                <a16:creationId xmlns:a16="http://schemas.microsoft.com/office/drawing/2014/main" id="{612F417F-65D7-4FC0-AC49-0DA34BA4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Storing files</a:t>
            </a:r>
          </a:p>
        </p:txBody>
      </p:sp>
      <p:sp>
        <p:nvSpPr>
          <p:cNvPr id="16" name="s14-arrow-1-line">
            <a:extLst xmlns:a="http://schemas.openxmlformats.org/drawingml/2006/main">
              <a:ext uri="{FF2B5EF4-FFF2-40B4-BE49-F238E27FC236}">
                <a16:creationId xmlns:a16="http://schemas.microsoft.com/office/drawing/2014/main" id="{F6A52728-1A20-45D2-B053-1F1A8254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67125"/>
            <a:ext cx="752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4-arrow-1-head">
            <a:extLst xmlns:a="http://schemas.openxmlformats.org/drawingml/2006/main">
              <a:ext uri="{FF2B5EF4-FFF2-40B4-BE49-F238E27FC236}">
                <a16:creationId xmlns:a16="http://schemas.microsoft.com/office/drawing/2014/main" id="{61ECD4DB-C3EA-483D-98C9-6982B66E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004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4-to-1">
            <a:extLst xmlns:a="http://schemas.openxmlformats.org/drawingml/2006/main">
              <a:ext uri="{FF2B5EF4-FFF2-40B4-BE49-F238E27FC236}">
                <a16:creationId xmlns:a16="http://schemas.microsoft.com/office/drawing/2014/main" id="{57110799-B053-41EF-94A7-76EB9DA2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TO</a:t>
            </a:r>
          </a:p>
        </p:txBody>
      </p:sp>
      <p:sp>
        <p:nvSpPr>
          <p:cNvPr id="19" name="s14-right-1">
            <a:extLst xmlns:a="http://schemas.openxmlformats.org/drawingml/2006/main">
              <a:ext uri="{FF2B5EF4-FFF2-40B4-BE49-F238E27FC236}">
                <a16:creationId xmlns:a16="http://schemas.microsoft.com/office/drawing/2014/main" id="{F8BDAD8A-7DEF-4BA5-B1D9-F4C1F669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Building institutional memory</a:t>
            </a:r>
          </a:p>
        </p:txBody>
      </p:sp>
      <p:sp>
        <p:nvSpPr>
          <p:cNvPr id="20" name="s14-rule-1">
            <a:extLst xmlns:a="http://schemas.openxmlformats.org/drawingml/2006/main">
              <a:ext uri="{FF2B5EF4-FFF2-40B4-BE49-F238E27FC236}">
                <a16:creationId xmlns:a16="http://schemas.microsoft.com/office/drawing/2014/main" id="{EEB4D5F3-6012-47ED-A016-67862E81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4-from-2">
            <a:extLst xmlns:a="http://schemas.openxmlformats.org/drawingml/2006/main">
              <a:ext uri="{FF2B5EF4-FFF2-40B4-BE49-F238E27FC236}">
                <a16:creationId xmlns:a16="http://schemas.microsoft.com/office/drawing/2014/main" id="{EE77F424-FFD6-49F9-B7DF-D3E60FF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</a:t>
            </a:r>
          </a:p>
        </p:txBody>
      </p:sp>
      <p:sp>
        <p:nvSpPr>
          <p:cNvPr id="22" name="s14-left-2">
            <a:extLst xmlns:a="http://schemas.openxmlformats.org/drawingml/2006/main">
              <a:ext uri="{FF2B5EF4-FFF2-40B4-BE49-F238E27FC236}">
                <a16:creationId xmlns:a16="http://schemas.microsoft.com/office/drawing/2014/main" id="{482FE5FE-4557-4095-803C-266E872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Human-only workflows</a:t>
            </a:r>
          </a:p>
        </p:txBody>
      </p:sp>
      <p:sp>
        <p:nvSpPr>
          <p:cNvPr id="23" name="s14-arrow-2-line">
            <a:extLst xmlns:a="http://schemas.openxmlformats.org/drawingml/2006/main">
              <a:ext uri="{FF2B5EF4-FFF2-40B4-BE49-F238E27FC236}">
                <a16:creationId xmlns:a16="http://schemas.microsoft.com/office/drawing/2014/main" id="{998D7B3E-3D29-4015-8EDF-519E9DFF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91075"/>
            <a:ext cx="752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4-arrow-2-head">
            <a:extLst xmlns:a="http://schemas.openxmlformats.org/drawingml/2006/main">
              <a:ext uri="{FF2B5EF4-FFF2-40B4-BE49-F238E27FC236}">
                <a16:creationId xmlns:a16="http://schemas.microsoft.com/office/drawing/2014/main" id="{1C4FC6BB-9ED7-4019-9B4F-EFCAFDC6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2440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14-to-2">
            <a:extLst xmlns:a="http://schemas.openxmlformats.org/drawingml/2006/main">
              <a:ext uri="{FF2B5EF4-FFF2-40B4-BE49-F238E27FC236}">
                <a16:creationId xmlns:a16="http://schemas.microsoft.com/office/drawing/2014/main" id="{F37167EF-07E9-4F8B-8084-132457C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767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TO</a:t>
            </a:r>
          </a:p>
        </p:txBody>
      </p:sp>
      <p:sp>
        <p:nvSpPr>
          <p:cNvPr id="26" name="s14-right-2">
            <a:extLst xmlns:a="http://schemas.openxmlformats.org/drawingml/2006/main">
              <a:ext uri="{FF2B5EF4-FFF2-40B4-BE49-F238E27FC236}">
                <a16:creationId xmlns:a16="http://schemas.microsoft.com/office/drawing/2014/main" id="{B0E3B600-A8B4-473D-BD2A-C18F1D0E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human and agentic execution</a:t>
            </a:r>
          </a:p>
        </p:txBody>
      </p:sp>
      <p:sp>
        <p:nvSpPr>
          <p:cNvPr id="27" name="s14-rule-2">
            <a:extLst xmlns:a="http://schemas.openxmlformats.org/drawingml/2006/main">
              <a:ext uri="{FF2B5EF4-FFF2-40B4-BE49-F238E27FC236}">
                <a16:creationId xmlns:a16="http://schemas.microsoft.com/office/drawing/2014/main" id="{6929E777-C886-419B-B2AC-1A55637A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ivider">
            <a:extLst xmlns:a="http://schemas.openxmlformats.org/drawingml/2006/main">
              <a:ext uri="{FF2B5EF4-FFF2-40B4-BE49-F238E27FC236}">
                <a16:creationId xmlns:a16="http://schemas.microsoft.com/office/drawing/2014/main" id="{C2E18C52-3AEA-41DD-8EDE-33257D3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F3166D1-B68F-451E-A23D-86EB7C1F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opportunity expands as more consequential work becomes software- and agent-executed.</a:t>
            </a:r>
          </a:p>
        </p:txBody>
      </p:sp>
    </p:spTree>
    <p:extLst>
      <p:ext uri="{BB962C8B-B14F-4D97-AF65-F5344CB8AC3E}">
        <p14:creationId xmlns:p14="http://schemas.microsoft.com/office/powerpoint/2010/main" val="17556528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d905af6804cb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F6B7F5-E8D8-4004-B824-01B9FB9F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A92DF14-A20C-47D6-922A-61B1E74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52E0B8F-F508-4204-8B81-FE4395D6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14391C56-7CE9-4DB4-9798-D5439105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&amp; PLATFORM OVERVIEW</a:t>
            </a:r>
          </a:p>
        </p:txBody>
      </p:sp>
      <p:sp>
        <p:nvSpPr>
          <p:cNvPr id="6" name="s15-kicker">
            <a:extLst xmlns:a="http://schemas.openxmlformats.org/drawingml/2006/main">
              <a:ext uri="{FF2B5EF4-FFF2-40B4-BE49-F238E27FC236}">
                <a16:creationId xmlns:a16="http://schemas.microsoft.com/office/drawing/2014/main" id="{3B598A98-71C4-4C72-BE06-C342B0C1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WHERE CIRCULARO CREATES VALUE</a:t>
            </a:r>
          </a:p>
        </p:txBody>
      </p:sp>
      <p:sp>
        <p:nvSpPr>
          <p:cNvPr id="7" name="s15-title">
            <a:extLst xmlns:a="http://schemas.openxmlformats.org/drawingml/2006/main">
              <a:ext uri="{FF2B5EF4-FFF2-40B4-BE49-F238E27FC236}">
                <a16:creationId xmlns:a16="http://schemas.microsoft.com/office/drawing/2014/main" id="{2840A427-BC89-47AA-99E2-39F58FB6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Start with the action.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Define the trust boundary.</a:t>
            </a:r>
          </a:p>
        </p:txBody>
      </p:sp>
      <p:sp>
        <p:nvSpPr>
          <p:cNvPr id="8" name="s15-label-0">
            <a:extLst xmlns:a="http://schemas.openxmlformats.org/drawingml/2006/main">
              <a:ext uri="{FF2B5EF4-FFF2-40B4-BE49-F238E27FC236}">
                <a16:creationId xmlns:a16="http://schemas.microsoft.com/office/drawing/2014/main" id="{1B61E8E4-3B83-4833-8F0C-75D344B8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ENTERPRISES</a:t>
            </a:r>
          </a:p>
        </p:txBody>
      </p:sp>
      <p:sp>
        <p:nvSpPr>
          <p:cNvPr id="9" name="s15-body-0">
            <a:extLst xmlns:a="http://schemas.openxmlformats.org/drawingml/2006/main">
              <a:ext uri="{FF2B5EF4-FFF2-40B4-BE49-F238E27FC236}">
                <a16:creationId xmlns:a16="http://schemas.microsoft.com/office/drawing/2014/main" id="{3372887E-8DA0-4FE4-97EE-0071FD5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Unify trusted digital work</a:t>
            </a:r>
          </a:p>
        </p:txBody>
      </p:sp>
      <p:sp>
        <p:nvSpPr>
          <p:cNvPr id="10" name="s15-label-1">
            <a:extLst xmlns:a="http://schemas.openxmlformats.org/drawingml/2006/main">
              <a:ext uri="{FF2B5EF4-FFF2-40B4-BE49-F238E27FC236}">
                <a16:creationId xmlns:a16="http://schemas.microsoft.com/office/drawing/2014/main" id="{B48122FD-0306-4FC9-B073-A86025BB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GOVERNMENTS</a:t>
            </a:r>
          </a:p>
        </p:txBody>
      </p:sp>
      <p:sp>
        <p:nvSpPr>
          <p:cNvPr id="11" name="s15-body-1">
            <a:extLst xmlns:a="http://schemas.openxmlformats.org/drawingml/2006/main">
              <a:ext uri="{FF2B5EF4-FFF2-40B4-BE49-F238E27FC236}">
                <a16:creationId xmlns:a16="http://schemas.microsoft.com/office/drawing/2014/main" id="{DBB7B7D6-D262-44D3-A801-F88F051C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Establish sovereign or shared trust infrastructure</a:t>
            </a:r>
          </a:p>
        </p:txBody>
      </p:sp>
      <p:sp>
        <p:nvSpPr>
          <p:cNvPr id="12" name="s15-label-2">
            <a:extLst xmlns:a="http://schemas.openxmlformats.org/drawingml/2006/main">
              <a:ext uri="{FF2B5EF4-FFF2-40B4-BE49-F238E27FC236}">
                <a16:creationId xmlns:a16="http://schemas.microsoft.com/office/drawing/2014/main" id="{4ABFF069-0953-4A88-89EC-095A4569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PARTNERS</a:t>
            </a:r>
          </a:p>
        </p:txBody>
      </p:sp>
      <p:sp>
        <p:nvSpPr>
          <p:cNvPr id="13" name="s15-body-2">
            <a:extLst xmlns:a="http://schemas.openxmlformats.org/drawingml/2006/main">
              <a:ext uri="{FF2B5EF4-FFF2-40B4-BE49-F238E27FC236}">
                <a16:creationId xmlns:a16="http://schemas.microsoft.com/office/drawing/2014/main" id="{1F450D61-60B0-4521-8485-E7AF1825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Connect identity, trust services, systems, and delivery expertise</a:t>
            </a:r>
          </a:p>
        </p:txBody>
      </p:sp>
      <p:sp>
        <p:nvSpPr>
          <p:cNvPr id="14" name="s15-action">
            <a:extLst xmlns:a="http://schemas.openxmlformats.org/drawingml/2006/main">
              <a:ext uri="{FF2B5EF4-FFF2-40B4-BE49-F238E27FC236}">
                <a16:creationId xmlns:a16="http://schemas.microsoft.com/office/drawing/2014/main" id="{3512677C-907B-4B10-96B0-9F8A6772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5-action-text">
            <a:extLst xmlns:a="http://schemas.openxmlformats.org/drawingml/2006/main">
              <a:ext uri="{FF2B5EF4-FFF2-40B4-BE49-F238E27FC236}">
                <a16:creationId xmlns:a16="http://schemas.microsoft.com/office/drawing/2014/main" id="{44848675-095D-4F72-B533-3A4F2145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97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CONSEQUENTIAL WORKFLOW → TRUST REQUIREMENTS → DELIVERY MODEL → FIRST USE CASE</a:t>
            </a:r>
          </a:p>
        </p:txBody>
      </p:sp>
    </p:spTree>
    <p:extLst>
      <p:ext uri="{BB962C8B-B14F-4D97-AF65-F5344CB8AC3E}">
        <p14:creationId xmlns:p14="http://schemas.microsoft.com/office/powerpoint/2010/main" val="765043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2026-08-29T13:06:02.6500000Z</dcterms:created>
  <dcterms:modified xsi:type="dcterms:W3CDTF">2026-08-29T13:06:02.6500000Z</dcterms:modified>
</coreProperties>
</file>