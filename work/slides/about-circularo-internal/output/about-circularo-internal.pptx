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4c87d4d156403f" /><Relationship Type="http://schemas.openxmlformats.org/officeDocument/2006/relationships/extended-properties" Target="/docProps/app.xml" Id="Rf548c2d07a894362" /><Relationship Type="http://schemas.openxmlformats.org/officeDocument/2006/relationships/officeDocument" Target="/ppt/presentation.xml" Id="R356769864eeb45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be23f382734e85"/>
  </p:sldMasterIdLst>
  <p:notesMasterIdLst>
    <p:notesMasterId xmlns:r="http://schemas.openxmlformats.org/officeDocument/2006/relationships" r:id="R061ea4fb250941ae"/>
  </p:notesMasterIdLst>
  <p:sldIdLst>
    <p:sldId xmlns:r="http://schemas.openxmlformats.org/officeDocument/2006/relationships" id="256" r:id="R96f4f0e847ce40b2"/>
    <p:sldId xmlns:r="http://schemas.openxmlformats.org/officeDocument/2006/relationships" id="257" r:id="Raf22c9c0061a4ab4"/>
    <p:sldId xmlns:r="http://schemas.openxmlformats.org/officeDocument/2006/relationships" id="258" r:id="R7aea6ad7ea20418f"/>
    <p:sldId xmlns:r="http://schemas.openxmlformats.org/officeDocument/2006/relationships" id="259" r:id="Re5b9db05676a402f"/>
    <p:sldId xmlns:r="http://schemas.openxmlformats.org/officeDocument/2006/relationships" id="260" r:id="R98f33f16968246c8"/>
    <p:sldId xmlns:r="http://schemas.openxmlformats.org/officeDocument/2006/relationships" id="261" r:id="R24a46d0c165a4379"/>
    <p:sldId xmlns:r="http://schemas.openxmlformats.org/officeDocument/2006/relationships" id="262" r:id="R91cb7c4e2f7a4973"/>
    <p:sldId xmlns:r="http://schemas.openxmlformats.org/officeDocument/2006/relationships" id="263" r:id="Rb85c7bec8c9b4b3d"/>
    <p:sldId xmlns:r="http://schemas.openxmlformats.org/officeDocument/2006/relationships" id="264" r:id="Rce9889947d314016"/>
    <p:sldId xmlns:r="http://schemas.openxmlformats.org/officeDocument/2006/relationships" id="265" r:id="Rc05d2698225a4cf1"/>
    <p:sldId xmlns:r="http://schemas.openxmlformats.org/officeDocument/2006/relationships" id="266" r:id="R7857fb1bd3f74fe1"/>
    <p:sldId xmlns:r="http://schemas.openxmlformats.org/officeDocument/2006/relationships" id="267" r:id="R526d7ff87af74d7e"/>
    <p:sldId xmlns:r="http://schemas.openxmlformats.org/officeDocument/2006/relationships" id="268" r:id="Rac34d2a7156f4d8d"/>
    <p:sldId xmlns:r="http://schemas.openxmlformats.org/officeDocument/2006/relationships" id="269" r:id="R803118dce35a45e5"/>
    <p:sldId xmlns:r="http://schemas.openxmlformats.org/officeDocument/2006/relationships" id="270" r:id="R2f7c5d63be64435c"/>
    <p:sldId xmlns:r="http://schemas.openxmlformats.org/officeDocument/2006/relationships" id="271" r:id="Rc0556bc1b00f44e4"/>
    <p:sldId xmlns:r="http://schemas.openxmlformats.org/officeDocument/2006/relationships" id="272" r:id="Reed35e704dbe4cd7"/>
    <p:sldId xmlns:r="http://schemas.openxmlformats.org/officeDocument/2006/relationships" id="273" r:id="R02aae7c34a324241"/>
    <p:sldId xmlns:r="http://schemas.openxmlformats.org/officeDocument/2006/relationships" id="274" r:id="R007078c72d604e7c"/>
    <p:sldId xmlns:r="http://schemas.openxmlformats.org/officeDocument/2006/relationships" id="275" r:id="R4982227d382541fa"/>
    <p:sldId xmlns:r="http://schemas.openxmlformats.org/officeDocument/2006/relationships" id="276" r:id="Re75b2f05562f4a0d"/>
    <p:sldId xmlns:r="http://schemas.openxmlformats.org/officeDocument/2006/relationships" id="277" r:id="R929044615cf7436b"/>
    <p:sldId xmlns:r="http://schemas.openxmlformats.org/officeDocument/2006/relationships" id="278" r:id="R98ac8c5b24c244ee"/>
    <p:sldId xmlns:r="http://schemas.openxmlformats.org/officeDocument/2006/relationships" id="279" r:id="Rf5eac2687f87448d"/>
    <p:sldId xmlns:r="http://schemas.openxmlformats.org/officeDocument/2006/relationships" id="280" r:id="R582176a12d774be4"/>
    <p:sldId xmlns:r="http://schemas.openxmlformats.org/officeDocument/2006/relationships" id="281" r:id="Ra42d0723ae2343d2"/>
    <p:sldId xmlns:r="http://schemas.openxmlformats.org/officeDocument/2006/relationships" id="282" r:id="Rab8e6e80d22c42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45b30e3c2d4af2" /><Relationship Type="http://schemas.openxmlformats.org/officeDocument/2006/relationships/slideMaster" Target="/ppt/slideMasters/slideMaster1.xml" Id="Rafbe23f382734e85" /><Relationship Type="http://schemas.openxmlformats.org/officeDocument/2006/relationships/notesMaster" Target="/ppt/notesMasters/notesMaster1.xml" Id="R061ea4fb250941ae" /><Relationship Type="http://schemas.openxmlformats.org/officeDocument/2006/relationships/presProps" Target="/ppt/presProps.xml" Id="R1e959c1c3d3049ac" /><Relationship Type="http://schemas.openxmlformats.org/officeDocument/2006/relationships/tableStyles" Target="/ppt/tableStyles.xml" Id="R6c131a9d978a4ee7" /><Relationship Type="http://schemas.openxmlformats.org/officeDocument/2006/relationships/slide" Target="/ppt/slides/slide1.xml" Id="R96f4f0e847ce40b2" /><Relationship Type="http://schemas.openxmlformats.org/officeDocument/2006/relationships/slide" Target="/ppt/slides/slide2.xml" Id="Raf22c9c0061a4ab4" /><Relationship Type="http://schemas.openxmlformats.org/officeDocument/2006/relationships/slide" Target="/ppt/slides/slide3.xml" Id="R7aea6ad7ea20418f" /><Relationship Type="http://schemas.openxmlformats.org/officeDocument/2006/relationships/slide" Target="/ppt/slides/slide4.xml" Id="Re5b9db05676a402f" /><Relationship Type="http://schemas.openxmlformats.org/officeDocument/2006/relationships/slide" Target="/ppt/slides/slide5.xml" Id="R98f33f16968246c8" /><Relationship Type="http://schemas.openxmlformats.org/officeDocument/2006/relationships/slide" Target="/ppt/slides/slide6.xml" Id="R24a46d0c165a4379" /><Relationship Type="http://schemas.openxmlformats.org/officeDocument/2006/relationships/slide" Target="/ppt/slides/slide7.xml" Id="R91cb7c4e2f7a4973" /><Relationship Type="http://schemas.openxmlformats.org/officeDocument/2006/relationships/slide" Target="/ppt/slides/slide8.xml" Id="Rb85c7bec8c9b4b3d" /><Relationship Type="http://schemas.openxmlformats.org/officeDocument/2006/relationships/slide" Target="/ppt/slides/slide9.xml" Id="Rce9889947d314016" /><Relationship Type="http://schemas.openxmlformats.org/officeDocument/2006/relationships/slide" Target="/ppt/slides/slide10.xml" Id="Rc05d2698225a4cf1" /><Relationship Type="http://schemas.openxmlformats.org/officeDocument/2006/relationships/slide" Target="/ppt/slides/slide11.xml" Id="R7857fb1bd3f74fe1" /><Relationship Type="http://schemas.openxmlformats.org/officeDocument/2006/relationships/slide" Target="/ppt/slides/slide12.xml" Id="R526d7ff87af74d7e" /><Relationship Type="http://schemas.openxmlformats.org/officeDocument/2006/relationships/slide" Target="/ppt/slides/slide13.xml" Id="Rac34d2a7156f4d8d" /><Relationship Type="http://schemas.openxmlformats.org/officeDocument/2006/relationships/slide" Target="/ppt/slides/slide14.xml" Id="R803118dce35a45e5" /><Relationship Type="http://schemas.openxmlformats.org/officeDocument/2006/relationships/slide" Target="/ppt/slides/slide15.xml" Id="R2f7c5d63be64435c" /><Relationship Type="http://schemas.openxmlformats.org/officeDocument/2006/relationships/slide" Target="/ppt/slides/slide16.xml" Id="Rc0556bc1b00f44e4" /><Relationship Type="http://schemas.openxmlformats.org/officeDocument/2006/relationships/slide" Target="/ppt/slides/slide17.xml" Id="Reed35e704dbe4cd7" /><Relationship Type="http://schemas.openxmlformats.org/officeDocument/2006/relationships/slide" Target="/ppt/slides/slide18.xml" Id="R02aae7c34a324241" /><Relationship Type="http://schemas.openxmlformats.org/officeDocument/2006/relationships/slide" Target="/ppt/slides/slide19.xml" Id="R007078c72d604e7c" /><Relationship Type="http://schemas.openxmlformats.org/officeDocument/2006/relationships/slide" Target="/ppt/slides/slide20.xml" Id="R4982227d382541fa" /><Relationship Type="http://schemas.openxmlformats.org/officeDocument/2006/relationships/slide" Target="/ppt/slides/slide21.xml" Id="Re75b2f05562f4a0d" /><Relationship Type="http://schemas.openxmlformats.org/officeDocument/2006/relationships/slide" Target="/ppt/slides/slide22.xml" Id="R929044615cf7436b" /><Relationship Type="http://schemas.openxmlformats.org/officeDocument/2006/relationships/slide" Target="/ppt/slides/slide23.xml" Id="R98ac8c5b24c244ee" /><Relationship Type="http://schemas.openxmlformats.org/officeDocument/2006/relationships/slide" Target="/ppt/slides/slide24.xml" Id="Rf5eac2687f87448d" /><Relationship Type="http://schemas.openxmlformats.org/officeDocument/2006/relationships/slide" Target="/ppt/slides/slide25.xml" Id="R582176a12d774be4" /><Relationship Type="http://schemas.openxmlformats.org/officeDocument/2006/relationships/slide" Target="/ppt/slides/slide26.xml" Id="Ra42d0723ae2343d2" /><Relationship Type="http://schemas.openxmlformats.org/officeDocument/2006/relationships/slide" Target="/ppt/slides/slide27.xml" Id="Rab8e6e80d22c42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e07194316c44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81e9baae28419e" /><Relationship Type="http://schemas.openxmlformats.org/officeDocument/2006/relationships/notesMaster" Target="/ppt/notesMasters/notesMaster1.xml" Id="R8101b8b2e3e643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971864fbde4651" /><Relationship Type="http://schemas.openxmlformats.org/officeDocument/2006/relationships/notesMaster" Target="/ppt/notesMasters/notesMaster1.xml" Id="R16ffa638c83c43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1bbb3ce89440ba" /><Relationship Type="http://schemas.openxmlformats.org/officeDocument/2006/relationships/notesMaster" Target="/ppt/notesMasters/notesMaster1.xml" Id="R392b411b007747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aa5ee441d94877" /><Relationship Type="http://schemas.openxmlformats.org/officeDocument/2006/relationships/notesMaster" Target="/ppt/notesMasters/notesMaster1.xml" Id="Rf583a736f5234c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acf7cbbbf64ec0" /><Relationship Type="http://schemas.openxmlformats.org/officeDocument/2006/relationships/notesMaster" Target="/ppt/notesMasters/notesMaster1.xml" Id="R20f9ed310cf543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2b2f6cb84c4477" /><Relationship Type="http://schemas.openxmlformats.org/officeDocument/2006/relationships/notesMaster" Target="/ppt/notesMasters/notesMaster1.xml" Id="Rcee715a91a6646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d7c3d275074d51" /><Relationship Type="http://schemas.openxmlformats.org/officeDocument/2006/relationships/notesMaster" Target="/ppt/notesMasters/notesMaster1.xml" Id="Rc17f07b7147f4a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2302aa9ba645ed" /><Relationship Type="http://schemas.openxmlformats.org/officeDocument/2006/relationships/notesMaster" Target="/ppt/notesMasters/notesMaster1.xml" Id="R1e2782d845f24c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8708b9b8154167" /><Relationship Type="http://schemas.openxmlformats.org/officeDocument/2006/relationships/notesMaster" Target="/ppt/notesMasters/notesMaster1.xml" Id="R26d54ebe04064f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f427df2ad44b18" /><Relationship Type="http://schemas.openxmlformats.org/officeDocument/2006/relationships/notesMaster" Target="/ppt/notesMasters/notesMaster1.xml" Id="R4cd74561b7ee42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c82524dca4467e" /><Relationship Type="http://schemas.openxmlformats.org/officeDocument/2006/relationships/notesMaster" Target="/ppt/notesMasters/notesMaster1.xml" Id="Rd0507b665d664f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1352df26ea4f4e" /><Relationship Type="http://schemas.openxmlformats.org/officeDocument/2006/relationships/notesMaster" Target="/ppt/notesMasters/notesMaster1.xml" Id="Rc5429e02698a4d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24f0ed016f4201" /><Relationship Type="http://schemas.openxmlformats.org/officeDocument/2006/relationships/notesMaster" Target="/ppt/notesMasters/notesMaster1.xml" Id="R7a659b52c9a348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7d4f59d4154160" /><Relationship Type="http://schemas.openxmlformats.org/officeDocument/2006/relationships/notesMaster" Target="/ppt/notesMasters/notesMaster1.xml" Id="R6b378a5a227046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1a01ba22d54d11" /><Relationship Type="http://schemas.openxmlformats.org/officeDocument/2006/relationships/notesMaster" Target="/ppt/notesMasters/notesMaster1.xml" Id="Re1fb5c734c454f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66db7cedc9641df" /><Relationship Type="http://schemas.openxmlformats.org/officeDocument/2006/relationships/notesMaster" Target="/ppt/notesMasters/notesMaster1.xml" Id="R46f3c0513bad43a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504c285eb524e21" /><Relationship Type="http://schemas.openxmlformats.org/officeDocument/2006/relationships/notesMaster" Target="/ppt/notesMasters/notesMaster1.xml" Id="R0ef604f301c54a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22f4e51028480f" /><Relationship Type="http://schemas.openxmlformats.org/officeDocument/2006/relationships/notesMaster" Target="/ppt/notesMasters/notesMaster1.xml" Id="Re275889f430d4b4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f5dfcf35a14384" /><Relationship Type="http://schemas.openxmlformats.org/officeDocument/2006/relationships/notesMaster" Target="/ppt/notesMasters/notesMaster1.xml" Id="R4f3622c4fc864b9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cdcbc8d69624d3c" /><Relationship Type="http://schemas.openxmlformats.org/officeDocument/2006/relationships/notesMaster" Target="/ppt/notesMasters/notesMaster1.xml" Id="Rc0bf528541ad426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3799809da604cff" /><Relationship Type="http://schemas.openxmlformats.org/officeDocument/2006/relationships/notesMaster" Target="/ppt/notesMasters/notesMaster1.xml" Id="Rdcdb138bb93b46e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0ed93534c654183" /><Relationship Type="http://schemas.openxmlformats.org/officeDocument/2006/relationships/notesMaster" Target="/ppt/notesMasters/notesMaster1.xml" Id="Rba142f0b62484d7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4a6d248a34c49c7" /><Relationship Type="http://schemas.openxmlformats.org/officeDocument/2006/relationships/notesMaster" Target="/ppt/notesMasters/notesMaster1.xml" Id="R77157f1accc743a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6823344292441df" /><Relationship Type="http://schemas.openxmlformats.org/officeDocument/2006/relationships/notesMaster" Target="/ppt/notesMasters/notesMaster1.xml" Id="R59cf4c2d4ef1409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de661c3e1b649a1" /><Relationship Type="http://schemas.openxmlformats.org/officeDocument/2006/relationships/notesMaster" Target="/ppt/notesMasters/notesMaster1.xml" Id="R4d03b67f3af94aa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c6ed5eb76da40f7" /><Relationship Type="http://schemas.openxmlformats.org/officeDocument/2006/relationships/notesMaster" Target="/ppt/notesMasters/notesMaster1.xml" Id="R475e2c8b9302410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971cbef1aa14cc6" /><Relationship Type="http://schemas.openxmlformats.org/officeDocument/2006/relationships/notesMaster" Target="/ppt/notesMasters/notesMaster1.xml" Id="Rd144adc68bd64d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work/new-story/about-circularo-updated.md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10167e159443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ce2edf0078487f" /><Relationship Type="http://schemas.openxmlformats.org/officeDocument/2006/relationships/slideLayout" Target="/ppt/slideLayouts/slideLayout1.xml" Id="R4ce5fc814ded4d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e5fc814ded4d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0c399aa824e29" /><Relationship Type="http://schemas.openxmlformats.org/officeDocument/2006/relationships/image" Target="/ppt/media/image.png" Id="R1ffb71377e184a27" /><Relationship Type="http://schemas.openxmlformats.org/officeDocument/2006/relationships/notesSlide" Target="/ppt/notesSlides/notesSlide1.xml" Id="R6ad2e7b36f9442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0aed9b47d4262" /><Relationship Type="http://schemas.openxmlformats.org/officeDocument/2006/relationships/image" Target="/ppt/media/image2.png" Id="R3a9e49cfd8334d7b" /><Relationship Type="http://schemas.openxmlformats.org/officeDocument/2006/relationships/notesSlide" Target="/ppt/notesSlides/notesSlide2.xml" Id="Re9a2de825dcf4a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47f8e3c28455e" /><Relationship Type="http://schemas.openxmlformats.org/officeDocument/2006/relationships/image" Target="/ppt/media/image3.png" Id="R38178a7b13b84f5e" /><Relationship Type="http://schemas.openxmlformats.org/officeDocument/2006/relationships/notesSlide" Target="/ppt/notesSlides/notesSlide3.xml" Id="Re9d80fa2b71f4b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38b03062e49f5" /><Relationship Type="http://schemas.openxmlformats.org/officeDocument/2006/relationships/image" Target="/ppt/media/image4.png" Id="R501badd0541541f6" /><Relationship Type="http://schemas.openxmlformats.org/officeDocument/2006/relationships/notesSlide" Target="/ppt/notesSlides/notesSlide4.xml" Id="R50e0c90fe2844d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a723981e14fe3" /><Relationship Type="http://schemas.openxmlformats.org/officeDocument/2006/relationships/image" Target="/ppt/media/image5.png" Id="R181856fa37b747ca" /><Relationship Type="http://schemas.openxmlformats.org/officeDocument/2006/relationships/notesSlide" Target="/ppt/notesSlides/notesSlide5.xml" Id="R14b79a6602d649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c3135ed324121" /><Relationship Type="http://schemas.openxmlformats.org/officeDocument/2006/relationships/image" Target="/ppt/media/image6.png" Id="Re482365159ec4f6c" /><Relationship Type="http://schemas.openxmlformats.org/officeDocument/2006/relationships/notesSlide" Target="/ppt/notesSlides/notesSlide6.xml" Id="Rae76101f331949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791bcefd5431b" /><Relationship Type="http://schemas.openxmlformats.org/officeDocument/2006/relationships/image" Target="/ppt/media/image7.png" Id="R24d0f034d66d45ab" /><Relationship Type="http://schemas.openxmlformats.org/officeDocument/2006/relationships/notesSlide" Target="/ppt/notesSlides/notesSlide7.xml" Id="R3a8e92a0b18c48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9c9da94994d00" /><Relationship Type="http://schemas.openxmlformats.org/officeDocument/2006/relationships/image" Target="/ppt/media/image8.png" Id="R227b3e7c5d64403d" /><Relationship Type="http://schemas.openxmlformats.org/officeDocument/2006/relationships/notesSlide" Target="/ppt/notesSlides/notesSlide8.xml" Id="Rb8c43537648347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8e502ee614934" /><Relationship Type="http://schemas.openxmlformats.org/officeDocument/2006/relationships/image" Target="/ppt/media/image9.png" Id="Raa50da74e9084351" /><Relationship Type="http://schemas.openxmlformats.org/officeDocument/2006/relationships/notesSlide" Target="/ppt/notesSlides/notesSlide9.xml" Id="Rc44eba65bf764e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643856eac4de5" /><Relationship Type="http://schemas.openxmlformats.org/officeDocument/2006/relationships/image" Target="/ppt/media/image10.png" Id="R8dd92fec7f1843d4" /><Relationship Type="http://schemas.openxmlformats.org/officeDocument/2006/relationships/notesSlide" Target="/ppt/notesSlides/notesSlide10.xml" Id="R63bb38efaeba47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7778670774158" /><Relationship Type="http://schemas.openxmlformats.org/officeDocument/2006/relationships/image" Target="/ppt/media/image11.png" Id="Ref805a2f7e7d46cd" /><Relationship Type="http://schemas.openxmlformats.org/officeDocument/2006/relationships/notesSlide" Target="/ppt/notesSlides/notesSlide11.xml" Id="Re1a60dce508647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8f10658ec4173" /><Relationship Type="http://schemas.openxmlformats.org/officeDocument/2006/relationships/image" Target="/ppt/media/image12.png" Id="Rb680900a4d5e463a" /><Relationship Type="http://schemas.openxmlformats.org/officeDocument/2006/relationships/notesSlide" Target="/ppt/notesSlides/notesSlide12.xml" Id="Rbcef48ed2d5547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c2ad3416a4af4" /><Relationship Type="http://schemas.openxmlformats.org/officeDocument/2006/relationships/image" Target="/ppt/media/image13.png" Id="R270aba12492249c5" /><Relationship Type="http://schemas.openxmlformats.org/officeDocument/2006/relationships/notesSlide" Target="/ppt/notesSlides/notesSlide13.xml" Id="R49d2475388734b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954583c7b4bf1" /><Relationship Type="http://schemas.openxmlformats.org/officeDocument/2006/relationships/image" Target="/ppt/media/image14.png" Id="R0d0d207461044317" /><Relationship Type="http://schemas.openxmlformats.org/officeDocument/2006/relationships/notesSlide" Target="/ppt/notesSlides/notesSlide14.xml" Id="R27f3171e295c42b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a0af5944a4b1d" /><Relationship Type="http://schemas.openxmlformats.org/officeDocument/2006/relationships/image" Target="/ppt/media/image15.png" Id="R97dde95a21214dc0" /><Relationship Type="http://schemas.openxmlformats.org/officeDocument/2006/relationships/notesSlide" Target="/ppt/notesSlides/notesSlide15.xml" Id="R930c3045424644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8d61ef0134a4f" /><Relationship Type="http://schemas.openxmlformats.org/officeDocument/2006/relationships/image" Target="/ppt/media/image16.png" Id="R9a53e710b46c4044" /><Relationship Type="http://schemas.openxmlformats.org/officeDocument/2006/relationships/notesSlide" Target="/ppt/notesSlides/notesSlide16.xml" Id="R101fe4a6d458441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265af8d7b4874" /><Relationship Type="http://schemas.openxmlformats.org/officeDocument/2006/relationships/image" Target="/ppt/media/image17.png" Id="R43045944ffc84eca" /><Relationship Type="http://schemas.openxmlformats.org/officeDocument/2006/relationships/notesSlide" Target="/ppt/notesSlides/notesSlide17.xml" Id="R7c199630dfdf43d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dbec2078c4a8e" /><Relationship Type="http://schemas.openxmlformats.org/officeDocument/2006/relationships/image" Target="/ppt/media/image18.png" Id="Rf3274c20025044f0" /><Relationship Type="http://schemas.openxmlformats.org/officeDocument/2006/relationships/notesSlide" Target="/ppt/notesSlides/notesSlide18.xml" Id="R0cbb3c9023d142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9d5c23c1841eb" /><Relationship Type="http://schemas.openxmlformats.org/officeDocument/2006/relationships/image" Target="/ppt/media/image19.png" Id="R86d7c72b77284d1d" /><Relationship Type="http://schemas.openxmlformats.org/officeDocument/2006/relationships/notesSlide" Target="/ppt/notesSlides/notesSlide19.xml" Id="Ra4e39df0f93d4ea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629f6997d4300" /><Relationship Type="http://schemas.openxmlformats.org/officeDocument/2006/relationships/image" Target="/ppt/media/image20.png" Id="R5d1792dae2e24160" /><Relationship Type="http://schemas.openxmlformats.org/officeDocument/2006/relationships/notesSlide" Target="/ppt/notesSlides/notesSlide20.xml" Id="Ra2f46ab01ce5487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ed15619a34765" /><Relationship Type="http://schemas.openxmlformats.org/officeDocument/2006/relationships/image" Target="/ppt/media/image21.png" Id="R7e23cb96d48b49c2" /><Relationship Type="http://schemas.openxmlformats.org/officeDocument/2006/relationships/notesSlide" Target="/ppt/notesSlides/notesSlide21.xml" Id="R8bc3dd1263384c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f60d13ebd45b3" /><Relationship Type="http://schemas.openxmlformats.org/officeDocument/2006/relationships/image" Target="/ppt/media/image22.png" Id="Rd09d578a50dc44a8" /><Relationship Type="http://schemas.openxmlformats.org/officeDocument/2006/relationships/notesSlide" Target="/ppt/notesSlides/notesSlide22.xml" Id="R07b98dded3934d1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5a66cc1f64605" /><Relationship Type="http://schemas.openxmlformats.org/officeDocument/2006/relationships/image" Target="/ppt/media/image23.png" Id="Re564a2fa67204fe2" /><Relationship Type="http://schemas.openxmlformats.org/officeDocument/2006/relationships/notesSlide" Target="/ppt/notesSlides/notesSlide23.xml" Id="Rba7d21d377f04de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9c69f201f4bb1" /><Relationship Type="http://schemas.openxmlformats.org/officeDocument/2006/relationships/image" Target="/ppt/media/image24.png" Id="R07fdedb1fb714c05" /><Relationship Type="http://schemas.openxmlformats.org/officeDocument/2006/relationships/notesSlide" Target="/ppt/notesSlides/notesSlide24.xml" Id="R4a8e09f2186b460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f4be1ebe64810" /><Relationship Type="http://schemas.openxmlformats.org/officeDocument/2006/relationships/image" Target="/ppt/media/image25.png" Id="R1886c9fcbdad4198" /><Relationship Type="http://schemas.openxmlformats.org/officeDocument/2006/relationships/notesSlide" Target="/ppt/notesSlides/notesSlide25.xml" Id="Rf601c25512804c1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61d7206ac49f0" /><Relationship Type="http://schemas.openxmlformats.org/officeDocument/2006/relationships/image" Target="/ppt/media/image26.png" Id="R16c0a5fc843d4f09" /><Relationship Type="http://schemas.openxmlformats.org/officeDocument/2006/relationships/notesSlide" Target="/ppt/notesSlides/notesSlide26.xml" Id="Rf5af744fd2784da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eca2129af430f" /><Relationship Type="http://schemas.openxmlformats.org/officeDocument/2006/relationships/image" Target="/ppt/media/image27.png" Id="Rbbe2fffdeb01444e" /><Relationship Type="http://schemas.openxmlformats.org/officeDocument/2006/relationships/notesSlide" Target="/ppt/notesSlides/notesSlide27.xml" Id="R9337cb4bdeaf4e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b71377e184a27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9FBCA5-8624-453A-B56F-FDE39467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DE79FE74-6364-465A-8521-0CDB1DA7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CD30D756-63A0-4FFE-B611-039C3313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E0AE5474-CCA5-458A-82B2-C3F9688F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72EC9A5-DF0E-4BA7-B23A-0812C551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COMPANY AND PLATFORM NARRATIVE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8F14FA5-77C9-4414-93D3-D003C8A7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9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About Circularo</a:t>
            </a:r>
          </a:p>
        </p:txBody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7BBA84C-DA63-4B0E-83F0-145636BD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Trust orchestration and trusted execution for organizations, governments, and the agentic era</a:t>
            </a:r>
          </a:p>
        </p:txBody>
      </p:sp>
      <p:sp>
        <p:nvSpPr>
          <p:cNvPr id="9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D39DEE0A-9012-4742-B942-779FEF53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orchestrates trust. Trusted Execution is the outcome.</a:t>
            </a:r>
          </a:p>
        </p:txBody>
      </p:sp>
      <p:sp>
        <p:nvSpPr>
          <p:cNvPr id="10" name="cover-layer-1">
            <a:extLst xmlns:a="http://schemas.openxmlformats.org/drawingml/2006/main">
              <a:ext uri="{FF2B5EF4-FFF2-40B4-BE49-F238E27FC236}">
                <a16:creationId xmlns:a16="http://schemas.microsoft.com/office/drawing/2014/main" id="{D8CF83A9-EABE-45D7-863E-E570BD0B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429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1" name="cover-layer-label-1">
            <a:extLst xmlns:a="http://schemas.openxmlformats.org/drawingml/2006/main">
              <a:ext uri="{FF2B5EF4-FFF2-40B4-BE49-F238E27FC236}">
                <a16:creationId xmlns:a16="http://schemas.microsoft.com/office/drawing/2014/main" id="{4DBAA59E-4363-4ECC-9EF4-61823FAC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43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PEOPLE AND SYSTEMS</a:t>
            </a:r>
          </a:p>
        </p:txBody>
      </p:sp>
      <p:sp>
        <p:nvSpPr>
          <p:cNvPr id="12" name="cover-layer-body-1">
            <a:extLst xmlns:a="http://schemas.openxmlformats.org/drawingml/2006/main">
              <a:ext uri="{FF2B5EF4-FFF2-40B4-BE49-F238E27FC236}">
                <a16:creationId xmlns:a16="http://schemas.microsoft.com/office/drawing/2014/main" id="{AA91BC53-48E3-4919-8885-FEDDD8A5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People / Organizations / Applications / AI agents</a:t>
            </a:r>
          </a:p>
        </p:txBody>
      </p:sp>
      <p:sp>
        <p:nvSpPr>
          <p:cNvPr id="13" name="cover-layer-2">
            <a:extLst xmlns:a="http://schemas.openxmlformats.org/drawingml/2006/main">
              <a:ext uri="{FF2B5EF4-FFF2-40B4-BE49-F238E27FC236}">
                <a16:creationId xmlns:a16="http://schemas.microsoft.com/office/drawing/2014/main" id="{9DCA0193-6E49-4CD8-A5DC-DC40A199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3429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solidFill>
              <a:srgbClr val="6E51DA"/>
            </a:solidFill>
            <a:prstDash val="solid"/>
          </a:ln>
        </p:spPr>
      </p:sp>
      <p:sp>
        <p:nvSpPr>
          <p:cNvPr id="14" name="cover-layer-label-2">
            <a:extLst xmlns:a="http://schemas.openxmlformats.org/drawingml/2006/main">
              <a:ext uri="{FF2B5EF4-FFF2-40B4-BE49-F238E27FC236}">
                <a16:creationId xmlns:a16="http://schemas.microsoft.com/office/drawing/2014/main" id="{901C44E4-73BA-43DE-B927-4BCCA1C8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</a:t>
            </a:r>
          </a:p>
        </p:txBody>
      </p:sp>
      <p:sp>
        <p:nvSpPr>
          <p:cNvPr id="15" name="cover-layer-body-2">
            <a:extLst xmlns:a="http://schemas.openxmlformats.org/drawingml/2006/main">
              <a:ext uri="{FF2B5EF4-FFF2-40B4-BE49-F238E27FC236}">
                <a16:creationId xmlns:a16="http://schemas.microsoft.com/office/drawing/2014/main" id="{CAD48EC8-0622-47F4-A612-595778DB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 Orchestration Platform</a:t>
            </a:r>
          </a:p>
        </p:txBody>
      </p:sp>
      <p:sp>
        <p:nvSpPr>
          <p:cNvPr id="16" name="cover-layer-3">
            <a:extLst xmlns:a="http://schemas.openxmlformats.org/drawingml/2006/main">
              <a:ext uri="{FF2B5EF4-FFF2-40B4-BE49-F238E27FC236}">
                <a16:creationId xmlns:a16="http://schemas.microsoft.com/office/drawing/2014/main" id="{B2F10E92-6A36-443D-A19A-39616CCC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33850"/>
            <a:ext cx="3429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7" name="cover-layer-label-3">
            <a:extLst xmlns:a="http://schemas.openxmlformats.org/drawingml/2006/main">
              <a:ext uri="{FF2B5EF4-FFF2-40B4-BE49-F238E27FC236}">
                <a16:creationId xmlns:a16="http://schemas.microsoft.com/office/drawing/2014/main" id="{C3E92FB4-ADDE-49C0-8EEF-235452E6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OUTCOME</a:t>
            </a:r>
          </a:p>
        </p:txBody>
      </p:sp>
      <p:sp>
        <p:nvSpPr>
          <p:cNvPr id="18" name="cover-layer-body-3">
            <a:extLst xmlns:a="http://schemas.openxmlformats.org/drawingml/2006/main">
              <a:ext uri="{FF2B5EF4-FFF2-40B4-BE49-F238E27FC236}">
                <a16:creationId xmlns:a16="http://schemas.microsoft.com/office/drawing/2014/main" id="{EFE28F25-170F-4BA5-9A7D-ED332548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0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Trusted actions / Evidence / Trusted records</a:t>
            </a:r>
          </a:p>
        </p:txBody>
      </p:sp>
      <p:sp>
        <p:nvSpPr>
          <p:cNvPr id="19" name="cover-link-1">
            <a:extLst xmlns:a="http://schemas.openxmlformats.org/drawingml/2006/main">
              <a:ext uri="{FF2B5EF4-FFF2-40B4-BE49-F238E27FC236}">
                <a16:creationId xmlns:a16="http://schemas.microsoft.com/office/drawing/2014/main" id="{FE865786-923C-49A3-B710-9D7E37DD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47950"/>
            <a:ext cx="19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ver-link-2">
            <a:extLst xmlns:a="http://schemas.openxmlformats.org/drawingml/2006/main">
              <a:ext uri="{FF2B5EF4-FFF2-40B4-BE49-F238E27FC236}">
                <a16:creationId xmlns:a16="http://schemas.microsoft.com/office/drawing/2014/main" id="{90D7558B-BD90-48A6-BFEA-222B5312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29050"/>
            <a:ext cx="19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096996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e49cfd8334d7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E3D901-3BEA-41BB-A099-A6B8C556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EE976B94-D100-409A-A00A-6AE929FD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A95752CC-036A-4904-BDAF-F6E7E0BD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AC43BA1C-4BB3-416C-8240-8AB4AAD3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E3C7C6-B45D-420A-918D-61B4F367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09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 in one view</a:t>
            </a:r>
          </a:p>
        </p:txBody>
      </p:sp>
      <p:sp>
        <p:nvSpPr>
          <p:cNvPr id="7" name="company-definition">
            <a:extLst xmlns:a="http://schemas.openxmlformats.org/drawingml/2006/main">
              <a:ext uri="{FF2B5EF4-FFF2-40B4-BE49-F238E27FC236}">
                <a16:creationId xmlns:a16="http://schemas.microsoft.com/office/drawing/2014/main" id="{C94708D9-014E-4E20-A9FE-5CC4A396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666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 is a digital trust technology company headquartered in Dubai, providing enterprise and government platforms for trusted digital processes.</a:t>
            </a:r>
          </a:p>
        </p:txBody>
      </p:sp>
      <p:sp>
        <p:nvSpPr>
          <p:cNvPr id="8" name="company-1-label">
            <a:extLst xmlns:a="http://schemas.openxmlformats.org/drawingml/2006/main">
              <a:ext uri="{FF2B5EF4-FFF2-40B4-BE49-F238E27FC236}">
                <a16:creationId xmlns:a16="http://schemas.microsoft.com/office/drawing/2014/main" id="{C1BF0431-75A4-405F-8FED-DEF69E79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PROBLEM</a:t>
            </a:r>
          </a:p>
        </p:txBody>
      </p:sp>
      <p:sp>
        <p:nvSpPr>
          <p:cNvPr id="9" name="company-1-body">
            <a:extLst xmlns:a="http://schemas.openxmlformats.org/drawingml/2006/main">
              <a:ext uri="{FF2B5EF4-FFF2-40B4-BE49-F238E27FC236}">
                <a16:creationId xmlns:a16="http://schemas.microsoft.com/office/drawing/2014/main" id="{EA31CBBA-3515-4601-B0CC-B4B543AA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52875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Establish trust as business processes become more digital and autonomous</a:t>
            </a:r>
          </a:p>
        </p:txBody>
      </p:sp>
      <p:sp>
        <p:nvSpPr>
          <p:cNvPr id="10" name="company-2-label">
            <a:extLst xmlns:a="http://schemas.openxmlformats.org/drawingml/2006/main">
              <a:ext uri="{FF2B5EF4-FFF2-40B4-BE49-F238E27FC236}">
                <a16:creationId xmlns:a16="http://schemas.microsoft.com/office/drawing/2014/main" id="{9AC9A72D-D47E-4A31-894A-C047F4E3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PLATFORM</a:t>
            </a:r>
          </a:p>
        </p:txBody>
      </p:sp>
      <p:sp>
        <p:nvSpPr>
          <p:cNvPr id="11" name="company-2-body">
            <a:extLst xmlns:a="http://schemas.openxmlformats.org/drawingml/2006/main">
              <a:ext uri="{FF2B5EF4-FFF2-40B4-BE49-F238E27FC236}">
                <a16:creationId xmlns:a16="http://schemas.microsoft.com/office/drawing/2014/main" id="{E36B1E95-0A4F-4DF8-AB98-CCEE3AE3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24375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Connect content, actors, authority, workflow, trust services, and evidence</a:t>
            </a:r>
          </a:p>
        </p:txBody>
      </p:sp>
      <p:sp>
        <p:nvSpPr>
          <p:cNvPr id="12" name="company-3-label">
            <a:extLst xmlns:a="http://schemas.openxmlformats.org/drawingml/2006/main">
              <a:ext uri="{FF2B5EF4-FFF2-40B4-BE49-F238E27FC236}">
                <a16:creationId xmlns:a16="http://schemas.microsoft.com/office/drawing/2014/main" id="{12D324F5-D90D-4350-9DEC-77035DD7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OUTCOME</a:t>
            </a:r>
          </a:p>
        </p:txBody>
      </p:sp>
      <p:sp>
        <p:nvSpPr>
          <p:cNvPr id="13" name="company-3-body">
            <a:extLst xmlns:a="http://schemas.openxmlformats.org/drawingml/2006/main">
              <a:ext uri="{FF2B5EF4-FFF2-40B4-BE49-F238E27FC236}">
                <a16:creationId xmlns:a16="http://schemas.microsoft.com/office/drawing/2014/main" id="{2503A566-B74A-4FA1-859C-0AC0BCAE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95875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Complete trusted actions and preserve verifiable institutional records</a:t>
            </a:r>
          </a:p>
        </p:txBody>
      </p:sp>
      <p:sp>
        <p:nvSpPr>
          <p:cNvPr id="14" name="company-thesis-frame">
            <a:extLst xmlns:a="http://schemas.openxmlformats.org/drawingml/2006/main">
              <a:ext uri="{FF2B5EF4-FFF2-40B4-BE49-F238E27FC236}">
                <a16:creationId xmlns:a16="http://schemas.microsoft.com/office/drawing/2014/main" id="{BACD22F6-935B-4EE6-B5B1-55B3DB36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71700"/>
            <a:ext cx="3390900" cy="3276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mpany-thesis-label">
            <a:extLst xmlns:a="http://schemas.openxmlformats.org/drawingml/2006/main">
              <a:ext uri="{FF2B5EF4-FFF2-40B4-BE49-F238E27FC236}">
                <a16:creationId xmlns:a16="http://schemas.microsoft.com/office/drawing/2014/main" id="{32CACF67-BA82-4FDC-809A-8A3C4C1E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COMPANY THESIS</a:t>
            </a:r>
          </a:p>
        </p:txBody>
      </p:sp>
      <p:sp>
        <p:nvSpPr>
          <p:cNvPr id="16" name="company-thesis-main">
            <a:extLst xmlns:a="http://schemas.openxmlformats.org/drawingml/2006/main">
              <a:ext uri="{FF2B5EF4-FFF2-40B4-BE49-F238E27FC236}">
                <a16:creationId xmlns:a16="http://schemas.microsoft.com/office/drawing/2014/main" id="{E950234D-6307-436F-95E2-7EA917C2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2705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 must remain connected across the complete digital process.</a:t>
            </a:r>
          </a:p>
        </p:txBody>
      </p:sp>
      <p:sp>
        <p:nvSpPr>
          <p:cNvPr id="17" name="company-thesis-detail">
            <a:extLst xmlns:a="http://schemas.openxmlformats.org/drawingml/2006/main">
              <a:ext uri="{FF2B5EF4-FFF2-40B4-BE49-F238E27FC236}">
                <a16:creationId xmlns:a16="http://schemas.microsoft.com/office/drawing/2014/main" id="{D093260F-6156-477D-B93C-057E0E47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2705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Before execution</a:t>
            </a:r>
          </a:p>
          <a:p xmlns:a="http://schemas.openxmlformats.org/drawingml/2006/main">
            <a:pPr algn="ctr">
              <a:defRPr sz="15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During execution</a:t>
            </a:r>
          </a:p>
          <a:p xmlns:a="http://schemas.openxmlformats.org/drawingml/2006/main">
            <a:pPr algn="ctr">
              <a:defRPr sz="15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After execution</a:t>
            </a:r>
          </a:p>
        </p:txBody>
      </p:sp>
      <p:sp>
        <p:nvSpPr>
          <p:cNvPr id="18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ABD9D768-8843-473A-989B-2BADDC24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B4869DFA-995E-4BFD-880F-A58B4DC2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 expands the trust model around signatures without moving away from them.</a:t>
            </a:r>
          </a:p>
        </p:txBody>
      </p:sp>
    </p:spTree>
    <p:extLst>
      <p:ext uri="{BB962C8B-B14F-4D97-AF65-F5344CB8AC3E}">
        <p14:creationId xmlns:p14="http://schemas.microsoft.com/office/powerpoint/2010/main" val="11311139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78a7b13b84f5e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598A32F-ED30-45B1-B97B-B5D0E318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B3CBCCB-F13B-46F8-9604-ACBF9442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41439207-ABBF-4D2C-84F5-8A5FF1D1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B44567D1-4544-46DB-AC7A-E08CA550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49F5A7-4E85-4D59-B5BA-FE8460F9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953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One continuous expansion of the trust problem</a:t>
            </a:r>
          </a:p>
        </p:txBody>
      </p:sp>
      <p:sp>
        <p:nvSpPr>
          <p:cNvPr id="7" name="evolution-spine">
            <a:extLst xmlns:a="http://schemas.openxmlformats.org/drawingml/2006/main">
              <a:ext uri="{FF2B5EF4-FFF2-40B4-BE49-F238E27FC236}">
                <a16:creationId xmlns:a16="http://schemas.microsoft.com/office/drawing/2014/main" id="{EB71108B-8BDC-4737-A38C-C701EB91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038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olution-1-frame">
            <a:extLst xmlns:a="http://schemas.openxmlformats.org/drawingml/2006/main">
              <a:ext uri="{FF2B5EF4-FFF2-40B4-BE49-F238E27FC236}">
                <a16:creationId xmlns:a16="http://schemas.microsoft.com/office/drawing/2014/main" id="{F506D094-FA0E-45FE-9B74-7872CBD1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194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9" name="evolution-1-text">
            <a:extLst xmlns:a="http://schemas.openxmlformats.org/drawingml/2006/main">
              <a:ext uri="{FF2B5EF4-FFF2-40B4-BE49-F238E27FC236}">
                <a16:creationId xmlns:a16="http://schemas.microsoft.com/office/drawing/2014/main" id="{7D06BE60-2487-4EB9-85CF-2909C6E4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0" name="evolution-title-1">
            <a:extLst xmlns:a="http://schemas.openxmlformats.org/drawingml/2006/main">
              <a:ext uri="{FF2B5EF4-FFF2-40B4-BE49-F238E27FC236}">
                <a16:creationId xmlns:a16="http://schemas.microsoft.com/office/drawing/2014/main" id="{9C364D04-E6DD-4B50-8431-09D33E70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Digital signatures</a:t>
            </a:r>
          </a:p>
        </p:txBody>
      </p:sp>
      <p:sp>
        <p:nvSpPr>
          <p:cNvPr id="11" name="evolution-body-1">
            <a:extLst xmlns:a="http://schemas.openxmlformats.org/drawingml/2006/main">
              <a:ext uri="{FF2B5EF4-FFF2-40B4-BE49-F238E27FC236}">
                <a16:creationId xmlns:a16="http://schemas.microsoft.com/office/drawing/2014/main" id="{52A807CB-1E22-498B-927D-4CFCE25B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Prove the signing action</a:t>
            </a:r>
          </a:p>
        </p:txBody>
      </p:sp>
      <p:sp>
        <p:nvSpPr>
          <p:cNvPr id="12" name="evolution-2-frame">
            <a:extLst xmlns:a="http://schemas.openxmlformats.org/drawingml/2006/main">
              <a:ext uri="{FF2B5EF4-FFF2-40B4-BE49-F238E27FC236}">
                <a16:creationId xmlns:a16="http://schemas.microsoft.com/office/drawing/2014/main" id="{8B75F2E5-2639-4F38-A74A-EB9B180B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194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3" name="evolution-2-text">
            <a:extLst xmlns:a="http://schemas.openxmlformats.org/drawingml/2006/main">
              <a:ext uri="{FF2B5EF4-FFF2-40B4-BE49-F238E27FC236}">
                <a16:creationId xmlns:a16="http://schemas.microsoft.com/office/drawing/2014/main" id="{F4DE5131-6659-48D7-B77E-AB258C0D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33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4" name="evolution-title-2">
            <a:extLst xmlns:a="http://schemas.openxmlformats.org/drawingml/2006/main">
              <a:ext uri="{FF2B5EF4-FFF2-40B4-BE49-F238E27FC236}">
                <a16:creationId xmlns:a16="http://schemas.microsoft.com/office/drawing/2014/main" id="{E52329F8-F146-4329-A141-6A890392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433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Digital trust</a:t>
            </a:r>
          </a:p>
        </p:txBody>
      </p:sp>
      <p:sp>
        <p:nvSpPr>
          <p:cNvPr id="15" name="evolution-body-2">
            <a:extLst xmlns:a="http://schemas.openxmlformats.org/drawingml/2006/main">
              <a:ext uri="{FF2B5EF4-FFF2-40B4-BE49-F238E27FC236}">
                <a16:creationId xmlns:a16="http://schemas.microsoft.com/office/drawing/2014/main" id="{71AC530A-FE5D-4072-A5DC-993A14BF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053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Maintain trust across the process</a:t>
            </a:r>
          </a:p>
        </p:txBody>
      </p:sp>
      <p:sp>
        <p:nvSpPr>
          <p:cNvPr id="16" name="evolution-3-frame">
            <a:extLst xmlns:a="http://schemas.openxmlformats.org/drawingml/2006/main">
              <a:ext uri="{FF2B5EF4-FFF2-40B4-BE49-F238E27FC236}">
                <a16:creationId xmlns:a16="http://schemas.microsoft.com/office/drawing/2014/main" id="{15C3125E-B9DB-419A-AC0A-B91BE5E1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194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7" name="evolution-3-text">
            <a:extLst xmlns:a="http://schemas.openxmlformats.org/drawingml/2006/main">
              <a:ext uri="{FF2B5EF4-FFF2-40B4-BE49-F238E27FC236}">
                <a16:creationId xmlns:a16="http://schemas.microsoft.com/office/drawing/2014/main" id="{AF9E681F-7269-4286-AC90-5229C01A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33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8" name="evolution-title-3">
            <a:extLst xmlns:a="http://schemas.openxmlformats.org/drawingml/2006/main">
              <a:ext uri="{FF2B5EF4-FFF2-40B4-BE49-F238E27FC236}">
                <a16:creationId xmlns:a16="http://schemas.microsoft.com/office/drawing/2014/main" id="{DD9A449C-CBE0-4B1D-BCB2-3C9DB1C3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Trusted execution</a:t>
            </a:r>
          </a:p>
        </p:txBody>
      </p:sp>
      <p:sp>
        <p:nvSpPr>
          <p:cNvPr id="19" name="evolution-body-3">
            <a:extLst xmlns:a="http://schemas.openxmlformats.org/drawingml/2006/main">
              <a:ext uri="{FF2B5EF4-FFF2-40B4-BE49-F238E27FC236}">
                <a16:creationId xmlns:a16="http://schemas.microsoft.com/office/drawing/2014/main" id="{C81C0D5A-CB98-45DF-8A1C-664A270B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053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Deliver a controlled business outcome</a:t>
            </a:r>
          </a:p>
        </p:txBody>
      </p:sp>
      <p:sp>
        <p:nvSpPr>
          <p:cNvPr id="20" name="evolution-4-frame">
            <a:extLst xmlns:a="http://schemas.openxmlformats.org/drawingml/2006/main">
              <a:ext uri="{FF2B5EF4-FFF2-40B4-BE49-F238E27FC236}">
                <a16:creationId xmlns:a16="http://schemas.microsoft.com/office/drawing/2014/main" id="{114C901A-8A57-4A94-AA6F-9A27228B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194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1" name="evolution-4-text">
            <a:extLst xmlns:a="http://schemas.openxmlformats.org/drawingml/2006/main">
              <a:ext uri="{FF2B5EF4-FFF2-40B4-BE49-F238E27FC236}">
                <a16:creationId xmlns:a16="http://schemas.microsoft.com/office/drawing/2014/main" id="{FCE99E80-4B89-402A-9983-A01F9122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33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2" name="evolution-title-4">
            <a:extLst xmlns:a="http://schemas.openxmlformats.org/drawingml/2006/main">
              <a:ext uri="{FF2B5EF4-FFF2-40B4-BE49-F238E27FC236}">
                <a16:creationId xmlns:a16="http://schemas.microsoft.com/office/drawing/2014/main" id="{0706D9AA-E96C-42A7-94B4-25AA478B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433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Agentic trusted execution</a:t>
            </a:r>
          </a:p>
        </p:txBody>
      </p:sp>
      <p:sp>
        <p:nvSpPr>
          <p:cNvPr id="23" name="evolution-body-4">
            <a:extLst xmlns:a="http://schemas.openxmlformats.org/drawingml/2006/main">
              <a:ext uri="{FF2B5EF4-FFF2-40B4-BE49-F238E27FC236}">
                <a16:creationId xmlns:a16="http://schemas.microsoft.com/office/drawing/2014/main" id="{D6AA08BA-DDC2-4972-BD9C-FC71AB79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053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Apply the model when AI agents act</a:t>
            </a:r>
          </a:p>
        </p:txBody>
      </p:sp>
      <p:sp>
        <p:nvSpPr>
          <p:cNvPr id="24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8E30A648-0B57-4FED-93FA-2F01EA53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0C2274E5-5BDE-43B0-BD70-1FC0CF4B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Each stage keeps the prior trust capability and expands the outcome Circularo can support.</a:t>
            </a:r>
          </a:p>
        </p:txBody>
      </p:sp>
    </p:spTree>
    <p:extLst>
      <p:ext uri="{BB962C8B-B14F-4D97-AF65-F5344CB8AC3E}">
        <p14:creationId xmlns:p14="http://schemas.microsoft.com/office/powerpoint/2010/main" val="660250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badd0541541f6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6C0F771-BE7F-468D-B45B-9EC9419D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FF83FB97-E439-43A9-8201-B92B25AF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9665949-12AD-4E7D-B254-0F8704F8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EB3B3D60-7D97-4681-9876-0916C7B9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0976F1-BD25-4CAC-AE1D-B510C0D0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9906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Four strategic focus areas</a:t>
            </a:r>
          </a:p>
        </p:txBody>
      </p:sp>
      <p:sp>
        <p:nvSpPr>
          <p:cNvPr id="7" name="focus-1-frame">
            <a:extLst xmlns:a="http://schemas.openxmlformats.org/drawingml/2006/main">
              <a:ext uri="{FF2B5EF4-FFF2-40B4-BE49-F238E27FC236}">
                <a16:creationId xmlns:a16="http://schemas.microsoft.com/office/drawing/2014/main" id="{B448E791-F447-481B-AE4E-25E7A40D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8" name="focus-1-text">
            <a:extLst xmlns:a="http://schemas.openxmlformats.org/drawingml/2006/main">
              <a:ext uri="{FF2B5EF4-FFF2-40B4-BE49-F238E27FC236}">
                <a16:creationId xmlns:a16="http://schemas.microsoft.com/office/drawing/2014/main" id="{988B3D6C-F047-4E6F-96D9-77E5760F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9" name="focus-title-1">
            <a:extLst xmlns:a="http://schemas.openxmlformats.org/drawingml/2006/main">
              <a:ext uri="{FF2B5EF4-FFF2-40B4-BE49-F238E27FC236}">
                <a16:creationId xmlns:a16="http://schemas.microsoft.com/office/drawing/2014/main" id="{93C55BF1-34F9-49A8-B5B7-1F42D8D6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288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Enterprise Digital Trust</a:t>
            </a:r>
          </a:p>
        </p:txBody>
      </p:sp>
      <p:sp>
        <p:nvSpPr>
          <p:cNvPr id="10" name="focus-body-1">
            <a:extLst xmlns:a="http://schemas.openxmlformats.org/drawingml/2006/main">
              <a:ext uri="{FF2B5EF4-FFF2-40B4-BE49-F238E27FC236}">
                <a16:creationId xmlns:a16="http://schemas.microsoft.com/office/drawing/2014/main" id="{93B07EA9-09DB-4D15-9A51-C6948716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Simplify trusted digital work across organizations</a:t>
            </a:r>
          </a:p>
        </p:txBody>
      </p:sp>
      <p:sp>
        <p:nvSpPr>
          <p:cNvPr id="11" name="focus-divider-1">
            <a:extLst xmlns:a="http://schemas.openxmlformats.org/drawingml/2006/main">
              <a:ext uri="{FF2B5EF4-FFF2-40B4-BE49-F238E27FC236}">
                <a16:creationId xmlns:a16="http://schemas.microsoft.com/office/drawing/2014/main" id="{80CB56AA-0E7E-4572-AC4C-675D270C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cus-2-frame">
            <a:extLst xmlns:a="http://schemas.openxmlformats.org/drawingml/2006/main">
              <a:ext uri="{FF2B5EF4-FFF2-40B4-BE49-F238E27FC236}">
                <a16:creationId xmlns:a16="http://schemas.microsoft.com/office/drawing/2014/main" id="{56CDCE9B-923C-4D99-935F-B4982DA7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3" name="focus-2-text">
            <a:extLst xmlns:a="http://schemas.openxmlformats.org/drawingml/2006/main">
              <a:ext uri="{FF2B5EF4-FFF2-40B4-BE49-F238E27FC236}">
                <a16:creationId xmlns:a16="http://schemas.microsoft.com/office/drawing/2014/main" id="{AF1BD20F-4ABE-4BA9-9373-A2660ABC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4" name="focus-title-2">
            <a:extLst xmlns:a="http://schemas.openxmlformats.org/drawingml/2006/main">
              <a:ext uri="{FF2B5EF4-FFF2-40B4-BE49-F238E27FC236}">
                <a16:creationId xmlns:a16="http://schemas.microsoft.com/office/drawing/2014/main" id="{065B71CF-B0DE-4294-8BBF-FE441D79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288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Sovereign Digital Trust</a:t>
            </a:r>
          </a:p>
        </p:txBody>
      </p:sp>
      <p:sp>
        <p:nvSpPr>
          <p:cNvPr id="15" name="focus-body-2">
            <a:extLst xmlns:a="http://schemas.openxmlformats.org/drawingml/2006/main">
              <a:ext uri="{FF2B5EF4-FFF2-40B4-BE49-F238E27FC236}">
                <a16:creationId xmlns:a16="http://schemas.microsoft.com/office/drawing/2014/main" id="{E4332017-5B43-4B02-A351-522A2755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6225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Operate modern trust infrastructure in customer-controlled environments</a:t>
            </a:r>
          </a:p>
        </p:txBody>
      </p:sp>
      <p:sp>
        <p:nvSpPr>
          <p:cNvPr id="16" name="focus-divider-2">
            <a:extLst xmlns:a="http://schemas.openxmlformats.org/drawingml/2006/main">
              <a:ext uri="{FF2B5EF4-FFF2-40B4-BE49-F238E27FC236}">
                <a16:creationId xmlns:a16="http://schemas.microsoft.com/office/drawing/2014/main" id="{B1F90229-6BD7-4365-B472-8CC8F207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cus-3-frame">
            <a:extLst xmlns:a="http://schemas.openxmlformats.org/drawingml/2006/main">
              <a:ext uri="{FF2B5EF4-FFF2-40B4-BE49-F238E27FC236}">
                <a16:creationId xmlns:a16="http://schemas.microsoft.com/office/drawing/2014/main" id="{5A6C4475-C17C-4C72-B017-E6B91879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8" name="focus-3-text">
            <a:extLst xmlns:a="http://schemas.openxmlformats.org/drawingml/2006/main">
              <a:ext uri="{FF2B5EF4-FFF2-40B4-BE49-F238E27FC236}">
                <a16:creationId xmlns:a16="http://schemas.microsoft.com/office/drawing/2014/main" id="{8EB81B87-FA01-4C01-8047-38141B49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9" name="focus-title-3">
            <a:extLst xmlns:a="http://schemas.openxmlformats.org/drawingml/2006/main">
              <a:ext uri="{FF2B5EF4-FFF2-40B4-BE49-F238E27FC236}">
                <a16:creationId xmlns:a16="http://schemas.microsoft.com/office/drawing/2014/main" id="{BDB39C57-A284-4C91-B4B9-44C74E70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Government Shared Services</a:t>
            </a:r>
          </a:p>
        </p:txBody>
      </p:sp>
      <p:sp>
        <p:nvSpPr>
          <p:cNvPr id="20" name="focus-body-3">
            <a:extLst xmlns:a="http://schemas.openxmlformats.org/drawingml/2006/main">
              <a:ext uri="{FF2B5EF4-FFF2-40B4-BE49-F238E27FC236}">
                <a16:creationId xmlns:a16="http://schemas.microsoft.com/office/drawing/2014/main" id="{A93EE702-3BD1-4884-BAFE-FA1E02E5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Provide reusable trust capabilities across public institutions</a:t>
            </a:r>
          </a:p>
        </p:txBody>
      </p:sp>
      <p:sp>
        <p:nvSpPr>
          <p:cNvPr id="21" name="focus-4-frame">
            <a:extLst xmlns:a="http://schemas.openxmlformats.org/drawingml/2006/main">
              <a:ext uri="{FF2B5EF4-FFF2-40B4-BE49-F238E27FC236}">
                <a16:creationId xmlns:a16="http://schemas.microsoft.com/office/drawing/2014/main" id="{63F859EF-2D0E-431D-A9D3-52DC71ED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671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2" name="focus-4-text">
            <a:extLst xmlns:a="http://schemas.openxmlformats.org/drawingml/2006/main">
              <a:ext uri="{FF2B5EF4-FFF2-40B4-BE49-F238E27FC236}">
                <a16:creationId xmlns:a16="http://schemas.microsoft.com/office/drawing/2014/main" id="{8AF88BCC-E746-4B75-A296-5F03FF1B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814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3" name="focus-title-4">
            <a:extLst xmlns:a="http://schemas.openxmlformats.org/drawingml/2006/main">
              <a:ext uri="{FF2B5EF4-FFF2-40B4-BE49-F238E27FC236}">
                <a16:creationId xmlns:a16="http://schemas.microsoft.com/office/drawing/2014/main" id="{2A75A2B5-198C-4CC3-ACCB-E75654DF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481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Agentic AI Trust</a:t>
            </a:r>
          </a:p>
        </p:txBody>
      </p:sp>
      <p:sp>
        <p:nvSpPr>
          <p:cNvPr id="24" name="focus-body-4">
            <a:extLst xmlns:a="http://schemas.openxmlformats.org/drawingml/2006/main">
              <a:ext uri="{FF2B5EF4-FFF2-40B4-BE49-F238E27FC236}">
                <a16:creationId xmlns:a16="http://schemas.microsoft.com/office/drawing/2014/main" id="{7CB29F5D-CE1D-4779-9F08-3D8F12D2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8150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Govern identity, authority, execution, and evidence when agents act</a:t>
            </a:r>
          </a:p>
        </p:txBody>
      </p:sp>
      <p:sp>
        <p:nvSpPr>
          <p:cNvPr id="25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696CB358-35D3-4E47-BA58-5230FCC8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keaway">
            <a:extLst xmlns:a="http://schemas.openxmlformats.org/drawingml/2006/main">
              <a:ext uri="{FF2B5EF4-FFF2-40B4-BE49-F238E27FC236}">
                <a16:creationId xmlns:a16="http://schemas.microsoft.com/office/drawing/2014/main" id="{2397E4CF-6E2C-467E-8025-99C8E853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Four focus areas. Three delivery models. One Trusted Execution Platform.</a:t>
            </a:r>
          </a:p>
        </p:txBody>
      </p:sp>
    </p:spTree>
    <p:extLst>
      <p:ext uri="{BB962C8B-B14F-4D97-AF65-F5344CB8AC3E}">
        <p14:creationId xmlns:p14="http://schemas.microsoft.com/office/powerpoint/2010/main" val="8006718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856fa37b747ca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57AA57B-3038-4901-A2EC-0AADD00E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F9886648-0313-4E6D-98BF-323BABA5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A2F7F218-604C-47FD-9FC4-1A108F58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CE27EA97-1974-4EE7-9E74-04142130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25C434-C334-46B0-B8AC-8DC3842A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Differentiation is moving above trust infrastructure</a:t>
            </a:r>
          </a:p>
        </p:txBody>
      </p:sp>
      <p:sp>
        <p:nvSpPr>
          <p:cNvPr id="7" name="market-thesis">
            <a:extLst xmlns:a="http://schemas.openxmlformats.org/drawingml/2006/main">
              <a:ext uri="{FF2B5EF4-FFF2-40B4-BE49-F238E27FC236}">
                <a16:creationId xmlns:a16="http://schemas.microsoft.com/office/drawing/2014/main" id="{682C09E4-CB1D-44E9-8024-AA59BD08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466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Identity, signatures, seals, timestamps, PKI, and sovereign cloud services increasingly form a shared foundation.</a:t>
            </a:r>
          </a:p>
        </p:txBody>
      </p:sp>
      <p:sp>
        <p:nvSpPr>
          <p:cNvPr id="8" name="market-implication">
            <a:extLst xmlns:a="http://schemas.openxmlformats.org/drawingml/2006/main">
              <a:ext uri="{FF2B5EF4-FFF2-40B4-BE49-F238E27FC236}">
                <a16:creationId xmlns:a16="http://schemas.microsoft.com/office/drawing/2014/main" id="{B082CDA9-F06E-47BD-B71C-953A3551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Circularo connects that foundation to the authority, workflow, policy, evidence, integrations, and operating controls required by real business processes.</a:t>
            </a:r>
          </a:p>
        </p:txBody>
      </p:sp>
      <p:sp>
        <p:nvSpPr>
          <p:cNvPr id="9" name="foundation">
            <a:extLst xmlns:a="http://schemas.openxmlformats.org/drawingml/2006/main">
              <a:ext uri="{FF2B5EF4-FFF2-40B4-BE49-F238E27FC236}">
                <a16:creationId xmlns:a16="http://schemas.microsoft.com/office/drawing/2014/main" id="{BFBA4382-6F8A-4550-BE0E-CE2C68A4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19550"/>
            <a:ext cx="46863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0" name="foundation-label">
            <a:extLst xmlns:a="http://schemas.openxmlformats.org/drawingml/2006/main">
              <a:ext uri="{FF2B5EF4-FFF2-40B4-BE49-F238E27FC236}">
                <a16:creationId xmlns:a16="http://schemas.microsoft.com/office/drawing/2014/main" id="{E743C541-AD5C-435D-B211-A56F8CD6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6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FOUNDATIONAL TRUST INFRASTRUCTURE</a:t>
            </a:r>
          </a:p>
        </p:txBody>
      </p:sp>
      <p:sp>
        <p:nvSpPr>
          <p:cNvPr id="11" name="foundation-body">
            <a:extLst xmlns:a="http://schemas.openxmlformats.org/drawingml/2006/main">
              <a:ext uri="{FF2B5EF4-FFF2-40B4-BE49-F238E27FC236}">
                <a16:creationId xmlns:a16="http://schemas.microsoft.com/office/drawing/2014/main" id="{F8901BE3-D8CE-498C-BE37-62BF1FAD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29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 / PKI / signatures / seals / timestamps / sovereign cloud</a:t>
            </a:r>
          </a:p>
        </p:txBody>
      </p:sp>
      <p:sp>
        <p:nvSpPr>
          <p:cNvPr id="12" name="orchestration">
            <a:extLst xmlns:a="http://schemas.openxmlformats.org/drawingml/2006/main">
              <a:ext uri="{FF2B5EF4-FFF2-40B4-BE49-F238E27FC236}">
                <a16:creationId xmlns:a16="http://schemas.microsoft.com/office/drawing/2014/main" id="{F8F99E7C-0BC2-4F8D-A132-1CF62234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51625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rchestration-label">
            <a:extLst xmlns:a="http://schemas.openxmlformats.org/drawingml/2006/main">
              <a:ext uri="{FF2B5EF4-FFF2-40B4-BE49-F238E27FC236}">
                <a16:creationId xmlns:a16="http://schemas.microsoft.com/office/drawing/2014/main" id="{EBEED62A-A019-4133-AAC5-3F057650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4600"/>
            <a:ext cx="440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TRUST ORCHESTRATION</a:t>
            </a:r>
          </a:p>
        </p:txBody>
      </p:sp>
      <p:sp>
        <p:nvSpPr>
          <p:cNvPr id="14" name="orchestration-body">
            <a:extLst xmlns:a="http://schemas.openxmlformats.org/drawingml/2006/main">
              <a:ext uri="{FF2B5EF4-FFF2-40B4-BE49-F238E27FC236}">
                <a16:creationId xmlns:a16="http://schemas.microsoft.com/office/drawing/2014/main" id="{58A946E7-5F66-45C9-8FB4-8243854B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33700"/>
            <a:ext cx="4400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Content / authority / workflow / approval</a:t>
            </a:r>
          </a:p>
          <a:p xmlns:a="http://schemas.openxmlformats.org/drawingml/2006/main">
            <a:pPr algn="ctr">
              <a:defRPr sz="146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assurance / evidence / records / deployment control</a:t>
            </a:r>
          </a:p>
        </p:txBody>
      </p:sp>
      <p:sp>
        <p:nvSpPr>
          <p:cNvPr id="15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595A41B0-EFBB-4BCE-8099-03F90D82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DD9FC30D-9A52-4880-8F7E-F36B0231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Circularo turns trust infrastructure into governed business outcomes.</a:t>
            </a:r>
          </a:p>
        </p:txBody>
      </p:sp>
    </p:spTree>
    <p:extLst>
      <p:ext uri="{BB962C8B-B14F-4D97-AF65-F5344CB8AC3E}">
        <p14:creationId xmlns:p14="http://schemas.microsoft.com/office/powerpoint/2010/main" val="19246858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2365159ec4f6c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BEA7676-B2DB-4B17-920B-CB53CA68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955C4935-3C2E-4C04-93ED-56A01095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63BCCDE5-1F2F-4148-B2E3-2743CBEC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ABOUT CIRCULARO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66D62FCE-DBA6-4839-94CB-33D7A09F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C794B3-05D4-447C-AE9F-ED7856A7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 Orchestration and Trusted Execution serve different roles</a:t>
            </a:r>
          </a:p>
        </p:txBody>
      </p:sp>
      <p:sp>
        <p:nvSpPr>
          <p:cNvPr id="7" name="capability-frame">
            <a:extLst xmlns:a="http://schemas.openxmlformats.org/drawingml/2006/main">
              <a:ext uri="{FF2B5EF4-FFF2-40B4-BE49-F238E27FC236}">
                <a16:creationId xmlns:a16="http://schemas.microsoft.com/office/drawing/2014/main" id="{04EC4872-939A-41B5-968E-47FC9706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49911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8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75A07235-FE73-421F-9D8B-7F149054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PLATFORM CAPABILITY</a:t>
            </a:r>
          </a:p>
        </p:txBody>
      </p:sp>
      <p:sp>
        <p:nvSpPr>
          <p:cNvPr id="9" name="capability-title">
            <a:extLst xmlns:a="http://schemas.openxmlformats.org/drawingml/2006/main">
              <a:ext uri="{FF2B5EF4-FFF2-40B4-BE49-F238E27FC236}">
                <a16:creationId xmlns:a16="http://schemas.microsoft.com/office/drawing/2014/main" id="{BA8A3F71-BCFC-43A8-AE2A-33A49327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 Orchestration</a:t>
            </a:r>
          </a:p>
        </p:txBody>
      </p:sp>
      <p:sp>
        <p:nvSpPr>
          <p:cNvPr id="10" name="capability-body">
            <a:extLst xmlns:a="http://schemas.openxmlformats.org/drawingml/2006/main">
              <a:ext uri="{FF2B5EF4-FFF2-40B4-BE49-F238E27FC236}">
                <a16:creationId xmlns:a16="http://schemas.microsoft.com/office/drawing/2014/main" id="{E9387731-65CE-445B-8CE1-CBE89D68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Connects content, actors, identity, authority, workflow, trust services, evidence, and records across the business process.</a:t>
            </a:r>
          </a:p>
        </p:txBody>
      </p:sp>
      <p:sp>
        <p:nvSpPr>
          <p:cNvPr id="11" name="outcome-frame">
            <a:extLst xmlns:a="http://schemas.openxmlformats.org/drawingml/2006/main">
              <a:ext uri="{FF2B5EF4-FFF2-40B4-BE49-F238E27FC236}">
                <a16:creationId xmlns:a16="http://schemas.microsoft.com/office/drawing/2014/main" id="{9FA62E33-702A-4B10-87A0-07C77600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49911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utcome-label">
            <a:extLst xmlns:a="http://schemas.openxmlformats.org/drawingml/2006/main">
              <a:ext uri="{FF2B5EF4-FFF2-40B4-BE49-F238E27FC236}">
                <a16:creationId xmlns:a16="http://schemas.microsoft.com/office/drawing/2014/main" id="{E7571B58-40C1-4D1F-B2DB-FECFD490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2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BUSINESS OUTCOME</a:t>
            </a:r>
          </a:p>
        </p:txBody>
      </p:sp>
      <p:sp>
        <p:nvSpPr>
          <p:cNvPr id="13" name="outcome-title">
            <a:extLst xmlns:a="http://schemas.openxmlformats.org/drawingml/2006/main">
              <a:ext uri="{FF2B5EF4-FFF2-40B4-BE49-F238E27FC236}">
                <a16:creationId xmlns:a16="http://schemas.microsoft.com/office/drawing/2014/main" id="{BC65E38F-BB95-4B18-9A77-B7500921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813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Trusted Execution</a:t>
            </a:r>
          </a:p>
        </p:txBody>
      </p:sp>
      <p:sp>
        <p:nvSpPr>
          <p:cNvPr id="14" name="outcome-body">
            <a:extLst xmlns:a="http://schemas.openxmlformats.org/drawingml/2006/main">
              <a:ext uri="{FF2B5EF4-FFF2-40B4-BE49-F238E27FC236}">
                <a16:creationId xmlns:a16="http://schemas.microsoft.com/office/drawing/2014/main" id="{60D57FFB-4EB3-4521-9A13-5363D216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433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Produces a trusted and verifiable action with the appropriate controls, assurance, and retained evidence.</a:t>
            </a:r>
          </a:p>
        </p:txBody>
      </p:sp>
      <p:sp>
        <p:nvSpPr>
          <p:cNvPr id="15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E7471E95-1146-48A6-A5EF-DD938A26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C2821779-5B20-4ED2-AE27-2C9212D1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 orchestrates trust. Trusted Execution is the outcome.</a:t>
            </a:r>
          </a:p>
        </p:txBody>
      </p:sp>
    </p:spTree>
    <p:extLst>
      <p:ext uri="{BB962C8B-B14F-4D97-AF65-F5344CB8AC3E}">
        <p14:creationId xmlns:p14="http://schemas.microsoft.com/office/powerpoint/2010/main" val="3389136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0f034d66d45a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9D3B86-9E7A-4043-969C-4EECD7C0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988027A2-5D67-42CD-BA44-5E7CED0F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187243CC-267A-4D9C-9355-6F980B08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THE CIRCULARO TRUST ORCHESTRATION PLATFORM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C11F04F9-B757-4E33-A536-B92CC870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chapter-kicker">
            <a:extLst xmlns:a="http://schemas.openxmlformats.org/drawingml/2006/main">
              <a:ext uri="{FF2B5EF4-FFF2-40B4-BE49-F238E27FC236}">
                <a16:creationId xmlns:a16="http://schemas.microsoft.com/office/drawing/2014/main" id="{4CAFFB02-AFAD-4E10-8826-0653983B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INDEPENDENT PLATFORM CHAPTER</a:t>
            </a:r>
          </a:p>
        </p:txBody>
      </p:sp>
      <p:sp>
        <p:nvSpPr>
          <p:cNvPr id="7" name="chapter-title">
            <a:extLst xmlns:a="http://schemas.openxmlformats.org/drawingml/2006/main">
              <a:ext uri="{FF2B5EF4-FFF2-40B4-BE49-F238E27FC236}">
                <a16:creationId xmlns:a16="http://schemas.microsoft.com/office/drawing/2014/main" id="{B2D0AE97-ECF6-4D04-BD0D-B6A82057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685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0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The Circularo Trust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0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Orchestration Platform</a:t>
            </a:r>
          </a:p>
        </p:txBody>
      </p:sp>
      <p:sp>
        <p:nvSpPr>
          <p:cNvPr id="8" name="chapter-subtitle">
            <a:extLst xmlns:a="http://schemas.openxmlformats.org/drawingml/2006/main">
              <a:ext uri="{FF2B5EF4-FFF2-40B4-BE49-F238E27FC236}">
                <a16:creationId xmlns:a16="http://schemas.microsoft.com/office/drawing/2014/main" id="{EF3E8A3F-0079-45E1-B82C-7F97F7FB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Six connected platform areas. One Trusted Execution environment.</a:t>
            </a:r>
          </a:p>
        </p:txBody>
      </p:sp>
      <p:sp>
        <p:nvSpPr>
          <p:cNvPr id="9" name="chapter-1-frame">
            <a:extLst xmlns:a="http://schemas.openxmlformats.org/drawingml/2006/main">
              <a:ext uri="{FF2B5EF4-FFF2-40B4-BE49-F238E27FC236}">
                <a16:creationId xmlns:a16="http://schemas.microsoft.com/office/drawing/2014/main" id="{F20BA38B-178E-4BEB-83BB-88BFE75A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0" name="chapter-1-text">
            <a:extLst xmlns:a="http://schemas.openxmlformats.org/drawingml/2006/main">
              <a:ext uri="{FF2B5EF4-FFF2-40B4-BE49-F238E27FC236}">
                <a16:creationId xmlns:a16="http://schemas.microsoft.com/office/drawing/2014/main" id="{C6424E42-4F00-40F0-9B6F-71FEE41D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335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1" name="chapter-name-1">
            <a:extLst xmlns:a="http://schemas.openxmlformats.org/drawingml/2006/main">
              <a:ext uri="{FF2B5EF4-FFF2-40B4-BE49-F238E27FC236}">
                <a16:creationId xmlns:a16="http://schemas.microsoft.com/office/drawing/2014/main" id="{18AE4319-1BD6-43EE-B9CC-279CDE5B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275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Content</a:t>
            </a:r>
          </a:p>
        </p:txBody>
      </p:sp>
      <p:sp>
        <p:nvSpPr>
          <p:cNvPr id="12" name="chapter-2-frame">
            <a:extLst xmlns:a="http://schemas.openxmlformats.org/drawingml/2006/main">
              <a:ext uri="{FF2B5EF4-FFF2-40B4-BE49-F238E27FC236}">
                <a16:creationId xmlns:a16="http://schemas.microsoft.com/office/drawing/2014/main" id="{47560B13-E217-4B57-A6BC-C111614E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192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3" name="chapter-2-text">
            <a:extLst xmlns:a="http://schemas.openxmlformats.org/drawingml/2006/main">
              <a:ext uri="{FF2B5EF4-FFF2-40B4-BE49-F238E27FC236}">
                <a16:creationId xmlns:a16="http://schemas.microsoft.com/office/drawing/2014/main" id="{BBB44E9D-1A5D-4A2B-B09E-33C9FCAA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335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4" name="chapter-name-2">
            <a:extLst xmlns:a="http://schemas.openxmlformats.org/drawingml/2006/main">
              <a:ext uri="{FF2B5EF4-FFF2-40B4-BE49-F238E27FC236}">
                <a16:creationId xmlns:a16="http://schemas.microsoft.com/office/drawing/2014/main" id="{BFFFEE27-E956-41E1-A88A-BB9B1C32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71450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275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15" name="chapter-3-frame">
            <a:extLst xmlns:a="http://schemas.openxmlformats.org/drawingml/2006/main">
              <a:ext uri="{FF2B5EF4-FFF2-40B4-BE49-F238E27FC236}">
                <a16:creationId xmlns:a16="http://schemas.microsoft.com/office/drawing/2014/main" id="{99CBEC06-F6E5-43BB-9996-E300B4AC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194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6" name="chapter-3-text">
            <a:extLst xmlns:a="http://schemas.openxmlformats.org/drawingml/2006/main">
              <a:ext uri="{FF2B5EF4-FFF2-40B4-BE49-F238E27FC236}">
                <a16:creationId xmlns:a16="http://schemas.microsoft.com/office/drawing/2014/main" id="{C3278C14-8579-4B36-A877-D33257F6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7" name="chapter-name-3">
            <a:extLst xmlns:a="http://schemas.openxmlformats.org/drawingml/2006/main">
              <a:ext uri="{FF2B5EF4-FFF2-40B4-BE49-F238E27FC236}">
                <a16:creationId xmlns:a16="http://schemas.microsoft.com/office/drawing/2014/main" id="{34CB5D80-75F3-451F-ABB9-D7C82976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1465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275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Workflow</a:t>
            </a:r>
          </a:p>
        </p:txBody>
      </p:sp>
      <p:sp>
        <p:nvSpPr>
          <p:cNvPr id="18" name="chapter-4-frame">
            <a:extLst xmlns:a="http://schemas.openxmlformats.org/drawingml/2006/main">
              <a:ext uri="{FF2B5EF4-FFF2-40B4-BE49-F238E27FC236}">
                <a16:creationId xmlns:a16="http://schemas.microsoft.com/office/drawing/2014/main" id="{4C2BAF58-296E-4CF0-B66B-134059A1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194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9" name="chapter-4-text">
            <a:extLst xmlns:a="http://schemas.openxmlformats.org/drawingml/2006/main">
              <a:ext uri="{FF2B5EF4-FFF2-40B4-BE49-F238E27FC236}">
                <a16:creationId xmlns:a16="http://schemas.microsoft.com/office/drawing/2014/main" id="{46036B7F-E4FB-491D-B98A-D9C1D6EF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337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0" name="chapter-name-4">
            <a:extLst xmlns:a="http://schemas.openxmlformats.org/drawingml/2006/main">
              <a:ext uri="{FF2B5EF4-FFF2-40B4-BE49-F238E27FC236}">
                <a16:creationId xmlns:a16="http://schemas.microsoft.com/office/drawing/2014/main" id="{BC470923-81E7-4528-870D-DFBF1699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1465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275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Trust services</a:t>
            </a:r>
          </a:p>
        </p:txBody>
      </p:sp>
      <p:sp>
        <p:nvSpPr>
          <p:cNvPr id="21" name="chapter-5-frame">
            <a:extLst xmlns:a="http://schemas.openxmlformats.org/drawingml/2006/main">
              <a:ext uri="{FF2B5EF4-FFF2-40B4-BE49-F238E27FC236}">
                <a16:creationId xmlns:a16="http://schemas.microsoft.com/office/drawing/2014/main" id="{0FA4328A-AA64-43C6-ACE2-946535C4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95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22" name="chapter-5-text">
            <a:extLst xmlns:a="http://schemas.openxmlformats.org/drawingml/2006/main">
              <a:ext uri="{FF2B5EF4-FFF2-40B4-BE49-F238E27FC236}">
                <a16:creationId xmlns:a16="http://schemas.microsoft.com/office/drawing/2014/main" id="{A9C68BB7-B0DD-40C9-9EC2-BB498A51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33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3" name="chapter-name-5">
            <a:extLst xmlns:a="http://schemas.openxmlformats.org/drawingml/2006/main">
              <a:ext uri="{FF2B5EF4-FFF2-40B4-BE49-F238E27FC236}">
                <a16:creationId xmlns:a16="http://schemas.microsoft.com/office/drawing/2014/main" id="{0BB25E57-11F9-42D4-9AC8-C29FB8B7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1480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275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4" name="chapter-6-frame">
            <a:extLst xmlns:a="http://schemas.openxmlformats.org/drawingml/2006/main">
              <a:ext uri="{FF2B5EF4-FFF2-40B4-BE49-F238E27FC236}">
                <a16:creationId xmlns:a16="http://schemas.microsoft.com/office/drawing/2014/main" id="{45F181FE-F3A6-4613-A253-D8BEE469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195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5" name="chapter-6-text">
            <a:extLst xmlns:a="http://schemas.openxmlformats.org/drawingml/2006/main">
              <a:ext uri="{FF2B5EF4-FFF2-40B4-BE49-F238E27FC236}">
                <a16:creationId xmlns:a16="http://schemas.microsoft.com/office/drawing/2014/main" id="{6E7444B3-52F9-48F9-A03A-5BD9A69E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33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26" name="chapter-name-6">
            <a:extLst xmlns:a="http://schemas.openxmlformats.org/drawingml/2006/main">
              <a:ext uri="{FF2B5EF4-FFF2-40B4-BE49-F238E27FC236}">
                <a16:creationId xmlns:a16="http://schemas.microsoft.com/office/drawing/2014/main" id="{77000052-9DCC-4DF3-831F-D9EBF90A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11480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2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Programmable trust</a:t>
            </a:r>
          </a:p>
        </p:txBody>
      </p:sp>
      <p:sp>
        <p:nvSpPr>
          <p:cNvPr id="27" name="chapter-foot">
            <a:extLst xmlns:a="http://schemas.openxmlformats.org/drawingml/2006/main">
              <a:ext uri="{FF2B5EF4-FFF2-40B4-BE49-F238E27FC236}">
                <a16:creationId xmlns:a16="http://schemas.microsoft.com/office/drawing/2014/main" id="{7140B88D-4EBA-4EC9-B5D8-3C2C383E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Content and actors become connected to authority, decisions, trust services, execution, and evidence.</a:t>
            </a:r>
          </a:p>
        </p:txBody>
      </p:sp>
    </p:spTree>
    <p:extLst>
      <p:ext uri="{BB962C8B-B14F-4D97-AF65-F5344CB8AC3E}">
        <p14:creationId xmlns:p14="http://schemas.microsoft.com/office/powerpoint/2010/main" val="773316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b3e7c5d64403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C688A3-48E9-42E2-B05E-DE50CFFC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75DD04B-6E7B-45A0-94FD-0181D085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34AFA605-4628-43A4-8075-E9900979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THE CIRCULARO TRUST ORCHESTRATION PLATFORM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ADAC4D0C-F408-44B6-8674-196681EA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capability-series">
            <a:extLst xmlns:a="http://schemas.openxmlformats.org/drawingml/2006/main">
              <a:ext uri="{FF2B5EF4-FFF2-40B4-BE49-F238E27FC236}">
                <a16:creationId xmlns:a16="http://schemas.microsoft.com/office/drawing/2014/main" id="{F8EF9D24-5F5D-4366-8711-CF27DE1E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THE CIRCULARO TRUST ORCHESTRATION PLATFORM / 1 OF 6</a:t>
            </a:r>
          </a:p>
        </p:txBody>
      </p:sp>
      <p:sp>
        <p:nvSpPr>
          <p:cNvPr id="7" name="capability-title">
            <a:extLst xmlns:a="http://schemas.openxmlformats.org/drawingml/2006/main">
              <a:ext uri="{FF2B5EF4-FFF2-40B4-BE49-F238E27FC236}">
                <a16:creationId xmlns:a16="http://schemas.microsoft.com/office/drawing/2014/main" id="{B1334B1A-0FE5-4BF0-B245-7D1224BD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Content &amp; Collaboration</a:t>
            </a:r>
          </a:p>
        </p:txBody>
      </p:sp>
      <p:sp>
        <p:nvSpPr>
          <p:cNvPr id="8" name="content-principle">
            <a:extLst xmlns:a="http://schemas.openxmlformats.org/drawingml/2006/main">
              <a:ext uri="{FF2B5EF4-FFF2-40B4-BE49-F238E27FC236}">
                <a16:creationId xmlns:a16="http://schemas.microsoft.com/office/drawing/2014/main" id="{353FC671-DDBA-48CC-9352-09EBA812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32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 begins with the content itself.</a:t>
            </a:r>
          </a:p>
        </p:txBody>
      </p:sp>
      <p:sp>
        <p:nvSpPr>
          <p:cNvPr id="9" name="content-description">
            <a:extLst xmlns:a="http://schemas.openxmlformats.org/drawingml/2006/main">
              <a:ext uri="{FF2B5EF4-FFF2-40B4-BE49-F238E27FC236}">
                <a16:creationId xmlns:a16="http://schemas.microsoft.com/office/drawing/2014/main" id="{17E517B5-0706-4357-BAD4-CD5F3A63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523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Circularo supports important business content from creation and preparation through collaboration and review, before formal execution begins.</a:t>
            </a:r>
          </a:p>
        </p:txBody>
      </p:sp>
      <p:sp>
        <p:nvSpPr>
          <p:cNvPr id="10" name="content-spine">
            <a:extLst xmlns:a="http://schemas.openxmlformats.org/drawingml/2006/main">
              <a:ext uri="{FF2B5EF4-FFF2-40B4-BE49-F238E27FC236}">
                <a16:creationId xmlns:a16="http://schemas.microsoft.com/office/drawing/2014/main" id="{18A3E93D-7DF2-4827-BAB1-A1887D5E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24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ntent-stage-1-frame">
            <a:extLst xmlns:a="http://schemas.openxmlformats.org/drawingml/2006/main">
              <a:ext uri="{FF2B5EF4-FFF2-40B4-BE49-F238E27FC236}">
                <a16:creationId xmlns:a16="http://schemas.microsoft.com/office/drawing/2014/main" id="{151C9A2D-336E-4D4B-8DF8-20B8C16C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2194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2" name="content-stage-1-text">
            <a:extLst xmlns:a="http://schemas.openxmlformats.org/drawingml/2006/main">
              <a:ext uri="{FF2B5EF4-FFF2-40B4-BE49-F238E27FC236}">
                <a16:creationId xmlns:a16="http://schemas.microsoft.com/office/drawing/2014/main" id="{43A44341-55AF-49FD-B352-401D3E27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333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3" name="content-stage-label-1">
            <a:extLst xmlns:a="http://schemas.openxmlformats.org/drawingml/2006/main">
              <a:ext uri="{FF2B5EF4-FFF2-40B4-BE49-F238E27FC236}">
                <a16:creationId xmlns:a16="http://schemas.microsoft.com/office/drawing/2014/main" id="{935082FD-1D9B-47B6-BCFF-846814A5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433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Create</a:t>
            </a:r>
          </a:p>
        </p:txBody>
      </p:sp>
      <p:sp>
        <p:nvSpPr>
          <p:cNvPr id="14" name="content-stage-2-frame">
            <a:extLst xmlns:a="http://schemas.openxmlformats.org/drawingml/2006/main">
              <a:ext uri="{FF2B5EF4-FFF2-40B4-BE49-F238E27FC236}">
                <a16:creationId xmlns:a16="http://schemas.microsoft.com/office/drawing/2014/main" id="{7552B32E-9C3A-4D84-9016-4F6FB006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2194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5" name="content-stage-2-text">
            <a:extLst xmlns:a="http://schemas.openxmlformats.org/drawingml/2006/main">
              <a:ext uri="{FF2B5EF4-FFF2-40B4-BE49-F238E27FC236}">
                <a16:creationId xmlns:a16="http://schemas.microsoft.com/office/drawing/2014/main" id="{EA8DDE1D-F580-4895-9D57-A025B987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333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6" name="content-stage-label-2">
            <a:extLst xmlns:a="http://schemas.openxmlformats.org/drawingml/2006/main">
              <a:ext uri="{FF2B5EF4-FFF2-40B4-BE49-F238E27FC236}">
                <a16:creationId xmlns:a16="http://schemas.microsoft.com/office/drawing/2014/main" id="{03DD118F-6269-491D-B513-6B7180E4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433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Prepare</a:t>
            </a:r>
          </a:p>
        </p:txBody>
      </p:sp>
      <p:sp>
        <p:nvSpPr>
          <p:cNvPr id="17" name="content-stage-3-frame">
            <a:extLst xmlns:a="http://schemas.openxmlformats.org/drawingml/2006/main">
              <a:ext uri="{FF2B5EF4-FFF2-40B4-BE49-F238E27FC236}">
                <a16:creationId xmlns:a16="http://schemas.microsoft.com/office/drawing/2014/main" id="{60C73492-8C6D-4391-9270-6545B74C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194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8" name="content-stage-3-text">
            <a:extLst xmlns:a="http://schemas.openxmlformats.org/drawingml/2006/main">
              <a:ext uri="{FF2B5EF4-FFF2-40B4-BE49-F238E27FC236}">
                <a16:creationId xmlns:a16="http://schemas.microsoft.com/office/drawing/2014/main" id="{185B2334-B2A8-4B1D-9AF9-C71143F8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33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9" name="content-stage-label-3">
            <a:extLst xmlns:a="http://schemas.openxmlformats.org/drawingml/2006/main">
              <a:ext uri="{FF2B5EF4-FFF2-40B4-BE49-F238E27FC236}">
                <a16:creationId xmlns:a16="http://schemas.microsoft.com/office/drawing/2014/main" id="{1E5E1435-5CEA-4768-A413-8DF030A0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433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Collaborate</a:t>
            </a:r>
          </a:p>
        </p:txBody>
      </p:sp>
      <p:sp>
        <p:nvSpPr>
          <p:cNvPr id="20" name="content-stage-4-frame">
            <a:extLst xmlns:a="http://schemas.openxmlformats.org/drawingml/2006/main">
              <a:ext uri="{FF2B5EF4-FFF2-40B4-BE49-F238E27FC236}">
                <a16:creationId xmlns:a16="http://schemas.microsoft.com/office/drawing/2014/main" id="{A2BBAED1-0FA2-4189-BFCB-21BBF037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2194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1" name="content-stage-4-text">
            <a:extLst xmlns:a="http://schemas.openxmlformats.org/drawingml/2006/main">
              <a:ext uri="{FF2B5EF4-FFF2-40B4-BE49-F238E27FC236}">
                <a16:creationId xmlns:a16="http://schemas.microsoft.com/office/drawing/2014/main" id="{55E364CE-8760-46BA-A50F-AFBAC890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333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2" name="content-stage-label-4">
            <a:extLst xmlns:a="http://schemas.openxmlformats.org/drawingml/2006/main">
              <a:ext uri="{FF2B5EF4-FFF2-40B4-BE49-F238E27FC236}">
                <a16:creationId xmlns:a16="http://schemas.microsoft.com/office/drawing/2014/main" id="{D91A550B-E1F6-4910-A655-5EEEF20D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433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Review</a:t>
            </a:r>
          </a:p>
        </p:txBody>
      </p:sp>
      <p:sp>
        <p:nvSpPr>
          <p:cNvPr id="23" name="content-scope">
            <a:extLst xmlns:a="http://schemas.openxmlformats.org/drawingml/2006/main">
              <a:ext uri="{FF2B5EF4-FFF2-40B4-BE49-F238E27FC236}">
                <a16:creationId xmlns:a16="http://schemas.microsoft.com/office/drawing/2014/main" id="{BA9FC3D4-0543-464B-BCC3-CFD83C8E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5048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24" name="content-scope-text">
            <a:extLst xmlns:a="http://schemas.openxmlformats.org/drawingml/2006/main">
              <a:ext uri="{FF2B5EF4-FFF2-40B4-BE49-F238E27FC236}">
                <a16:creationId xmlns:a16="http://schemas.microsoft.com/office/drawing/2014/main" id="{42382966-EE02-4EC8-A042-95CD64B7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62500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0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Document and PDF capabilities / Office and Collabora integration / planned eDoc direction</a:t>
            </a:r>
          </a:p>
        </p:txBody>
      </p:sp>
      <p:sp>
        <p:nvSpPr>
          <p:cNvPr id="25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3486B3B7-E0DC-4874-B007-364A735C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keaway">
            <a:extLst xmlns:a="http://schemas.openxmlformats.org/drawingml/2006/main">
              <a:ext uri="{FF2B5EF4-FFF2-40B4-BE49-F238E27FC236}">
                <a16:creationId xmlns:a16="http://schemas.microsoft.com/office/drawing/2014/main" id="{17A662BF-A793-4725-A24D-95593AC4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 begins when important content is created, before a signature field is added.</a:t>
            </a:r>
          </a:p>
        </p:txBody>
      </p:sp>
    </p:spTree>
    <p:extLst>
      <p:ext uri="{BB962C8B-B14F-4D97-AF65-F5344CB8AC3E}">
        <p14:creationId xmlns:p14="http://schemas.microsoft.com/office/powerpoint/2010/main" val="21327738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0da74e908435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435C37C-5F0C-46C6-8B71-B269E2B3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B4E75E4F-78B3-4C3D-9D68-3BA9E5A5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95E15240-F5F0-47C0-A8B7-75274EC8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THE CIRCULARO TRUST ORCHESTRATION PLATFORM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A00AD38F-0225-4556-9535-4637594B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capability-series">
            <a:extLst xmlns:a="http://schemas.openxmlformats.org/drawingml/2006/main">
              <a:ext uri="{FF2B5EF4-FFF2-40B4-BE49-F238E27FC236}">
                <a16:creationId xmlns:a16="http://schemas.microsoft.com/office/drawing/2014/main" id="{7493637C-838D-4425-9288-ECD15F6B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THE CIRCULARO TRUST ORCHESTRATION PLATFORM / 2 OF 6</a:t>
            </a:r>
          </a:p>
        </p:txBody>
      </p:sp>
      <p:sp>
        <p:nvSpPr>
          <p:cNvPr id="7" name="capability-title">
            <a:extLst xmlns:a="http://schemas.openxmlformats.org/drawingml/2006/main">
              <a:ext uri="{FF2B5EF4-FFF2-40B4-BE49-F238E27FC236}">
                <a16:creationId xmlns:a16="http://schemas.microsoft.com/office/drawing/2014/main" id="{5A52B4DF-926C-400E-976F-B0106175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Identity &amp; Authority</a:t>
            </a:r>
          </a:p>
        </p:txBody>
      </p:sp>
      <p:sp>
        <p:nvSpPr>
          <p:cNvPr id="8" name="identity-frame">
            <a:extLst xmlns:a="http://schemas.openxmlformats.org/drawingml/2006/main">
              <a:ext uri="{FF2B5EF4-FFF2-40B4-BE49-F238E27FC236}">
                <a16:creationId xmlns:a16="http://schemas.microsoft.com/office/drawing/2014/main" id="{45164BDC-010B-46C3-979D-142C20C3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48958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9" name="identity-label">
            <a:extLst xmlns:a="http://schemas.openxmlformats.org/drawingml/2006/main">
              <a:ext uri="{FF2B5EF4-FFF2-40B4-BE49-F238E27FC236}">
                <a16:creationId xmlns:a16="http://schemas.microsoft.com/office/drawing/2014/main" id="{BD36A13B-42A1-47E0-9A2A-670023C2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10" name="identity-title">
            <a:extLst xmlns:a="http://schemas.openxmlformats.org/drawingml/2006/main">
              <a:ext uri="{FF2B5EF4-FFF2-40B4-BE49-F238E27FC236}">
                <a16:creationId xmlns:a16="http://schemas.microsoft.com/office/drawing/2014/main" id="{F66F46CF-2D14-48A2-B3FC-133B550E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3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Who or what is acting?</a:t>
            </a:r>
          </a:p>
        </p:txBody>
      </p:sp>
      <p:sp>
        <p:nvSpPr>
          <p:cNvPr id="11" name="identity-body">
            <a:extLst xmlns:a="http://schemas.openxmlformats.org/drawingml/2006/main">
              <a:ext uri="{FF2B5EF4-FFF2-40B4-BE49-F238E27FC236}">
                <a16:creationId xmlns:a16="http://schemas.microsoft.com/office/drawing/2014/main" id="{0DAF6685-FD61-49D1-8A73-4CE938E0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Establish the actor and the identity assurance appropriate to the process.</a:t>
            </a:r>
          </a:p>
        </p:txBody>
      </p:sp>
      <p:sp>
        <p:nvSpPr>
          <p:cNvPr id="12" name="authority-frame">
            <a:extLst xmlns:a="http://schemas.openxmlformats.org/drawingml/2006/main">
              <a:ext uri="{FF2B5EF4-FFF2-40B4-BE49-F238E27FC236}">
                <a16:creationId xmlns:a16="http://schemas.microsoft.com/office/drawing/2014/main" id="{6743CE9E-AA1F-4FD7-8CD6-6401B7E5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48958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uthority-label">
            <a:extLst xmlns:a="http://schemas.openxmlformats.org/drawingml/2006/main">
              <a:ext uri="{FF2B5EF4-FFF2-40B4-BE49-F238E27FC236}">
                <a16:creationId xmlns:a16="http://schemas.microsoft.com/office/drawing/2014/main" id="{05448503-5F9B-4422-9971-9BF6E403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479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AUTHORITY</a:t>
            </a:r>
          </a:p>
        </p:txBody>
      </p:sp>
      <p:sp>
        <p:nvSpPr>
          <p:cNvPr id="14" name="authority-title">
            <a:extLst xmlns:a="http://schemas.openxmlformats.org/drawingml/2006/main">
              <a:ext uri="{FF2B5EF4-FFF2-40B4-BE49-F238E27FC236}">
                <a16:creationId xmlns:a16="http://schemas.microsoft.com/office/drawing/2014/main" id="{18CD02E9-1D40-4349-B3C6-A21B397F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62300"/>
            <a:ext cx="3905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Whom does the actor represent, and what may they do?</a:t>
            </a:r>
          </a:p>
        </p:txBody>
      </p:sp>
      <p:sp>
        <p:nvSpPr>
          <p:cNvPr id="15" name="authority-body">
            <a:extLst xmlns:a="http://schemas.openxmlformats.org/drawingml/2006/main">
              <a:ext uri="{FF2B5EF4-FFF2-40B4-BE49-F238E27FC236}">
                <a16:creationId xmlns:a16="http://schemas.microsoft.com/office/drawing/2014/main" id="{28CC08B5-3D2B-4B16-9AC9-E917D7A8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672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Define mandate, limits, organizational role, and delegated authority.</a:t>
            </a:r>
          </a:p>
        </p:txBody>
      </p:sp>
      <p:sp>
        <p:nvSpPr>
          <p:cNvPr id="16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6310CA8E-F158-49D4-B3D7-500F5A09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keaway">
            <a:extLst xmlns:a="http://schemas.openxmlformats.org/drawingml/2006/main">
              <a:ext uri="{FF2B5EF4-FFF2-40B4-BE49-F238E27FC236}">
                <a16:creationId xmlns:a16="http://schemas.microsoft.com/office/drawing/2014/main" id="{C5E3155D-C8CD-4DED-94DA-373BFDDE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 establishes the actor. Authority establishes the right to act.</a:t>
            </a:r>
          </a:p>
        </p:txBody>
      </p:sp>
    </p:spTree>
    <p:extLst>
      <p:ext uri="{BB962C8B-B14F-4D97-AF65-F5344CB8AC3E}">
        <p14:creationId xmlns:p14="http://schemas.microsoft.com/office/powerpoint/2010/main" val="18717340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92fec7f1843d4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56CADBC-5D36-4692-9DF5-EF89E148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C75DBFF1-A834-4AFE-84D2-878C6C52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64E7FD5F-5F3A-45D4-82F6-A765E0FB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THE CIRCULARO TRUST ORCHESTRATION PLATFORM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DBC82BBF-22DD-442F-8BEA-BF7D34DE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capability-series">
            <a:extLst xmlns:a="http://schemas.openxmlformats.org/drawingml/2006/main">
              <a:ext uri="{FF2B5EF4-FFF2-40B4-BE49-F238E27FC236}">
                <a16:creationId xmlns:a16="http://schemas.microsoft.com/office/drawing/2014/main" id="{2097A934-9C1D-480B-9B50-5C7B3810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THE CIRCULARO TRUST ORCHESTRATION PLATFORM / 3 OF 6</a:t>
            </a:r>
          </a:p>
        </p:txBody>
      </p:sp>
      <p:sp>
        <p:nvSpPr>
          <p:cNvPr id="7" name="capability-title">
            <a:extLst xmlns:a="http://schemas.openxmlformats.org/drawingml/2006/main">
              <a:ext uri="{FF2B5EF4-FFF2-40B4-BE49-F238E27FC236}">
                <a16:creationId xmlns:a16="http://schemas.microsoft.com/office/drawing/2014/main" id="{1738C60B-1A7B-4D5F-A4C1-D15CB319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Workflow &amp; Approval</a:t>
            </a:r>
          </a:p>
        </p:txBody>
      </p:sp>
      <p:sp>
        <p:nvSpPr>
          <p:cNvPr id="8" name="workflow-description">
            <a:extLst xmlns:a="http://schemas.openxmlformats.org/drawingml/2006/main">
              <a:ext uri="{FF2B5EF4-FFF2-40B4-BE49-F238E27FC236}">
                <a16:creationId xmlns:a16="http://schemas.microsoft.com/office/drawing/2014/main" id="{EC60ACAF-73D3-43E1-A637-F07B9B27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4953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 connects organizational authority to the execution path through participants, decisions, business rules, reviews, approvals, and escalation.</a:t>
            </a:r>
          </a:p>
        </p:txBody>
      </p:sp>
      <p:sp>
        <p:nvSpPr>
          <p:cNvPr id="9" name="workflow-1-frame">
            <a:extLst xmlns:a="http://schemas.openxmlformats.org/drawingml/2006/main">
              <a:ext uri="{FF2B5EF4-FFF2-40B4-BE49-F238E27FC236}">
                <a16:creationId xmlns:a16="http://schemas.microsoft.com/office/drawing/2014/main" id="{AD3D0AC9-5757-47B5-9595-FCE3E31A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0" name="workflow-1-text">
            <a:extLst xmlns:a="http://schemas.openxmlformats.org/drawingml/2006/main">
              <a:ext uri="{FF2B5EF4-FFF2-40B4-BE49-F238E27FC236}">
                <a16:creationId xmlns:a16="http://schemas.microsoft.com/office/drawing/2014/main" id="{7D7FC1D8-8E69-4A4A-B0FC-81B89951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57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1" name="workflow-title-1">
            <a:extLst xmlns:a="http://schemas.openxmlformats.org/drawingml/2006/main">
              <a:ext uri="{FF2B5EF4-FFF2-40B4-BE49-F238E27FC236}">
                <a16:creationId xmlns:a16="http://schemas.microsoft.com/office/drawing/2014/main" id="{07105380-C550-4AC6-9306-E47C8BD9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098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Route</a:t>
            </a:r>
          </a:p>
        </p:txBody>
      </p:sp>
      <p:sp>
        <p:nvSpPr>
          <p:cNvPr id="12" name="workflow-body-1">
            <a:extLst xmlns:a="http://schemas.openxmlformats.org/drawingml/2006/main">
              <a:ext uri="{FF2B5EF4-FFF2-40B4-BE49-F238E27FC236}">
                <a16:creationId xmlns:a16="http://schemas.microsoft.com/office/drawing/2014/main" id="{50326C23-6EA1-4BE1-935E-C35F599B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9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3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 participates</a:t>
            </a:r>
          </a:p>
        </p:txBody>
      </p:sp>
      <p:sp>
        <p:nvSpPr>
          <p:cNvPr id="13" name="workflow-line-1">
            <a:extLst xmlns:a="http://schemas.openxmlformats.org/drawingml/2006/main">
              <a:ext uri="{FF2B5EF4-FFF2-40B4-BE49-F238E27FC236}">
                <a16:creationId xmlns:a16="http://schemas.microsoft.com/office/drawing/2014/main" id="{D1340B7B-1E1F-47CC-AC8C-4AA1F1C0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orkflow-2-frame">
            <a:extLst xmlns:a="http://schemas.openxmlformats.org/drawingml/2006/main">
              <a:ext uri="{FF2B5EF4-FFF2-40B4-BE49-F238E27FC236}">
                <a16:creationId xmlns:a16="http://schemas.microsoft.com/office/drawing/2014/main" id="{887A1F5D-F4D4-4DE8-846B-8C86C309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5" name="workflow-2-text">
            <a:extLst xmlns:a="http://schemas.openxmlformats.org/drawingml/2006/main">
              <a:ext uri="{FF2B5EF4-FFF2-40B4-BE49-F238E27FC236}">
                <a16:creationId xmlns:a16="http://schemas.microsoft.com/office/drawing/2014/main" id="{65DB6552-BFBD-4413-9542-23B7AA20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6" name="workflow-title-2">
            <a:extLst xmlns:a="http://schemas.openxmlformats.org/drawingml/2006/main">
              <a:ext uri="{FF2B5EF4-FFF2-40B4-BE49-F238E27FC236}">
                <a16:creationId xmlns:a16="http://schemas.microsoft.com/office/drawing/2014/main" id="{DAA23C7D-9901-4324-B8C0-019F4BA5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765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Review</a:t>
            </a:r>
          </a:p>
        </p:txBody>
      </p:sp>
      <p:sp>
        <p:nvSpPr>
          <p:cNvPr id="17" name="workflow-body-2">
            <a:extLst xmlns:a="http://schemas.openxmlformats.org/drawingml/2006/main">
              <a:ext uri="{FF2B5EF4-FFF2-40B4-BE49-F238E27FC236}">
                <a16:creationId xmlns:a16="http://schemas.microsoft.com/office/drawing/2014/main" id="{217B6334-4BC8-4AA6-9A14-2A23107A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3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requires review</a:t>
            </a:r>
          </a:p>
        </p:txBody>
      </p:sp>
      <p:sp>
        <p:nvSpPr>
          <p:cNvPr id="18" name="workflow-line-2">
            <a:extLst xmlns:a="http://schemas.openxmlformats.org/drawingml/2006/main">
              <a:ext uri="{FF2B5EF4-FFF2-40B4-BE49-F238E27FC236}">
                <a16:creationId xmlns:a16="http://schemas.microsoft.com/office/drawing/2014/main" id="{C112D6F3-786B-463E-95A7-3DC8BFFB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orkflow-3-frame">
            <a:extLst xmlns:a="http://schemas.openxmlformats.org/drawingml/2006/main">
              <a:ext uri="{FF2B5EF4-FFF2-40B4-BE49-F238E27FC236}">
                <a16:creationId xmlns:a16="http://schemas.microsoft.com/office/drawing/2014/main" id="{D6184096-D292-4281-A2FD-95E14CC2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52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0" name="workflow-3-text">
            <a:extLst xmlns:a="http://schemas.openxmlformats.org/drawingml/2006/main">
              <a:ext uri="{FF2B5EF4-FFF2-40B4-BE49-F238E27FC236}">
                <a16:creationId xmlns:a16="http://schemas.microsoft.com/office/drawing/2014/main" id="{0E4CCD08-29E8-47E0-AB95-1C89F642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909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21" name="workflow-title-3">
            <a:extLst xmlns:a="http://schemas.openxmlformats.org/drawingml/2006/main">
              <a:ext uri="{FF2B5EF4-FFF2-40B4-BE49-F238E27FC236}">
                <a16:creationId xmlns:a16="http://schemas.microsoft.com/office/drawing/2014/main" id="{6766BEEF-8E99-4BEF-AE05-B92CEEB5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433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Decide</a:t>
            </a:r>
          </a:p>
        </p:txBody>
      </p:sp>
      <p:sp>
        <p:nvSpPr>
          <p:cNvPr id="22" name="workflow-body-3">
            <a:extLst xmlns:a="http://schemas.openxmlformats.org/drawingml/2006/main">
              <a:ext uri="{FF2B5EF4-FFF2-40B4-BE49-F238E27FC236}">
                <a16:creationId xmlns:a16="http://schemas.microsoft.com/office/drawing/2014/main" id="{3DBCAA0E-0B08-4248-8386-A6172D57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3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 may decide</a:t>
            </a:r>
          </a:p>
        </p:txBody>
      </p:sp>
      <p:sp>
        <p:nvSpPr>
          <p:cNvPr id="23" name="workflow-line-3">
            <a:extLst xmlns:a="http://schemas.openxmlformats.org/drawingml/2006/main">
              <a:ext uri="{FF2B5EF4-FFF2-40B4-BE49-F238E27FC236}">
                <a16:creationId xmlns:a16="http://schemas.microsoft.com/office/drawing/2014/main" id="{89DFF0B0-509A-4091-A710-4B4BADC2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orkflow-4-frame">
            <a:extLst xmlns:a="http://schemas.openxmlformats.org/drawingml/2006/main">
              <a:ext uri="{FF2B5EF4-FFF2-40B4-BE49-F238E27FC236}">
                <a16:creationId xmlns:a16="http://schemas.microsoft.com/office/drawing/2014/main" id="{DA60134B-72F0-49F7-9131-C3F8E71A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5" name="workflow-4-text">
            <a:extLst xmlns:a="http://schemas.openxmlformats.org/drawingml/2006/main">
              <a:ext uri="{FF2B5EF4-FFF2-40B4-BE49-F238E27FC236}">
                <a16:creationId xmlns:a16="http://schemas.microsoft.com/office/drawing/2014/main" id="{B2F0C605-43AA-41C8-9850-44B6DC54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6" name="workflow-title-4">
            <a:extLst xmlns:a="http://schemas.openxmlformats.org/drawingml/2006/main">
              <a:ext uri="{FF2B5EF4-FFF2-40B4-BE49-F238E27FC236}">
                <a16:creationId xmlns:a16="http://schemas.microsoft.com/office/drawing/2014/main" id="{C7B00301-E149-4A2F-AB9F-736A95CC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1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Approve</a:t>
            </a:r>
          </a:p>
        </p:txBody>
      </p:sp>
      <p:sp>
        <p:nvSpPr>
          <p:cNvPr id="27" name="workflow-body-4">
            <a:extLst xmlns:a="http://schemas.openxmlformats.org/drawingml/2006/main">
              <a:ext uri="{FF2B5EF4-FFF2-40B4-BE49-F238E27FC236}">
                <a16:creationId xmlns:a16="http://schemas.microsoft.com/office/drawing/2014/main" id="{6EA186D5-5AE3-4808-B97E-30C35604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3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Which approval is required</a:t>
            </a:r>
          </a:p>
        </p:txBody>
      </p:sp>
      <p:sp>
        <p:nvSpPr>
          <p:cNvPr id="28" name="workflow-line-4">
            <a:extLst xmlns:a="http://schemas.openxmlformats.org/drawingml/2006/main">
              <a:ext uri="{FF2B5EF4-FFF2-40B4-BE49-F238E27FC236}">
                <a16:creationId xmlns:a16="http://schemas.microsoft.com/office/drawing/2014/main" id="{F2156E22-3CE7-4313-B6D0-DA088AD6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orkflow-5-frame">
            <a:extLst xmlns:a="http://schemas.openxmlformats.org/drawingml/2006/main">
              <a:ext uri="{FF2B5EF4-FFF2-40B4-BE49-F238E27FC236}">
                <a16:creationId xmlns:a16="http://schemas.microsoft.com/office/drawing/2014/main" id="{D2E460EE-4F5A-4FBA-8F9B-C08B7D22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387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30" name="workflow-5-text">
            <a:extLst xmlns:a="http://schemas.openxmlformats.org/drawingml/2006/main">
              <a:ext uri="{FF2B5EF4-FFF2-40B4-BE49-F238E27FC236}">
                <a16:creationId xmlns:a16="http://schemas.microsoft.com/office/drawing/2014/main" id="{CADA7355-3A2C-4D10-9E2F-DEE59670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24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1" name="workflow-title-5">
            <a:extLst xmlns:a="http://schemas.openxmlformats.org/drawingml/2006/main">
              <a:ext uri="{FF2B5EF4-FFF2-40B4-BE49-F238E27FC236}">
                <a16:creationId xmlns:a16="http://schemas.microsoft.com/office/drawing/2014/main" id="{8C837373-FD2E-455F-B190-15E1F91D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768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Control</a:t>
            </a:r>
          </a:p>
        </p:txBody>
      </p:sp>
      <p:sp>
        <p:nvSpPr>
          <p:cNvPr id="32" name="workflow-body-5">
            <a:extLst xmlns:a="http://schemas.openxmlformats.org/drawingml/2006/main">
              <a:ext uri="{FF2B5EF4-FFF2-40B4-BE49-F238E27FC236}">
                <a16:creationId xmlns:a16="http://schemas.microsoft.com/office/drawing/2014/main" id="{F98495B0-C821-4894-8B24-A03EEAFB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76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3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When escalation applies</a:t>
            </a:r>
          </a:p>
        </p:txBody>
      </p:sp>
      <p:sp>
        <p:nvSpPr>
          <p:cNvPr id="33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31DCF103-F8B3-446F-9593-0DA59FA8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akeaway">
            <a:extLst xmlns:a="http://schemas.openxmlformats.org/drawingml/2006/main">
              <a:ext uri="{FF2B5EF4-FFF2-40B4-BE49-F238E27FC236}">
                <a16:creationId xmlns:a16="http://schemas.microsoft.com/office/drawing/2014/main" id="{8529C227-0683-49CA-838E-0D0962E2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Approval records institutional authority and the decision that allowed execution.</a:t>
            </a:r>
          </a:p>
        </p:txBody>
      </p:sp>
    </p:spTree>
    <p:extLst>
      <p:ext uri="{BB962C8B-B14F-4D97-AF65-F5344CB8AC3E}">
        <p14:creationId xmlns:p14="http://schemas.microsoft.com/office/powerpoint/2010/main" val="16924820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05a2f7e7d46c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D28E04-FBDF-4898-9C8E-00C5F743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95958FE9-E5AE-4EB4-A452-75BCC18F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C02B32CE-BF9C-4E8E-9F35-0359316A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THE CIRCULARO TRUST ORCHESTRATION PLATFORM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E9120AAF-3848-4EE2-9753-75685E57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capability-series">
            <a:extLst xmlns:a="http://schemas.openxmlformats.org/drawingml/2006/main">
              <a:ext uri="{FF2B5EF4-FFF2-40B4-BE49-F238E27FC236}">
                <a16:creationId xmlns:a16="http://schemas.microsoft.com/office/drawing/2014/main" id="{157234A0-C4F4-47E2-9560-12424604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THE CIRCULARO TRUST ORCHESTRATION PLATFORM / 4 OF 6</a:t>
            </a:r>
          </a:p>
        </p:txBody>
      </p:sp>
      <p:sp>
        <p:nvSpPr>
          <p:cNvPr id="7" name="capability-title">
            <a:extLst xmlns:a="http://schemas.openxmlformats.org/drawingml/2006/main">
              <a:ext uri="{FF2B5EF4-FFF2-40B4-BE49-F238E27FC236}">
                <a16:creationId xmlns:a16="http://schemas.microsoft.com/office/drawing/2014/main" id="{86E3C2C4-99DA-4F54-9E38-785BB81F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 Services</a:t>
            </a:r>
          </a:p>
        </p:txBody>
      </p:sp>
      <p:sp>
        <p:nvSpPr>
          <p:cNvPr id="8" name="trust-services-principle">
            <a:extLst xmlns:a="http://schemas.openxmlformats.org/drawingml/2006/main">
              <a:ext uri="{FF2B5EF4-FFF2-40B4-BE49-F238E27FC236}">
                <a16:creationId xmlns:a16="http://schemas.microsoft.com/office/drawing/2014/main" id="{CD188DFB-55B6-4EB8-84D1-2D38671C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The process should invoke the trust mechanism that matches the actor, jurisdiction, and required assurance.</a:t>
            </a:r>
          </a:p>
        </p:txBody>
      </p:sp>
      <p:sp>
        <p:nvSpPr>
          <p:cNvPr id="9" name="trust-services-description">
            <a:extLst xmlns:a="http://schemas.openxmlformats.org/drawingml/2006/main">
              <a:ext uri="{FF2B5EF4-FFF2-40B4-BE49-F238E27FC236}">
                <a16:creationId xmlns:a16="http://schemas.microsoft.com/office/drawing/2014/main" id="{1047F555-1739-4DCA-B865-B4ABD3F7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523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D8C9FF"/>
                </a:solidFill>
                <a:latin typeface="Mulish"/>
                <a:ea typeface="Mulish"/>
                <a:cs typeface="Mulish"/>
              </a:rPr>
              <a:t>Circularo can coordinate native capabilities with external, national, sovereign, and third-party trust infrastructure.</a:t>
            </a:r>
          </a:p>
        </p:txBody>
      </p:sp>
      <p:sp>
        <p:nvSpPr>
          <p:cNvPr id="10" name="service-1-frame">
            <a:extLst xmlns:a="http://schemas.openxmlformats.org/drawingml/2006/main">
              <a:ext uri="{FF2B5EF4-FFF2-40B4-BE49-F238E27FC236}">
                <a16:creationId xmlns:a16="http://schemas.microsoft.com/office/drawing/2014/main" id="{C9DAD9C5-8EA7-471A-A44B-07F8EE9B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1" name="service-1-text">
            <a:extLst xmlns:a="http://schemas.openxmlformats.org/drawingml/2006/main">
              <a:ext uri="{FF2B5EF4-FFF2-40B4-BE49-F238E27FC236}">
                <a16:creationId xmlns:a16="http://schemas.microsoft.com/office/drawing/2014/main" id="{3B474EB0-859E-4464-AA84-5DA9A4A1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2" name="service-label-1">
            <a:extLst xmlns:a="http://schemas.openxmlformats.org/drawingml/2006/main">
              <a:ext uri="{FF2B5EF4-FFF2-40B4-BE49-F238E27FC236}">
                <a16:creationId xmlns:a16="http://schemas.microsoft.com/office/drawing/2014/main" id="{F46B7C75-018C-41A9-850D-C8CE6531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860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 verification</a:t>
            </a:r>
          </a:p>
        </p:txBody>
      </p:sp>
      <p:sp>
        <p:nvSpPr>
          <p:cNvPr id="13" name="service-2-frame">
            <a:extLst xmlns:a="http://schemas.openxmlformats.org/drawingml/2006/main">
              <a:ext uri="{FF2B5EF4-FFF2-40B4-BE49-F238E27FC236}">
                <a16:creationId xmlns:a16="http://schemas.microsoft.com/office/drawing/2014/main" id="{0D4C56A0-8AAB-4AD5-80D0-8E895980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669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4" name="service-2-text">
            <a:extLst xmlns:a="http://schemas.openxmlformats.org/drawingml/2006/main">
              <a:ext uri="{FF2B5EF4-FFF2-40B4-BE49-F238E27FC236}">
                <a16:creationId xmlns:a16="http://schemas.microsoft.com/office/drawing/2014/main" id="{105216EA-1CE7-4B38-A81C-E7593F84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5" name="service-label-2">
            <a:extLst xmlns:a="http://schemas.openxmlformats.org/drawingml/2006/main">
              <a:ext uri="{FF2B5EF4-FFF2-40B4-BE49-F238E27FC236}">
                <a16:creationId xmlns:a16="http://schemas.microsoft.com/office/drawing/2014/main" id="{D93C9B13-4758-4E0D-8F4A-0392D730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Electronic and digital signatures</a:t>
            </a:r>
          </a:p>
        </p:txBody>
      </p:sp>
      <p:sp>
        <p:nvSpPr>
          <p:cNvPr id="16" name="service-3-frame">
            <a:extLst xmlns:a="http://schemas.openxmlformats.org/drawingml/2006/main">
              <a:ext uri="{FF2B5EF4-FFF2-40B4-BE49-F238E27FC236}">
                <a16:creationId xmlns:a16="http://schemas.microsoft.com/office/drawing/2014/main" id="{5154E659-A7B8-4AA7-8C65-0F5CF66A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7" name="service-3-text">
            <a:extLst xmlns:a="http://schemas.openxmlformats.org/drawingml/2006/main">
              <a:ext uri="{FF2B5EF4-FFF2-40B4-BE49-F238E27FC236}">
                <a16:creationId xmlns:a16="http://schemas.microsoft.com/office/drawing/2014/main" id="{EC9D8071-36CE-44EA-A889-115B77ED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337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8" name="service-label-3">
            <a:extLst xmlns:a="http://schemas.openxmlformats.org/drawingml/2006/main">
              <a:ext uri="{FF2B5EF4-FFF2-40B4-BE49-F238E27FC236}">
                <a16:creationId xmlns:a16="http://schemas.microsoft.com/office/drawing/2014/main" id="{E07CF2A5-7F34-4EBC-8AAD-39713408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Organizational seals</a:t>
            </a:r>
          </a:p>
        </p:txBody>
      </p:sp>
      <p:sp>
        <p:nvSpPr>
          <p:cNvPr id="19" name="service-4-frame">
            <a:extLst xmlns:a="http://schemas.openxmlformats.org/drawingml/2006/main">
              <a:ext uri="{FF2B5EF4-FFF2-40B4-BE49-F238E27FC236}">
                <a16:creationId xmlns:a16="http://schemas.microsoft.com/office/drawing/2014/main" id="{FB9815EA-A5B9-4365-8A60-370AE20D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20" name="service-4-text">
            <a:extLst xmlns:a="http://schemas.openxmlformats.org/drawingml/2006/main">
              <a:ext uri="{FF2B5EF4-FFF2-40B4-BE49-F238E27FC236}">
                <a16:creationId xmlns:a16="http://schemas.microsoft.com/office/drawing/2014/main" id="{760BECAD-C8E8-4992-86FF-D8672A17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1" name="service-label-4">
            <a:extLst xmlns:a="http://schemas.openxmlformats.org/drawingml/2006/main">
              <a:ext uri="{FF2B5EF4-FFF2-40B4-BE49-F238E27FC236}">
                <a16:creationId xmlns:a16="http://schemas.microsoft.com/office/drawing/2014/main" id="{2391CB71-3DCA-434D-A5DF-DCE917E7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766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Timestamps</a:t>
            </a:r>
          </a:p>
        </p:txBody>
      </p:sp>
      <p:sp>
        <p:nvSpPr>
          <p:cNvPr id="22" name="service-5-frame">
            <a:extLst xmlns:a="http://schemas.openxmlformats.org/drawingml/2006/main">
              <a:ext uri="{FF2B5EF4-FFF2-40B4-BE49-F238E27FC236}">
                <a16:creationId xmlns:a16="http://schemas.microsoft.com/office/drawing/2014/main" id="{2AA14528-AF66-4AB5-A07B-5814CC53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481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23" name="service-5-text">
            <a:extLst xmlns:a="http://schemas.openxmlformats.org/drawingml/2006/main">
              <a:ext uri="{FF2B5EF4-FFF2-40B4-BE49-F238E27FC236}">
                <a16:creationId xmlns:a16="http://schemas.microsoft.com/office/drawing/2014/main" id="{A3197394-5350-4F1D-A492-3E880D3C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243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4" name="service-label-5">
            <a:extLst xmlns:a="http://schemas.openxmlformats.org/drawingml/2006/main">
              <a:ext uri="{FF2B5EF4-FFF2-40B4-BE49-F238E27FC236}">
                <a16:creationId xmlns:a16="http://schemas.microsoft.com/office/drawing/2014/main" id="{84362D1D-B7FB-4E05-9FCA-9A974219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PKI-based services</a:t>
            </a:r>
          </a:p>
        </p:txBody>
      </p:sp>
      <p:sp>
        <p:nvSpPr>
          <p:cNvPr id="25" name="service-6-frame">
            <a:extLst xmlns:a="http://schemas.openxmlformats.org/drawingml/2006/main">
              <a:ext uri="{FF2B5EF4-FFF2-40B4-BE49-F238E27FC236}">
                <a16:creationId xmlns:a16="http://schemas.microsoft.com/office/drawing/2014/main" id="{EF1F6150-B1F6-499E-8C91-ECB5D16B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481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26" name="service-6-text">
            <a:extLst xmlns:a="http://schemas.openxmlformats.org/drawingml/2006/main">
              <a:ext uri="{FF2B5EF4-FFF2-40B4-BE49-F238E27FC236}">
                <a16:creationId xmlns:a16="http://schemas.microsoft.com/office/drawing/2014/main" id="{BA92BC19-4AFE-4595-AA0A-5BDAC215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243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27" name="service-label-6">
            <a:extLst xmlns:a="http://schemas.openxmlformats.org/drawingml/2006/main">
              <a:ext uri="{FF2B5EF4-FFF2-40B4-BE49-F238E27FC236}">
                <a16:creationId xmlns:a16="http://schemas.microsoft.com/office/drawing/2014/main" id="{F2869E8F-BE68-4125-8FBB-794AF34F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672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Other applicable trust services</a:t>
            </a:r>
          </a:p>
        </p:txBody>
      </p:sp>
      <p:sp>
        <p:nvSpPr>
          <p:cNvPr id="28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F39D80B3-41AD-488D-903C-C103500E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keaway">
            <a:extLst xmlns:a="http://schemas.openxmlformats.org/drawingml/2006/main">
              <a:ext uri="{FF2B5EF4-FFF2-40B4-BE49-F238E27FC236}">
                <a16:creationId xmlns:a16="http://schemas.microsoft.com/office/drawing/2014/main" id="{A6FE16C2-9F20-4B0F-B212-687DC85A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 trust service is one event in the process. Circularo orchestrates how it supports the outcome.</a:t>
            </a:r>
          </a:p>
        </p:txBody>
      </p:sp>
    </p:spTree>
    <p:extLst>
      <p:ext uri="{BB962C8B-B14F-4D97-AF65-F5344CB8AC3E}">
        <p14:creationId xmlns:p14="http://schemas.microsoft.com/office/powerpoint/2010/main" val="16092504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0900a4d5e463a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22FDD9-F301-4632-8CCC-5D79E78A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6E0044F-0E82-42AC-98BD-0232747A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96BA638A-0ADF-4357-A8CC-A55ED76D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THE CIRCULARO TRUST ORCHESTRATION PLATFORM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B32A91C7-8923-4200-A4ED-F954E86D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capability-series">
            <a:extLst xmlns:a="http://schemas.openxmlformats.org/drawingml/2006/main">
              <a:ext uri="{FF2B5EF4-FFF2-40B4-BE49-F238E27FC236}">
                <a16:creationId xmlns:a16="http://schemas.microsoft.com/office/drawing/2014/main" id="{AC7BEF7D-FA2A-49EB-802D-8A5C06F6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THE CIRCULARO TRUST ORCHESTRATION PLATFORM / 5 OF 6</a:t>
            </a:r>
          </a:p>
        </p:txBody>
      </p:sp>
      <p:sp>
        <p:nvSpPr>
          <p:cNvPr id="7" name="capability-title">
            <a:extLst xmlns:a="http://schemas.openxmlformats.org/drawingml/2006/main">
              <a:ext uri="{FF2B5EF4-FFF2-40B4-BE49-F238E27FC236}">
                <a16:creationId xmlns:a16="http://schemas.microsoft.com/office/drawing/2014/main" id="{B4C8B57D-EF8D-486D-B996-3408E580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Evidence &amp; Trusted Records</a:t>
            </a:r>
          </a:p>
        </p:txBody>
      </p:sp>
      <p:sp>
        <p:nvSpPr>
          <p:cNvPr id="8" name="evidence-principle">
            <a:extLst xmlns:a="http://schemas.openxmlformats.org/drawingml/2006/main">
              <a:ext uri="{FF2B5EF4-FFF2-40B4-BE49-F238E27FC236}">
                <a16:creationId xmlns:a16="http://schemas.microsoft.com/office/drawing/2014/main" id="{33854EA7-E982-4C91-ACEE-D893CB55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Trusted Execution should produce more than a completed document.</a:t>
            </a:r>
          </a:p>
        </p:txBody>
      </p:sp>
      <p:sp>
        <p:nvSpPr>
          <p:cNvPr id="9" name="evidence-item-1">
            <a:extLst xmlns:a="http://schemas.openxmlformats.org/drawingml/2006/main">
              <a:ext uri="{FF2B5EF4-FFF2-40B4-BE49-F238E27FC236}">
                <a16:creationId xmlns:a16="http://schemas.microsoft.com/office/drawing/2014/main" id="{C7FFE02E-5940-4AAA-B672-1C9A5CAE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3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Authoritative version</a:t>
            </a:r>
          </a:p>
        </p:txBody>
      </p:sp>
      <p:sp>
        <p:nvSpPr>
          <p:cNvPr id="10" name="evidence-item-line-1">
            <a:extLst xmlns:a="http://schemas.openxmlformats.org/drawingml/2006/main">
              <a:ext uri="{FF2B5EF4-FFF2-40B4-BE49-F238E27FC236}">
                <a16:creationId xmlns:a16="http://schemas.microsoft.com/office/drawing/2014/main" id="{7EBE8D3C-01F7-499C-B167-80774F5F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5282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vidence-item-2">
            <a:extLst xmlns:a="http://schemas.openxmlformats.org/drawingml/2006/main">
              <a:ext uri="{FF2B5EF4-FFF2-40B4-BE49-F238E27FC236}">
                <a16:creationId xmlns:a16="http://schemas.microsoft.com/office/drawing/2014/main" id="{BC34D4C2-C7E2-48D2-B573-D7354D70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3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Identities and roles</a:t>
            </a:r>
          </a:p>
        </p:txBody>
      </p:sp>
      <p:sp>
        <p:nvSpPr>
          <p:cNvPr id="12" name="evidence-item-line-2">
            <a:extLst xmlns:a="http://schemas.openxmlformats.org/drawingml/2006/main">
              <a:ext uri="{FF2B5EF4-FFF2-40B4-BE49-F238E27FC236}">
                <a16:creationId xmlns:a16="http://schemas.microsoft.com/office/drawing/2014/main" id="{2F544829-CC84-46DD-9003-17FFC94C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95725"/>
            <a:ext cx="102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vidence-item-3">
            <a:extLst xmlns:a="http://schemas.openxmlformats.org/drawingml/2006/main">
              <a:ext uri="{FF2B5EF4-FFF2-40B4-BE49-F238E27FC236}">
                <a16:creationId xmlns:a16="http://schemas.microsoft.com/office/drawing/2014/main" id="{BC9A28CC-8486-4A78-9839-4E14BABA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3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Approvals and decisions</a:t>
            </a:r>
          </a:p>
        </p:txBody>
      </p:sp>
      <p:sp>
        <p:nvSpPr>
          <p:cNvPr id="14" name="evidence-item-line-3">
            <a:extLst xmlns:a="http://schemas.openxmlformats.org/drawingml/2006/main">
              <a:ext uri="{FF2B5EF4-FFF2-40B4-BE49-F238E27FC236}">
                <a16:creationId xmlns:a16="http://schemas.microsoft.com/office/drawing/2014/main" id="{A91C7222-AAEF-49A6-AB36-80245BAF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38625"/>
            <a:ext cx="129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vidence-item-4">
            <a:extLst xmlns:a="http://schemas.openxmlformats.org/drawingml/2006/main">
              <a:ext uri="{FF2B5EF4-FFF2-40B4-BE49-F238E27FC236}">
                <a16:creationId xmlns:a16="http://schemas.microsoft.com/office/drawing/2014/main" id="{160B5D47-DCCE-4FB2-9F24-45B20849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3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Signatures and seals</a:t>
            </a:r>
          </a:p>
        </p:txBody>
      </p:sp>
      <p:sp>
        <p:nvSpPr>
          <p:cNvPr id="16" name="evidence-item-line-4">
            <a:extLst xmlns:a="http://schemas.openxmlformats.org/drawingml/2006/main">
              <a:ext uri="{FF2B5EF4-FFF2-40B4-BE49-F238E27FC236}">
                <a16:creationId xmlns:a16="http://schemas.microsoft.com/office/drawing/2014/main" id="{EBBBF0BB-B4EB-4670-B3E3-3AC3C276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81525"/>
            <a:ext cx="156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idence-item-5">
            <a:extLst xmlns:a="http://schemas.openxmlformats.org/drawingml/2006/main">
              <a:ext uri="{FF2B5EF4-FFF2-40B4-BE49-F238E27FC236}">
                <a16:creationId xmlns:a16="http://schemas.microsoft.com/office/drawing/2014/main" id="{CA99B1BE-A493-46DD-891B-55445033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3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Timestamps and audit events</a:t>
            </a:r>
          </a:p>
        </p:txBody>
      </p:sp>
      <p:sp>
        <p:nvSpPr>
          <p:cNvPr id="18" name="evidence-item-line-5">
            <a:extLst xmlns:a="http://schemas.openxmlformats.org/drawingml/2006/main">
              <a:ext uri="{FF2B5EF4-FFF2-40B4-BE49-F238E27FC236}">
                <a16:creationId xmlns:a16="http://schemas.microsoft.com/office/drawing/2014/main" id="{B136D480-7FF3-4AA0-929B-AEFFA432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24425"/>
            <a:ext cx="1828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vidence-item-6">
            <a:extLst xmlns:a="http://schemas.openxmlformats.org/drawingml/2006/main">
              <a:ext uri="{FF2B5EF4-FFF2-40B4-BE49-F238E27FC236}">
                <a16:creationId xmlns:a16="http://schemas.microsoft.com/office/drawing/2014/main" id="{16773224-DC52-44EA-B86E-28D6FB09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538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Process and retention context</a:t>
            </a:r>
          </a:p>
        </p:txBody>
      </p:sp>
      <p:sp>
        <p:nvSpPr>
          <p:cNvPr id="20" name="evidence-item-line-6">
            <a:extLst xmlns:a="http://schemas.openxmlformats.org/drawingml/2006/main">
              <a:ext uri="{FF2B5EF4-FFF2-40B4-BE49-F238E27FC236}">
                <a16:creationId xmlns:a16="http://schemas.microsoft.com/office/drawing/2014/main" id="{C001B1E7-F3F9-4198-BA81-578975A3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67325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rusted-record-frame">
            <a:extLst xmlns:a="http://schemas.openxmlformats.org/drawingml/2006/main">
              <a:ext uri="{FF2B5EF4-FFF2-40B4-BE49-F238E27FC236}">
                <a16:creationId xmlns:a16="http://schemas.microsoft.com/office/drawing/2014/main" id="{A9CEF700-4C70-488C-8A95-E458D62C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35433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rusted-record-label">
            <a:extLst xmlns:a="http://schemas.openxmlformats.org/drawingml/2006/main">
              <a:ext uri="{FF2B5EF4-FFF2-40B4-BE49-F238E27FC236}">
                <a16:creationId xmlns:a16="http://schemas.microsoft.com/office/drawing/2014/main" id="{D6373E09-16AE-48A6-976E-20016768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19400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OUTPUT</a:t>
            </a:r>
          </a:p>
        </p:txBody>
      </p:sp>
      <p:sp>
        <p:nvSpPr>
          <p:cNvPr id="23" name="trusted-record-title">
            <a:extLst xmlns:a="http://schemas.openxmlformats.org/drawingml/2006/main">
              <a:ext uri="{FF2B5EF4-FFF2-40B4-BE49-F238E27FC236}">
                <a16:creationId xmlns:a16="http://schemas.microsoft.com/office/drawing/2014/main" id="{620765C0-6E14-42DF-A9A3-FEBCA5FE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76600"/>
            <a:ext cx="2590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5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TRUSTED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5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RECORD</a:t>
            </a:r>
          </a:p>
        </p:txBody>
      </p:sp>
      <p:sp>
        <p:nvSpPr>
          <p:cNvPr id="24" name="trusted-record-detail">
            <a:extLst xmlns:a="http://schemas.openxmlformats.org/drawingml/2006/main">
              <a:ext uri="{FF2B5EF4-FFF2-40B4-BE49-F238E27FC236}">
                <a16:creationId xmlns:a16="http://schemas.microsoft.com/office/drawing/2014/main" id="{D9AE34C6-6183-4911-B1DC-C0F76EB4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43400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Verifiable institutional evidence and searchable memory</a:t>
            </a:r>
          </a:p>
        </p:txBody>
      </p:sp>
      <p:sp>
        <p:nvSpPr>
          <p:cNvPr id="25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2E0B42E5-167B-4A46-AA6A-4AD69BCF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keaway">
            <a:extLst xmlns:a="http://schemas.openxmlformats.org/drawingml/2006/main">
              <a:ext uri="{FF2B5EF4-FFF2-40B4-BE49-F238E27FC236}">
                <a16:creationId xmlns:a16="http://schemas.microsoft.com/office/drawing/2014/main" id="{4AB32682-C5F9-4292-816E-08C743DA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Execution creates evidence. Trusted records preserve institutional memory.</a:t>
            </a:r>
          </a:p>
        </p:txBody>
      </p:sp>
    </p:spTree>
    <p:extLst>
      <p:ext uri="{BB962C8B-B14F-4D97-AF65-F5344CB8AC3E}">
        <p14:creationId xmlns:p14="http://schemas.microsoft.com/office/powerpoint/2010/main" val="5138146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aba12492249c5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C45BF31-4728-48B4-9A32-0DC299BB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EC07A396-2528-4510-9314-F316181F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0E14D59C-F297-4DA1-A98B-6ED6384E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THE CIRCULARO TRUST ORCHESTRATION PLATFORM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D6FB55F0-E9A4-44F5-ADF6-BA9C9B0A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capability-series">
            <a:extLst xmlns:a="http://schemas.openxmlformats.org/drawingml/2006/main">
              <a:ext uri="{FF2B5EF4-FFF2-40B4-BE49-F238E27FC236}">
                <a16:creationId xmlns:a16="http://schemas.microsoft.com/office/drawing/2014/main" id="{E04354A0-C239-42E3-B3A1-E961CA81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THE CIRCULARO TRUST ORCHESTRATION PLATFORM / 6 OF 6</a:t>
            </a:r>
          </a:p>
        </p:txBody>
      </p:sp>
      <p:sp>
        <p:nvSpPr>
          <p:cNvPr id="7" name="capability-title">
            <a:extLst xmlns:a="http://schemas.openxmlformats.org/drawingml/2006/main">
              <a:ext uri="{FF2B5EF4-FFF2-40B4-BE49-F238E27FC236}">
                <a16:creationId xmlns:a16="http://schemas.microsoft.com/office/drawing/2014/main" id="{6A7B0AB1-050F-4133-8890-DE605542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Programmable Trust &amp; Agentic Execution</a:t>
            </a:r>
          </a:p>
        </p:txBody>
      </p:sp>
      <p:sp>
        <p:nvSpPr>
          <p:cNvPr id="8" name="programmable-actor-1">
            <a:extLst xmlns:a="http://schemas.openxmlformats.org/drawingml/2006/main">
              <a:ext uri="{FF2B5EF4-FFF2-40B4-BE49-F238E27FC236}">
                <a16:creationId xmlns:a16="http://schemas.microsoft.com/office/drawing/2014/main" id="{DD32F9BA-613F-4EF4-9CE9-F041484D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2343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9" name="programmable-actor-label-1">
            <a:extLst xmlns:a="http://schemas.openxmlformats.org/drawingml/2006/main">
              <a:ext uri="{FF2B5EF4-FFF2-40B4-BE49-F238E27FC236}">
                <a16:creationId xmlns:a16="http://schemas.microsoft.com/office/drawing/2014/main" id="{C1E73603-A2A0-47E3-BE16-8DB0BC0B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Enterprise applications</a:t>
            </a:r>
          </a:p>
        </p:txBody>
      </p:sp>
      <p:sp>
        <p:nvSpPr>
          <p:cNvPr id="10" name="programmable-actor-line-1">
            <a:extLst xmlns:a="http://schemas.openxmlformats.org/drawingml/2006/main">
              <a:ext uri="{FF2B5EF4-FFF2-40B4-BE49-F238E27FC236}">
                <a16:creationId xmlns:a16="http://schemas.microsoft.com/office/drawing/2014/main" id="{98B1C54A-2021-4BEB-A1BA-BEA0D0B2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718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grammable-actor-2">
            <a:extLst xmlns:a="http://schemas.openxmlformats.org/drawingml/2006/main">
              <a:ext uri="{FF2B5EF4-FFF2-40B4-BE49-F238E27FC236}">
                <a16:creationId xmlns:a16="http://schemas.microsoft.com/office/drawing/2014/main" id="{4F75AC40-B7CE-46E6-8E84-5013DAC9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2343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2" name="programmable-actor-label-2">
            <a:extLst xmlns:a="http://schemas.openxmlformats.org/drawingml/2006/main">
              <a:ext uri="{FF2B5EF4-FFF2-40B4-BE49-F238E27FC236}">
                <a16:creationId xmlns:a16="http://schemas.microsoft.com/office/drawing/2014/main" id="{8E63914E-A50B-4192-A110-2B693F23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765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Government services</a:t>
            </a:r>
          </a:p>
        </p:txBody>
      </p:sp>
      <p:sp>
        <p:nvSpPr>
          <p:cNvPr id="13" name="programmable-actor-line-2">
            <a:extLst xmlns:a="http://schemas.openxmlformats.org/drawingml/2006/main">
              <a:ext uri="{FF2B5EF4-FFF2-40B4-BE49-F238E27FC236}">
                <a16:creationId xmlns:a16="http://schemas.microsoft.com/office/drawing/2014/main" id="{0AED67A3-8969-47AA-8880-E7D32426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ogrammable-actor-3">
            <a:extLst xmlns:a="http://schemas.openxmlformats.org/drawingml/2006/main">
              <a:ext uri="{FF2B5EF4-FFF2-40B4-BE49-F238E27FC236}">
                <a16:creationId xmlns:a16="http://schemas.microsoft.com/office/drawing/2014/main" id="{43A91CEA-89D6-4E56-9273-1257006E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05050"/>
            <a:ext cx="2343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5" name="programmable-actor-label-3">
            <a:extLst xmlns:a="http://schemas.openxmlformats.org/drawingml/2006/main">
              <a:ext uri="{FF2B5EF4-FFF2-40B4-BE49-F238E27FC236}">
                <a16:creationId xmlns:a16="http://schemas.microsoft.com/office/drawing/2014/main" id="{E1DE3BD9-9602-4AB7-865D-2E9BC623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Portals and integrations</a:t>
            </a:r>
          </a:p>
        </p:txBody>
      </p:sp>
      <p:sp>
        <p:nvSpPr>
          <p:cNvPr id="16" name="programmable-actor-line-3">
            <a:extLst xmlns:a="http://schemas.openxmlformats.org/drawingml/2006/main">
              <a:ext uri="{FF2B5EF4-FFF2-40B4-BE49-F238E27FC236}">
                <a16:creationId xmlns:a16="http://schemas.microsoft.com/office/drawing/2014/main" id="{48BAE261-01AA-4EC8-929A-20E6B91E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718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ogrammable-actor-4">
            <a:extLst xmlns:a="http://schemas.openxmlformats.org/drawingml/2006/main">
              <a:ext uri="{FF2B5EF4-FFF2-40B4-BE49-F238E27FC236}">
                <a16:creationId xmlns:a16="http://schemas.microsoft.com/office/drawing/2014/main" id="{8925D9A9-9514-4F7D-BECE-D63E2914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05050"/>
            <a:ext cx="2343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8" name="programmable-actor-label-4">
            <a:extLst xmlns:a="http://schemas.openxmlformats.org/drawingml/2006/main">
              <a:ext uri="{FF2B5EF4-FFF2-40B4-BE49-F238E27FC236}">
                <a16:creationId xmlns:a16="http://schemas.microsoft.com/office/drawing/2014/main" id="{A5E9493B-34EE-4D55-AF54-663D89F5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765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Automation and AI agents</a:t>
            </a:r>
          </a:p>
        </p:txBody>
      </p:sp>
      <p:sp>
        <p:nvSpPr>
          <p:cNvPr id="19" name="programmable-actor-line-4">
            <a:extLst xmlns:a="http://schemas.openxmlformats.org/drawingml/2006/main">
              <a:ext uri="{FF2B5EF4-FFF2-40B4-BE49-F238E27FC236}">
                <a16:creationId xmlns:a16="http://schemas.microsoft.com/office/drawing/2014/main" id="{7A76C7FA-86C2-448D-9944-A6F7E80B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718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pi-boundary">
            <a:extLst xmlns:a="http://schemas.openxmlformats.org/drawingml/2006/main">
              <a:ext uri="{FF2B5EF4-FFF2-40B4-BE49-F238E27FC236}">
                <a16:creationId xmlns:a16="http://schemas.microsoft.com/office/drawing/2014/main" id="{F5B47039-93C3-4A81-95DC-20739046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107823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pi-title">
            <a:extLst xmlns:a="http://schemas.openxmlformats.org/drawingml/2006/main">
              <a:ext uri="{FF2B5EF4-FFF2-40B4-BE49-F238E27FC236}">
                <a16:creationId xmlns:a16="http://schemas.microsoft.com/office/drawing/2014/main" id="{67DB9911-627A-4FC6-94C8-C7BAE4EC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002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3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UNIFIED TRUST API</a:t>
            </a:r>
          </a:p>
        </p:txBody>
      </p:sp>
      <p:sp>
        <p:nvSpPr>
          <p:cNvPr id="22" name="api-controls">
            <a:extLst xmlns:a="http://schemas.openxmlformats.org/drawingml/2006/main">
              <a:ext uri="{FF2B5EF4-FFF2-40B4-BE49-F238E27FC236}">
                <a16:creationId xmlns:a16="http://schemas.microsoft.com/office/drawing/2014/main" id="{8142CF2A-98F8-46E0-955C-AC2B6252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1002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 / delegated authority / policy / approval / trust services / execution / evidence</a:t>
            </a:r>
          </a:p>
        </p:txBody>
      </p:sp>
      <p:sp>
        <p:nvSpPr>
          <p:cNvPr id="23" name="api-boundary-description">
            <a:extLst xmlns:a="http://schemas.openxmlformats.org/drawingml/2006/main">
              <a:ext uri="{FF2B5EF4-FFF2-40B4-BE49-F238E27FC236}">
                <a16:creationId xmlns:a16="http://schemas.microsoft.com/office/drawing/2014/main" id="{26A19598-28CA-4115-8333-2930C60E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9650"/>
            <a:ext cx="826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D8C9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D8C9FF"/>
                </a:solidFill>
                <a:latin typeface="Mulish"/>
                <a:ea typeface="Mulish"/>
                <a:cs typeface="Mulish"/>
              </a:rPr>
              <a:t>Circularo governs what an agent may do, what actually executes, and what evidence remains afterwards.</a:t>
            </a:r>
          </a:p>
        </p:txBody>
      </p:sp>
      <p:sp>
        <p:nvSpPr>
          <p:cNvPr id="24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AE584048-60A7-4A81-8FAF-A76CEE29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DEAC2C20-F11F-43D7-A382-EAE8A384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API access enables participation. Institutional authority still determines permitted action.</a:t>
            </a:r>
          </a:p>
        </p:txBody>
      </p:sp>
    </p:spTree>
    <p:extLst>
      <p:ext uri="{BB962C8B-B14F-4D97-AF65-F5344CB8AC3E}">
        <p14:creationId xmlns:p14="http://schemas.microsoft.com/office/powerpoint/2010/main" val="11854717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d207461044317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7DD112B-80C8-4238-BBC7-3BB73E7D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88294FE8-BE06-42EF-A49F-628FFD93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C12B384F-3C0E-4834-87A1-BC0C64C2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THE CIRCULARO TRUST ORCHESTRATION PLATFORM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BB2A0E88-72E5-418E-8E7F-B1ED4AFF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05CAB9-F9B7-4C8B-BACD-88A3D4C6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One Connected Trust Orchestration Platform</a:t>
            </a:r>
          </a:p>
        </p:txBody>
      </p:sp>
      <p:sp>
        <p:nvSpPr>
          <p:cNvPr id="7" name="platform-spine">
            <a:extLst xmlns:a="http://schemas.openxmlformats.org/drawingml/2006/main">
              <a:ext uri="{FF2B5EF4-FFF2-40B4-BE49-F238E27FC236}">
                <a16:creationId xmlns:a16="http://schemas.microsoft.com/office/drawing/2014/main" id="{DDD83632-6A73-4016-B1B1-C345F3BA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0439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latform-1-frame">
            <a:extLst xmlns:a="http://schemas.openxmlformats.org/drawingml/2006/main">
              <a:ext uri="{FF2B5EF4-FFF2-40B4-BE49-F238E27FC236}">
                <a16:creationId xmlns:a16="http://schemas.microsoft.com/office/drawing/2014/main" id="{9C248F11-8F02-493E-84CB-50656EDE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9" name="platform-1-text">
            <a:extLst xmlns:a="http://schemas.openxmlformats.org/drawingml/2006/main">
              <a:ext uri="{FF2B5EF4-FFF2-40B4-BE49-F238E27FC236}">
                <a16:creationId xmlns:a16="http://schemas.microsoft.com/office/drawing/2014/main" id="{D6EDB576-82B7-400E-9082-90D6AC5C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0" name="platform-title-1">
            <a:extLst xmlns:a="http://schemas.openxmlformats.org/drawingml/2006/main">
              <a:ext uri="{FF2B5EF4-FFF2-40B4-BE49-F238E27FC236}">
                <a16:creationId xmlns:a16="http://schemas.microsoft.com/office/drawing/2014/main" id="{D0E98D3A-1691-4146-8A89-1569C3A5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Content &amp;</a:t>
            </a:r>
          </a:p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Collaboration</a:t>
            </a:r>
          </a:p>
        </p:txBody>
      </p:sp>
      <p:sp>
        <p:nvSpPr>
          <p:cNvPr id="11" name="platform-2-frame">
            <a:extLst xmlns:a="http://schemas.openxmlformats.org/drawingml/2006/main">
              <a:ext uri="{FF2B5EF4-FFF2-40B4-BE49-F238E27FC236}">
                <a16:creationId xmlns:a16="http://schemas.microsoft.com/office/drawing/2014/main" id="{D79E40CE-8C9F-42C1-9B9B-E6D7DB71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480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2" name="platform-2-text">
            <a:extLst xmlns:a="http://schemas.openxmlformats.org/drawingml/2006/main">
              <a:ext uri="{FF2B5EF4-FFF2-40B4-BE49-F238E27FC236}">
                <a16:creationId xmlns:a16="http://schemas.microsoft.com/office/drawing/2014/main" id="{ACD4F03D-EB72-42F7-9F76-E021B128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623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3" name="platform-title-2">
            <a:extLst xmlns:a="http://schemas.openxmlformats.org/drawingml/2006/main">
              <a:ext uri="{FF2B5EF4-FFF2-40B4-BE49-F238E27FC236}">
                <a16:creationId xmlns:a16="http://schemas.microsoft.com/office/drawing/2014/main" id="{76CC7949-86B7-408E-BDBD-7AED12D4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9095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 &amp;</a:t>
            </a:r>
          </a:p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Authority</a:t>
            </a:r>
          </a:p>
        </p:txBody>
      </p:sp>
      <p:sp>
        <p:nvSpPr>
          <p:cNvPr id="14" name="platform-3-frame">
            <a:extLst xmlns:a="http://schemas.openxmlformats.org/drawingml/2006/main">
              <a:ext uri="{FF2B5EF4-FFF2-40B4-BE49-F238E27FC236}">
                <a16:creationId xmlns:a16="http://schemas.microsoft.com/office/drawing/2014/main" id="{252B8D4A-B5C6-461C-8756-E26B42FD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480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5" name="platform-3-text">
            <a:extLst xmlns:a="http://schemas.openxmlformats.org/drawingml/2006/main">
              <a:ext uri="{FF2B5EF4-FFF2-40B4-BE49-F238E27FC236}">
                <a16:creationId xmlns:a16="http://schemas.microsoft.com/office/drawing/2014/main" id="{88B2F122-53BF-43C6-A198-1D339FE0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623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6" name="platform-title-3">
            <a:extLst xmlns:a="http://schemas.openxmlformats.org/drawingml/2006/main">
              <a:ext uri="{FF2B5EF4-FFF2-40B4-BE49-F238E27FC236}">
                <a16:creationId xmlns:a16="http://schemas.microsoft.com/office/drawing/2014/main" id="{989B9A8F-ED3A-49C2-AD5D-28534F32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9095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Workflow &amp;</a:t>
            </a:r>
          </a:p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Approval</a:t>
            </a:r>
          </a:p>
        </p:txBody>
      </p:sp>
      <p:sp>
        <p:nvSpPr>
          <p:cNvPr id="17" name="platform-4-frame">
            <a:extLst xmlns:a="http://schemas.openxmlformats.org/drawingml/2006/main">
              <a:ext uri="{FF2B5EF4-FFF2-40B4-BE49-F238E27FC236}">
                <a16:creationId xmlns:a16="http://schemas.microsoft.com/office/drawing/2014/main" id="{4DC58F62-B446-434F-842D-24F1EDAC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8" name="platform-4-text">
            <a:extLst xmlns:a="http://schemas.openxmlformats.org/drawingml/2006/main">
              <a:ext uri="{FF2B5EF4-FFF2-40B4-BE49-F238E27FC236}">
                <a16:creationId xmlns:a16="http://schemas.microsoft.com/office/drawing/2014/main" id="{3482D9DC-9861-45D5-90F1-14574AC5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19" name="platform-title-4">
            <a:extLst xmlns:a="http://schemas.openxmlformats.org/drawingml/2006/main">
              <a:ext uri="{FF2B5EF4-FFF2-40B4-BE49-F238E27FC236}">
                <a16:creationId xmlns:a16="http://schemas.microsoft.com/office/drawing/2014/main" id="{F2BF8FA5-D04D-4B35-82FD-E5D4225F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9095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</a:t>
            </a:r>
          </a:p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Services</a:t>
            </a:r>
          </a:p>
        </p:txBody>
      </p:sp>
      <p:sp>
        <p:nvSpPr>
          <p:cNvPr id="20" name="platform-5-frame">
            <a:extLst xmlns:a="http://schemas.openxmlformats.org/drawingml/2006/main">
              <a:ext uri="{FF2B5EF4-FFF2-40B4-BE49-F238E27FC236}">
                <a16:creationId xmlns:a16="http://schemas.microsoft.com/office/drawing/2014/main" id="{9F66B248-71C0-441B-AD35-42E2BD11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480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1" name="platform-5-text">
            <a:extLst xmlns:a="http://schemas.openxmlformats.org/drawingml/2006/main">
              <a:ext uri="{FF2B5EF4-FFF2-40B4-BE49-F238E27FC236}">
                <a16:creationId xmlns:a16="http://schemas.microsoft.com/office/drawing/2014/main" id="{DBA649E3-2D83-49C1-A9ED-41E6670C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623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22" name="platform-title-5">
            <a:extLst xmlns:a="http://schemas.openxmlformats.org/drawingml/2006/main">
              <a:ext uri="{FF2B5EF4-FFF2-40B4-BE49-F238E27FC236}">
                <a16:creationId xmlns:a16="http://schemas.microsoft.com/office/drawing/2014/main" id="{AB935F6E-C396-4AE2-B54C-F6254AC7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9095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 &amp;</a:t>
            </a:r>
          </a:p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Records</a:t>
            </a:r>
          </a:p>
        </p:txBody>
      </p:sp>
      <p:sp>
        <p:nvSpPr>
          <p:cNvPr id="23" name="platform-6-frame">
            <a:extLst xmlns:a="http://schemas.openxmlformats.org/drawingml/2006/main">
              <a:ext uri="{FF2B5EF4-FFF2-40B4-BE49-F238E27FC236}">
                <a16:creationId xmlns:a16="http://schemas.microsoft.com/office/drawing/2014/main" id="{BC7F9E8E-0FC7-4799-B4ED-7CF0E587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0480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4" name="platform-6-text">
            <a:extLst xmlns:a="http://schemas.openxmlformats.org/drawingml/2006/main">
              <a:ext uri="{FF2B5EF4-FFF2-40B4-BE49-F238E27FC236}">
                <a16:creationId xmlns:a16="http://schemas.microsoft.com/office/drawing/2014/main" id="{3BF8B325-C4C4-462A-B0B7-1D214C0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1623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25" name="platform-title-6">
            <a:extLst xmlns:a="http://schemas.openxmlformats.org/drawingml/2006/main">
              <a:ext uri="{FF2B5EF4-FFF2-40B4-BE49-F238E27FC236}">
                <a16:creationId xmlns:a16="http://schemas.microsoft.com/office/drawing/2014/main" id="{441509CB-5054-4BD6-BA18-FD5149E5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90950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Programmable Trust &amp;</a:t>
            </a:r>
          </a:p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Agentic Execution</a:t>
            </a:r>
          </a:p>
        </p:txBody>
      </p:sp>
      <p:sp>
        <p:nvSpPr>
          <p:cNvPr id="26" name="platform-summary">
            <a:extLst xmlns:a="http://schemas.openxmlformats.org/drawingml/2006/main">
              <a:ext uri="{FF2B5EF4-FFF2-40B4-BE49-F238E27FC236}">
                <a16:creationId xmlns:a16="http://schemas.microsoft.com/office/drawing/2014/main" id="{E22355CD-0448-42A9-8C95-A35B0247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The underlying identity or trust infrastructure can vary by organization, deployment model, or jurisdiction. Circularo keeps the process and evidence chain consistent.</a:t>
            </a:r>
          </a:p>
        </p:txBody>
      </p:sp>
      <p:sp>
        <p:nvSpPr>
          <p:cNvPr id="27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97B11030-D3FC-4631-A5DF-E9B9C927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keaway">
            <a:extLst xmlns:a="http://schemas.openxmlformats.org/drawingml/2006/main">
              <a:ext uri="{FF2B5EF4-FFF2-40B4-BE49-F238E27FC236}">
                <a16:creationId xmlns:a16="http://schemas.microsoft.com/office/drawing/2014/main" id="{240797E0-DB49-4C9E-BD45-16FBB145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 orchestrates trust. Trusted Execution is the outcome.</a:t>
            </a:r>
          </a:p>
        </p:txBody>
      </p:sp>
    </p:spTree>
    <p:extLst>
      <p:ext uri="{BB962C8B-B14F-4D97-AF65-F5344CB8AC3E}">
        <p14:creationId xmlns:p14="http://schemas.microsoft.com/office/powerpoint/2010/main" val="16203672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de95a21214dc0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BF73A96-7DD0-4C6E-98A8-49ED3EF1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47ADA04B-B70C-4DD4-8529-54325D7C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91531AF4-5DC7-4759-9C2A-6C28D2A0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DELIVERY MODELS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5D3854E6-29E2-4EBC-BCA4-8F3CE0C5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delivery-kicker">
            <a:extLst xmlns:a="http://schemas.openxmlformats.org/drawingml/2006/main">
              <a:ext uri="{FF2B5EF4-FFF2-40B4-BE49-F238E27FC236}">
                <a16:creationId xmlns:a16="http://schemas.microsoft.com/office/drawing/2014/main" id="{E1642B7D-A0B9-4436-85E2-78DDD52C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DELIVERY MODELS</a:t>
            </a:r>
          </a:p>
        </p:txBody>
      </p:sp>
      <p:sp>
        <p:nvSpPr>
          <p:cNvPr id="7" name="delivery-title">
            <a:extLst xmlns:a="http://schemas.openxmlformats.org/drawingml/2006/main">
              <a:ext uri="{FF2B5EF4-FFF2-40B4-BE49-F238E27FC236}">
                <a16:creationId xmlns:a16="http://schemas.microsoft.com/office/drawing/2014/main" id="{22FB9511-5C37-414D-9A7C-5C63754D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0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One platform.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0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Three delivery models.</a:t>
            </a:r>
          </a:p>
        </p:txBody>
      </p:sp>
      <p:sp>
        <p:nvSpPr>
          <p:cNvPr id="8" name="delivery-subtitle">
            <a:extLst xmlns:a="http://schemas.openxmlformats.org/drawingml/2006/main">
              <a:ext uri="{FF2B5EF4-FFF2-40B4-BE49-F238E27FC236}">
                <a16:creationId xmlns:a16="http://schemas.microsoft.com/office/drawing/2014/main" id="{44A3FA05-E901-4898-AC13-9F4C6519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Different infrastructure requirements. One trust model.</a:t>
            </a:r>
          </a:p>
        </p:txBody>
      </p:sp>
      <p:sp>
        <p:nvSpPr>
          <p:cNvPr id="9" name="delivery-1-frame">
            <a:extLst xmlns:a="http://schemas.openxmlformats.org/drawingml/2006/main">
              <a:ext uri="{FF2B5EF4-FFF2-40B4-BE49-F238E27FC236}">
                <a16:creationId xmlns:a16="http://schemas.microsoft.com/office/drawing/2014/main" id="{A52A9986-8C79-4EDC-B6D9-8486D7AA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716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0" name="delivery-1-text">
            <a:extLst xmlns:a="http://schemas.openxmlformats.org/drawingml/2006/main">
              <a:ext uri="{FF2B5EF4-FFF2-40B4-BE49-F238E27FC236}">
                <a16:creationId xmlns:a16="http://schemas.microsoft.com/office/drawing/2014/main" id="{B7D38856-BC7F-425B-A8AF-91A9CC5D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85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1" name="delivery-name-1">
            <a:extLst xmlns:a="http://schemas.openxmlformats.org/drawingml/2006/main">
              <a:ext uri="{FF2B5EF4-FFF2-40B4-BE49-F238E27FC236}">
                <a16:creationId xmlns:a16="http://schemas.microsoft.com/office/drawing/2014/main" id="{56AA5CAA-10AE-4F4A-A722-ED4300B2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52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Circularo SaaS</a:t>
            </a:r>
          </a:p>
        </p:txBody>
      </p:sp>
      <p:sp>
        <p:nvSpPr>
          <p:cNvPr id="12" name="delivery-descriptor-1">
            <a:extLst xmlns:a="http://schemas.openxmlformats.org/drawingml/2006/main">
              <a:ext uri="{FF2B5EF4-FFF2-40B4-BE49-F238E27FC236}">
                <a16:creationId xmlns:a16="http://schemas.microsoft.com/office/drawing/2014/main" id="{E30D4223-DCD4-4956-9AB3-86579B9B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71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C9AEFF"/>
                </a:solidFill>
                <a:latin typeface="Mulish"/>
                <a:ea typeface="Mulish"/>
                <a:cs typeface="Mulish"/>
              </a:rPr>
              <a:t>Managed cloud</a:t>
            </a:r>
          </a:p>
        </p:txBody>
      </p:sp>
      <p:sp>
        <p:nvSpPr>
          <p:cNvPr id="13" name="delivery-2-frame">
            <a:extLst xmlns:a="http://schemas.openxmlformats.org/drawingml/2006/main">
              <a:ext uri="{FF2B5EF4-FFF2-40B4-BE49-F238E27FC236}">
                <a16:creationId xmlns:a16="http://schemas.microsoft.com/office/drawing/2014/main" id="{725F09FA-164D-46B7-8A80-23C2F419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718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4" name="delivery-2-text">
            <a:extLst xmlns:a="http://schemas.openxmlformats.org/drawingml/2006/main">
              <a:ext uri="{FF2B5EF4-FFF2-40B4-BE49-F238E27FC236}">
                <a16:creationId xmlns:a16="http://schemas.microsoft.com/office/drawing/2014/main" id="{185703A1-6D11-45A6-83EC-5ADAF72B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861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5" name="delivery-name-2">
            <a:extLst xmlns:a="http://schemas.openxmlformats.org/drawingml/2006/main">
              <a:ext uri="{FF2B5EF4-FFF2-40B4-BE49-F238E27FC236}">
                <a16:creationId xmlns:a16="http://schemas.microsoft.com/office/drawing/2014/main" id="{954D92E7-3533-4CB1-B201-25C17287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52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16" name="delivery-descriptor-2">
            <a:extLst xmlns:a="http://schemas.openxmlformats.org/drawingml/2006/main">
              <a:ext uri="{FF2B5EF4-FFF2-40B4-BE49-F238E27FC236}">
                <a16:creationId xmlns:a16="http://schemas.microsoft.com/office/drawing/2014/main" id="{7781B761-2279-472A-9C07-BEA1A342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71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Customer-controlled</a:t>
            </a:r>
          </a:p>
        </p:txBody>
      </p:sp>
      <p:sp>
        <p:nvSpPr>
          <p:cNvPr id="17" name="delivery-3-frame">
            <a:extLst xmlns:a="http://schemas.openxmlformats.org/drawingml/2006/main">
              <a:ext uri="{FF2B5EF4-FFF2-40B4-BE49-F238E27FC236}">
                <a16:creationId xmlns:a16="http://schemas.microsoft.com/office/drawing/2014/main" id="{DB9F1284-248E-4956-BE8F-ED423054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719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19050">
            <a:solidFill>
              <a:srgbClr val="8C6BFF"/>
            </a:solidFill>
            <a:prstDash val="solid"/>
          </a:ln>
        </p:spPr>
      </p:sp>
      <p:sp>
        <p:nvSpPr>
          <p:cNvPr id="18" name="delivery-3-text">
            <a:extLst xmlns:a="http://schemas.openxmlformats.org/drawingml/2006/main">
              <a:ext uri="{FF2B5EF4-FFF2-40B4-BE49-F238E27FC236}">
                <a16:creationId xmlns:a16="http://schemas.microsoft.com/office/drawing/2014/main" id="{5D7AAF66-2FE2-46C7-9DEE-CB320386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862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9" name="delivery-name-3">
            <a:extLst xmlns:a="http://schemas.openxmlformats.org/drawingml/2006/main">
              <a:ext uri="{FF2B5EF4-FFF2-40B4-BE49-F238E27FC236}">
                <a16:creationId xmlns:a16="http://schemas.microsoft.com/office/drawing/2014/main" id="{A9E0D1F0-44CD-4403-913E-D482C3EC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529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Shared Services</a:t>
            </a:r>
          </a:p>
        </p:txBody>
      </p:sp>
      <p:sp>
        <p:nvSpPr>
          <p:cNvPr id="20" name="delivery-descriptor-3">
            <a:extLst xmlns:a="http://schemas.openxmlformats.org/drawingml/2006/main">
              <a:ext uri="{FF2B5EF4-FFF2-40B4-BE49-F238E27FC236}">
                <a16:creationId xmlns:a16="http://schemas.microsoft.com/office/drawing/2014/main" id="{FDCC76B0-8D6A-4ABB-B7CC-2D662C00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72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Common infrastructure</a:t>
            </a:r>
          </a:p>
        </p:txBody>
      </p:sp>
      <p:sp>
        <p:nvSpPr>
          <p:cNvPr id="21" name="delivery-foot">
            <a:extLst xmlns:a="http://schemas.openxmlformats.org/drawingml/2006/main">
              <a:ext uri="{FF2B5EF4-FFF2-40B4-BE49-F238E27FC236}">
                <a16:creationId xmlns:a16="http://schemas.microsoft.com/office/drawing/2014/main" id="{DA5207B8-7B7C-45E1-9029-6B2FC365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The operating model changes. The platform logic and evidence model remain connected.</a:t>
            </a:r>
          </a:p>
        </p:txBody>
      </p:sp>
    </p:spTree>
    <p:extLst>
      <p:ext uri="{BB962C8B-B14F-4D97-AF65-F5344CB8AC3E}">
        <p14:creationId xmlns:p14="http://schemas.microsoft.com/office/powerpoint/2010/main" val="10811107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3e710b46c4044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5DA2054-701E-4C4B-A95A-0A267E04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16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616236C3-8348-467F-B7EA-D621FD74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CB18E342-6204-4558-95AD-19B8455E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DELIVERY MODELS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D97E63D6-B7E2-4971-81C2-EDC1379D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BCF0DB-6523-4847-B6A8-3F45A712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Three delivery models share one trust model</a:t>
            </a:r>
          </a:p>
        </p:txBody>
      </p:sp>
      <p:sp>
        <p:nvSpPr>
          <p:cNvPr id="7" name="model-overview-1-frame">
            <a:extLst xmlns:a="http://schemas.openxmlformats.org/drawingml/2006/main">
              <a:ext uri="{FF2B5EF4-FFF2-40B4-BE49-F238E27FC236}">
                <a16:creationId xmlns:a16="http://schemas.microsoft.com/office/drawing/2014/main" id="{E84853AA-3E4C-4531-B88A-0E1A0E83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8" name="model-overview-1-text">
            <a:extLst xmlns:a="http://schemas.openxmlformats.org/drawingml/2006/main">
              <a:ext uri="{FF2B5EF4-FFF2-40B4-BE49-F238E27FC236}">
                <a16:creationId xmlns:a16="http://schemas.microsoft.com/office/drawing/2014/main" id="{C00137BF-4A5D-4FE7-9CE8-AC12B108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9" name="model-overview-name-1">
            <a:extLst xmlns:a="http://schemas.openxmlformats.org/drawingml/2006/main">
              <a:ext uri="{FF2B5EF4-FFF2-40B4-BE49-F238E27FC236}">
                <a16:creationId xmlns:a16="http://schemas.microsoft.com/office/drawing/2014/main" id="{74902E10-1CA8-49B5-ACB2-E5D05C2D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 SaaS</a:t>
            </a:r>
          </a:p>
        </p:txBody>
      </p:sp>
      <p:sp>
        <p:nvSpPr>
          <p:cNvPr id="10" name="model-overview-role-1">
            <a:extLst xmlns:a="http://schemas.openxmlformats.org/drawingml/2006/main">
              <a:ext uri="{FF2B5EF4-FFF2-40B4-BE49-F238E27FC236}">
                <a16:creationId xmlns:a16="http://schemas.microsoft.com/office/drawing/2014/main" id="{2E68C0B1-3502-4418-93EE-CD4D71AE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Managed enterprise digital trust</a:t>
            </a:r>
          </a:p>
        </p:txBody>
      </p:sp>
      <p:sp>
        <p:nvSpPr>
          <p:cNvPr id="11" name="model-overview-audience-1">
            <a:extLst xmlns:a="http://schemas.openxmlformats.org/drawingml/2006/main">
              <a:ext uri="{FF2B5EF4-FFF2-40B4-BE49-F238E27FC236}">
                <a16:creationId xmlns:a16="http://schemas.microsoft.com/office/drawing/2014/main" id="{A374405F-133F-410D-B4FF-2A3B5DDF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Organizations that want to consume the platform without operating its infrastructure</a:t>
            </a:r>
          </a:p>
        </p:txBody>
      </p:sp>
      <p:sp>
        <p:nvSpPr>
          <p:cNvPr id="12" name="model-overview-2-frame">
            <a:extLst xmlns:a="http://schemas.openxmlformats.org/drawingml/2006/main">
              <a:ext uri="{FF2B5EF4-FFF2-40B4-BE49-F238E27FC236}">
                <a16:creationId xmlns:a16="http://schemas.microsoft.com/office/drawing/2014/main" id="{DA8C828A-578E-4914-B8C0-7B0B94DB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431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3" name="model-overview-2-text">
            <a:extLst xmlns:a="http://schemas.openxmlformats.org/drawingml/2006/main">
              <a:ext uri="{FF2B5EF4-FFF2-40B4-BE49-F238E27FC236}">
                <a16:creationId xmlns:a16="http://schemas.microsoft.com/office/drawing/2014/main" id="{45999C7F-9509-4242-BE2E-0FF3C779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574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4" name="model-overview-name-2">
            <a:extLst xmlns:a="http://schemas.openxmlformats.org/drawingml/2006/main">
              <a:ext uri="{FF2B5EF4-FFF2-40B4-BE49-F238E27FC236}">
                <a16:creationId xmlns:a16="http://schemas.microsoft.com/office/drawing/2014/main" id="{A13648A4-D524-4138-912F-AF5F959D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289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 Sovereign</a:t>
            </a:r>
          </a:p>
        </p:txBody>
      </p:sp>
      <p:sp>
        <p:nvSpPr>
          <p:cNvPr id="15" name="model-overview-role-2">
            <a:extLst xmlns:a="http://schemas.openxmlformats.org/drawingml/2006/main">
              <a:ext uri="{FF2B5EF4-FFF2-40B4-BE49-F238E27FC236}">
                <a16:creationId xmlns:a16="http://schemas.microsoft.com/office/drawing/2014/main" id="{751F3B1F-9117-48F3-AFB4-07F240FD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862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Customer-controlled trusted execution</a:t>
            </a:r>
          </a:p>
        </p:txBody>
      </p:sp>
      <p:sp>
        <p:nvSpPr>
          <p:cNvPr id="16" name="model-overview-audience-2">
            <a:extLst xmlns:a="http://schemas.openxmlformats.org/drawingml/2006/main">
              <a:ext uri="{FF2B5EF4-FFF2-40B4-BE49-F238E27FC236}">
                <a16:creationId xmlns:a16="http://schemas.microsoft.com/office/drawing/2014/main" id="{F0332D33-21FC-4BBE-B8AF-0000E81F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7200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Organizations that require stronger control over infrastructure, data, and governance</a:t>
            </a:r>
          </a:p>
        </p:txBody>
      </p:sp>
      <p:sp>
        <p:nvSpPr>
          <p:cNvPr id="17" name="model-overview-3-frame">
            <a:extLst xmlns:a="http://schemas.openxmlformats.org/drawingml/2006/main">
              <a:ext uri="{FF2B5EF4-FFF2-40B4-BE49-F238E27FC236}">
                <a16:creationId xmlns:a16="http://schemas.microsoft.com/office/drawing/2014/main" id="{D84C6CEF-1521-47A7-8911-175A202B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431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8" name="model-overview-3-text">
            <a:extLst xmlns:a="http://schemas.openxmlformats.org/drawingml/2006/main">
              <a:ext uri="{FF2B5EF4-FFF2-40B4-BE49-F238E27FC236}">
                <a16:creationId xmlns:a16="http://schemas.microsoft.com/office/drawing/2014/main" id="{EBC763FB-7145-411D-9F1A-549A3131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574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9" name="model-overview-name-3">
            <a:extLst xmlns:a="http://schemas.openxmlformats.org/drawingml/2006/main">
              <a:ext uri="{FF2B5EF4-FFF2-40B4-BE49-F238E27FC236}">
                <a16:creationId xmlns:a16="http://schemas.microsoft.com/office/drawing/2014/main" id="{F89889F7-8DB7-4871-B439-5ABA0774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289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Sovereign Trust Shared Services</a:t>
            </a:r>
          </a:p>
        </p:txBody>
      </p:sp>
      <p:sp>
        <p:nvSpPr>
          <p:cNvPr id="20" name="model-overview-role-3">
            <a:extLst xmlns:a="http://schemas.openxmlformats.org/drawingml/2006/main">
              <a:ext uri="{FF2B5EF4-FFF2-40B4-BE49-F238E27FC236}">
                <a16:creationId xmlns:a16="http://schemas.microsoft.com/office/drawing/2014/main" id="{DD9B4614-2E46-4EC5-BA9C-F5EF341C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862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trust as shared infrastructure</a:t>
            </a:r>
          </a:p>
        </p:txBody>
      </p:sp>
      <p:sp>
        <p:nvSpPr>
          <p:cNvPr id="21" name="model-overview-audience-3">
            <a:extLst xmlns:a="http://schemas.openxmlformats.org/drawingml/2006/main">
              <a:ext uri="{FF2B5EF4-FFF2-40B4-BE49-F238E27FC236}">
                <a16:creationId xmlns:a16="http://schemas.microsoft.com/office/drawing/2014/main" id="{8C10EDFA-D017-4733-A376-81700139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7200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Governments and operators serving multiple institutions through one governed platform</a:t>
            </a:r>
          </a:p>
        </p:txBody>
      </p:sp>
      <p:sp>
        <p:nvSpPr>
          <p:cNvPr id="22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D4016E44-CC29-4139-A268-02D42628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keaway">
            <a:extLst xmlns:a="http://schemas.openxmlformats.org/drawingml/2006/main">
              <a:ext uri="{FF2B5EF4-FFF2-40B4-BE49-F238E27FC236}">
                <a16:creationId xmlns:a16="http://schemas.microsoft.com/office/drawing/2014/main" id="{D27C4B35-B9C2-4367-9323-44731B1A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Each model connects identity, authority, approval, trust services, evidence, archive, and intelligence.</a:t>
            </a:r>
          </a:p>
        </p:txBody>
      </p:sp>
    </p:spTree>
    <p:extLst>
      <p:ext uri="{BB962C8B-B14F-4D97-AF65-F5344CB8AC3E}">
        <p14:creationId xmlns:p14="http://schemas.microsoft.com/office/powerpoint/2010/main" val="17337265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45944ffc84eca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4C50D83-B12E-4184-802C-A132B8F8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17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D16140E0-AFE6-4CD3-BD53-AB8E110E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9B0115AC-1D69-46C8-B836-07ECFCA0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DELIVERY MODELS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05B1BBE9-A941-4A58-B85A-E79247B6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0768BB-C11B-47C5-9B68-BE2B8F20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28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 SaaS</a:t>
            </a:r>
          </a:p>
        </p:txBody>
      </p:sp>
      <p:sp>
        <p:nvSpPr>
          <p:cNvPr id="7" name="delivery-model-descriptor">
            <a:extLst xmlns:a="http://schemas.openxmlformats.org/drawingml/2006/main">
              <a:ext uri="{FF2B5EF4-FFF2-40B4-BE49-F238E27FC236}">
                <a16:creationId xmlns:a16="http://schemas.microsoft.com/office/drawing/2014/main" id="{2EC68A8B-C7BB-45EF-9FCE-A43D4C3D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MANAGED ENTERPRISE DIGITAL TRUST</a:t>
            </a:r>
          </a:p>
        </p:txBody>
      </p:sp>
      <p:sp>
        <p:nvSpPr>
          <p:cNvPr id="8" name="delivery-model-description">
            <a:extLst xmlns:a="http://schemas.openxmlformats.org/drawingml/2006/main">
              <a:ext uri="{FF2B5EF4-FFF2-40B4-BE49-F238E27FC236}">
                <a16:creationId xmlns:a16="http://schemas.microsoft.com/office/drawing/2014/main" id="{E0A0507E-4ED2-4AA7-A388-62C238C5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5238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 managed cloud platform for organizations that want to simplify trusted digital work without operating the underlying infrastructure.</a:t>
            </a:r>
          </a:p>
        </p:txBody>
      </p:sp>
      <p:sp>
        <p:nvSpPr>
          <p:cNvPr id="9" name="delivery-detail-1">
            <a:extLst xmlns:a="http://schemas.openxmlformats.org/drawingml/2006/main">
              <a:ext uri="{FF2B5EF4-FFF2-40B4-BE49-F238E27FC236}">
                <a16:creationId xmlns:a16="http://schemas.microsoft.com/office/drawing/2014/main" id="{032B10F7-F012-4890-8DB0-AA046114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BEST FIT</a:t>
            </a:r>
          </a:p>
        </p:txBody>
      </p:sp>
      <p:sp>
        <p:nvSpPr>
          <p:cNvPr id="10" name="delivery-detail-body-1">
            <a:extLst xmlns:a="http://schemas.openxmlformats.org/drawingml/2006/main">
              <a:ext uri="{FF2B5EF4-FFF2-40B4-BE49-F238E27FC236}">
                <a16:creationId xmlns:a16="http://schemas.microsoft.com/office/drawing/2014/main" id="{8107692B-341A-4FC5-A2D8-31EF9AF4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908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Enterprises and institutions seeking a managed service</a:t>
            </a:r>
          </a:p>
        </p:txBody>
      </p:sp>
      <p:sp>
        <p:nvSpPr>
          <p:cNvPr id="11" name="delivery-detail-line-1">
            <a:extLst xmlns:a="http://schemas.openxmlformats.org/drawingml/2006/main">
              <a:ext uri="{FF2B5EF4-FFF2-40B4-BE49-F238E27FC236}">
                <a16:creationId xmlns:a16="http://schemas.microsoft.com/office/drawing/2014/main" id="{3E560F7A-A9E7-40C5-935A-6758CFAD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livery-detail-2">
            <a:extLst xmlns:a="http://schemas.openxmlformats.org/drawingml/2006/main">
              <a:ext uri="{FF2B5EF4-FFF2-40B4-BE49-F238E27FC236}">
                <a16:creationId xmlns:a16="http://schemas.microsoft.com/office/drawing/2014/main" id="{4D075319-4903-4171-B377-4F5169B0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CONTROL PROFILE</a:t>
            </a:r>
          </a:p>
        </p:txBody>
      </p:sp>
      <p:sp>
        <p:nvSpPr>
          <p:cNvPr id="13" name="delivery-detail-body-2">
            <a:extLst xmlns:a="http://schemas.openxmlformats.org/drawingml/2006/main">
              <a:ext uri="{FF2B5EF4-FFF2-40B4-BE49-F238E27FC236}">
                <a16:creationId xmlns:a16="http://schemas.microsoft.com/office/drawing/2014/main" id="{33AA7AE7-7465-4AC9-8343-CDC9B37E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576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 operates the platform environment</a:t>
            </a:r>
          </a:p>
        </p:txBody>
      </p:sp>
      <p:sp>
        <p:nvSpPr>
          <p:cNvPr id="14" name="delivery-detail-line-2">
            <a:extLst xmlns:a="http://schemas.openxmlformats.org/drawingml/2006/main">
              <a:ext uri="{FF2B5EF4-FFF2-40B4-BE49-F238E27FC236}">
                <a16:creationId xmlns:a16="http://schemas.microsoft.com/office/drawing/2014/main" id="{5DA11690-5FFF-4F21-89B0-EF1998C3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481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elivery-detail-3">
            <a:extLst xmlns:a="http://schemas.openxmlformats.org/drawingml/2006/main">
              <a:ext uri="{FF2B5EF4-FFF2-40B4-BE49-F238E27FC236}">
                <a16:creationId xmlns:a16="http://schemas.microsoft.com/office/drawing/2014/main" id="{362B2123-1BCC-46DC-BAAE-45A427BC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81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STRATEGIC ROLE</a:t>
            </a:r>
          </a:p>
        </p:txBody>
      </p:sp>
      <p:sp>
        <p:nvSpPr>
          <p:cNvPr id="16" name="delivery-detail-body-3">
            <a:extLst xmlns:a="http://schemas.openxmlformats.org/drawingml/2006/main">
              <a:ext uri="{FF2B5EF4-FFF2-40B4-BE49-F238E27FC236}">
                <a16:creationId xmlns:a16="http://schemas.microsoft.com/office/drawing/2014/main" id="{2513BF98-C92C-472B-9E1F-D13FB70D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244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Fast adoption of the common Trust Orchestration Platform</a:t>
            </a:r>
          </a:p>
        </p:txBody>
      </p:sp>
      <p:sp>
        <p:nvSpPr>
          <p:cNvPr id="17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BD0C1B77-4F18-4941-8C8A-5538EFC1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keaway">
            <a:extLst xmlns:a="http://schemas.openxmlformats.org/drawingml/2006/main">
              <a:ext uri="{FF2B5EF4-FFF2-40B4-BE49-F238E27FC236}">
                <a16:creationId xmlns:a16="http://schemas.microsoft.com/office/drawing/2014/main" id="{A4219223-15FD-4AAF-B4E8-648F3E21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delivery model changes how the platform operates, not the underlying trust model.</a:t>
            </a:r>
          </a:p>
        </p:txBody>
      </p:sp>
    </p:spTree>
    <p:extLst>
      <p:ext uri="{BB962C8B-B14F-4D97-AF65-F5344CB8AC3E}">
        <p14:creationId xmlns:p14="http://schemas.microsoft.com/office/powerpoint/2010/main" val="556734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74c20025044f0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7EE00A-89CD-461C-AF92-62C0595E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18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B370E5DC-B038-4DA0-8FD4-36E9FE02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EA7B72CA-3DE7-4685-A686-988B7B8E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DELIVERY MODELS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790A5EE2-D852-4AC1-8BB8-C6325713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251884-BAA0-4D8B-88AE-9CD6E37F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28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Sovereign</a:t>
            </a:r>
          </a:p>
        </p:txBody>
      </p:sp>
      <p:sp>
        <p:nvSpPr>
          <p:cNvPr id="7" name="delivery-model-descriptor">
            <a:extLst xmlns:a="http://schemas.openxmlformats.org/drawingml/2006/main">
              <a:ext uri="{FF2B5EF4-FFF2-40B4-BE49-F238E27FC236}">
                <a16:creationId xmlns:a16="http://schemas.microsoft.com/office/drawing/2014/main" id="{A67D6F54-C585-45A8-B09A-69E3925F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CUSTOMER-CONTROLLED TRUSTED EXECUTION INFRASTRUCTURE</a:t>
            </a:r>
          </a:p>
        </p:txBody>
      </p:sp>
      <p:sp>
        <p:nvSpPr>
          <p:cNvPr id="8" name="delivery-model-description">
            <a:extLst xmlns:a="http://schemas.openxmlformats.org/drawingml/2006/main">
              <a:ext uri="{FF2B5EF4-FFF2-40B4-BE49-F238E27FC236}">
                <a16:creationId xmlns:a16="http://schemas.microsoft.com/office/drawing/2014/main" id="{CA15865A-543F-4742-A724-600AB824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5238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 self-hosted platform for organizations requiring stronger control over infrastructure, data, governance, and trusted digital processes.</a:t>
            </a:r>
          </a:p>
        </p:txBody>
      </p:sp>
      <p:sp>
        <p:nvSpPr>
          <p:cNvPr id="9" name="delivery-detail-1">
            <a:extLst xmlns:a="http://schemas.openxmlformats.org/drawingml/2006/main">
              <a:ext uri="{FF2B5EF4-FFF2-40B4-BE49-F238E27FC236}">
                <a16:creationId xmlns:a16="http://schemas.microsoft.com/office/drawing/2014/main" id="{17F67526-1E53-4A06-BA39-9430E2C2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BEST FIT</a:t>
            </a:r>
          </a:p>
        </p:txBody>
      </p:sp>
      <p:sp>
        <p:nvSpPr>
          <p:cNvPr id="10" name="delivery-detail-body-1">
            <a:extLst xmlns:a="http://schemas.openxmlformats.org/drawingml/2006/main">
              <a:ext uri="{FF2B5EF4-FFF2-40B4-BE49-F238E27FC236}">
                <a16:creationId xmlns:a16="http://schemas.microsoft.com/office/drawing/2014/main" id="{82B9EA37-5F65-47FE-94C5-2D069170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908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Governments, regulated organizations, and large enterprises</a:t>
            </a:r>
          </a:p>
        </p:txBody>
      </p:sp>
      <p:sp>
        <p:nvSpPr>
          <p:cNvPr id="11" name="delivery-detail-line-1">
            <a:extLst xmlns:a="http://schemas.openxmlformats.org/drawingml/2006/main">
              <a:ext uri="{FF2B5EF4-FFF2-40B4-BE49-F238E27FC236}">
                <a16:creationId xmlns:a16="http://schemas.microsoft.com/office/drawing/2014/main" id="{87711B58-88F6-4CBF-B3AA-3E5BA86D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livery-detail-2">
            <a:extLst xmlns:a="http://schemas.openxmlformats.org/drawingml/2006/main">
              <a:ext uri="{FF2B5EF4-FFF2-40B4-BE49-F238E27FC236}">
                <a16:creationId xmlns:a16="http://schemas.microsoft.com/office/drawing/2014/main" id="{3DE62465-227D-4E70-BF57-213F0B26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CONTROL PROFILE</a:t>
            </a:r>
          </a:p>
        </p:txBody>
      </p:sp>
      <p:sp>
        <p:nvSpPr>
          <p:cNvPr id="13" name="delivery-detail-body-2">
            <a:extLst xmlns:a="http://schemas.openxmlformats.org/drawingml/2006/main">
              <a:ext uri="{FF2B5EF4-FFF2-40B4-BE49-F238E27FC236}">
                <a16:creationId xmlns:a16="http://schemas.microsoft.com/office/drawing/2014/main" id="{82461826-8F36-412B-8435-21A963CB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576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Customer-controlled or dedicated infrastructure</a:t>
            </a:r>
          </a:p>
        </p:txBody>
      </p:sp>
      <p:sp>
        <p:nvSpPr>
          <p:cNvPr id="14" name="delivery-detail-line-2">
            <a:extLst xmlns:a="http://schemas.openxmlformats.org/drawingml/2006/main">
              <a:ext uri="{FF2B5EF4-FFF2-40B4-BE49-F238E27FC236}">
                <a16:creationId xmlns:a16="http://schemas.microsoft.com/office/drawing/2014/main" id="{9E5199A0-F5DD-4C97-BB29-6F189EA2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481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elivery-detail-3">
            <a:extLst xmlns:a="http://schemas.openxmlformats.org/drawingml/2006/main">
              <a:ext uri="{FF2B5EF4-FFF2-40B4-BE49-F238E27FC236}">
                <a16:creationId xmlns:a16="http://schemas.microsoft.com/office/drawing/2014/main" id="{7E381994-38EC-47BB-B095-10BDBE50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81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STRATEGIC ROLE</a:t>
            </a:r>
          </a:p>
        </p:txBody>
      </p:sp>
      <p:sp>
        <p:nvSpPr>
          <p:cNvPr id="16" name="delivery-detail-body-3">
            <a:extLst xmlns:a="http://schemas.openxmlformats.org/drawingml/2006/main">
              <a:ext uri="{FF2B5EF4-FFF2-40B4-BE49-F238E27FC236}">
                <a16:creationId xmlns:a16="http://schemas.microsoft.com/office/drawing/2014/main" id="{E0502268-9EDA-4C6E-9418-512F0CD3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244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Apply the common trust model under stronger sovereignty requirements</a:t>
            </a:r>
          </a:p>
        </p:txBody>
      </p:sp>
      <p:sp>
        <p:nvSpPr>
          <p:cNvPr id="17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3474F15B-B366-4C0B-88C9-D459B656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keaway">
            <a:extLst xmlns:a="http://schemas.openxmlformats.org/drawingml/2006/main">
              <a:ext uri="{FF2B5EF4-FFF2-40B4-BE49-F238E27FC236}">
                <a16:creationId xmlns:a16="http://schemas.microsoft.com/office/drawing/2014/main" id="{748DA415-9537-40C8-859F-BF87A7AA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delivery model changes how the platform operates, not the underlying trust model.</a:t>
            </a:r>
          </a:p>
        </p:txBody>
      </p:sp>
    </p:spTree>
    <p:extLst>
      <p:ext uri="{BB962C8B-B14F-4D97-AF65-F5344CB8AC3E}">
        <p14:creationId xmlns:p14="http://schemas.microsoft.com/office/powerpoint/2010/main" val="137355658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7c72b77284d1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632D1E-4F6C-4F1A-9006-6BED2C85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19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2C6213FF-D46E-485C-B157-E44D5D27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B7F57084-4504-4EDE-8337-EFC6D5A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DELIVERY MODELS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9C0C7432-05FB-46AC-A42E-C1A6C6F8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4E4CE4-38C0-4838-8A86-ABA991E5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28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Sovereign Trust Shared Services</a:t>
            </a:r>
          </a:p>
        </p:txBody>
      </p:sp>
      <p:sp>
        <p:nvSpPr>
          <p:cNvPr id="7" name="delivery-model-descriptor">
            <a:extLst xmlns:a="http://schemas.openxmlformats.org/drawingml/2006/main">
              <a:ext uri="{FF2B5EF4-FFF2-40B4-BE49-F238E27FC236}">
                <a16:creationId xmlns:a16="http://schemas.microsoft.com/office/drawing/2014/main" id="{F707C9E9-F217-4FFE-9C1F-DB91B530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TRUST AS SHARED INFRASTRUCTURE</a:t>
            </a:r>
          </a:p>
        </p:txBody>
      </p:sp>
      <p:sp>
        <p:nvSpPr>
          <p:cNvPr id="8" name="delivery-model-description">
            <a:extLst xmlns:a="http://schemas.openxmlformats.org/drawingml/2006/main">
              <a:ext uri="{FF2B5EF4-FFF2-40B4-BE49-F238E27FC236}">
                <a16:creationId xmlns:a16="http://schemas.microsoft.com/office/drawing/2014/main" id="{AE01CA4B-DC2C-4BD8-B16B-7E9F50F0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5238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 platform foundation for reusable trust capabilities across ministries, agencies, public services, or wider organizational ecosystems.</a:t>
            </a:r>
          </a:p>
        </p:txBody>
      </p:sp>
      <p:sp>
        <p:nvSpPr>
          <p:cNvPr id="9" name="delivery-detail-1">
            <a:extLst xmlns:a="http://schemas.openxmlformats.org/drawingml/2006/main">
              <a:ext uri="{FF2B5EF4-FFF2-40B4-BE49-F238E27FC236}">
                <a16:creationId xmlns:a16="http://schemas.microsoft.com/office/drawing/2014/main" id="{F798E4B3-27E1-4D6A-A11B-4F3415DF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BEST FIT</a:t>
            </a:r>
          </a:p>
        </p:txBody>
      </p:sp>
      <p:sp>
        <p:nvSpPr>
          <p:cNvPr id="10" name="delivery-detail-body-1">
            <a:extLst xmlns:a="http://schemas.openxmlformats.org/drawingml/2006/main">
              <a:ext uri="{FF2B5EF4-FFF2-40B4-BE49-F238E27FC236}">
                <a16:creationId xmlns:a16="http://schemas.microsoft.com/office/drawing/2014/main" id="{F13C9DFE-0F8E-4985-A583-1DE5AC6C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908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Governments, national ecosystems, and shared-service operators</a:t>
            </a:r>
          </a:p>
        </p:txBody>
      </p:sp>
      <p:sp>
        <p:nvSpPr>
          <p:cNvPr id="11" name="delivery-detail-line-1">
            <a:extLst xmlns:a="http://schemas.openxmlformats.org/drawingml/2006/main">
              <a:ext uri="{FF2B5EF4-FFF2-40B4-BE49-F238E27FC236}">
                <a16:creationId xmlns:a16="http://schemas.microsoft.com/office/drawing/2014/main" id="{20C8B86F-A5C5-4BB0-B13B-AC5F46B9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livery-detail-2">
            <a:extLst xmlns:a="http://schemas.openxmlformats.org/drawingml/2006/main">
              <a:ext uri="{FF2B5EF4-FFF2-40B4-BE49-F238E27FC236}">
                <a16:creationId xmlns:a16="http://schemas.microsoft.com/office/drawing/2014/main" id="{44E48F13-DD05-45DC-902A-55BCDC5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CONTROL PROFILE</a:t>
            </a:r>
          </a:p>
        </p:txBody>
      </p:sp>
      <p:sp>
        <p:nvSpPr>
          <p:cNvPr id="13" name="delivery-detail-body-2">
            <a:extLst xmlns:a="http://schemas.openxmlformats.org/drawingml/2006/main">
              <a:ext uri="{FF2B5EF4-FFF2-40B4-BE49-F238E27FC236}">
                <a16:creationId xmlns:a16="http://schemas.microsoft.com/office/drawing/2014/main" id="{3E250599-8094-45A0-9501-AD03052D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576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 governed common platform operated centrally</a:t>
            </a:r>
          </a:p>
        </p:txBody>
      </p:sp>
      <p:sp>
        <p:nvSpPr>
          <p:cNvPr id="14" name="delivery-detail-line-2">
            <a:extLst xmlns:a="http://schemas.openxmlformats.org/drawingml/2006/main">
              <a:ext uri="{FF2B5EF4-FFF2-40B4-BE49-F238E27FC236}">
                <a16:creationId xmlns:a16="http://schemas.microsoft.com/office/drawing/2014/main" id="{91432FE1-B94F-4948-A66F-94F5949D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481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elivery-detail-3">
            <a:extLst xmlns:a="http://schemas.openxmlformats.org/drawingml/2006/main">
              <a:ext uri="{FF2B5EF4-FFF2-40B4-BE49-F238E27FC236}">
                <a16:creationId xmlns:a16="http://schemas.microsoft.com/office/drawing/2014/main" id="{E7BC62A2-5F2E-4FF9-9684-92D287D7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81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STRATEGIC ROLE</a:t>
            </a:r>
          </a:p>
        </p:txBody>
      </p:sp>
      <p:sp>
        <p:nvSpPr>
          <p:cNvPr id="16" name="delivery-detail-body-3">
            <a:extLst xmlns:a="http://schemas.openxmlformats.org/drawingml/2006/main">
              <a:ext uri="{FF2B5EF4-FFF2-40B4-BE49-F238E27FC236}">
                <a16:creationId xmlns:a16="http://schemas.microsoft.com/office/drawing/2014/main" id="{AB955070-CE8A-4C73-BD1A-DAC57421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244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Extend consistent trust services across multiple institutions</a:t>
            </a:r>
          </a:p>
        </p:txBody>
      </p:sp>
      <p:sp>
        <p:nvSpPr>
          <p:cNvPr id="17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5536A089-360C-4A5A-A420-F5C423EC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keaway">
            <a:extLst xmlns:a="http://schemas.openxmlformats.org/drawingml/2006/main">
              <a:ext uri="{FF2B5EF4-FFF2-40B4-BE49-F238E27FC236}">
                <a16:creationId xmlns:a16="http://schemas.microsoft.com/office/drawing/2014/main" id="{13BC9EFE-4289-4AB8-A79C-48D03522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delivery model changes how the platform operates, not the underlying trust model.</a:t>
            </a:r>
          </a:p>
        </p:txBody>
      </p:sp>
    </p:spTree>
    <p:extLst>
      <p:ext uri="{BB962C8B-B14F-4D97-AF65-F5344CB8AC3E}">
        <p14:creationId xmlns:p14="http://schemas.microsoft.com/office/powerpoint/2010/main" val="8016084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792dae2e24160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7E074B-3975-4DEF-AFEE-FE6DF355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20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A215DA5C-E564-4BD0-97D9-2E461231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D58F2029-4DE0-4025-9FA1-BBDDBD79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EXPERIENCE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127E7F03-72E4-4EB0-A219-A1451D5D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proof-kicker">
            <a:extLst xmlns:a="http://schemas.openxmlformats.org/drawingml/2006/main">
              <a:ext uri="{FF2B5EF4-FFF2-40B4-BE49-F238E27FC236}">
                <a16:creationId xmlns:a16="http://schemas.microsoft.com/office/drawing/2014/main" id="{20DDC418-3F71-471C-B208-DA0B1D66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EXPERIENCE AND TRUST ECOSYSTEM</a:t>
            </a:r>
          </a:p>
        </p:txBody>
      </p:sp>
      <p:sp>
        <p:nvSpPr>
          <p:cNvPr id="7" name="proof-title">
            <a:extLst xmlns:a="http://schemas.openxmlformats.org/drawingml/2006/main">
              <a:ext uri="{FF2B5EF4-FFF2-40B4-BE49-F238E27FC236}">
                <a16:creationId xmlns:a16="http://schemas.microsoft.com/office/drawing/2014/main" id="{1B1DE7E9-F105-476B-990A-97839C6C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2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Proven where trust matters</a:t>
            </a:r>
          </a:p>
        </p:txBody>
      </p:sp>
      <p:sp>
        <p:nvSpPr>
          <p:cNvPr id="8" name="proof-subtitle">
            <a:extLst xmlns:a="http://schemas.openxmlformats.org/drawingml/2006/main">
              <a:ext uri="{FF2B5EF4-FFF2-40B4-BE49-F238E27FC236}">
                <a16:creationId xmlns:a16="http://schemas.microsoft.com/office/drawing/2014/main" id="{07A92435-EC5B-48F4-BDC7-88027090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704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6DEFF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E6DEFF"/>
                </a:solidFill>
                <a:latin typeface="Spartan"/>
                <a:ea typeface="Spartan"/>
                <a:cs typeface="Spartan"/>
              </a:rPr>
              <a:t>More than a decade of experience across government, regulated industries, and large enterprises.</a:t>
            </a:r>
          </a:p>
        </p:txBody>
      </p:sp>
      <p:sp>
        <p:nvSpPr>
          <p:cNvPr id="9" name="proof-qualification">
            <a:extLst xmlns:a="http://schemas.openxmlformats.org/drawingml/2006/main">
              <a:ext uri="{FF2B5EF4-FFF2-40B4-BE49-F238E27FC236}">
                <a16:creationId xmlns:a16="http://schemas.microsoft.com/office/drawing/2014/main" id="{E2DFBC98-54FD-4BF6-AFAD-835A89A6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28850"/>
            <a:ext cx="3429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0" name="proof-qualification-label">
            <a:extLst xmlns:a="http://schemas.openxmlformats.org/drawingml/2006/main">
              <a:ext uri="{FF2B5EF4-FFF2-40B4-BE49-F238E27FC236}">
                <a16:creationId xmlns:a16="http://schemas.microsoft.com/office/drawing/2014/main" id="{61549393-D0EF-47C2-9C8F-BA5DAD89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USE</a:t>
            </a:r>
          </a:p>
        </p:txBody>
      </p:sp>
      <p:sp>
        <p:nvSpPr>
          <p:cNvPr id="11" name="proof-qualification-body">
            <a:extLst xmlns:a="http://schemas.openxmlformats.org/drawingml/2006/main">
              <a:ext uri="{FF2B5EF4-FFF2-40B4-BE49-F238E27FC236}">
                <a16:creationId xmlns:a16="http://schemas.microsoft.com/office/drawing/2014/main" id="{B1C3388B-A556-407F-A1FD-6DFC5FEC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266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Confirm current approval, exact wording, and logo permissions before external reuse.</a:t>
            </a:r>
          </a:p>
        </p:txBody>
      </p:sp>
      <p:sp>
        <p:nvSpPr>
          <p:cNvPr id="12" name="proof-foot">
            <a:extLst xmlns:a="http://schemas.openxmlformats.org/drawingml/2006/main">
              <a:ext uri="{FF2B5EF4-FFF2-40B4-BE49-F238E27FC236}">
                <a16:creationId xmlns:a16="http://schemas.microsoft.com/office/drawing/2014/main" id="{D66EDDDD-9153-426B-84D6-6A561477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The following references and frameworks come from the supplied internal narrative.</a:t>
            </a:r>
          </a:p>
        </p:txBody>
      </p:sp>
    </p:spTree>
    <p:extLst>
      <p:ext uri="{BB962C8B-B14F-4D97-AF65-F5344CB8AC3E}">
        <p14:creationId xmlns:p14="http://schemas.microsoft.com/office/powerpoint/2010/main" val="6062360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3cb96d48b49c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3EEDC83-CA5F-4967-953E-F503CBC8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58FD4BE4-CA60-483F-96D0-7B2EC28E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BC724217-7103-407D-BE01-EBA9A39C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EXPERIENCE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83DD9149-4D5F-4BA9-9447-695312CC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0BD36E-A87C-44C0-894C-4CA497D0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Government and shared services experience</a:t>
            </a:r>
          </a:p>
        </p:txBody>
      </p:sp>
      <p:sp>
        <p:nvSpPr>
          <p:cNvPr id="7" name="government-1-frame">
            <a:extLst xmlns:a="http://schemas.openxmlformats.org/drawingml/2006/main">
              <a:ext uri="{FF2B5EF4-FFF2-40B4-BE49-F238E27FC236}">
                <a16:creationId xmlns:a16="http://schemas.microsoft.com/office/drawing/2014/main" id="{EDBCA419-FDD5-445F-8CCF-4BC96024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8" name="government-1-text">
            <a:extLst xmlns:a="http://schemas.openxmlformats.org/drawingml/2006/main">
              <a:ext uri="{FF2B5EF4-FFF2-40B4-BE49-F238E27FC236}">
                <a16:creationId xmlns:a16="http://schemas.microsoft.com/office/drawing/2014/main" id="{BFBA2718-2A5B-452E-AD19-77CE5F31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9" name="government-name-1">
            <a:extLst xmlns:a="http://schemas.openxmlformats.org/drawingml/2006/main">
              <a:ext uri="{FF2B5EF4-FFF2-40B4-BE49-F238E27FC236}">
                <a16:creationId xmlns:a16="http://schemas.microsoft.com/office/drawing/2014/main" id="{ACB30517-7343-4DF5-B429-C4D11688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669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TDRA GovSign</a:t>
            </a:r>
          </a:p>
        </p:txBody>
      </p:sp>
      <p:sp>
        <p:nvSpPr>
          <p:cNvPr id="10" name="government-body-1">
            <a:extLst xmlns:a="http://schemas.openxmlformats.org/drawingml/2006/main">
              <a:ext uri="{FF2B5EF4-FFF2-40B4-BE49-F238E27FC236}">
                <a16:creationId xmlns:a16="http://schemas.microsoft.com/office/drawing/2014/main" id="{01B25B57-C390-4941-A71C-CA2B94B1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693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Federal government digital signature services</a:t>
            </a:r>
          </a:p>
        </p:txBody>
      </p:sp>
      <p:sp>
        <p:nvSpPr>
          <p:cNvPr id="11" name="government-line-1">
            <a:extLst xmlns:a="http://schemas.openxmlformats.org/drawingml/2006/main">
              <a:ext uri="{FF2B5EF4-FFF2-40B4-BE49-F238E27FC236}">
                <a16:creationId xmlns:a16="http://schemas.microsoft.com/office/drawing/2014/main" id="{1DA02F64-78B9-4D34-994D-689AD970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overnment-2-frame">
            <a:extLst xmlns:a="http://schemas.openxmlformats.org/drawingml/2006/main">
              <a:ext uri="{FF2B5EF4-FFF2-40B4-BE49-F238E27FC236}">
                <a16:creationId xmlns:a16="http://schemas.microsoft.com/office/drawing/2014/main" id="{E0444BF8-D1AE-4EA7-A2F4-6383B5C7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3" name="government-2-text">
            <a:extLst xmlns:a="http://schemas.openxmlformats.org/drawingml/2006/main">
              <a:ext uri="{FF2B5EF4-FFF2-40B4-BE49-F238E27FC236}">
                <a16:creationId xmlns:a16="http://schemas.microsoft.com/office/drawing/2014/main" id="{A3D6068E-AACC-404B-8D54-5C7D44F7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4" name="government-name-2">
            <a:extLst xmlns:a="http://schemas.openxmlformats.org/drawingml/2006/main">
              <a:ext uri="{FF2B5EF4-FFF2-40B4-BE49-F238E27FC236}">
                <a16:creationId xmlns:a16="http://schemas.microsoft.com/office/drawing/2014/main" id="{8C07B747-9463-49FF-BB13-B96404BE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Digital Dubai DigiSign</a:t>
            </a:r>
          </a:p>
        </p:txBody>
      </p:sp>
      <p:sp>
        <p:nvSpPr>
          <p:cNvPr id="15" name="government-body-2">
            <a:extLst xmlns:a="http://schemas.openxmlformats.org/drawingml/2006/main">
              <a:ext uri="{FF2B5EF4-FFF2-40B4-BE49-F238E27FC236}">
                <a16:creationId xmlns:a16="http://schemas.microsoft.com/office/drawing/2014/main" id="{6F033DA9-4C90-4A0D-B025-36C4635C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8000"/>
            <a:ext cx="693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Shared digital signature services across Dubai government entities</a:t>
            </a:r>
          </a:p>
        </p:txBody>
      </p:sp>
      <p:sp>
        <p:nvSpPr>
          <p:cNvPr id="16" name="government-line-2">
            <a:extLst xmlns:a="http://schemas.openxmlformats.org/drawingml/2006/main">
              <a:ext uri="{FF2B5EF4-FFF2-40B4-BE49-F238E27FC236}">
                <a16:creationId xmlns:a16="http://schemas.microsoft.com/office/drawing/2014/main" id="{5B27C480-5740-4AFA-B89B-A135F3FE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overnment-3-frame">
            <a:extLst xmlns:a="http://schemas.openxmlformats.org/drawingml/2006/main">
              <a:ext uri="{FF2B5EF4-FFF2-40B4-BE49-F238E27FC236}">
                <a16:creationId xmlns:a16="http://schemas.microsoft.com/office/drawing/2014/main" id="{1CF91C9B-8061-4A23-974E-3071D334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8" name="government-3-text">
            <a:extLst xmlns:a="http://schemas.openxmlformats.org/drawingml/2006/main">
              <a:ext uri="{FF2B5EF4-FFF2-40B4-BE49-F238E27FC236}">
                <a16:creationId xmlns:a16="http://schemas.microsoft.com/office/drawing/2014/main" id="{CBE551E2-5F05-4E03-8F3A-03EB2B36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957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9" name="government-name-3">
            <a:extLst xmlns:a="http://schemas.openxmlformats.org/drawingml/2006/main">
              <a:ext uri="{FF2B5EF4-FFF2-40B4-BE49-F238E27FC236}">
                <a16:creationId xmlns:a16="http://schemas.microsoft.com/office/drawing/2014/main" id="{C73CB9EA-7ADA-45F4-A231-4A0DF30A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Sharjah Sign</a:t>
            </a:r>
          </a:p>
        </p:txBody>
      </p:sp>
      <p:sp>
        <p:nvSpPr>
          <p:cNvPr id="20" name="government-body-3">
            <a:extLst xmlns:a="http://schemas.openxmlformats.org/drawingml/2006/main">
              <a:ext uri="{FF2B5EF4-FFF2-40B4-BE49-F238E27FC236}">
                <a16:creationId xmlns:a16="http://schemas.microsoft.com/office/drawing/2014/main" id="{19E409F5-3A36-43F6-8E94-1384E89A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29050"/>
            <a:ext cx="693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Shared digital trust services across Sharjah government entities</a:t>
            </a:r>
          </a:p>
        </p:txBody>
      </p:sp>
      <p:sp>
        <p:nvSpPr>
          <p:cNvPr id="21" name="government-line-3">
            <a:extLst xmlns:a="http://schemas.openxmlformats.org/drawingml/2006/main">
              <a:ext uri="{FF2B5EF4-FFF2-40B4-BE49-F238E27FC236}">
                <a16:creationId xmlns:a16="http://schemas.microsoft.com/office/drawing/2014/main" id="{66D60AD1-2718-4421-807E-E44168D9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overnment-4-frame">
            <a:extLst xmlns:a="http://schemas.openxmlformats.org/drawingml/2006/main">
              <a:ext uri="{FF2B5EF4-FFF2-40B4-BE49-F238E27FC236}">
                <a16:creationId xmlns:a16="http://schemas.microsoft.com/office/drawing/2014/main" id="{767A537A-B9DC-4CC1-B30F-0275A512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3" name="government-4-text">
            <a:extLst xmlns:a="http://schemas.openxmlformats.org/drawingml/2006/main">
              <a:ext uri="{FF2B5EF4-FFF2-40B4-BE49-F238E27FC236}">
                <a16:creationId xmlns:a16="http://schemas.microsoft.com/office/drawing/2014/main" id="{FBF58823-B443-4D88-A2BC-A8322A19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767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4" name="government-name-4">
            <a:extLst xmlns:a="http://schemas.openxmlformats.org/drawingml/2006/main">
              <a:ext uri="{FF2B5EF4-FFF2-40B4-BE49-F238E27FC236}">
                <a16:creationId xmlns:a16="http://schemas.microsoft.com/office/drawing/2014/main" id="{B023ED32-09B1-490C-A6FB-45BC229C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e&amp; DigiSign</a:t>
            </a:r>
          </a:p>
        </p:txBody>
      </p:sp>
      <p:sp>
        <p:nvSpPr>
          <p:cNvPr id="25" name="government-body-4">
            <a:extLst xmlns:a="http://schemas.openxmlformats.org/drawingml/2006/main">
              <a:ext uri="{FF2B5EF4-FFF2-40B4-BE49-F238E27FC236}">
                <a16:creationId xmlns:a16="http://schemas.microsoft.com/office/drawing/2014/main" id="{4BE4F9C6-CE55-4F38-999F-03F59238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10100"/>
            <a:ext cx="693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Digital signature services supporting business customers</a:t>
            </a:r>
          </a:p>
        </p:txBody>
      </p:sp>
      <p:sp>
        <p:nvSpPr>
          <p:cNvPr id="26" name="government-qualification">
            <a:extLst xmlns:a="http://schemas.openxmlformats.org/drawingml/2006/main">
              <a:ext uri="{FF2B5EF4-FFF2-40B4-BE49-F238E27FC236}">
                <a16:creationId xmlns:a16="http://schemas.microsoft.com/office/drawing/2014/main" id="{07E2669E-4D83-4621-B5CF-7CC177FF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782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overnment-qualification-text">
            <a:extLst xmlns:a="http://schemas.openxmlformats.org/drawingml/2006/main">
              <a:ext uri="{FF2B5EF4-FFF2-40B4-BE49-F238E27FC236}">
                <a16:creationId xmlns:a16="http://schemas.microsoft.com/office/drawing/2014/main" id="{4E967A20-0B3B-4F69-8E3E-C6DAACFE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1017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INTERNAL REFERENCE SET. VERIFY CURRENT APPROVAL AND EXTERNAL USAGE RIGHTS.</a:t>
            </a:r>
          </a:p>
        </p:txBody>
      </p:sp>
    </p:spTree>
    <p:extLst>
      <p:ext uri="{BB962C8B-B14F-4D97-AF65-F5344CB8AC3E}">
        <p14:creationId xmlns:p14="http://schemas.microsoft.com/office/powerpoint/2010/main" val="11788870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d578a50dc44a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CF7AEA-83C2-4BE8-9674-3847B648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22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830B32F3-4AC0-4111-9752-E43BB632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FC2A8325-8A42-4AE7-BAAA-3F4BBA6E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EXPERIENCE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A0A8B09D-7FAA-487E-ACF9-BB719145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252380-F247-487B-8E4F-48621620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Enterprise, security, and trust ecosystem</a:t>
            </a:r>
          </a:p>
        </p:txBody>
      </p:sp>
      <p:sp>
        <p:nvSpPr>
          <p:cNvPr id="7" name="enterprise-side">
            <a:extLst xmlns:a="http://schemas.openxmlformats.org/drawingml/2006/main">
              <a:ext uri="{FF2B5EF4-FFF2-40B4-BE49-F238E27FC236}">
                <a16:creationId xmlns:a16="http://schemas.microsoft.com/office/drawing/2014/main" id="{27AECDFD-B224-46F5-8821-27155116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49530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3516A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8" name="enterprise-label">
            <a:extLst xmlns:a="http://schemas.openxmlformats.org/drawingml/2006/main">
              <a:ext uri="{FF2B5EF4-FFF2-40B4-BE49-F238E27FC236}">
                <a16:creationId xmlns:a16="http://schemas.microsoft.com/office/drawing/2014/main" id="{EECFB6E3-AA42-4781-A0C6-F187DFBF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ENTERPRISE REFERENCES</a:t>
            </a:r>
          </a:p>
        </p:txBody>
      </p:sp>
      <p:sp>
        <p:nvSpPr>
          <p:cNvPr id="9" name="enterprise-names">
            <a:extLst xmlns:a="http://schemas.openxmlformats.org/drawingml/2006/main">
              <a:ext uri="{FF2B5EF4-FFF2-40B4-BE49-F238E27FC236}">
                <a16:creationId xmlns:a16="http://schemas.microsoft.com/office/drawing/2014/main" id="{311D15C8-7CE2-4F21-A288-D019B4CB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4191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0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RTA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0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EDGE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0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ICD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0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Emaar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02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Abu Dhabi Department of Energy</a:t>
            </a:r>
          </a:p>
        </p:txBody>
      </p:sp>
      <p:sp>
        <p:nvSpPr>
          <p:cNvPr id="10" name="trust-side">
            <a:extLst xmlns:a="http://schemas.openxmlformats.org/drawingml/2006/main">
              <a:ext uri="{FF2B5EF4-FFF2-40B4-BE49-F238E27FC236}">
                <a16:creationId xmlns:a16="http://schemas.microsoft.com/office/drawing/2014/main" id="{DB3A85F6-01BB-40DA-BFA9-1DD2E314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50673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ust-label">
            <a:extLst xmlns:a="http://schemas.openxmlformats.org/drawingml/2006/main">
              <a:ext uri="{FF2B5EF4-FFF2-40B4-BE49-F238E27FC236}">
                <a16:creationId xmlns:a16="http://schemas.microsoft.com/office/drawing/2014/main" id="{8DA31BC6-0773-49D4-BB9E-D096BAB6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SECURITY AND TRUST FRAMEWORK CITED IN SOURCE</a:t>
            </a:r>
          </a:p>
        </p:txBody>
      </p:sp>
      <p:sp>
        <p:nvSpPr>
          <p:cNvPr id="12" name="trust-framework">
            <a:extLst xmlns:a="http://schemas.openxmlformats.org/drawingml/2006/main">
              <a:ext uri="{FF2B5EF4-FFF2-40B4-BE49-F238E27FC236}">
                <a16:creationId xmlns:a16="http://schemas.microsoft.com/office/drawing/2014/main" id="{71C7935A-9FCB-4C1E-97B7-F05C0169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09900"/>
            <a:ext cx="4381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ISO 27001 and ISO 9001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UAE digital trust and TDRA requirements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eIDAS-compatible trust services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Adobe Approved Trust List ecosystem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Enterprise security and audit controls</a:t>
            </a:r>
          </a:p>
        </p:txBody>
      </p:sp>
      <p:sp>
        <p:nvSpPr>
          <p:cNvPr id="13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1A1AF584-CE32-46FA-B8ED-ED2686BE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keaway">
            <a:extLst xmlns:a="http://schemas.openxmlformats.org/drawingml/2006/main">
              <a:ext uri="{FF2B5EF4-FFF2-40B4-BE49-F238E27FC236}">
                <a16:creationId xmlns:a16="http://schemas.microsoft.com/office/drawing/2014/main" id="{078C489E-9264-4C1D-A3F9-92EAAE1D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Verify exact approved wording, current status, and customer-reference permissions before external use.</a:t>
            </a:r>
          </a:p>
        </p:txBody>
      </p:sp>
    </p:spTree>
    <p:extLst>
      <p:ext uri="{BB962C8B-B14F-4D97-AF65-F5344CB8AC3E}">
        <p14:creationId xmlns:p14="http://schemas.microsoft.com/office/powerpoint/2010/main" val="18179210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4a2fa67204fe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FDB95C-B692-4C17-A469-2DF80C0C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61488C41-24B7-4403-8336-354448AB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CC5278D4-D1B0-470C-8963-860B12DE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AGENTIC TRUSTED EXECUTION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4A665F50-78B4-4AD8-9D33-483DE26A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9E98C1-B19F-436C-8F9D-6F431282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Agentic systems change who can initiate action</a:t>
            </a:r>
          </a:p>
        </p:txBody>
      </p:sp>
      <p:sp>
        <p:nvSpPr>
          <p:cNvPr id="7" name="agentic-spine">
            <a:extLst xmlns:a="http://schemas.openxmlformats.org/drawingml/2006/main">
              <a:ext uri="{FF2B5EF4-FFF2-40B4-BE49-F238E27FC236}">
                <a16:creationId xmlns:a16="http://schemas.microsoft.com/office/drawing/2014/main" id="{6F8C6914-E9E8-4217-9A85-3042F23C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038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gentic-1-frame">
            <a:extLst xmlns:a="http://schemas.openxmlformats.org/drawingml/2006/main">
              <a:ext uri="{FF2B5EF4-FFF2-40B4-BE49-F238E27FC236}">
                <a16:creationId xmlns:a16="http://schemas.microsoft.com/office/drawing/2014/main" id="{FF0D9454-6937-419E-A5EF-8796EEF7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9" name="agentic-1-text">
            <a:extLst xmlns:a="http://schemas.openxmlformats.org/drawingml/2006/main">
              <a:ext uri="{FF2B5EF4-FFF2-40B4-BE49-F238E27FC236}">
                <a16:creationId xmlns:a16="http://schemas.microsoft.com/office/drawing/2014/main" id="{25EF78B9-CEC2-4708-BD3A-B48D8020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0" name="agentic-title-1">
            <a:extLst xmlns:a="http://schemas.openxmlformats.org/drawingml/2006/main">
              <a:ext uri="{FF2B5EF4-FFF2-40B4-BE49-F238E27FC236}">
                <a16:creationId xmlns:a16="http://schemas.microsoft.com/office/drawing/2014/main" id="{EA83E5B4-274F-4062-BB94-981CDBEC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Digital</a:t>
            </a:r>
          </a:p>
        </p:txBody>
      </p:sp>
      <p:sp>
        <p:nvSpPr>
          <p:cNvPr id="11" name="agentic-body-1">
            <a:extLst xmlns:a="http://schemas.openxmlformats.org/drawingml/2006/main">
              <a:ext uri="{FF2B5EF4-FFF2-40B4-BE49-F238E27FC236}">
                <a16:creationId xmlns:a16="http://schemas.microsoft.com/office/drawing/2014/main" id="{A344C372-80B1-4C13-BCD8-EFC62F2C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People move information online</a:t>
            </a:r>
          </a:p>
        </p:txBody>
      </p:sp>
      <p:sp>
        <p:nvSpPr>
          <p:cNvPr id="12" name="agentic-2-frame">
            <a:extLst xmlns:a="http://schemas.openxmlformats.org/drawingml/2006/main">
              <a:ext uri="{FF2B5EF4-FFF2-40B4-BE49-F238E27FC236}">
                <a16:creationId xmlns:a16="http://schemas.microsoft.com/office/drawing/2014/main" id="{8684BD14-D338-4AF9-9387-C1E830D0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813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3" name="agentic-2-text">
            <a:extLst xmlns:a="http://schemas.openxmlformats.org/drawingml/2006/main">
              <a:ext uri="{FF2B5EF4-FFF2-40B4-BE49-F238E27FC236}">
                <a16:creationId xmlns:a16="http://schemas.microsoft.com/office/drawing/2014/main" id="{8FAFC54B-37E6-4C02-B73D-D588D13A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4" name="agentic-title-2">
            <a:extLst xmlns:a="http://schemas.openxmlformats.org/drawingml/2006/main">
              <a:ext uri="{FF2B5EF4-FFF2-40B4-BE49-F238E27FC236}">
                <a16:creationId xmlns:a16="http://schemas.microsoft.com/office/drawing/2014/main" id="{353AA193-AA99-4799-A13B-425791AE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05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Automated</a:t>
            </a:r>
          </a:p>
        </p:txBody>
      </p:sp>
      <p:sp>
        <p:nvSpPr>
          <p:cNvPr id="15" name="agentic-body-2">
            <a:extLst xmlns:a="http://schemas.openxmlformats.org/drawingml/2006/main">
              <a:ext uri="{FF2B5EF4-FFF2-40B4-BE49-F238E27FC236}">
                <a16:creationId xmlns:a16="http://schemas.microsoft.com/office/drawing/2014/main" id="{7B17A46C-D6A7-471D-8DA5-E15E1C3C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148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Systems execute repeatable rules</a:t>
            </a:r>
          </a:p>
        </p:txBody>
      </p:sp>
      <p:sp>
        <p:nvSpPr>
          <p:cNvPr id="16" name="agentic-3-frame">
            <a:extLst xmlns:a="http://schemas.openxmlformats.org/drawingml/2006/main">
              <a:ext uri="{FF2B5EF4-FFF2-40B4-BE49-F238E27FC236}">
                <a16:creationId xmlns:a16="http://schemas.microsoft.com/office/drawing/2014/main" id="{58BE5864-1B54-4928-8842-F63991E3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813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7" name="agentic-3-text">
            <a:extLst xmlns:a="http://schemas.openxmlformats.org/drawingml/2006/main">
              <a:ext uri="{FF2B5EF4-FFF2-40B4-BE49-F238E27FC236}">
                <a16:creationId xmlns:a16="http://schemas.microsoft.com/office/drawing/2014/main" id="{8C6D3EC4-E710-405E-9BF9-04D3E47D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956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8" name="agentic-title-3">
            <a:extLst xmlns:a="http://schemas.openxmlformats.org/drawingml/2006/main">
              <a:ext uri="{FF2B5EF4-FFF2-40B4-BE49-F238E27FC236}">
                <a16:creationId xmlns:a16="http://schemas.microsoft.com/office/drawing/2014/main" id="{672A852A-6C81-48CF-899E-14FFB811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 assisted</a:t>
            </a:r>
          </a:p>
        </p:txBody>
      </p:sp>
      <p:sp>
        <p:nvSpPr>
          <p:cNvPr id="19" name="agentic-body-3">
            <a:extLst xmlns:a="http://schemas.openxmlformats.org/drawingml/2006/main">
              <a:ext uri="{FF2B5EF4-FFF2-40B4-BE49-F238E27FC236}">
                <a16:creationId xmlns:a16="http://schemas.microsoft.com/office/drawing/2014/main" id="{3AA7A073-78CA-4B76-9637-5DB7A50A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Systems interpret and recommend</a:t>
            </a:r>
          </a:p>
        </p:txBody>
      </p:sp>
      <p:sp>
        <p:nvSpPr>
          <p:cNvPr id="20" name="agentic-4-frame">
            <a:extLst xmlns:a="http://schemas.openxmlformats.org/drawingml/2006/main">
              <a:ext uri="{FF2B5EF4-FFF2-40B4-BE49-F238E27FC236}">
                <a16:creationId xmlns:a16="http://schemas.microsoft.com/office/drawing/2014/main" id="{6A99DFF0-142D-4E10-A828-404948DB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813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21" name="agentic-4-text">
            <a:extLst xmlns:a="http://schemas.openxmlformats.org/drawingml/2006/main">
              <a:ext uri="{FF2B5EF4-FFF2-40B4-BE49-F238E27FC236}">
                <a16:creationId xmlns:a16="http://schemas.microsoft.com/office/drawing/2014/main" id="{5F298286-F235-46F6-9B39-612BD3AD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956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2" name="agentic-title-4">
            <a:extLst xmlns:a="http://schemas.openxmlformats.org/drawingml/2006/main">
              <a:ext uri="{FF2B5EF4-FFF2-40B4-BE49-F238E27FC236}">
                <a16:creationId xmlns:a16="http://schemas.microsoft.com/office/drawing/2014/main" id="{489F7B6F-6079-447A-ADEF-D35E09D8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05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Agentic</a:t>
            </a:r>
          </a:p>
        </p:txBody>
      </p:sp>
      <p:sp>
        <p:nvSpPr>
          <p:cNvPr id="23" name="agentic-body-4">
            <a:extLst xmlns:a="http://schemas.openxmlformats.org/drawingml/2006/main">
              <a:ext uri="{FF2B5EF4-FFF2-40B4-BE49-F238E27FC236}">
                <a16:creationId xmlns:a16="http://schemas.microsoft.com/office/drawing/2014/main" id="{53C33100-92AC-46D1-91DD-6C16D278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148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6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Software initiates trusted actions</a:t>
            </a:r>
          </a:p>
        </p:txBody>
      </p:sp>
      <p:sp>
        <p:nvSpPr>
          <p:cNvPr id="24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FB9478F2-32BA-42A8-918A-9763E7B1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F2E26225-1DBD-4609-9E10-F31DD8DE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As autonomy increases, the burden of institutional control increases.</a:t>
            </a:r>
          </a:p>
        </p:txBody>
      </p:sp>
    </p:spTree>
    <p:extLst>
      <p:ext uri="{BB962C8B-B14F-4D97-AF65-F5344CB8AC3E}">
        <p14:creationId xmlns:p14="http://schemas.microsoft.com/office/powerpoint/2010/main" val="179726656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dedb1fb714c05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9D92A8F-75B3-46C3-8468-3648A513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24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DBC7A956-8883-4C73-9C20-F1FBD053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31EF6A00-937C-4E61-99B3-913E13D5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AGENTIC TRUSTED EXECUTION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611EC967-C62A-457B-9BC3-6E439409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293BA2-E717-4901-9ACE-94CC3109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Intelligence and authority answer different questions</a:t>
            </a:r>
          </a:p>
        </p:txBody>
      </p:sp>
      <p:sp>
        <p:nvSpPr>
          <p:cNvPr id="7" name="intelligence-frame">
            <a:extLst xmlns:a="http://schemas.openxmlformats.org/drawingml/2006/main">
              <a:ext uri="{FF2B5EF4-FFF2-40B4-BE49-F238E27FC236}">
                <a16:creationId xmlns:a16="http://schemas.microsoft.com/office/drawing/2014/main" id="{A7D743D4-0414-4D6C-83D2-2F57C144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398145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telligence-label">
            <a:extLst xmlns:a="http://schemas.openxmlformats.org/drawingml/2006/main">
              <a:ext uri="{FF2B5EF4-FFF2-40B4-BE49-F238E27FC236}">
                <a16:creationId xmlns:a16="http://schemas.microsoft.com/office/drawing/2014/main" id="{D0ABFBB7-BF25-46FE-A576-276E42E9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INTELLIGENCE</a:t>
            </a:r>
          </a:p>
        </p:txBody>
      </p:sp>
      <p:sp>
        <p:nvSpPr>
          <p:cNvPr id="9" name="intelligence-title">
            <a:extLst xmlns:a="http://schemas.openxmlformats.org/drawingml/2006/main">
              <a:ext uri="{FF2B5EF4-FFF2-40B4-BE49-F238E27FC236}">
                <a16:creationId xmlns:a16="http://schemas.microsoft.com/office/drawing/2014/main" id="{E091B438-1B66-43AD-A05A-6B336738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An AI agent may determine what should happen.</a:t>
            </a:r>
          </a:p>
        </p:txBody>
      </p:sp>
      <p:sp>
        <p:nvSpPr>
          <p:cNvPr id="10" name="authority-thesis">
            <a:extLst xmlns:a="http://schemas.openxmlformats.org/drawingml/2006/main">
              <a:ext uri="{FF2B5EF4-FFF2-40B4-BE49-F238E27FC236}">
                <a16:creationId xmlns:a16="http://schemas.microsoft.com/office/drawing/2014/main" id="{25604FF7-C8AB-4E34-997B-DA8D9A13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Institutional authority determines whether it may execute.</a:t>
            </a:r>
          </a:p>
        </p:txBody>
      </p:sp>
      <p:sp>
        <p:nvSpPr>
          <p:cNvPr id="11" name="authority-question-1">
            <a:extLst xmlns:a="http://schemas.openxmlformats.org/drawingml/2006/main">
              <a:ext uri="{FF2B5EF4-FFF2-40B4-BE49-F238E27FC236}">
                <a16:creationId xmlns:a16="http://schemas.microsoft.com/office/drawing/2014/main" id="{3DB586F3-66B4-4422-9DAF-E15BD49C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47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ACTOR</a:t>
            </a:r>
          </a:p>
        </p:txBody>
      </p:sp>
      <p:sp>
        <p:nvSpPr>
          <p:cNvPr id="12" name="authority-question-body-1">
            <a:extLst xmlns:a="http://schemas.openxmlformats.org/drawingml/2006/main">
              <a:ext uri="{FF2B5EF4-FFF2-40B4-BE49-F238E27FC236}">
                <a16:creationId xmlns:a16="http://schemas.microsoft.com/office/drawing/2014/main" id="{FEA2CB48-CE53-4D5E-85C5-0BC7E981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19325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Who or what acted?</a:t>
            </a:r>
          </a:p>
        </p:txBody>
      </p:sp>
      <p:sp>
        <p:nvSpPr>
          <p:cNvPr id="13" name="authority-question-line-1">
            <a:extLst xmlns:a="http://schemas.openxmlformats.org/drawingml/2006/main">
              <a:ext uri="{FF2B5EF4-FFF2-40B4-BE49-F238E27FC236}">
                <a16:creationId xmlns:a16="http://schemas.microsoft.com/office/drawing/2014/main" id="{6731B817-00BF-430C-A07A-F08919BB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09850"/>
            <a:ext cx="603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uthority-question-2">
            <a:extLst xmlns:a="http://schemas.openxmlformats.org/drawingml/2006/main">
              <a:ext uri="{FF2B5EF4-FFF2-40B4-BE49-F238E27FC236}">
                <a16:creationId xmlns:a16="http://schemas.microsoft.com/office/drawing/2014/main" id="{8BCB1864-791C-4AEC-86A2-188005DA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717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REPRESENTATION</a:t>
            </a:r>
          </a:p>
        </p:txBody>
      </p:sp>
      <p:sp>
        <p:nvSpPr>
          <p:cNvPr id="15" name="authority-question-body-2">
            <a:extLst xmlns:a="http://schemas.openxmlformats.org/drawingml/2006/main">
              <a:ext uri="{FF2B5EF4-FFF2-40B4-BE49-F238E27FC236}">
                <a16:creationId xmlns:a16="http://schemas.microsoft.com/office/drawing/2014/main" id="{7F74A4E6-F768-4375-B631-10F3E81B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4320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Whom did the actor represent?</a:t>
            </a:r>
          </a:p>
        </p:txBody>
      </p:sp>
      <p:sp>
        <p:nvSpPr>
          <p:cNvPr id="16" name="authority-question-line-2">
            <a:extLst xmlns:a="http://schemas.openxmlformats.org/drawingml/2006/main">
              <a:ext uri="{FF2B5EF4-FFF2-40B4-BE49-F238E27FC236}">
                <a16:creationId xmlns:a16="http://schemas.microsoft.com/office/drawing/2014/main" id="{89A48059-D1DC-4A3E-BCC9-2065AF66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33725"/>
            <a:ext cx="603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uthority-question-3">
            <a:extLst xmlns:a="http://schemas.openxmlformats.org/drawingml/2006/main">
              <a:ext uri="{FF2B5EF4-FFF2-40B4-BE49-F238E27FC236}">
                <a16:creationId xmlns:a16="http://schemas.microsoft.com/office/drawing/2014/main" id="{1D21FAC6-9215-46BD-AB2A-33057E22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95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AUTHORITY</a:t>
            </a:r>
          </a:p>
        </p:txBody>
      </p:sp>
      <p:sp>
        <p:nvSpPr>
          <p:cNvPr id="18" name="authority-question-body-3">
            <a:extLst xmlns:a="http://schemas.openxmlformats.org/drawingml/2006/main">
              <a:ext uri="{FF2B5EF4-FFF2-40B4-BE49-F238E27FC236}">
                <a16:creationId xmlns:a16="http://schemas.microsoft.com/office/drawing/2014/main" id="{6659767B-4561-4013-90E2-756119EC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67075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Did the mandate permit the action?</a:t>
            </a:r>
          </a:p>
        </p:txBody>
      </p:sp>
      <p:sp>
        <p:nvSpPr>
          <p:cNvPr id="19" name="authority-question-line-3">
            <a:extLst xmlns:a="http://schemas.openxmlformats.org/drawingml/2006/main">
              <a:ext uri="{FF2B5EF4-FFF2-40B4-BE49-F238E27FC236}">
                <a16:creationId xmlns:a16="http://schemas.microsoft.com/office/drawing/2014/main" id="{5C213746-E98C-47B6-B444-9579AED2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57600"/>
            <a:ext cx="603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uthority-question-4">
            <a:extLst xmlns:a="http://schemas.openxmlformats.org/drawingml/2006/main">
              <a:ext uri="{FF2B5EF4-FFF2-40B4-BE49-F238E27FC236}">
                <a16:creationId xmlns:a16="http://schemas.microsoft.com/office/drawing/2014/main" id="{6CE2B7DD-CFA1-40DF-A986-4A28D8A8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APPROVAL</a:t>
            </a:r>
          </a:p>
        </p:txBody>
      </p:sp>
      <p:sp>
        <p:nvSpPr>
          <p:cNvPr id="21" name="authority-question-body-4">
            <a:extLst xmlns:a="http://schemas.openxmlformats.org/drawingml/2006/main">
              <a:ext uri="{FF2B5EF4-FFF2-40B4-BE49-F238E27FC236}">
                <a16:creationId xmlns:a16="http://schemas.microsoft.com/office/drawing/2014/main" id="{A1AE94E5-2BC9-4F3C-8199-344C1DCE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9095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What decision allowed execution?</a:t>
            </a:r>
          </a:p>
        </p:txBody>
      </p:sp>
      <p:sp>
        <p:nvSpPr>
          <p:cNvPr id="22" name="authority-question-line-4">
            <a:extLst xmlns:a="http://schemas.openxmlformats.org/drawingml/2006/main">
              <a:ext uri="{FF2B5EF4-FFF2-40B4-BE49-F238E27FC236}">
                <a16:creationId xmlns:a16="http://schemas.microsoft.com/office/drawing/2014/main" id="{69E20187-B323-48C5-BFA5-0887E0A8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81475"/>
            <a:ext cx="603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uthority-question-5">
            <a:extLst xmlns:a="http://schemas.openxmlformats.org/drawingml/2006/main">
              <a:ext uri="{FF2B5EF4-FFF2-40B4-BE49-F238E27FC236}">
                <a16:creationId xmlns:a16="http://schemas.microsoft.com/office/drawing/2014/main" id="{2BA5C1EA-3D17-4729-B5AA-A784857F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43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EXECUTION</a:t>
            </a:r>
          </a:p>
        </p:txBody>
      </p:sp>
      <p:sp>
        <p:nvSpPr>
          <p:cNvPr id="24" name="authority-question-body-5">
            <a:extLst xmlns:a="http://schemas.openxmlformats.org/drawingml/2006/main">
              <a:ext uri="{FF2B5EF4-FFF2-40B4-BE49-F238E27FC236}">
                <a16:creationId xmlns:a16="http://schemas.microsoft.com/office/drawing/2014/main" id="{A3F3C069-6FCE-4DE0-9B91-AC4E1E1D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14825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What actually happened?</a:t>
            </a:r>
          </a:p>
        </p:txBody>
      </p:sp>
      <p:sp>
        <p:nvSpPr>
          <p:cNvPr id="25" name="authority-question-line-5">
            <a:extLst xmlns:a="http://schemas.openxmlformats.org/drawingml/2006/main">
              <a:ext uri="{FF2B5EF4-FFF2-40B4-BE49-F238E27FC236}">
                <a16:creationId xmlns:a16="http://schemas.microsoft.com/office/drawing/2014/main" id="{9127EB9E-0ECE-480F-8311-F16BFD80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705350"/>
            <a:ext cx="603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uthority-question-6">
            <a:extLst xmlns:a="http://schemas.openxmlformats.org/drawingml/2006/main">
              <a:ext uri="{FF2B5EF4-FFF2-40B4-BE49-F238E27FC236}">
                <a16:creationId xmlns:a16="http://schemas.microsoft.com/office/drawing/2014/main" id="{A22F0578-8F75-47F1-8829-09FB7D08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8672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7" name="authority-question-body-6">
            <a:extLst xmlns:a="http://schemas.openxmlformats.org/drawingml/2006/main">
              <a:ext uri="{FF2B5EF4-FFF2-40B4-BE49-F238E27FC236}">
                <a16:creationId xmlns:a16="http://schemas.microsoft.com/office/drawing/2014/main" id="{5DB48B62-37E7-49AD-A53B-87264F23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3870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What remains provable?</a:t>
            </a:r>
          </a:p>
        </p:txBody>
      </p:sp>
      <p:sp>
        <p:nvSpPr>
          <p:cNvPr id="28" name="authority-question-line-6">
            <a:extLst xmlns:a="http://schemas.openxmlformats.org/drawingml/2006/main">
              <a:ext uri="{FF2B5EF4-FFF2-40B4-BE49-F238E27FC236}">
                <a16:creationId xmlns:a16="http://schemas.microsoft.com/office/drawing/2014/main" id="{2B666482-1FBA-40CB-94FC-CC773495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229225"/>
            <a:ext cx="603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9D740047-9569-47E1-98BA-9E0CE361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keaway">
            <a:extLst xmlns:a="http://schemas.openxmlformats.org/drawingml/2006/main">
              <a:ext uri="{FF2B5EF4-FFF2-40B4-BE49-F238E27FC236}">
                <a16:creationId xmlns:a16="http://schemas.microsoft.com/office/drawing/2014/main" id="{8B427B00-0C78-4A40-979C-E442D99F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Intelligence can recommend an action. Authority determines whether it may execute.</a:t>
            </a:r>
          </a:p>
        </p:txBody>
      </p:sp>
    </p:spTree>
    <p:extLst>
      <p:ext uri="{BB962C8B-B14F-4D97-AF65-F5344CB8AC3E}">
        <p14:creationId xmlns:p14="http://schemas.microsoft.com/office/powerpoint/2010/main" val="21463454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6c9fcbdad419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1C5A484-A7A7-4683-9D2C-E3F4EA95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461CF09D-A671-4238-B408-048C868A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E8DFC010-A809-448F-B09F-8CFC06BA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AGENTIC TRUSTED EXECUTION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32B368C0-B144-4853-89DE-044C17D1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81F8FC-5E6F-44C6-B12B-5FBC5C80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 governs the execution boundary</a:t>
            </a:r>
          </a:p>
        </p:txBody>
      </p:sp>
      <p:sp>
        <p:nvSpPr>
          <p:cNvPr id="7" name="boundary-actor-1">
            <a:extLst xmlns:a="http://schemas.openxmlformats.org/drawingml/2006/main">
              <a:ext uri="{FF2B5EF4-FFF2-40B4-BE49-F238E27FC236}">
                <a16:creationId xmlns:a16="http://schemas.microsoft.com/office/drawing/2014/main" id="{F6C3B20D-E803-4D07-AD94-025F170E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09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8" name="boundary-actor-label-1">
            <a:extLst xmlns:a="http://schemas.openxmlformats.org/drawingml/2006/main">
              <a:ext uri="{FF2B5EF4-FFF2-40B4-BE49-F238E27FC236}">
                <a16:creationId xmlns:a16="http://schemas.microsoft.com/office/drawing/2014/main" id="{7E78EC2F-0198-40CD-A301-E4D5F946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People</a:t>
            </a:r>
          </a:p>
        </p:txBody>
      </p:sp>
      <p:sp>
        <p:nvSpPr>
          <p:cNvPr id="9" name="boundary-actor-drop-1">
            <a:extLst xmlns:a="http://schemas.openxmlformats.org/drawingml/2006/main">
              <a:ext uri="{FF2B5EF4-FFF2-40B4-BE49-F238E27FC236}">
                <a16:creationId xmlns:a16="http://schemas.microsoft.com/office/drawing/2014/main" id="{2216992F-5262-4251-879C-12EF3E6D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7432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undary-actor-2">
            <a:extLst xmlns:a="http://schemas.openxmlformats.org/drawingml/2006/main">
              <a:ext uri="{FF2B5EF4-FFF2-40B4-BE49-F238E27FC236}">
                <a16:creationId xmlns:a16="http://schemas.microsoft.com/office/drawing/2014/main" id="{67EA8AEF-968E-49D2-8E42-6F70E33F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52650"/>
            <a:ext cx="209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11" name="boundary-actor-label-2">
            <a:extLst xmlns:a="http://schemas.openxmlformats.org/drawingml/2006/main">
              <a:ext uri="{FF2B5EF4-FFF2-40B4-BE49-F238E27FC236}">
                <a16:creationId xmlns:a16="http://schemas.microsoft.com/office/drawing/2014/main" id="{62773644-7F74-4167-918D-31795994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43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Organizations</a:t>
            </a:r>
          </a:p>
        </p:txBody>
      </p:sp>
      <p:sp>
        <p:nvSpPr>
          <p:cNvPr id="12" name="boundary-actor-drop-2">
            <a:extLst xmlns:a="http://schemas.openxmlformats.org/drawingml/2006/main">
              <a:ext uri="{FF2B5EF4-FFF2-40B4-BE49-F238E27FC236}">
                <a16:creationId xmlns:a16="http://schemas.microsoft.com/office/drawing/2014/main" id="{6E203934-4343-4885-B25D-4B830F08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432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undary-actor-3">
            <a:extLst xmlns:a="http://schemas.openxmlformats.org/drawingml/2006/main">
              <a:ext uri="{FF2B5EF4-FFF2-40B4-BE49-F238E27FC236}">
                <a16:creationId xmlns:a16="http://schemas.microsoft.com/office/drawing/2014/main" id="{CD35A679-6D71-4FED-AE81-735F4695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52650"/>
            <a:ext cx="209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14" name="boundary-actor-label-3">
            <a:extLst xmlns:a="http://schemas.openxmlformats.org/drawingml/2006/main">
              <a:ext uri="{FF2B5EF4-FFF2-40B4-BE49-F238E27FC236}">
                <a16:creationId xmlns:a16="http://schemas.microsoft.com/office/drawing/2014/main" id="{C6E91EAA-063C-434D-BAF4-E6527A8E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Applications</a:t>
            </a:r>
          </a:p>
        </p:txBody>
      </p:sp>
      <p:sp>
        <p:nvSpPr>
          <p:cNvPr id="15" name="boundary-actor-drop-3">
            <a:extLst xmlns:a="http://schemas.openxmlformats.org/drawingml/2006/main">
              <a:ext uri="{FF2B5EF4-FFF2-40B4-BE49-F238E27FC236}">
                <a16:creationId xmlns:a16="http://schemas.microsoft.com/office/drawing/2014/main" id="{BC2D95A2-D1DF-49F4-8871-F92F9772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432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undary-actor-4">
            <a:extLst xmlns:a="http://schemas.openxmlformats.org/drawingml/2006/main">
              <a:ext uri="{FF2B5EF4-FFF2-40B4-BE49-F238E27FC236}">
                <a16:creationId xmlns:a16="http://schemas.microsoft.com/office/drawing/2014/main" id="{2D71CBA6-DB90-4751-AB26-A3B04036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209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17" name="boundary-actor-label-4">
            <a:extLst xmlns:a="http://schemas.openxmlformats.org/drawingml/2006/main">
              <a:ext uri="{FF2B5EF4-FFF2-40B4-BE49-F238E27FC236}">
                <a16:creationId xmlns:a16="http://schemas.microsoft.com/office/drawing/2014/main" id="{14130CF9-208E-4E7D-AA11-62BCFAFA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 agents</a:t>
            </a:r>
          </a:p>
        </p:txBody>
      </p:sp>
      <p:sp>
        <p:nvSpPr>
          <p:cNvPr id="18" name="boundary-actor-drop-4">
            <a:extLst xmlns:a="http://schemas.openxmlformats.org/drawingml/2006/main">
              <a:ext uri="{FF2B5EF4-FFF2-40B4-BE49-F238E27FC236}">
                <a16:creationId xmlns:a16="http://schemas.microsoft.com/office/drawing/2014/main" id="{E981D0C5-041C-4734-8FD1-0184B16E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7432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xecution-layer">
            <a:extLst xmlns:a="http://schemas.openxmlformats.org/drawingml/2006/main">
              <a:ext uri="{FF2B5EF4-FFF2-40B4-BE49-F238E27FC236}">
                <a16:creationId xmlns:a16="http://schemas.microsoft.com/office/drawing/2014/main" id="{D232A8BE-E9F7-4C4C-95C8-720E3F07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10782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xecution-layer-title">
            <a:extLst xmlns:a="http://schemas.openxmlformats.org/drawingml/2006/main">
              <a:ext uri="{FF2B5EF4-FFF2-40B4-BE49-F238E27FC236}">
                <a16:creationId xmlns:a16="http://schemas.microsoft.com/office/drawing/2014/main" id="{1453523A-9759-4D66-B507-C9E918D4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1002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TRUSTED EXECUTION LAYER</a:t>
            </a:r>
          </a:p>
        </p:txBody>
      </p:sp>
      <p:sp>
        <p:nvSpPr>
          <p:cNvPr id="21" name="execution-layer-controls">
            <a:extLst xmlns:a="http://schemas.openxmlformats.org/drawingml/2006/main">
              <a:ext uri="{FF2B5EF4-FFF2-40B4-BE49-F238E27FC236}">
                <a16:creationId xmlns:a16="http://schemas.microsoft.com/office/drawing/2014/main" id="{B22CD2D2-F901-4840-B95F-4907BB44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1002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 / AUTHORITY / POLICY / APPROVAL / TRUST SERVICES / EXECUTION / EVIDENCE / AUDIT</a:t>
            </a:r>
          </a:p>
        </p:txBody>
      </p:sp>
      <p:sp>
        <p:nvSpPr>
          <p:cNvPr id="22" name="boundary-output-drop">
            <a:extLst xmlns:a="http://schemas.openxmlformats.org/drawingml/2006/main">
              <a:ext uri="{FF2B5EF4-FFF2-40B4-BE49-F238E27FC236}">
                <a16:creationId xmlns:a16="http://schemas.microsoft.com/office/drawing/2014/main" id="{39B55D1F-386F-462D-A656-308F62E4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343400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undary-action">
            <a:extLst xmlns:a="http://schemas.openxmlformats.org/drawingml/2006/main">
              <a:ext uri="{FF2B5EF4-FFF2-40B4-BE49-F238E27FC236}">
                <a16:creationId xmlns:a16="http://schemas.microsoft.com/office/drawing/2014/main" id="{80761C10-8B24-4626-940E-D37C72B7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81550"/>
            <a:ext cx="3143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undary-action-title">
            <a:extLst xmlns:a="http://schemas.openxmlformats.org/drawingml/2006/main">
              <a:ext uri="{FF2B5EF4-FFF2-40B4-BE49-F238E27FC236}">
                <a16:creationId xmlns:a16="http://schemas.microsoft.com/office/drawing/2014/main" id="{C7942189-E421-4C93-9F07-00EAB158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530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TRUSTED BUSINESS ACTION</a:t>
            </a:r>
          </a:p>
        </p:txBody>
      </p:sp>
      <p:sp>
        <p:nvSpPr>
          <p:cNvPr id="25" name="boundary-record">
            <a:extLst xmlns:a="http://schemas.openxmlformats.org/drawingml/2006/main">
              <a:ext uri="{FF2B5EF4-FFF2-40B4-BE49-F238E27FC236}">
                <a16:creationId xmlns:a16="http://schemas.microsoft.com/office/drawing/2014/main" id="{811F011F-7A4C-410A-B5A6-5B96BDA0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81550"/>
            <a:ext cx="3143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C9AEFF"/>
            </a:solidFill>
            <a:prstDash val="solid"/>
          </a:ln>
        </p:spPr>
      </p:sp>
      <p:sp>
        <p:nvSpPr>
          <p:cNvPr id="26" name="boundary-record-title">
            <a:extLst xmlns:a="http://schemas.openxmlformats.org/drawingml/2006/main">
              <a:ext uri="{FF2B5EF4-FFF2-40B4-BE49-F238E27FC236}">
                <a16:creationId xmlns:a16="http://schemas.microsoft.com/office/drawing/2014/main" id="{CB7CEBDB-24BB-4D73-9BB2-0F0818BD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RECORD AND EVIDENCE</a:t>
            </a:r>
          </a:p>
        </p:txBody>
      </p:sp>
      <p:sp>
        <p:nvSpPr>
          <p:cNvPr id="27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A27EBA2B-7F40-4C49-8FD5-E429992B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keaway">
            <a:extLst xmlns:a="http://schemas.openxmlformats.org/drawingml/2006/main">
              <a:ext uri="{FF2B5EF4-FFF2-40B4-BE49-F238E27FC236}">
                <a16:creationId xmlns:a16="http://schemas.microsoft.com/office/drawing/2014/main" id="{4F7A93E6-7C01-4AA1-BC86-7042BDC5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 governs permitted action, execution, and the evidence retained afterwards.</a:t>
            </a:r>
          </a:p>
        </p:txBody>
      </p:sp>
    </p:spTree>
    <p:extLst>
      <p:ext uri="{BB962C8B-B14F-4D97-AF65-F5344CB8AC3E}">
        <p14:creationId xmlns:p14="http://schemas.microsoft.com/office/powerpoint/2010/main" val="47547726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0a5fc843d4f09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7B978AA-B4F0-4667-80F7-B51E7A22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26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9D7FAAF9-E280-4449-B1E6-1516A703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09ECF4B1-3377-41E5-8288-713EF7D1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POSITIONING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189F7CCC-AC93-474C-8754-099911AA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4EBD53-5B5A-4B40-A7C1-6D298C94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9906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The Circularo proposition</a:t>
            </a:r>
          </a:p>
        </p:txBody>
      </p:sp>
      <p:sp>
        <p:nvSpPr>
          <p:cNvPr id="7" name="proposition-1-label">
            <a:extLst xmlns:a="http://schemas.openxmlformats.org/drawingml/2006/main">
              <a:ext uri="{FF2B5EF4-FFF2-40B4-BE49-F238E27FC236}">
                <a16:creationId xmlns:a16="http://schemas.microsoft.com/office/drawing/2014/main" id="{80DF140E-4B5F-4BCC-B2B0-DE8FC526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COMPANY</a:t>
            </a:r>
          </a:p>
        </p:txBody>
      </p:sp>
      <p:sp>
        <p:nvSpPr>
          <p:cNvPr id="8" name="proposition-1-body">
            <a:extLst xmlns:a="http://schemas.openxmlformats.org/drawingml/2006/main">
              <a:ext uri="{FF2B5EF4-FFF2-40B4-BE49-F238E27FC236}">
                <a16:creationId xmlns:a16="http://schemas.microsoft.com/office/drawing/2014/main" id="{7C0BC12C-F4A1-4472-981E-5A93B401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24075"/>
            <a:ext cx="8915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 Digital Trust and Trusted Execution technology company for enterprises, governments, and digital services</a:t>
            </a:r>
          </a:p>
        </p:txBody>
      </p:sp>
      <p:sp>
        <p:nvSpPr>
          <p:cNvPr id="9" name="proposition-line-1">
            <a:extLst xmlns:a="http://schemas.openxmlformats.org/drawingml/2006/main">
              <a:ext uri="{FF2B5EF4-FFF2-40B4-BE49-F238E27FC236}">
                <a16:creationId xmlns:a16="http://schemas.microsoft.com/office/drawing/2014/main" id="{B733E15F-234A-485E-90EC-8D1DC87B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position-2-label">
            <a:extLst xmlns:a="http://schemas.openxmlformats.org/drawingml/2006/main">
              <a:ext uri="{FF2B5EF4-FFF2-40B4-BE49-F238E27FC236}">
                <a16:creationId xmlns:a16="http://schemas.microsoft.com/office/drawing/2014/main" id="{080D5350-E760-4CD5-BC9E-2CAAA1A6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PLATFORM</a:t>
            </a:r>
          </a:p>
        </p:txBody>
      </p:sp>
      <p:sp>
        <p:nvSpPr>
          <p:cNvPr id="11" name="proposition-2-body">
            <a:extLst xmlns:a="http://schemas.openxmlformats.org/drawingml/2006/main">
              <a:ext uri="{FF2B5EF4-FFF2-40B4-BE49-F238E27FC236}">
                <a16:creationId xmlns:a16="http://schemas.microsoft.com/office/drawing/2014/main" id="{CBEB0F6B-7FD6-4E69-9078-9DD732D5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62275"/>
            <a:ext cx="8915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 Trust Orchestration Platform connecting content, authority, trust services, evidence, and records across end-to-end processes</a:t>
            </a:r>
          </a:p>
        </p:txBody>
      </p:sp>
      <p:sp>
        <p:nvSpPr>
          <p:cNvPr id="12" name="proposition-line-2">
            <a:extLst xmlns:a="http://schemas.openxmlformats.org/drawingml/2006/main">
              <a:ext uri="{FF2B5EF4-FFF2-40B4-BE49-F238E27FC236}">
                <a16:creationId xmlns:a16="http://schemas.microsoft.com/office/drawing/2014/main" id="{CC0C5891-0A72-4356-99B5-2ACE1EE0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position-3-label">
            <a:extLst xmlns:a="http://schemas.openxmlformats.org/drawingml/2006/main">
              <a:ext uri="{FF2B5EF4-FFF2-40B4-BE49-F238E27FC236}">
                <a16:creationId xmlns:a16="http://schemas.microsoft.com/office/drawing/2014/main" id="{79D29DDA-B8E9-49F4-ACB3-68C01AE0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OUTCOME</a:t>
            </a:r>
          </a:p>
        </p:txBody>
      </p:sp>
      <p:sp>
        <p:nvSpPr>
          <p:cNvPr id="14" name="proposition-3-body">
            <a:extLst xmlns:a="http://schemas.openxmlformats.org/drawingml/2006/main">
              <a:ext uri="{FF2B5EF4-FFF2-40B4-BE49-F238E27FC236}">
                <a16:creationId xmlns:a16="http://schemas.microsoft.com/office/drawing/2014/main" id="{09BAF2FE-B128-4697-A863-7374B361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00475"/>
            <a:ext cx="8915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Trusted, compliant, and verifiable business outcomes</a:t>
            </a:r>
          </a:p>
        </p:txBody>
      </p:sp>
      <p:sp>
        <p:nvSpPr>
          <p:cNvPr id="15" name="proposition-line-3">
            <a:extLst xmlns:a="http://schemas.openxmlformats.org/drawingml/2006/main">
              <a:ext uri="{FF2B5EF4-FFF2-40B4-BE49-F238E27FC236}">
                <a16:creationId xmlns:a16="http://schemas.microsoft.com/office/drawing/2014/main" id="{44896CC7-32BC-4EE0-A2E3-5B8EBD76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B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position-4-label">
            <a:extLst xmlns:a="http://schemas.openxmlformats.org/drawingml/2006/main">
              <a:ext uri="{FF2B5EF4-FFF2-40B4-BE49-F238E27FC236}">
                <a16:creationId xmlns:a16="http://schemas.microsoft.com/office/drawing/2014/main" id="{A43E2869-FA2B-4D71-974E-37A9CA44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AGENTIC ERA</a:t>
            </a:r>
          </a:p>
        </p:txBody>
      </p:sp>
      <p:sp>
        <p:nvSpPr>
          <p:cNvPr id="17" name="proposition-4-body">
            <a:extLst xmlns:a="http://schemas.openxmlformats.org/drawingml/2006/main">
              <a:ext uri="{FF2B5EF4-FFF2-40B4-BE49-F238E27FC236}">
                <a16:creationId xmlns:a16="http://schemas.microsoft.com/office/drawing/2014/main" id="{6A495568-AF6C-4063-8EB8-B4A7405A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38675"/>
            <a:ext cx="8915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 Trusted Execution Layer for people, applications, and AI agents with verifiable authority and evidence</a:t>
            </a:r>
          </a:p>
        </p:txBody>
      </p:sp>
      <p:sp>
        <p:nvSpPr>
          <p:cNvPr id="18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8B647896-0FF7-44B5-AF42-2D9B788F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3BB9D4E5-AA42-409D-A251-60134E6A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Use this language internally. External adaptation requires approved claims and current product evidence.</a:t>
            </a:r>
          </a:p>
        </p:txBody>
      </p:sp>
    </p:spTree>
    <p:extLst>
      <p:ext uri="{BB962C8B-B14F-4D97-AF65-F5344CB8AC3E}">
        <p14:creationId xmlns:p14="http://schemas.microsoft.com/office/powerpoint/2010/main" val="10396200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2fffdeb01444e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25478D-B7AA-40C0-B7A0-DA838409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27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3F16D84C-26FB-4CCF-B7DF-D5C30251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009BDE6-6B36-47F3-B376-ABF810BD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POSITIONING</a:t>
            </a:r>
          </a:p>
        </p:txBody>
      </p:sp>
      <p:sp>
        <p:nvSpPr>
          <p:cNvPr id="5" name="internal-mark">
            <a:extLst xmlns:a="http://schemas.openxmlformats.org/drawingml/2006/main">
              <a:ext uri="{FF2B5EF4-FFF2-40B4-BE49-F238E27FC236}">
                <a16:creationId xmlns:a16="http://schemas.microsoft.com/office/drawing/2014/main" id="{E2CD6813-8874-4AF8-9CBE-D7A043AE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STRATEGY</a:t>
            </a:r>
          </a:p>
        </p:txBody>
      </p:sp>
      <p:sp>
        <p:nvSpPr>
          <p:cNvPr id="6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4E893F3B-D701-4C85-A112-B7D33034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THE POSITION WE CARRY FORWARD</a:t>
            </a:r>
          </a:p>
        </p:txBody>
      </p:sp>
      <p:sp>
        <p:nvSpPr>
          <p:cNvPr id="7" name="closing-1">
            <a:extLst xmlns:a="http://schemas.openxmlformats.org/drawingml/2006/main">
              <a:ext uri="{FF2B5EF4-FFF2-40B4-BE49-F238E27FC236}">
                <a16:creationId xmlns:a16="http://schemas.microsoft.com/office/drawing/2014/main" id="{DB1A0B6D-D810-4293-A49B-616CB473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7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orchestrates trust.</a:t>
            </a:r>
          </a:p>
        </p:txBody>
      </p:sp>
      <p:sp>
        <p:nvSpPr>
          <p:cNvPr id="8" name="closing-2">
            <a:extLst xmlns:a="http://schemas.openxmlformats.org/drawingml/2006/main">
              <a:ext uri="{FF2B5EF4-FFF2-40B4-BE49-F238E27FC236}">
                <a16:creationId xmlns:a16="http://schemas.microsoft.com/office/drawing/2014/main" id="{943CE6EB-00D2-4DAF-A66D-62DFB9DA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7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Trusted Execution is the outcome.</a:t>
            </a:r>
          </a:p>
        </p:txBody>
      </p:sp>
      <p:sp>
        <p:nvSpPr>
          <p:cNvPr id="9" name="closing-3">
            <a:extLst xmlns:a="http://schemas.openxmlformats.org/drawingml/2006/main">
              <a:ext uri="{FF2B5EF4-FFF2-40B4-BE49-F238E27FC236}">
                <a16:creationId xmlns:a16="http://schemas.microsoft.com/office/drawing/2014/main" id="{4D4F64B9-48FE-4A6E-B9D6-22B5744C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9AEFF"/>
                </a:solidFill>
                <a:latin typeface="Spartan"/>
                <a:ea typeface="Spartan"/>
                <a:cs typeface="Spartan"/>
              </a:defRPr>
            </a:pPr>
            <a:r>
              <a:rPr sz="2700" b="1">
                <a:solidFill>
                  <a:srgbClr val="C9AEFF"/>
                </a:solidFill>
                <a:latin typeface="Spartan"/>
                <a:ea typeface="Spartan"/>
                <a:cs typeface="Spartan"/>
              </a:rPr>
              <a:t>Agentic Trusted Execution is the next frontier.</a:t>
            </a:r>
          </a:p>
        </p:txBody>
      </p:sp>
      <p:sp>
        <p:nvSpPr>
          <p:cNvPr id="10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E2F4334C-E8EA-4A5F-AFC1-EEE53774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osing-guardrail-label">
            <a:extLst xmlns:a="http://schemas.openxmlformats.org/drawingml/2006/main">
              <a:ext uri="{FF2B5EF4-FFF2-40B4-BE49-F238E27FC236}">
                <a16:creationId xmlns:a16="http://schemas.microsoft.com/office/drawing/2014/main" id="{9A18A8E2-3CF7-4563-B120-7630D20A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ALIGNMENT RULE</a:t>
            </a:r>
          </a:p>
        </p:txBody>
      </p:sp>
      <p:sp>
        <p:nvSpPr>
          <p:cNvPr id="12" name="closing-guardrail">
            <a:extLst xmlns:a="http://schemas.openxmlformats.org/drawingml/2006/main">
              <a:ext uri="{FF2B5EF4-FFF2-40B4-BE49-F238E27FC236}">
                <a16:creationId xmlns:a16="http://schemas.microsoft.com/office/drawing/2014/main" id="{FE074F29-4B42-415E-83C7-C4EEF787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48250"/>
            <a:ext cx="815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Separate current capability, work in development, and strategic direction before external use.</a:t>
            </a:r>
          </a:p>
        </p:txBody>
      </p:sp>
    </p:spTree>
    <p:extLst>
      <p:ext uri="{BB962C8B-B14F-4D97-AF65-F5344CB8AC3E}">
        <p14:creationId xmlns:p14="http://schemas.microsoft.com/office/powerpoint/2010/main" val="1889498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2026-09-04T06:03:55.9400000Z</dcterms:created>
  <dcterms:modified xsi:type="dcterms:W3CDTF">2026-09-04T06:03:55.9400000Z</dcterms:modified>
</coreProperties>
</file>