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dff0817ea4988" /><Relationship Type="http://schemas.openxmlformats.org/officeDocument/2006/relationships/extended-properties" Target="/docProps/app.xml" Id="R475918f5bc2846c5" /><Relationship Type="http://schemas.openxmlformats.org/officeDocument/2006/relationships/officeDocument" Target="/ppt/presentation.xml" Id="R11dafeb9edcb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4a87fc8ed4ae2"/>
  </p:sldMasterIdLst>
  <p:notesMasterIdLst>
    <p:notesMasterId xmlns:r="http://schemas.openxmlformats.org/officeDocument/2006/relationships" r:id="R3e47fedcd1584437"/>
  </p:notesMasterIdLst>
  <p:sldIdLst>
    <p:sldId xmlns:r="http://schemas.openxmlformats.org/officeDocument/2006/relationships" id="256" r:id="Rb3d006a14f704870"/>
    <p:sldId xmlns:r="http://schemas.openxmlformats.org/officeDocument/2006/relationships" id="257" r:id="R5afec7d50d044421"/>
    <p:sldId xmlns:r="http://schemas.openxmlformats.org/officeDocument/2006/relationships" id="258" r:id="R17f50a26865c4d45"/>
    <p:sldId xmlns:r="http://schemas.openxmlformats.org/officeDocument/2006/relationships" id="259" r:id="R5557efc363ad4ef7"/>
    <p:sldId xmlns:r="http://schemas.openxmlformats.org/officeDocument/2006/relationships" id="260" r:id="R1a64aff036714280"/>
    <p:sldId xmlns:r="http://schemas.openxmlformats.org/officeDocument/2006/relationships" id="261" r:id="R6bb8631b86fd420f"/>
    <p:sldId xmlns:r="http://schemas.openxmlformats.org/officeDocument/2006/relationships" id="262" r:id="Rc2ed989b9ed0459f"/>
    <p:sldId xmlns:r="http://schemas.openxmlformats.org/officeDocument/2006/relationships" id="263" r:id="R422f3a80dc494af0"/>
    <p:sldId xmlns:r="http://schemas.openxmlformats.org/officeDocument/2006/relationships" id="264" r:id="R6d9469b33edb46dc"/>
    <p:sldId xmlns:r="http://schemas.openxmlformats.org/officeDocument/2006/relationships" id="265" r:id="Rf8e90f9d71774c2f"/>
    <p:sldId xmlns:r="http://schemas.openxmlformats.org/officeDocument/2006/relationships" id="266" r:id="R167a9c4c10e74f7b"/>
    <p:sldId xmlns:r="http://schemas.openxmlformats.org/officeDocument/2006/relationships" id="267" r:id="Re98e30d5b4374447"/>
    <p:sldId xmlns:r="http://schemas.openxmlformats.org/officeDocument/2006/relationships" id="268" r:id="R562e58a7d1334b2d"/>
    <p:sldId xmlns:r="http://schemas.openxmlformats.org/officeDocument/2006/relationships" id="269" r:id="R7d65d56d2b6d4cbd"/>
    <p:sldId xmlns:r="http://schemas.openxmlformats.org/officeDocument/2006/relationships" id="270" r:id="Re704579d9a1342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33ee4fcee4c85" /><Relationship Type="http://schemas.openxmlformats.org/officeDocument/2006/relationships/slideMaster" Target="/ppt/slideMasters/slideMaster1.xml" Id="R5cc4a87fc8ed4ae2" /><Relationship Type="http://schemas.openxmlformats.org/officeDocument/2006/relationships/notesMaster" Target="/ppt/notesMasters/notesMaster1.xml" Id="R3e47fedcd1584437" /><Relationship Type="http://schemas.openxmlformats.org/officeDocument/2006/relationships/presProps" Target="/ppt/presProps.xml" Id="Rb0d47ddf0f7a4182" /><Relationship Type="http://schemas.openxmlformats.org/officeDocument/2006/relationships/tableStyles" Target="/ppt/tableStyles.xml" Id="R555ca5eea00e4d3b" /><Relationship Type="http://schemas.openxmlformats.org/officeDocument/2006/relationships/slide" Target="/ppt/slides/slide1.xml" Id="Rb3d006a14f704870" /><Relationship Type="http://schemas.openxmlformats.org/officeDocument/2006/relationships/slide" Target="/ppt/slides/slide2.xml" Id="R5afec7d50d044421" /><Relationship Type="http://schemas.openxmlformats.org/officeDocument/2006/relationships/slide" Target="/ppt/slides/slide3.xml" Id="R17f50a26865c4d45" /><Relationship Type="http://schemas.openxmlformats.org/officeDocument/2006/relationships/slide" Target="/ppt/slides/slide4.xml" Id="R5557efc363ad4ef7" /><Relationship Type="http://schemas.openxmlformats.org/officeDocument/2006/relationships/slide" Target="/ppt/slides/slide5.xml" Id="R1a64aff036714280" /><Relationship Type="http://schemas.openxmlformats.org/officeDocument/2006/relationships/slide" Target="/ppt/slides/slide6.xml" Id="R6bb8631b86fd420f" /><Relationship Type="http://schemas.openxmlformats.org/officeDocument/2006/relationships/slide" Target="/ppt/slides/slide7.xml" Id="Rc2ed989b9ed0459f" /><Relationship Type="http://schemas.openxmlformats.org/officeDocument/2006/relationships/slide" Target="/ppt/slides/slide8.xml" Id="R422f3a80dc494af0" /><Relationship Type="http://schemas.openxmlformats.org/officeDocument/2006/relationships/slide" Target="/ppt/slides/slide9.xml" Id="R6d9469b33edb46dc" /><Relationship Type="http://schemas.openxmlformats.org/officeDocument/2006/relationships/slide" Target="/ppt/slides/slide10.xml" Id="Rf8e90f9d71774c2f" /><Relationship Type="http://schemas.openxmlformats.org/officeDocument/2006/relationships/slide" Target="/ppt/slides/slide11.xml" Id="R167a9c4c10e74f7b" /><Relationship Type="http://schemas.openxmlformats.org/officeDocument/2006/relationships/slide" Target="/ppt/slides/slide12.xml" Id="Re98e30d5b4374447" /><Relationship Type="http://schemas.openxmlformats.org/officeDocument/2006/relationships/slide" Target="/ppt/slides/slide13.xml" Id="R562e58a7d1334b2d" /><Relationship Type="http://schemas.openxmlformats.org/officeDocument/2006/relationships/slide" Target="/ppt/slides/slide14.xml" Id="R7d65d56d2b6d4cbd" /><Relationship Type="http://schemas.openxmlformats.org/officeDocument/2006/relationships/slide" Target="/ppt/slides/slide15.xml" Id="Re704579d9a1342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bc786da6841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d6b4c291dc45a6" /><Relationship Type="http://schemas.openxmlformats.org/officeDocument/2006/relationships/notesMaster" Target="/ppt/notesMasters/notesMaster1.xml" Id="Rf010339c96da4f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016f1fd4054569" /><Relationship Type="http://schemas.openxmlformats.org/officeDocument/2006/relationships/notesMaster" Target="/ppt/notesMasters/notesMaster1.xml" Id="R8fc95bd8af7a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7758a95c7f4687" /><Relationship Type="http://schemas.openxmlformats.org/officeDocument/2006/relationships/notesMaster" Target="/ppt/notesMasters/notesMaster1.xml" Id="Rf6179adbb1524a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b03a1f181e4c95" /><Relationship Type="http://schemas.openxmlformats.org/officeDocument/2006/relationships/notesMaster" Target="/ppt/notesMasters/notesMaster1.xml" Id="R7b8deb177495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7796688d74bc4" /><Relationship Type="http://schemas.openxmlformats.org/officeDocument/2006/relationships/notesMaster" Target="/ppt/notesMasters/notesMaster1.xml" Id="Rd02ff8fa01ad45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f6ef8412f746e8" /><Relationship Type="http://schemas.openxmlformats.org/officeDocument/2006/relationships/notesMaster" Target="/ppt/notesMasters/notesMaster1.xml" Id="Ra0bc8b4e25a24d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4934b4bd824f7e" /><Relationship Type="http://schemas.openxmlformats.org/officeDocument/2006/relationships/notesMaster" Target="/ppt/notesMasters/notesMaster1.xml" Id="R92ef6566b5c2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de775424824c3a" /><Relationship Type="http://schemas.openxmlformats.org/officeDocument/2006/relationships/notesMaster" Target="/ppt/notesMasters/notesMaster1.xml" Id="R9aef9b52bd64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cd6f1d83164572" /><Relationship Type="http://schemas.openxmlformats.org/officeDocument/2006/relationships/notesMaster" Target="/ppt/notesMasters/notesMaster1.xml" Id="Rec28942de29049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9faa501c5d4553" /><Relationship Type="http://schemas.openxmlformats.org/officeDocument/2006/relationships/notesMaster" Target="/ppt/notesMasters/notesMaster1.xml" Id="Rec7dc4a7863d4f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ade0846a4f406d" /><Relationship Type="http://schemas.openxmlformats.org/officeDocument/2006/relationships/notesMaster" Target="/ppt/notesMasters/notesMaster1.xml" Id="Rf5372b57ae5f46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1ebe5790d44c04" /><Relationship Type="http://schemas.openxmlformats.org/officeDocument/2006/relationships/notesMaster" Target="/ppt/notesMasters/notesMaster1.xml" Id="R35f6bd1e218e46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f1d5f243c94eb5" /><Relationship Type="http://schemas.openxmlformats.org/officeDocument/2006/relationships/notesMaster" Target="/ppt/notesMasters/notesMaster1.xml" Id="Rbe51e77d50c946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5ba574fc344e70" /><Relationship Type="http://schemas.openxmlformats.org/officeDocument/2006/relationships/notesMaster" Target="/ppt/notesMasters/notesMaster1.xml" Id="Rba5bb8bdfa8c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14001b02b04ae4" /><Relationship Type="http://schemas.openxmlformats.org/officeDocument/2006/relationships/notesMaster" Target="/ppt/notesMasters/notesMaster1.xml" Id="Rca552d7ebfe0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.agents/skills/circularo-slides/assets/icons/{circularo,sovereign}/*.svg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2 — Circularo Sovereign Trust Solutions.md</a:t>
            </a:r>
          </a:p>
          <a:p xmlns:a="http://schemas.openxmlformats.org/drawingml/2006/main">
            <a:r>
              <a:t>- work/p1/decks/02-circularo-sovereign.md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[Qualification]</a:t>
            </a:r>
          </a:p>
          <a:p xmlns:a="http://schemas.openxmlformats.org/drawingml/2006/main">
            <a:r>
              <a:t>Working external narrative. Deployment patterns, integrations, AI capabilities, proof, certifications, compliance, customer references, and quantified outcomes are not asserted; relevant items are framed for architecture or pilot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9a8d8009245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5132a49194918" /><Relationship Type="http://schemas.openxmlformats.org/officeDocument/2006/relationships/slideLayout" Target="/ppt/slideLayouts/slideLayout1.xml" Id="R85ca4aa4adeb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a4aa4adeb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814137d87440f" /><Relationship Type="http://schemas.openxmlformats.org/officeDocument/2006/relationships/image" Target="/ppt/media/image.png" Id="R71178a7f259c4dad" /><Relationship Type="http://schemas.openxmlformats.org/officeDocument/2006/relationships/notesSlide" Target="/ppt/notesSlides/notesSlide1.xml" Id="Rc279bd8d31c94c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3c9c8fb324352" /><Relationship Type="http://schemas.openxmlformats.org/officeDocument/2006/relationships/image" Target="/ppt/media/image2.png" Id="Rda229a3cc684471d" /><Relationship Type="http://schemas.openxmlformats.org/officeDocument/2006/relationships/image" Target="/ppt/media/image3.png" Id="R01f275163a104923" /><Relationship Type="http://schemas.openxmlformats.org/officeDocument/2006/relationships/notesSlide" Target="/ppt/notesSlides/notesSlide2.xml" Id="Rbacb1918c9274e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081a0d00542b7" /><Relationship Type="http://schemas.openxmlformats.org/officeDocument/2006/relationships/image" Target="/ppt/media/image4.png" Id="R819ea8b10a9b4023" /><Relationship Type="http://schemas.openxmlformats.org/officeDocument/2006/relationships/image" Target="/ppt/media/image5.png" Id="R13d64e23f93d40fd" /><Relationship Type="http://schemas.openxmlformats.org/officeDocument/2006/relationships/notesSlide" Target="/ppt/notesSlides/notesSlide3.xml" Id="Rb665893347604f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c9d2dafad4f21" /><Relationship Type="http://schemas.openxmlformats.org/officeDocument/2006/relationships/image" Target="/ppt/media/image6.png" Id="Rd6ae70e487644948" /><Relationship Type="http://schemas.openxmlformats.org/officeDocument/2006/relationships/notesSlide" Target="/ppt/notesSlides/notesSlide4.xml" Id="Rb15ab71a3b2d4c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9d8a71cc84808" /><Relationship Type="http://schemas.openxmlformats.org/officeDocument/2006/relationships/image" Target="/ppt/media/image7.png" Id="R0f27d55662ac4ef5" /><Relationship Type="http://schemas.openxmlformats.org/officeDocument/2006/relationships/notesSlide" Target="/ppt/notesSlides/notesSlide5.xml" Id="Radcae1fd705c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266d7c084fd0" /><Relationship Type="http://schemas.openxmlformats.org/officeDocument/2006/relationships/image" Target="/ppt/media/image8.png" Id="Re4c88496dea14d07" /><Relationship Type="http://schemas.openxmlformats.org/officeDocument/2006/relationships/image" Target="/ppt/media/image9.png" Id="R6598bedfac7d4805" /><Relationship Type="http://schemas.openxmlformats.org/officeDocument/2006/relationships/image" Target="/ppt/media/image10.png" Id="Rdbb742872b1c4e3f" /><Relationship Type="http://schemas.openxmlformats.org/officeDocument/2006/relationships/image" Target="/ppt/media/image11.png" Id="R80236d8e14f34557" /><Relationship Type="http://schemas.openxmlformats.org/officeDocument/2006/relationships/image" Target="/ppt/media/image12.png" Id="Ra0716dd6f46049ca" /><Relationship Type="http://schemas.openxmlformats.org/officeDocument/2006/relationships/notesSlide" Target="/ppt/notesSlides/notesSlide6.xml" Id="R2d0960c21af844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897efe95475b" /><Relationship Type="http://schemas.openxmlformats.org/officeDocument/2006/relationships/image" Target="/ppt/media/image13.png" Id="Rdeb3c7e7a81e4497" /><Relationship Type="http://schemas.openxmlformats.org/officeDocument/2006/relationships/image" Target="/ppt/media/image14.png" Id="Re8958ef68f5b4c02" /><Relationship Type="http://schemas.openxmlformats.org/officeDocument/2006/relationships/image" Target="/ppt/media/image15.png" Id="Rf9452ad5d3034fc2" /><Relationship Type="http://schemas.openxmlformats.org/officeDocument/2006/relationships/image" Target="/ppt/media/image16.png" Id="Rc16a9b933e6942e6" /><Relationship Type="http://schemas.openxmlformats.org/officeDocument/2006/relationships/notesSlide" Target="/ppt/notesSlides/notesSlide7.xml" Id="R4a6e770436fd44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87c5e90624e86" /><Relationship Type="http://schemas.openxmlformats.org/officeDocument/2006/relationships/image" Target="/ppt/media/image17.png" Id="R5ed402344ab64a97" /><Relationship Type="http://schemas.openxmlformats.org/officeDocument/2006/relationships/notesSlide" Target="/ppt/notesSlides/notesSlide8.xml" Id="Rba51ef01f4e5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2448edfa406f" /><Relationship Type="http://schemas.openxmlformats.org/officeDocument/2006/relationships/image" Target="/ppt/media/image18.png" Id="R329b97d587ee44c1" /><Relationship Type="http://schemas.openxmlformats.org/officeDocument/2006/relationships/image" Target="/ppt/media/image19.png" Id="Rd3ddf535e714453c" /><Relationship Type="http://schemas.openxmlformats.org/officeDocument/2006/relationships/image" Target="/ppt/media/image20.png" Id="Rdb34a71ca5f54a68" /><Relationship Type="http://schemas.openxmlformats.org/officeDocument/2006/relationships/image" Target="/ppt/media/image21.png" Id="R513701675fde4ade" /><Relationship Type="http://schemas.openxmlformats.org/officeDocument/2006/relationships/image" Target="/ppt/media/image22.png" Id="R0e342108ea9e4edd" /><Relationship Type="http://schemas.openxmlformats.org/officeDocument/2006/relationships/notesSlide" Target="/ppt/notesSlides/notesSlide9.xml" Id="Rb5aba7b4815b43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b98f7356d44a3" /><Relationship Type="http://schemas.openxmlformats.org/officeDocument/2006/relationships/image" Target="/ppt/media/image23.png" Id="R119f29209a1d4307" /><Relationship Type="http://schemas.openxmlformats.org/officeDocument/2006/relationships/notesSlide" Target="/ppt/notesSlides/notesSlide10.xml" Id="Reaa9b6827ee346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fc7ca28d542eb" /><Relationship Type="http://schemas.openxmlformats.org/officeDocument/2006/relationships/image" Target="/ppt/media/image24.png" Id="R4e021baee0c74f7a" /><Relationship Type="http://schemas.openxmlformats.org/officeDocument/2006/relationships/image" Target="/ppt/media/image25.png" Id="Rad4a41e436f84ab0" /><Relationship Type="http://schemas.openxmlformats.org/officeDocument/2006/relationships/notesSlide" Target="/ppt/notesSlides/notesSlide11.xml" Id="Red202ed1f9df40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ea7c487d54773" /><Relationship Type="http://schemas.openxmlformats.org/officeDocument/2006/relationships/image" Target="/ppt/media/image26.png" Id="R8afe854b2af04a57" /><Relationship Type="http://schemas.openxmlformats.org/officeDocument/2006/relationships/notesSlide" Target="/ppt/notesSlides/notesSlide12.xml" Id="Rb090b7c4a2d94d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6d1e6c21c47f1" /><Relationship Type="http://schemas.openxmlformats.org/officeDocument/2006/relationships/image" Target="/ppt/media/image27.png" Id="Rfa98df4b2ec34f2b" /><Relationship Type="http://schemas.openxmlformats.org/officeDocument/2006/relationships/notesSlide" Target="/ppt/notesSlides/notesSlide13.xml" Id="R5f072200cf9843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ee3ea219a4709" /><Relationship Type="http://schemas.openxmlformats.org/officeDocument/2006/relationships/image" Target="/ppt/media/image28.png" Id="R36c0e3fb5a70464f" /><Relationship Type="http://schemas.openxmlformats.org/officeDocument/2006/relationships/notesSlide" Target="/ppt/notesSlides/notesSlide14.xml" Id="Rb1f648352e774a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a3f405c194ee1" /><Relationship Type="http://schemas.openxmlformats.org/officeDocument/2006/relationships/image" Target="/ppt/media/image29.png" Id="R57ab9deea25c40fd" /><Relationship Type="http://schemas.openxmlformats.org/officeDocument/2006/relationships/notesSlide" Target="/ppt/notesSlides/notesSlide15.xml" Id="R4f7d85626e6c49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78a7f259c4da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206F14-E9D7-450F-88EB-B76A241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49AAF38-AC92-4E9C-8248-FE94F4A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E103FA2-C14C-4DC4-A011-6E454CA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91C0809-FA65-48DC-88CE-F6BA428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cover-band-1">
            <a:extLst xmlns:a="http://schemas.openxmlformats.org/drawingml/2006/main">
              <a:ext uri="{FF2B5EF4-FFF2-40B4-BE49-F238E27FC236}">
                <a16:creationId xmlns:a16="http://schemas.microsoft.com/office/drawing/2014/main" id="{8FAEC234-A8C0-45B9-BDCD-186A649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0"/>
            <a:ext cx="1847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band-2">
            <a:extLst xmlns:a="http://schemas.openxmlformats.org/drawingml/2006/main">
              <a:ext uri="{FF2B5EF4-FFF2-40B4-BE49-F238E27FC236}">
                <a16:creationId xmlns:a16="http://schemas.microsoft.com/office/drawing/2014/main" id="{49A8FA73-9146-4096-B492-4FC2509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2B0BD43-D923-4425-BD2F-7867F360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C077EF-7F1A-4C4F-9E79-4C728B90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8001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Modern trusted execution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under your control</a:t>
            </a:r>
          </a:p>
        </p:txBody>
      </p:sp>
      <p:sp>
        <p:nvSpPr>
          <p:cNvPr id="10" name="cover-body">
            <a:extLst xmlns:a="http://schemas.openxmlformats.org/drawingml/2006/main">
              <a:ext uri="{FF2B5EF4-FFF2-40B4-BE49-F238E27FC236}">
                <a16:creationId xmlns:a16="http://schemas.microsoft.com/office/drawing/2014/main" id="{64BEE7A1-0E6F-4ABE-B9C4-91252169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Self-hosted digital trust for organizations that cannot delegate the boundary.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2298A426-238C-4190-A810-0B9BB96B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600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route">
            <a:extLst xmlns:a="http://schemas.openxmlformats.org/drawingml/2006/main">
              <a:ext uri="{FF2B5EF4-FFF2-40B4-BE49-F238E27FC236}">
                <a16:creationId xmlns:a16="http://schemas.microsoft.com/office/drawing/2014/main" id="{FF3D1E93-0608-4A7F-915B-5C63F73D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INFRASTRUCTURE · DATA · KEYS · OPERATIONS · EVIDENCE</a:t>
            </a:r>
          </a:p>
        </p:txBody>
      </p:sp>
    </p:spTree>
    <p:extLst>
      <p:ext uri="{BB962C8B-B14F-4D97-AF65-F5344CB8AC3E}">
        <p14:creationId xmlns:p14="http://schemas.microsoft.com/office/powerpoint/2010/main" val="723043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29a3cc684471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6A8DFC-9F75-4B5C-8354-9872D366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E84F345-163A-45D5-8733-11E1C36B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E1FB611-0D82-41AB-A7F9-7DC204D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93B94362-78FE-4612-BD06-298CC9DC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8F4709-C110-4923-8740-A9FCBB38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trust is becoming critical infrastructure</a:t>
            </a:r>
          </a:p>
        </p:txBody>
      </p:sp>
      <p:sp>
        <p:nvSpPr>
          <p:cNvPr id="7" name="s2-statement">
            <a:extLst xmlns:a="http://schemas.openxmlformats.org/drawingml/2006/main">
              <a:ext uri="{FF2B5EF4-FFF2-40B4-BE49-F238E27FC236}">
                <a16:creationId xmlns:a16="http://schemas.microsoft.com/office/drawing/2014/main" id="{DEE24651-F7F4-4B8C-82DE-7E71FCD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Consequential work now depends on identity, authority, approval, execution, and evidence moving together.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275163a104923"/>
          <a:stretch xmlns:a="http://schemas.openxmlformats.org/drawingml/2006/main"/>
        </p:blipFill>
        <p:spPr>
          <a:xfrm xmlns:a="http://schemas.openxmlformats.org/drawingml/2006/main">
            <a:off x="8991600" y="2038350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9" name="pill-PUBLIC SERVICES">
            <a:extLst xmlns:a="http://schemas.openxmlformats.org/drawingml/2006/main">
              <a:ext uri="{FF2B5EF4-FFF2-40B4-BE49-F238E27FC236}">
                <a16:creationId xmlns:a16="http://schemas.microsoft.com/office/drawing/2014/main" id="{CFF3C7F2-587C-45BB-B0C3-E69DB073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0" name="pill-text-PUBLIC SERVICES">
            <a:extLst xmlns:a="http://schemas.openxmlformats.org/drawingml/2006/main">
              <a:ext uri="{FF2B5EF4-FFF2-40B4-BE49-F238E27FC236}">
                <a16:creationId xmlns:a16="http://schemas.microsoft.com/office/drawing/2014/main" id="{BE7AB1DF-9C03-419A-9F44-6DA937AF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PUBLIC SERVICES</a:t>
            </a:r>
          </a:p>
        </p:txBody>
      </p:sp>
      <p:sp>
        <p:nvSpPr>
          <p:cNvPr id="11" name="pill-REGULATED OPERATIONS">
            <a:extLst xmlns:a="http://schemas.openxmlformats.org/drawingml/2006/main">
              <a:ext uri="{FF2B5EF4-FFF2-40B4-BE49-F238E27FC236}">
                <a16:creationId xmlns:a16="http://schemas.microsoft.com/office/drawing/2014/main" id="{4142CAE0-0F21-4394-977B-F37AC1C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2" name="pill-text-REGULATED OPERATIONS">
            <a:extLst xmlns:a="http://schemas.openxmlformats.org/drawingml/2006/main">
              <a:ext uri="{FF2B5EF4-FFF2-40B4-BE49-F238E27FC236}">
                <a16:creationId xmlns:a16="http://schemas.microsoft.com/office/drawing/2014/main" id="{3BAB3227-8EBE-4A23-A17E-7D535DB3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815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REGULATED OPERATIONS</a:t>
            </a:r>
          </a:p>
        </p:txBody>
      </p:sp>
      <p:sp>
        <p:nvSpPr>
          <p:cNvPr id="13" name="pill-CRITICAL INFRASTRUCTURE">
            <a:extLst xmlns:a="http://schemas.openxmlformats.org/drawingml/2006/main">
              <a:ext uri="{FF2B5EF4-FFF2-40B4-BE49-F238E27FC236}">
                <a16:creationId xmlns:a16="http://schemas.microsoft.com/office/drawing/2014/main" id="{1F5A5DB1-0A73-49DE-8B59-CF311DB3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4" name="pill-text-CRITICAL INFRASTRUCTURE">
            <a:extLst xmlns:a="http://schemas.openxmlformats.org/drawingml/2006/main">
              <a:ext uri="{FF2B5EF4-FFF2-40B4-BE49-F238E27FC236}">
                <a16:creationId xmlns:a16="http://schemas.microsoft.com/office/drawing/2014/main" id="{F600DB9B-CAD1-4154-9EEC-1887BEC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CRITICAL INFRASTRUCTURE</a:t>
            </a:r>
          </a:p>
        </p:txBody>
      </p:sp>
      <p:sp>
        <p:nvSpPr>
          <p:cNvPr id="15" name="pill-DIGITAL ECONOMY">
            <a:extLst xmlns:a="http://schemas.openxmlformats.org/drawingml/2006/main">
              <a:ext uri="{FF2B5EF4-FFF2-40B4-BE49-F238E27FC236}">
                <a16:creationId xmlns:a16="http://schemas.microsoft.com/office/drawing/2014/main" id="{25035F87-0FEF-4129-85C5-6A7C6AD1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86300"/>
            <a:ext cx="2590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6" name="pill-text-DIGITAL ECONOMY">
            <a:extLst xmlns:a="http://schemas.openxmlformats.org/drawingml/2006/main">
              <a:ext uri="{FF2B5EF4-FFF2-40B4-BE49-F238E27FC236}">
                <a16:creationId xmlns:a16="http://schemas.microsoft.com/office/drawing/2014/main" id="{BDE94179-998C-4BF5-8A92-8ACAA42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815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ECONOMY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06601B56-2CC1-4149-B9CA-58C3AE7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C83187A-133F-409B-8B10-72DDA153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When the trust layer fails, the process does not merely slow down—it loses legitimacy.</a:t>
            </a:r>
          </a:p>
        </p:txBody>
      </p:sp>
    </p:spTree>
    <p:extLst>
      <p:ext uri="{BB962C8B-B14F-4D97-AF65-F5344CB8AC3E}">
        <p14:creationId xmlns:p14="http://schemas.microsoft.com/office/powerpoint/2010/main" val="1453677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ea8b10a9b402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F7E4E3-3ABB-4F7D-9DBC-17890EB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3C2E1C5-AC34-4517-A58C-402DE75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1C08184-92F5-452F-B8CB-3CFC9AC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1D46DAE8-27D1-415B-A57A-A65325D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F34717-D030-4DD2-B781-6CA39BE7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AI expands the sovereignty requirement</a:t>
            </a:r>
          </a:p>
        </p:txBody>
      </p:sp>
      <p:sp>
        <p:nvSpPr>
          <p:cNvPr id="7" name="s3-sub">
            <a:extLst xmlns:a="http://schemas.openxmlformats.org/drawingml/2006/main">
              <a:ext uri="{FF2B5EF4-FFF2-40B4-BE49-F238E27FC236}">
                <a16:creationId xmlns:a16="http://schemas.microsoft.com/office/drawing/2014/main" id="{0379B50F-1CFF-4F2A-81E6-B7717496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More actors can now interpret, decide, and initiate work inside institutional systems.</a:t>
            </a:r>
          </a:p>
        </p:txBody>
      </p:sp>
      <p:sp>
        <p:nvSpPr>
          <p:cNvPr id="8" name="s3-panel-0">
            <a:extLst xmlns:a="http://schemas.openxmlformats.org/drawingml/2006/main">
              <a:ext uri="{FF2B5EF4-FFF2-40B4-BE49-F238E27FC236}">
                <a16:creationId xmlns:a16="http://schemas.microsoft.com/office/drawing/2014/main" id="{714F7E9E-EECA-4F18-88F7-CFE36A62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718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9" name="s3-title-0">
            <a:extLst xmlns:a="http://schemas.openxmlformats.org/drawingml/2006/main">
              <a:ext uri="{FF2B5EF4-FFF2-40B4-BE49-F238E27FC236}">
                <a16:creationId xmlns:a16="http://schemas.microsoft.com/office/drawing/2014/main" id="{7121D377-0FAB-4053-BF14-4484F9B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10" name="s3-body-0">
            <a:extLst xmlns:a="http://schemas.openxmlformats.org/drawingml/2006/main">
              <a:ext uri="{FF2B5EF4-FFF2-40B4-BE49-F238E27FC236}">
                <a16:creationId xmlns:a16="http://schemas.microsoft.com/office/drawing/2014/main" id="{0ED9BD68-C683-465D-90A8-6C00436A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Human intent</a:t>
            </a:r>
          </a:p>
        </p:txBody>
      </p:sp>
      <p:sp>
        <p:nvSpPr>
          <p:cNvPr id="11" name="s3-panel-1">
            <a:extLst xmlns:a="http://schemas.openxmlformats.org/drawingml/2006/main">
              <a:ext uri="{FF2B5EF4-FFF2-40B4-BE49-F238E27FC236}">
                <a16:creationId xmlns:a16="http://schemas.microsoft.com/office/drawing/2014/main" id="{06DA3D9A-E63A-4703-9177-38090B8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3718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s3-title-1">
            <a:extLst xmlns:a="http://schemas.openxmlformats.org/drawingml/2006/main">
              <a:ext uri="{FF2B5EF4-FFF2-40B4-BE49-F238E27FC236}">
                <a16:creationId xmlns:a16="http://schemas.microsoft.com/office/drawing/2014/main" id="{DEAE11CE-5CA1-4280-B4B3-C159A8F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3" name="s3-body-1">
            <a:extLst xmlns:a="http://schemas.openxmlformats.org/drawingml/2006/main">
              <a:ext uri="{FF2B5EF4-FFF2-40B4-BE49-F238E27FC236}">
                <a16:creationId xmlns:a16="http://schemas.microsoft.com/office/drawing/2014/main" id="{D1CDC8CA-5A9A-49E5-BFE0-F8A66BCD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System action</a:t>
            </a:r>
          </a:p>
        </p:txBody>
      </p:sp>
      <p:sp>
        <p:nvSpPr>
          <p:cNvPr id="14" name="s3-panel-2">
            <a:extLst xmlns:a="http://schemas.openxmlformats.org/drawingml/2006/main">
              <a:ext uri="{FF2B5EF4-FFF2-40B4-BE49-F238E27FC236}">
                <a16:creationId xmlns:a16="http://schemas.microsoft.com/office/drawing/2014/main" id="{BAF9FE30-791C-4B8C-B33A-885352AA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3718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64e23f93d40fd"/>
          <a:stretch xmlns:a="http://schemas.openxmlformats.org/drawingml/2006/main"/>
        </p:blipFill>
        <p:spPr>
          <a:xfrm xmlns:a="http://schemas.openxmlformats.org/drawingml/2006/main">
            <a:off x="9601200" y="2986088"/>
            <a:ext cx="857250" cy="714375"/>
          </a:xfrm>
          <a:prstGeom xmlns:a="http://schemas.openxmlformats.org/drawingml/2006/main" prst="rect">
            <a:avLst/>
          </a:prstGeom>
        </p:spPr>
      </p:pic>
      <p:sp>
        <p:nvSpPr>
          <p:cNvPr id="16" name="s3-title-2">
            <a:extLst xmlns:a="http://schemas.openxmlformats.org/drawingml/2006/main">
              <a:ext uri="{FF2B5EF4-FFF2-40B4-BE49-F238E27FC236}">
                <a16:creationId xmlns:a16="http://schemas.microsoft.com/office/drawing/2014/main" id="{75482F6D-95D1-4AD4-B014-78FA3BA5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7" name="s3-body-2">
            <a:extLst xmlns:a="http://schemas.openxmlformats.org/drawingml/2006/main">
              <a:ext uri="{FF2B5EF4-FFF2-40B4-BE49-F238E27FC236}">
                <a16:creationId xmlns:a16="http://schemas.microsoft.com/office/drawing/2014/main" id="{CC262BF3-12EC-411A-AE41-47302EA5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Delegated action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876729D7-99C3-4E4C-9C9F-AF7F69BC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F271D5EF-83D9-4083-A04F-18F945B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Sovereignty must govern every actor that can create a consequential outcome.</a:t>
            </a:r>
          </a:p>
        </p:txBody>
      </p:sp>
    </p:spTree>
    <p:extLst>
      <p:ext uri="{BB962C8B-B14F-4D97-AF65-F5344CB8AC3E}">
        <p14:creationId xmlns:p14="http://schemas.microsoft.com/office/powerpoint/2010/main" val="1742439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e70e48764494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7FA25F-E31D-4CA6-8F84-2E60773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3A0601E-3816-4AE2-8B1D-156A1D4C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6DB3034-4108-4672-97D5-073D3FBF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3947C6F0-B195-4CB1-A773-0C57FDF2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B736CD-7B29-4414-AF84-9D64291C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 is a complete control boundary</a:t>
            </a:r>
          </a:p>
        </p:txBody>
      </p:sp>
      <p:sp>
        <p:nvSpPr>
          <p:cNvPr id="7" name="s4-sub">
            <a:extLst xmlns:a="http://schemas.openxmlformats.org/drawingml/2006/main">
              <a:ext uri="{FF2B5EF4-FFF2-40B4-BE49-F238E27FC236}">
                <a16:creationId xmlns:a16="http://schemas.microsoft.com/office/drawing/2014/main" id="{C70B5796-B243-4966-8A72-1C0600BA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Data residency answers only one part of the question.</a:t>
            </a:r>
          </a:p>
        </p:txBody>
      </p:sp>
      <p:sp>
        <p:nvSpPr>
          <p:cNvPr id="8" name="s4-card-01">
            <a:extLst xmlns:a="http://schemas.openxmlformats.org/drawingml/2006/main">
              <a:ext uri="{FF2B5EF4-FFF2-40B4-BE49-F238E27FC236}">
                <a16:creationId xmlns:a16="http://schemas.microsoft.com/office/drawing/2014/main" id="{800782D9-BB1C-4A29-97D6-74C803D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38350" cy="23622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s4-num-01">
            <a:extLst xmlns:a="http://schemas.openxmlformats.org/drawingml/2006/main">
              <a:ext uri="{FF2B5EF4-FFF2-40B4-BE49-F238E27FC236}">
                <a16:creationId xmlns:a16="http://schemas.microsoft.com/office/drawing/2014/main" id="{C68F07F9-00E9-425F-92E7-FA8A28D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s4-title-01">
            <a:extLst xmlns:a="http://schemas.openxmlformats.org/drawingml/2006/main">
              <a:ext uri="{FF2B5EF4-FFF2-40B4-BE49-F238E27FC236}">
                <a16:creationId xmlns:a16="http://schemas.microsoft.com/office/drawing/2014/main" id="{B6EF4C9B-26D9-41EF-B389-0CB3009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Infrastructure</a:t>
            </a:r>
          </a:p>
        </p:txBody>
      </p:sp>
      <p:sp>
        <p:nvSpPr>
          <p:cNvPr id="11" name="s4-body-01">
            <a:extLst xmlns:a="http://schemas.openxmlformats.org/drawingml/2006/main">
              <a:ext uri="{FF2B5EF4-FFF2-40B4-BE49-F238E27FC236}">
                <a16:creationId xmlns:a16="http://schemas.microsoft.com/office/drawing/2014/main" id="{199C864D-3684-4961-8FA2-055756BF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Where the platform runs</a:t>
            </a:r>
          </a:p>
        </p:txBody>
      </p:sp>
      <p:sp>
        <p:nvSpPr>
          <p:cNvPr id="12" name="s4-card-02">
            <a:extLst xmlns:a="http://schemas.openxmlformats.org/drawingml/2006/main">
              <a:ext uri="{FF2B5EF4-FFF2-40B4-BE49-F238E27FC236}">
                <a16:creationId xmlns:a16="http://schemas.microsoft.com/office/drawing/2014/main" id="{95D33172-5432-4392-A30E-73B85710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2038350" cy="23622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4-num-02">
            <a:extLst xmlns:a="http://schemas.openxmlformats.org/drawingml/2006/main">
              <a:ext uri="{FF2B5EF4-FFF2-40B4-BE49-F238E27FC236}">
                <a16:creationId xmlns:a16="http://schemas.microsoft.com/office/drawing/2014/main" id="{ED7F1A09-843F-490C-BB4D-D87406E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s4-title-02">
            <a:extLst xmlns:a="http://schemas.openxmlformats.org/drawingml/2006/main">
              <a:ext uri="{FF2B5EF4-FFF2-40B4-BE49-F238E27FC236}">
                <a16:creationId xmlns:a16="http://schemas.microsoft.com/office/drawing/2014/main" id="{5FF82F1F-62FF-42E3-A8A8-BD0A55F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Data</a:t>
            </a:r>
          </a:p>
        </p:txBody>
      </p:sp>
      <p:sp>
        <p:nvSpPr>
          <p:cNvPr id="15" name="s4-body-02">
            <a:extLst xmlns:a="http://schemas.openxmlformats.org/drawingml/2006/main">
              <a:ext uri="{FF2B5EF4-FFF2-40B4-BE49-F238E27FC236}">
                <a16:creationId xmlns:a16="http://schemas.microsoft.com/office/drawing/2014/main" id="{C5010790-B885-4D35-A43C-58D38786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Where information is held</a:t>
            </a:r>
          </a:p>
        </p:txBody>
      </p:sp>
      <p:sp>
        <p:nvSpPr>
          <p:cNvPr id="16" name="s4-card-03">
            <a:extLst xmlns:a="http://schemas.openxmlformats.org/drawingml/2006/main">
              <a:ext uri="{FF2B5EF4-FFF2-40B4-BE49-F238E27FC236}">
                <a16:creationId xmlns:a16="http://schemas.microsoft.com/office/drawing/2014/main" id="{0E36A3A1-AD2D-4586-A0A2-E5E7835C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2038350" cy="23622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4-num-03">
            <a:extLst xmlns:a="http://schemas.openxmlformats.org/drawingml/2006/main">
              <a:ext uri="{FF2B5EF4-FFF2-40B4-BE49-F238E27FC236}">
                <a16:creationId xmlns:a16="http://schemas.microsoft.com/office/drawing/2014/main" id="{FDE64746-4140-4929-BE97-B5169CDE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s4-title-03">
            <a:extLst xmlns:a="http://schemas.openxmlformats.org/drawingml/2006/main">
              <a:ext uri="{FF2B5EF4-FFF2-40B4-BE49-F238E27FC236}">
                <a16:creationId xmlns:a16="http://schemas.microsoft.com/office/drawing/2014/main" id="{D75F5601-31A4-45C0-B715-E40296CF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Keys</a:t>
            </a:r>
          </a:p>
        </p:txBody>
      </p:sp>
      <p:sp>
        <p:nvSpPr>
          <p:cNvPr id="19" name="s4-body-03">
            <a:extLst xmlns:a="http://schemas.openxmlformats.org/drawingml/2006/main">
              <a:ext uri="{FF2B5EF4-FFF2-40B4-BE49-F238E27FC236}">
                <a16:creationId xmlns:a16="http://schemas.microsoft.com/office/drawing/2014/main" id="{FE7C87F4-2BD2-441F-B841-3C784F15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controls cryptographic authority</a:t>
            </a:r>
          </a:p>
        </p:txBody>
      </p:sp>
      <p:sp>
        <p:nvSpPr>
          <p:cNvPr id="20" name="s4-card-04">
            <a:extLst xmlns:a="http://schemas.openxmlformats.org/drawingml/2006/main">
              <a:ext uri="{FF2B5EF4-FFF2-40B4-BE49-F238E27FC236}">
                <a16:creationId xmlns:a16="http://schemas.microsoft.com/office/drawing/2014/main" id="{2A2FE360-9C67-40DA-B6A0-C6F6410A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2038350" cy="23622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4-num-04">
            <a:extLst xmlns:a="http://schemas.openxmlformats.org/drawingml/2006/main">
              <a:ext uri="{FF2B5EF4-FFF2-40B4-BE49-F238E27FC236}">
                <a16:creationId xmlns:a16="http://schemas.microsoft.com/office/drawing/2014/main" id="{A065155A-D5B1-4D99-A4A3-6A74D600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s4-title-04">
            <a:extLst xmlns:a="http://schemas.openxmlformats.org/drawingml/2006/main">
              <a:ext uri="{FF2B5EF4-FFF2-40B4-BE49-F238E27FC236}">
                <a16:creationId xmlns:a16="http://schemas.microsoft.com/office/drawing/2014/main" id="{DA2DF446-85B0-4636-B316-8BFA2A6B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</a:t>
            </a:r>
          </a:p>
        </p:txBody>
      </p:sp>
      <p:sp>
        <p:nvSpPr>
          <p:cNvPr id="23" name="s4-body-04">
            <a:extLst xmlns:a="http://schemas.openxmlformats.org/drawingml/2006/main">
              <a:ext uri="{FF2B5EF4-FFF2-40B4-BE49-F238E27FC236}">
                <a16:creationId xmlns:a16="http://schemas.microsoft.com/office/drawing/2014/main" id="{7B7765DE-56A9-4AA8-BEE2-008F823B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can administer and change it</a:t>
            </a:r>
          </a:p>
        </p:txBody>
      </p:sp>
      <p:sp>
        <p:nvSpPr>
          <p:cNvPr id="24" name="s4-card-05">
            <a:extLst xmlns:a="http://schemas.openxmlformats.org/drawingml/2006/main">
              <a:ext uri="{FF2B5EF4-FFF2-40B4-BE49-F238E27FC236}">
                <a16:creationId xmlns:a16="http://schemas.microsoft.com/office/drawing/2014/main" id="{A4468A92-9679-4975-939E-1451418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2038350" cy="23622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1D0090"/>
            </a:solidFill>
            <a:prstDash val="solid"/>
          </a:ln>
        </p:spPr>
      </p:sp>
      <p:sp>
        <p:nvSpPr>
          <p:cNvPr id="25" name="s4-num-05">
            <a:extLst xmlns:a="http://schemas.openxmlformats.org/drawingml/2006/main">
              <a:ext uri="{FF2B5EF4-FFF2-40B4-BE49-F238E27FC236}">
                <a16:creationId xmlns:a16="http://schemas.microsoft.com/office/drawing/2014/main" id="{623ACEF3-0517-4872-B6CF-EAF20AE9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6" name="s4-title-05">
            <a:extLst xmlns:a="http://schemas.openxmlformats.org/drawingml/2006/main">
              <a:ext uri="{FF2B5EF4-FFF2-40B4-BE49-F238E27FC236}">
                <a16:creationId xmlns:a16="http://schemas.microsoft.com/office/drawing/2014/main" id="{5E25E7A1-7CB1-40D4-B9FA-695EB48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7" name="s4-body-05">
            <a:extLst xmlns:a="http://schemas.openxmlformats.org/drawingml/2006/main">
              <a:ext uri="{FF2B5EF4-FFF2-40B4-BE49-F238E27FC236}">
                <a16:creationId xmlns:a16="http://schemas.microsoft.com/office/drawing/2014/main" id="{5249DEC6-6958-45C8-ADCF-3F4A11C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What can be independently verified</a:t>
            </a:r>
          </a:p>
        </p:txBody>
      </p:sp>
      <p:sp>
        <p:nvSpPr>
          <p:cNvPr id="28" name="divider">
            <a:extLst xmlns:a="http://schemas.openxmlformats.org/drawingml/2006/main">
              <a:ext uri="{FF2B5EF4-FFF2-40B4-BE49-F238E27FC236}">
                <a16:creationId xmlns:a16="http://schemas.microsoft.com/office/drawing/2014/main" id="{805F8BA5-C2B4-4FBE-8A83-AA84F0FA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42A32D5D-F799-4F39-AA47-F44B9868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boundary is sovereign only when control is explicit across all five dimensions.</a:t>
            </a:r>
          </a:p>
        </p:txBody>
      </p:sp>
    </p:spTree>
    <p:extLst>
      <p:ext uri="{BB962C8B-B14F-4D97-AF65-F5344CB8AC3E}">
        <p14:creationId xmlns:p14="http://schemas.microsoft.com/office/powerpoint/2010/main" val="1623919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7d55662ac4ef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3E8B1A-0D78-45CD-9476-B493C16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0C7C306-8D6B-4BE9-A659-EFEB601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765FE0C-F0A1-4E7B-AE24-1091D07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EB87B21-0D0F-443D-B2B3-C7ED9D3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3838EB-529D-4E00-97D4-2054A54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traditional trade-off is no longer enough</a:t>
            </a:r>
          </a:p>
        </p:txBody>
      </p:sp>
      <p:sp>
        <p:nvSpPr>
          <p:cNvPr id="7" name="s5-column-0">
            <a:extLst xmlns:a="http://schemas.openxmlformats.org/drawingml/2006/main">
              <a:ext uri="{FF2B5EF4-FFF2-40B4-BE49-F238E27FC236}">
                <a16:creationId xmlns:a16="http://schemas.microsoft.com/office/drawing/2014/main" id="{400925AC-9381-48C5-BCA8-E051F28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2006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s5-title-0">
            <a:extLst xmlns:a="http://schemas.openxmlformats.org/drawingml/2006/main">
              <a:ext uri="{FF2B5EF4-FFF2-40B4-BE49-F238E27FC236}">
                <a16:creationId xmlns:a16="http://schemas.microsoft.com/office/drawing/2014/main" id="{56607AD4-84CC-439B-AB73-B6D80A2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MODERN PUBLIC SAAS</a:t>
            </a:r>
          </a:p>
        </p:txBody>
      </p:sp>
      <p:sp>
        <p:nvSpPr>
          <p:cNvPr id="9" name="s5-benefits-0">
            <a:extLst xmlns:a="http://schemas.openxmlformats.org/drawingml/2006/main">
              <a:ext uri="{FF2B5EF4-FFF2-40B4-BE49-F238E27FC236}">
                <a16:creationId xmlns:a16="http://schemas.microsoft.com/office/drawing/2014/main" id="{16880625-EA5B-49C8-9728-EA3CC7FA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Fast innovation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Managed operations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Elastic consumption</a:t>
            </a:r>
          </a:p>
        </p:txBody>
      </p:sp>
      <p:sp>
        <p:nvSpPr>
          <p:cNvPr id="10" name="s5-rule-0">
            <a:extLst xmlns:a="http://schemas.openxmlformats.org/drawingml/2006/main">
              <a:ext uri="{FF2B5EF4-FFF2-40B4-BE49-F238E27FC236}">
                <a16:creationId xmlns:a16="http://schemas.microsoft.com/office/drawing/2014/main" id="{3D0CE71C-B71A-4DFE-B1A3-AB8AF58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limit-0">
            <a:extLst xmlns:a="http://schemas.openxmlformats.org/drawingml/2006/main">
              <a:ext uri="{FF2B5EF4-FFF2-40B4-BE49-F238E27FC236}">
                <a16:creationId xmlns:a16="http://schemas.microsoft.com/office/drawing/2014/main" id="{173706F4-416E-4B6E-8F45-DEC8EE63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Control may sit outside the required boundary</a:t>
            </a:r>
          </a:p>
        </p:txBody>
      </p:sp>
      <p:sp>
        <p:nvSpPr>
          <p:cNvPr id="12" name="s5-column-1">
            <a:extLst xmlns:a="http://schemas.openxmlformats.org/drawingml/2006/main">
              <a:ext uri="{FF2B5EF4-FFF2-40B4-BE49-F238E27FC236}">
                <a16:creationId xmlns:a16="http://schemas.microsoft.com/office/drawing/2014/main" id="{67740E54-ACF7-4D6D-840C-64796D96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20065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3" name="s5-title-1">
            <a:extLst xmlns:a="http://schemas.openxmlformats.org/drawingml/2006/main">
              <a:ext uri="{FF2B5EF4-FFF2-40B4-BE49-F238E27FC236}">
                <a16:creationId xmlns:a16="http://schemas.microsoft.com/office/drawing/2014/main" id="{FE3A2430-008E-4841-8BEB-55466F2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TRADITIONAL ON-PREM</a:t>
            </a:r>
          </a:p>
        </p:txBody>
      </p:sp>
      <p:sp>
        <p:nvSpPr>
          <p:cNvPr id="14" name="s5-benefits-1">
            <a:extLst xmlns:a="http://schemas.openxmlformats.org/drawingml/2006/main">
              <a:ext uri="{FF2B5EF4-FFF2-40B4-BE49-F238E27FC236}">
                <a16:creationId xmlns:a16="http://schemas.microsoft.com/office/drawing/2014/main" id="{99F41BAC-8632-4A3E-B101-F6D785E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Local custody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Direct administration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Existing infrastructure</a:t>
            </a:r>
          </a:p>
        </p:txBody>
      </p:sp>
      <p:sp>
        <p:nvSpPr>
          <p:cNvPr id="15" name="s5-rule-1">
            <a:extLst xmlns:a="http://schemas.openxmlformats.org/drawingml/2006/main">
              <a:ext uri="{FF2B5EF4-FFF2-40B4-BE49-F238E27FC236}">
                <a16:creationId xmlns:a16="http://schemas.microsoft.com/office/drawing/2014/main" id="{DDF62097-3E40-4BC7-A5AF-738213E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5-limit-1">
            <a:extLst xmlns:a="http://schemas.openxmlformats.org/drawingml/2006/main">
              <a:ext uri="{FF2B5EF4-FFF2-40B4-BE49-F238E27FC236}">
                <a16:creationId xmlns:a16="http://schemas.microsoft.com/office/drawing/2014/main" id="{FAEF6C04-67FC-4DE7-9BC5-88576F5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529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Capability and lifecycle can become legacy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D3AD3865-438D-498D-84B6-15797906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B765FA4-877D-4278-8F32-4C0EDEB6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required outcome is modern capability with sovereign control.</a:t>
            </a:r>
          </a:p>
        </p:txBody>
      </p:sp>
    </p:spTree>
    <p:extLst>
      <p:ext uri="{BB962C8B-B14F-4D97-AF65-F5344CB8AC3E}">
        <p14:creationId xmlns:p14="http://schemas.microsoft.com/office/powerpoint/2010/main" val="1450943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88496dea14d0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2F408D-5F85-4E67-89FE-5244D26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849F8E2-1224-4BAA-A98F-EECC9013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AF72ADF-AD6E-48AD-B703-7E954DF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0034582-42CF-4681-8C85-A872F4D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9E1E16-3537-4468-8FFB-5E38E9A0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Local systems can still fragment accountability</a:t>
            </a:r>
          </a:p>
        </p:txBody>
      </p:sp>
      <p:sp>
        <p:nvSpPr>
          <p:cNvPr id="7" name="s6-node-0">
            <a:extLst xmlns:a="http://schemas.openxmlformats.org/drawingml/2006/main">
              <a:ext uri="{FF2B5EF4-FFF2-40B4-BE49-F238E27FC236}">
                <a16:creationId xmlns:a16="http://schemas.microsoft.com/office/drawing/2014/main" id="{B80BFB66-BCCD-4808-9A39-8BFCB61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2590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8bedfac7d4805"/>
          <a:stretch xmlns:a="http://schemas.openxmlformats.org/drawingml/2006/main"/>
        </p:blipFill>
        <p:spPr>
          <a:xfrm xmlns:a="http://schemas.openxmlformats.org/drawingml/2006/main">
            <a:off x="1295400" y="2763253"/>
            <a:ext cx="914400" cy="721895"/>
          </a:xfrm>
          <a:prstGeom xmlns:a="http://schemas.openxmlformats.org/drawingml/2006/main" prst="rect">
            <a:avLst/>
          </a:prstGeom>
        </p:spPr>
      </p:pic>
      <p:sp>
        <p:nvSpPr>
          <p:cNvPr id="9" name="s6-title-0">
            <a:extLst xmlns:a="http://schemas.openxmlformats.org/drawingml/2006/main">
              <a:ext uri="{FF2B5EF4-FFF2-40B4-BE49-F238E27FC236}">
                <a16:creationId xmlns:a16="http://schemas.microsoft.com/office/drawing/2014/main" id="{A86CF07A-A06E-4C17-A150-23EDE50F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0" name="s6-node-1">
            <a:extLst xmlns:a="http://schemas.openxmlformats.org/drawingml/2006/main">
              <a:ext uri="{FF2B5EF4-FFF2-40B4-BE49-F238E27FC236}">
                <a16:creationId xmlns:a16="http://schemas.microsoft.com/office/drawing/2014/main" id="{D55B66EA-6414-4D35-A844-98F94A70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2590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742872b1c4e3f"/>
          <a:stretch xmlns:a="http://schemas.openxmlformats.org/drawingml/2006/main"/>
        </p:blipFill>
        <p:spPr>
          <a:xfrm xmlns:a="http://schemas.openxmlformats.org/drawingml/2006/main">
            <a:off x="4114800" y="2717800"/>
            <a:ext cx="914400" cy="812800"/>
          </a:xfrm>
          <a:prstGeom xmlns:a="http://schemas.openxmlformats.org/drawingml/2006/main" prst="rect">
            <a:avLst/>
          </a:prstGeom>
        </p:spPr>
      </p:pic>
      <p:sp>
        <p:nvSpPr>
          <p:cNvPr id="12" name="s6-title-1">
            <a:extLst xmlns:a="http://schemas.openxmlformats.org/drawingml/2006/main">
              <a:ext uri="{FF2B5EF4-FFF2-40B4-BE49-F238E27FC236}">
                <a16:creationId xmlns:a16="http://schemas.microsoft.com/office/drawing/2014/main" id="{95FBA442-2786-4F21-ADF2-4143CE03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3" name="s6-node-2">
            <a:extLst xmlns:a="http://schemas.openxmlformats.org/drawingml/2006/main">
              <a:ext uri="{FF2B5EF4-FFF2-40B4-BE49-F238E27FC236}">
                <a16:creationId xmlns:a16="http://schemas.microsoft.com/office/drawing/2014/main" id="{DC1AB1AC-F5DA-435E-84B7-B6B17BA5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590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36d8e14f34557"/>
          <a:stretch xmlns:a="http://schemas.openxmlformats.org/drawingml/2006/main"/>
        </p:blipFill>
        <p:spPr>
          <a:xfrm xmlns:a="http://schemas.openxmlformats.org/drawingml/2006/main">
            <a:off x="6934200" y="26670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5" name="s6-title-2">
            <a:extLst xmlns:a="http://schemas.openxmlformats.org/drawingml/2006/main">
              <a:ext uri="{FF2B5EF4-FFF2-40B4-BE49-F238E27FC236}">
                <a16:creationId xmlns:a16="http://schemas.microsoft.com/office/drawing/2014/main" id="{60580714-9290-4854-8FEB-5813A02C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</a:t>
            </a:r>
          </a:p>
        </p:txBody>
      </p:sp>
      <p:sp>
        <p:nvSpPr>
          <p:cNvPr id="16" name="s6-node-3">
            <a:extLst xmlns:a="http://schemas.openxmlformats.org/drawingml/2006/main">
              <a:ext uri="{FF2B5EF4-FFF2-40B4-BE49-F238E27FC236}">
                <a16:creationId xmlns:a16="http://schemas.microsoft.com/office/drawing/2014/main" id="{C01043FA-937B-4C08-A196-6EE1DFC6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2590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16dd6f46049ca"/>
          <a:stretch xmlns:a="http://schemas.openxmlformats.org/drawingml/2006/main"/>
        </p:blipFill>
        <p:spPr>
          <a:xfrm xmlns:a="http://schemas.openxmlformats.org/drawingml/2006/main">
            <a:off x="9753600" y="2717800"/>
            <a:ext cx="914400" cy="812800"/>
          </a:xfrm>
          <a:prstGeom xmlns:a="http://schemas.openxmlformats.org/drawingml/2006/main" prst="rect">
            <a:avLst/>
          </a:prstGeom>
        </p:spPr>
      </p:pic>
      <p:sp>
        <p:nvSpPr>
          <p:cNvPr id="18" name="s6-title-3">
            <a:extLst xmlns:a="http://schemas.openxmlformats.org/drawingml/2006/main">
              <a:ext uri="{FF2B5EF4-FFF2-40B4-BE49-F238E27FC236}">
                <a16:creationId xmlns:a16="http://schemas.microsoft.com/office/drawing/2014/main" id="{89AA0808-6C92-48C7-B0AF-EDEBBAB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719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19" name="s6-gaps">
            <a:extLst xmlns:a="http://schemas.openxmlformats.org/drawingml/2006/main">
              <a:ext uri="{FF2B5EF4-FFF2-40B4-BE49-F238E27FC236}">
                <a16:creationId xmlns:a16="http://schemas.microsoft.com/office/drawing/2014/main" id="{0C0140AC-02E1-4B88-9462-FC976C9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Separate identity · Separate policy · Separate audit · Separate lifecycle</a:t>
            </a:r>
          </a:p>
        </p:txBody>
      </p:sp>
      <p:sp>
        <p:nvSpPr>
          <p:cNvPr id="20" name="divider">
            <a:extLst xmlns:a="http://schemas.openxmlformats.org/drawingml/2006/main">
              <a:ext uri="{FF2B5EF4-FFF2-40B4-BE49-F238E27FC236}">
                <a16:creationId xmlns:a16="http://schemas.microsoft.com/office/drawing/2014/main" id="{807DFD92-2E5F-4A71-987D-AA893A97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6AFF6CA-0CDE-48F0-AA0D-1F59B524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Local custody is not the same as a coherent trust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848099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3c7e7a81e449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F2E500-A7CF-460F-98BA-A857A78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E2BAD70-1CAD-46E8-B7E3-726CDAB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D6AB06F-F8D0-4950-94C2-5F4126A6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7BE8EAD9-960F-4771-AB95-7CC8373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785E32-E413-4C50-85D2-00D871A9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ideal state: modern capability inside the sovereign boundary</a:t>
            </a:r>
          </a:p>
        </p:txBody>
      </p:sp>
      <p:sp>
        <p:nvSpPr>
          <p:cNvPr id="7" name="s7-boundary">
            <a:extLst xmlns:a="http://schemas.openxmlformats.org/drawingml/2006/main">
              <a:ext uri="{FF2B5EF4-FFF2-40B4-BE49-F238E27FC236}">
                <a16:creationId xmlns:a16="http://schemas.microsoft.com/office/drawing/2014/main" id="{29A04503-00D5-486F-86FF-661D7A8C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28575">
            <a:solidFill>
              <a:srgbClr val="C9AEFF"/>
            </a:solidFill>
            <a:prstDash val="solid"/>
          </a:ln>
        </p:spPr>
      </p:sp>
      <p:sp>
        <p:nvSpPr>
          <p:cNvPr id="8" name="s7-boundary-label">
            <a:extLst xmlns:a="http://schemas.openxmlformats.org/drawingml/2006/main">
              <a:ext uri="{FF2B5EF4-FFF2-40B4-BE49-F238E27FC236}">
                <a16:creationId xmlns:a16="http://schemas.microsoft.com/office/drawing/2014/main" id="{2CEB9F75-D2D4-48BC-A058-B645C70B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982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CUSTOMER-DEFINED SOVEREIGN BOUNDARY</a:t>
            </a:r>
          </a:p>
        </p:txBody>
      </p:sp>
      <p:sp>
        <p:nvSpPr>
          <p:cNvPr id="9" name="s7-panel-0">
            <a:extLst xmlns:a="http://schemas.openxmlformats.org/drawingml/2006/main">
              <a:ext uri="{FF2B5EF4-FFF2-40B4-BE49-F238E27FC236}">
                <a16:creationId xmlns:a16="http://schemas.microsoft.com/office/drawing/2014/main" id="{0A87DFD5-4F36-4A4E-BE6C-D60A8A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28765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58ef68f5b4c02"/>
          <a:stretch xmlns:a="http://schemas.openxmlformats.org/drawingml/2006/main"/>
        </p:blipFill>
        <p:spPr>
          <a:xfrm xmlns:a="http://schemas.openxmlformats.org/drawingml/2006/main">
            <a:off x="2466975" y="3230033"/>
            <a:ext cx="876300" cy="778933"/>
          </a:xfrm>
          <a:prstGeom xmlns:a="http://schemas.openxmlformats.org/drawingml/2006/main" prst="rect">
            <a:avLst/>
          </a:prstGeom>
        </p:spPr>
      </p:pic>
      <p:sp>
        <p:nvSpPr>
          <p:cNvPr id="11" name="s7-title-0">
            <a:extLst xmlns:a="http://schemas.openxmlformats.org/drawingml/2006/main">
              <a:ext uri="{FF2B5EF4-FFF2-40B4-BE49-F238E27FC236}">
                <a16:creationId xmlns:a16="http://schemas.microsoft.com/office/drawing/2014/main" id="{8980C346-30FE-42C6-AB88-2E29B83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Infrastructure</a:t>
            </a:r>
          </a:p>
        </p:txBody>
      </p:sp>
      <p:sp>
        <p:nvSpPr>
          <p:cNvPr id="12" name="s7-panel-1">
            <a:extLst xmlns:a="http://schemas.openxmlformats.org/drawingml/2006/main">
              <a:ext uri="{FF2B5EF4-FFF2-40B4-BE49-F238E27FC236}">
                <a16:creationId xmlns:a16="http://schemas.microsoft.com/office/drawing/2014/main" id="{BF3F892E-7D7F-4EC6-9209-79F2E7B3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28765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52ad5d3034fc2"/>
          <a:stretch xmlns:a="http://schemas.openxmlformats.org/drawingml/2006/main"/>
        </p:blipFill>
        <p:spPr>
          <a:xfrm xmlns:a="http://schemas.openxmlformats.org/drawingml/2006/main">
            <a:off x="5648325" y="31813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14" name="s7-title-1">
            <a:extLst xmlns:a="http://schemas.openxmlformats.org/drawingml/2006/main">
              <a:ext uri="{FF2B5EF4-FFF2-40B4-BE49-F238E27FC236}">
                <a16:creationId xmlns:a16="http://schemas.microsoft.com/office/drawing/2014/main" id="{F82E9CC3-BE1B-409E-8795-A539306B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15" name="s7-panel-2">
            <a:extLst xmlns:a="http://schemas.openxmlformats.org/drawingml/2006/main">
              <a:ext uri="{FF2B5EF4-FFF2-40B4-BE49-F238E27FC236}">
                <a16:creationId xmlns:a16="http://schemas.microsoft.com/office/drawing/2014/main" id="{22998969-81C6-4B87-A8BE-3DD0170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28765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9b933e6942e6"/>
          <a:stretch xmlns:a="http://schemas.openxmlformats.org/drawingml/2006/main"/>
        </p:blipFill>
        <p:spPr>
          <a:xfrm xmlns:a="http://schemas.openxmlformats.org/drawingml/2006/main">
            <a:off x="8829675" y="31813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17" name="s7-title-2">
            <a:extLst xmlns:a="http://schemas.openxmlformats.org/drawingml/2006/main">
              <a:ext uri="{FF2B5EF4-FFF2-40B4-BE49-F238E27FC236}">
                <a16:creationId xmlns:a16="http://schemas.microsoft.com/office/drawing/2014/main" id="{9643B87A-2C4A-41AE-9223-8E86C0B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8" name="divider">
            <a:extLst xmlns:a="http://schemas.openxmlformats.org/drawingml/2006/main">
              <a:ext uri="{FF2B5EF4-FFF2-40B4-BE49-F238E27FC236}">
                <a16:creationId xmlns:a16="http://schemas.microsoft.com/office/drawing/2014/main" id="{C6ECA008-8434-4531-8BC5-C9DEAB2A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232F28A-9E71-4FD2-AA33-4C4CE656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organization retains the boundary without surrendering a modern platform model.</a:t>
            </a:r>
          </a:p>
        </p:txBody>
      </p:sp>
    </p:spTree>
    <p:extLst>
      <p:ext uri="{BB962C8B-B14F-4D97-AF65-F5344CB8AC3E}">
        <p14:creationId xmlns:p14="http://schemas.microsoft.com/office/powerpoint/2010/main" val="1039959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402344ab64a9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723939-576F-4B26-A2D5-D3054D09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5150A56-195F-4C75-A038-9FB7078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FC7AE53-3B55-4201-97AB-2CAEB966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AE660D84-6EF7-4537-AE60-3D37094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BAD232-D0AA-4EB7-8964-A5487F5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Sovereign provides a customer-controlled Trusted Execution Layer</a:t>
            </a:r>
          </a:p>
        </p:txBody>
      </p:sp>
      <p:sp>
        <p:nvSpPr>
          <p:cNvPr id="7" name="pill-PEOPLE">
            <a:extLst xmlns:a="http://schemas.openxmlformats.org/drawingml/2006/main">
              <a:ext uri="{FF2B5EF4-FFF2-40B4-BE49-F238E27FC236}">
                <a16:creationId xmlns:a16="http://schemas.microsoft.com/office/drawing/2014/main" id="{D9233842-CC7E-490D-96A3-58134675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8" name="pill-text-PEOPLE">
            <a:extLst xmlns:a="http://schemas.openxmlformats.org/drawingml/2006/main">
              <a:ext uri="{FF2B5EF4-FFF2-40B4-BE49-F238E27FC236}">
                <a16:creationId xmlns:a16="http://schemas.microsoft.com/office/drawing/2014/main" id="{E8EF6CD0-E123-4476-AF7F-53757D1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pill-ORGANIZATIONS">
            <a:extLst xmlns:a="http://schemas.openxmlformats.org/drawingml/2006/main">
              <a:ext uri="{FF2B5EF4-FFF2-40B4-BE49-F238E27FC236}">
                <a16:creationId xmlns:a16="http://schemas.microsoft.com/office/drawing/2014/main" id="{5F040D0C-18F6-4C2B-944A-CBB4CC5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0" name="pill-text-ORGANIZATIONS">
            <a:extLst xmlns:a="http://schemas.openxmlformats.org/drawingml/2006/main">
              <a:ext uri="{FF2B5EF4-FFF2-40B4-BE49-F238E27FC236}">
                <a16:creationId xmlns:a16="http://schemas.microsoft.com/office/drawing/2014/main" id="{3DF3ED87-B6A8-44F6-90AE-33A8C3A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1" name="pill-APPLICATIONS">
            <a:extLst xmlns:a="http://schemas.openxmlformats.org/drawingml/2006/main">
              <a:ext uri="{FF2B5EF4-FFF2-40B4-BE49-F238E27FC236}">
                <a16:creationId xmlns:a16="http://schemas.microsoft.com/office/drawing/2014/main" id="{5D8451F7-B352-4A70-8D97-FD0F5135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2" name="pill-text-APPLICATIONS">
            <a:extLst xmlns:a="http://schemas.openxmlformats.org/drawingml/2006/main">
              <a:ext uri="{FF2B5EF4-FFF2-40B4-BE49-F238E27FC236}">
                <a16:creationId xmlns:a16="http://schemas.microsoft.com/office/drawing/2014/main" id="{78EBB95B-FFC7-48BC-A56E-4A01EC1C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3" name="pill-AI AGENTS">
            <a:extLst xmlns:a="http://schemas.openxmlformats.org/drawingml/2006/main">
              <a:ext uri="{FF2B5EF4-FFF2-40B4-BE49-F238E27FC236}">
                <a16:creationId xmlns:a16="http://schemas.microsoft.com/office/drawing/2014/main" id="{49CC2135-2577-4F66-9AD8-05AF3402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36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4" name="pill-text-AI AGENTS">
            <a:extLst xmlns:a="http://schemas.openxmlformats.org/drawingml/2006/main">
              <a:ext uri="{FF2B5EF4-FFF2-40B4-BE49-F238E27FC236}">
                <a16:creationId xmlns:a16="http://schemas.microsoft.com/office/drawing/2014/main" id="{EB44EE40-97E9-424F-99B7-6DB20D65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5" name="s8-layer">
            <a:extLst xmlns:a="http://schemas.openxmlformats.org/drawingml/2006/main">
              <a:ext uri="{FF2B5EF4-FFF2-40B4-BE49-F238E27FC236}">
                <a16:creationId xmlns:a16="http://schemas.microsoft.com/office/drawing/2014/main" id="{1EAAAE20-DA70-4327-81CD-5FF6DAF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394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sp>
        <p:nvSpPr>
          <p:cNvPr id="16" name="s8-kicker">
            <a:extLst xmlns:a="http://schemas.openxmlformats.org/drawingml/2006/main">
              <a:ext uri="{FF2B5EF4-FFF2-40B4-BE49-F238E27FC236}">
                <a16:creationId xmlns:a16="http://schemas.microsoft.com/office/drawing/2014/main" id="{D0306827-ADD8-493F-8CF5-E9909C0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7" name="s8-title">
            <a:extLst xmlns:a="http://schemas.openxmlformats.org/drawingml/2006/main">
              <a:ext uri="{FF2B5EF4-FFF2-40B4-BE49-F238E27FC236}">
                <a16:creationId xmlns:a16="http://schemas.microsoft.com/office/drawing/2014/main" id="{41571554-58B6-4279-A250-1B809CE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Layer</a:t>
            </a:r>
          </a:p>
        </p:txBody>
      </p:sp>
      <p:sp>
        <p:nvSpPr>
          <p:cNvPr id="18" name="pill-IDENTITY">
            <a:extLst xmlns:a="http://schemas.openxmlformats.org/drawingml/2006/main">
              <a:ext uri="{FF2B5EF4-FFF2-40B4-BE49-F238E27FC236}">
                <a16:creationId xmlns:a16="http://schemas.microsoft.com/office/drawing/2014/main" id="{44FDD75B-F1FE-438F-B14E-FD430E32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9" name="pill-text-IDENTITY">
            <a:extLst xmlns:a="http://schemas.openxmlformats.org/drawingml/2006/main">
              <a:ext uri="{FF2B5EF4-FFF2-40B4-BE49-F238E27FC236}">
                <a16:creationId xmlns:a16="http://schemas.microsoft.com/office/drawing/2014/main" id="{07B8692B-9DD1-4C66-AD81-AEAB644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0" name="pill-AUTHORITY">
            <a:extLst xmlns:a="http://schemas.openxmlformats.org/drawingml/2006/main">
              <a:ext uri="{FF2B5EF4-FFF2-40B4-BE49-F238E27FC236}">
                <a16:creationId xmlns:a16="http://schemas.microsoft.com/office/drawing/2014/main" id="{4C30AEDF-DB94-4E38-A4C6-A68B01EA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1" name="pill-text-AUTHORITY">
            <a:extLst xmlns:a="http://schemas.openxmlformats.org/drawingml/2006/main">
              <a:ext uri="{FF2B5EF4-FFF2-40B4-BE49-F238E27FC236}">
                <a16:creationId xmlns:a16="http://schemas.microsoft.com/office/drawing/2014/main" id="{FE53F359-E6C3-4A2B-961D-AEB8C540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22" name="pill-POLICY">
            <a:extLst xmlns:a="http://schemas.openxmlformats.org/drawingml/2006/main">
              <a:ext uri="{FF2B5EF4-FFF2-40B4-BE49-F238E27FC236}">
                <a16:creationId xmlns:a16="http://schemas.microsoft.com/office/drawing/2014/main" id="{FFB6AD15-5BD9-4B83-9CC1-8D34CB5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3" name="pill-text-POLICY">
            <a:extLst xmlns:a="http://schemas.openxmlformats.org/drawingml/2006/main">
              <a:ext uri="{FF2B5EF4-FFF2-40B4-BE49-F238E27FC236}">
                <a16:creationId xmlns:a16="http://schemas.microsoft.com/office/drawing/2014/main" id="{1A2F6B32-16AB-4E31-A72C-0B9BFA48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24" name="pill-APPROVAL">
            <a:extLst xmlns:a="http://schemas.openxmlformats.org/drawingml/2006/main">
              <a:ext uri="{FF2B5EF4-FFF2-40B4-BE49-F238E27FC236}">
                <a16:creationId xmlns:a16="http://schemas.microsoft.com/office/drawing/2014/main" id="{A31228F1-5BFD-43BD-8FE2-A981BE0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5" name="pill-text-APPROVAL">
            <a:extLst xmlns:a="http://schemas.openxmlformats.org/drawingml/2006/main">
              <a:ext uri="{FF2B5EF4-FFF2-40B4-BE49-F238E27FC236}">
                <a16:creationId xmlns:a16="http://schemas.microsoft.com/office/drawing/2014/main" id="{34A1E079-1B97-434A-A599-4BAA878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6" name="pill-TRUST">
            <a:extLst xmlns:a="http://schemas.openxmlformats.org/drawingml/2006/main">
              <a:ext uri="{FF2B5EF4-FFF2-40B4-BE49-F238E27FC236}">
                <a16:creationId xmlns:a16="http://schemas.microsoft.com/office/drawing/2014/main" id="{634252B4-1165-42D4-BD5C-ACE017E8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7" name="pill-text-TRUST">
            <a:extLst xmlns:a="http://schemas.openxmlformats.org/drawingml/2006/main">
              <a:ext uri="{FF2B5EF4-FFF2-40B4-BE49-F238E27FC236}">
                <a16:creationId xmlns:a16="http://schemas.microsoft.com/office/drawing/2014/main" id="{637979DB-6FB9-4841-89B3-61E62FB9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28" name="pill-EVIDENCE">
            <a:extLst xmlns:a="http://schemas.openxmlformats.org/drawingml/2006/main">
              <a:ext uri="{FF2B5EF4-FFF2-40B4-BE49-F238E27FC236}">
                <a16:creationId xmlns:a16="http://schemas.microsoft.com/office/drawing/2014/main" id="{BDBBBBBB-1B41-4E07-84ED-F60C465B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57750"/>
            <a:ext cx="1676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9" name="pill-text-EVIDENCE">
            <a:extLst xmlns:a="http://schemas.openxmlformats.org/drawingml/2006/main">
              <a:ext uri="{FF2B5EF4-FFF2-40B4-BE49-F238E27FC236}">
                <a16:creationId xmlns:a16="http://schemas.microsoft.com/office/drawing/2014/main" id="{9E18BDD5-5EB5-42F1-97DF-FD9D8634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530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0" name="divider">
            <a:extLst xmlns:a="http://schemas.openxmlformats.org/drawingml/2006/main">
              <a:ext uri="{FF2B5EF4-FFF2-40B4-BE49-F238E27FC236}">
                <a16:creationId xmlns:a16="http://schemas.microsoft.com/office/drawing/2014/main" id="{B4B9D30B-A3F7-4432-8BCC-1DAD82F8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9C3DA10-9C4E-494A-A2EC-69337CE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control stays attached to actual execution.</a:t>
            </a:r>
          </a:p>
        </p:txBody>
      </p:sp>
    </p:spTree>
    <p:extLst>
      <p:ext uri="{BB962C8B-B14F-4D97-AF65-F5344CB8AC3E}">
        <p14:creationId xmlns:p14="http://schemas.microsoft.com/office/powerpoint/2010/main" val="1649207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b97d587ee44c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136FC5-A5C4-44DD-B4BB-0DB3AA7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DC0FEB7-B37E-4E5A-A5C3-32C385DD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3CB222B-0239-4A61-B24C-741D3CB4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6708E2F8-A6C9-4B63-93B4-C8533FD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BA05E9-F7F8-4DA3-BB99-E31875C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platform connects the full trust lifecycle</a:t>
            </a:r>
          </a:p>
        </p:txBody>
      </p:sp>
      <p:sp>
        <p:nvSpPr>
          <p:cNvPr id="7" name="s9-card-0">
            <a:extLst xmlns:a="http://schemas.openxmlformats.org/drawingml/2006/main">
              <a:ext uri="{FF2B5EF4-FFF2-40B4-BE49-F238E27FC236}">
                <a16:creationId xmlns:a16="http://schemas.microsoft.com/office/drawing/2014/main" id="{AB43F086-F3CE-43E1-8821-FB52472E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590800" cy="3105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f535e714453c"/>
          <a:stretch xmlns:a="http://schemas.openxmlformats.org/drawingml/2006/main"/>
        </p:blipFill>
        <p:spPr>
          <a:xfrm xmlns:a="http://schemas.openxmlformats.org/drawingml/2006/main">
            <a:off x="1276350" y="2624667"/>
            <a:ext cx="952500" cy="846667"/>
          </a:xfrm>
          <a:prstGeom xmlns:a="http://schemas.openxmlformats.org/drawingml/2006/main" prst="rect">
            <a:avLst/>
          </a:prstGeom>
        </p:spPr>
      </p:pic>
      <p:sp>
        <p:nvSpPr>
          <p:cNvPr id="9" name="s9-label-0">
            <a:extLst xmlns:a="http://schemas.openxmlformats.org/drawingml/2006/main">
              <a:ext uri="{FF2B5EF4-FFF2-40B4-BE49-F238E27FC236}">
                <a16:creationId xmlns:a16="http://schemas.microsoft.com/office/drawing/2014/main" id="{3FF2FBD6-32A9-40FD-8AAF-6FDF5D85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0" name="s9-body-0">
            <a:extLst xmlns:a="http://schemas.openxmlformats.org/drawingml/2006/main">
              <a:ext uri="{FF2B5EF4-FFF2-40B4-BE49-F238E27FC236}">
                <a16:creationId xmlns:a16="http://schemas.microsoft.com/office/drawing/2014/main" id="{2BC502A4-5D83-45A7-A6CE-EB88379C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 · Collaborate</a:t>
            </a:r>
          </a:p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· Automate</a:t>
            </a:r>
          </a:p>
        </p:txBody>
      </p:sp>
      <p:sp>
        <p:nvSpPr>
          <p:cNvPr id="11" name="s9-card-1">
            <a:extLst xmlns:a="http://schemas.openxmlformats.org/drawingml/2006/main">
              <a:ext uri="{FF2B5EF4-FFF2-40B4-BE49-F238E27FC236}">
                <a16:creationId xmlns:a16="http://schemas.microsoft.com/office/drawing/2014/main" id="{6F68F328-6DB8-4E5B-921E-841C5A88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2590800" cy="3105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4a71ca5f54a68"/>
          <a:stretch xmlns:a="http://schemas.openxmlformats.org/drawingml/2006/main"/>
        </p:blipFill>
        <p:spPr>
          <a:xfrm xmlns:a="http://schemas.openxmlformats.org/drawingml/2006/main">
            <a:off x="4095750" y="25717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3" name="s9-label-1">
            <a:extLst xmlns:a="http://schemas.openxmlformats.org/drawingml/2006/main">
              <a:ext uri="{FF2B5EF4-FFF2-40B4-BE49-F238E27FC236}">
                <a16:creationId xmlns:a16="http://schemas.microsoft.com/office/drawing/2014/main" id="{79A54AB6-21FB-4809-A727-9FC2E04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14" name="s9-body-1">
            <a:extLst xmlns:a="http://schemas.openxmlformats.org/drawingml/2006/main">
              <a:ext uri="{FF2B5EF4-FFF2-40B4-BE49-F238E27FC236}">
                <a16:creationId xmlns:a16="http://schemas.microsoft.com/office/drawing/2014/main" id="{AF3C65E0-6DCC-4A89-B064-B51CA39A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862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· Authority</a:t>
            </a:r>
          </a:p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· Seal · Verify</a:t>
            </a:r>
          </a:p>
        </p:txBody>
      </p:sp>
      <p:sp>
        <p:nvSpPr>
          <p:cNvPr id="15" name="s9-card-2">
            <a:extLst xmlns:a="http://schemas.openxmlformats.org/drawingml/2006/main">
              <a:ext uri="{FF2B5EF4-FFF2-40B4-BE49-F238E27FC236}">
                <a16:creationId xmlns:a16="http://schemas.microsoft.com/office/drawing/2014/main" id="{2D2F964C-A379-4F22-B4A6-ECB792C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590800" cy="3105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701675fde4ade"/>
          <a:stretch xmlns:a="http://schemas.openxmlformats.org/drawingml/2006/main"/>
        </p:blipFill>
        <p:spPr>
          <a:xfrm xmlns:a="http://schemas.openxmlformats.org/drawingml/2006/main">
            <a:off x="6915150" y="2624667"/>
            <a:ext cx="952500" cy="846667"/>
          </a:xfrm>
          <a:prstGeom xmlns:a="http://schemas.openxmlformats.org/drawingml/2006/main" prst="rect">
            <a:avLst/>
          </a:prstGeom>
        </p:spPr>
      </p:pic>
      <p:sp>
        <p:nvSpPr>
          <p:cNvPr id="17" name="s9-label-2">
            <a:extLst xmlns:a="http://schemas.openxmlformats.org/drawingml/2006/main">
              <a:ext uri="{FF2B5EF4-FFF2-40B4-BE49-F238E27FC236}">
                <a16:creationId xmlns:a16="http://schemas.microsoft.com/office/drawing/2014/main" id="{B33709FD-DD7C-4701-948C-420E034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18" name="s9-body-2">
            <a:extLst xmlns:a="http://schemas.openxmlformats.org/drawingml/2006/main">
              <a:ext uri="{FF2B5EF4-FFF2-40B4-BE49-F238E27FC236}">
                <a16:creationId xmlns:a16="http://schemas.microsoft.com/office/drawing/2014/main" id="{18224855-B4F3-48CC-818A-7D95F6AD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Audit · Preserve</a:t>
            </a:r>
          </a:p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Retrieve · Prove</a:t>
            </a:r>
          </a:p>
        </p:txBody>
      </p:sp>
      <p:sp>
        <p:nvSpPr>
          <p:cNvPr id="19" name="s9-card-3">
            <a:extLst xmlns:a="http://schemas.openxmlformats.org/drawingml/2006/main">
              <a:ext uri="{FF2B5EF4-FFF2-40B4-BE49-F238E27FC236}">
                <a16:creationId xmlns:a16="http://schemas.microsoft.com/office/drawing/2014/main" id="{271E53A5-B8AA-48A0-A9D2-F4AB843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590800" cy="31051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42108ea9e4edd"/>
          <a:stretch xmlns:a="http://schemas.openxmlformats.org/drawingml/2006/main"/>
        </p:blipFill>
        <p:spPr>
          <a:xfrm xmlns:a="http://schemas.openxmlformats.org/drawingml/2006/main">
            <a:off x="9734550" y="2651125"/>
            <a:ext cx="952500" cy="793750"/>
          </a:xfrm>
          <a:prstGeom xmlns:a="http://schemas.openxmlformats.org/drawingml/2006/main" prst="rect">
            <a:avLst/>
          </a:prstGeom>
        </p:spPr>
      </p:pic>
      <p:sp>
        <p:nvSpPr>
          <p:cNvPr id="21" name="s9-label-3">
            <a:extLst xmlns:a="http://schemas.openxmlformats.org/drawingml/2006/main">
              <a:ext uri="{FF2B5EF4-FFF2-40B4-BE49-F238E27FC236}">
                <a16:creationId xmlns:a16="http://schemas.microsoft.com/office/drawing/2014/main" id="{610F3AD8-AC1C-4816-A654-1E9B24EC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29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GOVERNED ACCESS</a:t>
            </a:r>
          </a:p>
        </p:txBody>
      </p:sp>
      <p:sp>
        <p:nvSpPr>
          <p:cNvPr id="22" name="s9-body-3">
            <a:extLst xmlns:a="http://schemas.openxmlformats.org/drawingml/2006/main">
              <a:ext uri="{FF2B5EF4-FFF2-40B4-BE49-F238E27FC236}">
                <a16:creationId xmlns:a16="http://schemas.microsoft.com/office/drawing/2014/main" id="{7A201B4C-6A63-4DA9-9E21-FB8D762F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2171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Portals · Systems</a:t>
            </a:r>
          </a:p>
          <a:p xmlns:a="http://schemas.openxmlformats.org/drawingml/2006/main">
            <a:pPr algn="ctr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APIs · AI agents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98AC14A0-743F-413A-8214-997310D2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536637C-3783-410E-919F-335601E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One governance model. One continuous evidence chain.</a:t>
            </a:r>
          </a:p>
        </p:txBody>
      </p:sp>
    </p:spTree>
    <p:extLst>
      <p:ext uri="{BB962C8B-B14F-4D97-AF65-F5344CB8AC3E}">
        <p14:creationId xmlns:p14="http://schemas.microsoft.com/office/powerpoint/2010/main" val="561433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f29209a1d430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56942E-082F-4949-8C83-D8C699A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ECC6A75-FF30-4374-96D6-76BDAA0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84F7041-0288-4522-8E02-03866BFD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34AED552-A068-4BC3-939D-B89F1A3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2A46B-6720-4C3B-B92F-AD4B3024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Deploy to the boundary the organization defines</a:t>
            </a:r>
          </a:p>
        </p:txBody>
      </p:sp>
      <p:sp>
        <p:nvSpPr>
          <p:cNvPr id="7" name="card-01">
            <a:extLst xmlns:a="http://schemas.openxmlformats.org/drawingml/2006/main">
              <a:ext uri="{FF2B5EF4-FFF2-40B4-BE49-F238E27FC236}">
                <a16:creationId xmlns:a16="http://schemas.microsoft.com/office/drawing/2014/main" id="{DCEF2505-26D6-4873-A9BD-220AFD1D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590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card-num-01">
            <a:extLst xmlns:a="http://schemas.openxmlformats.org/drawingml/2006/main">
              <a:ext uri="{FF2B5EF4-FFF2-40B4-BE49-F238E27FC236}">
                <a16:creationId xmlns:a16="http://schemas.microsoft.com/office/drawing/2014/main" id="{B0750FD1-1862-4430-9558-155571C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card-title-01">
            <a:extLst xmlns:a="http://schemas.openxmlformats.org/drawingml/2006/main">
              <a:ext uri="{FF2B5EF4-FFF2-40B4-BE49-F238E27FC236}">
                <a16:creationId xmlns:a16="http://schemas.microsoft.com/office/drawing/2014/main" id="{B11C7F4E-5946-4831-AB35-A9F65DB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Customer data centre</a:t>
            </a:r>
          </a:p>
        </p:txBody>
      </p:sp>
      <p:sp>
        <p:nvSpPr>
          <p:cNvPr id="10" name="card-body-01">
            <a:extLst xmlns:a="http://schemas.openxmlformats.org/drawingml/2006/main">
              <a:ext uri="{FF2B5EF4-FFF2-40B4-BE49-F238E27FC236}">
                <a16:creationId xmlns:a16="http://schemas.microsoft.com/office/drawing/2014/main" id="{BAD4AE27-373C-4EE2-A99F-F78BBE6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Direct infrastructure control</a:t>
            </a:r>
          </a:p>
        </p:txBody>
      </p:sp>
      <p:sp>
        <p:nvSpPr>
          <p:cNvPr id="11" name="card-02">
            <a:extLst xmlns:a="http://schemas.openxmlformats.org/drawingml/2006/main">
              <a:ext uri="{FF2B5EF4-FFF2-40B4-BE49-F238E27FC236}">
                <a16:creationId xmlns:a16="http://schemas.microsoft.com/office/drawing/2014/main" id="{FE8B82D9-357F-4066-8708-B971843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2590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card-num-02">
            <a:extLst xmlns:a="http://schemas.openxmlformats.org/drawingml/2006/main">
              <a:ext uri="{FF2B5EF4-FFF2-40B4-BE49-F238E27FC236}">
                <a16:creationId xmlns:a16="http://schemas.microsoft.com/office/drawing/2014/main" id="{1424ADC5-6D89-42FF-94B4-13E0279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card-title-02">
            <a:extLst xmlns:a="http://schemas.openxmlformats.org/drawingml/2006/main">
              <a:ext uri="{FF2B5EF4-FFF2-40B4-BE49-F238E27FC236}">
                <a16:creationId xmlns:a16="http://schemas.microsoft.com/office/drawing/2014/main" id="{1578AB57-CFD9-4DDE-A391-5F121F6F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Government cloud</a:t>
            </a:r>
          </a:p>
        </p:txBody>
      </p:sp>
      <p:sp>
        <p:nvSpPr>
          <p:cNvPr id="14" name="card-body-02">
            <a:extLst xmlns:a="http://schemas.openxmlformats.org/drawingml/2006/main">
              <a:ext uri="{FF2B5EF4-FFF2-40B4-BE49-F238E27FC236}">
                <a16:creationId xmlns:a16="http://schemas.microsoft.com/office/drawing/2014/main" id="{CD9AB284-F377-4D23-9436-D20E9C1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195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Public-sector control plane</a:t>
            </a:r>
          </a:p>
        </p:txBody>
      </p:sp>
      <p:sp>
        <p:nvSpPr>
          <p:cNvPr id="15" name="card-03">
            <a:extLst xmlns:a="http://schemas.openxmlformats.org/drawingml/2006/main">
              <a:ext uri="{FF2B5EF4-FFF2-40B4-BE49-F238E27FC236}">
                <a16:creationId xmlns:a16="http://schemas.microsoft.com/office/drawing/2014/main" id="{90F0C003-C84F-41B2-B75A-CDB5E5B1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590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16" name="card-num-03">
            <a:extLst xmlns:a="http://schemas.openxmlformats.org/drawingml/2006/main">
              <a:ext uri="{FF2B5EF4-FFF2-40B4-BE49-F238E27FC236}">
                <a16:creationId xmlns:a16="http://schemas.microsoft.com/office/drawing/2014/main" id="{C667A5F1-615C-43F0-9382-A4CB537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card-title-03">
            <a:extLst xmlns:a="http://schemas.openxmlformats.org/drawingml/2006/main">
              <a:ext uri="{FF2B5EF4-FFF2-40B4-BE49-F238E27FC236}">
                <a16:creationId xmlns:a16="http://schemas.microsoft.com/office/drawing/2014/main" id="{6E47894E-9CC8-4356-8304-EEC91B1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 or private cloud</a:t>
            </a:r>
          </a:p>
        </p:txBody>
      </p:sp>
      <p:sp>
        <p:nvSpPr>
          <p:cNvPr id="18" name="card-body-03">
            <a:extLst xmlns:a="http://schemas.openxmlformats.org/drawingml/2006/main">
              <a:ext uri="{FF2B5EF4-FFF2-40B4-BE49-F238E27FC236}">
                <a16:creationId xmlns:a16="http://schemas.microsoft.com/office/drawing/2014/main" id="{D50FB2C0-3D4E-44CA-92C6-10DDB2C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Dedicated jurisdictional boundary</a:t>
            </a:r>
          </a:p>
        </p:txBody>
      </p:sp>
      <p:sp>
        <p:nvSpPr>
          <p:cNvPr id="19" name="card-04">
            <a:extLst xmlns:a="http://schemas.openxmlformats.org/drawingml/2006/main">
              <a:ext uri="{FF2B5EF4-FFF2-40B4-BE49-F238E27FC236}">
                <a16:creationId xmlns:a16="http://schemas.microsoft.com/office/drawing/2014/main" id="{D1D76A3C-5EC8-4336-A7D5-5FE26D0D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590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card-num-04">
            <a:extLst xmlns:a="http://schemas.openxmlformats.org/drawingml/2006/main">
              <a:ext uri="{FF2B5EF4-FFF2-40B4-BE49-F238E27FC236}">
                <a16:creationId xmlns:a16="http://schemas.microsoft.com/office/drawing/2014/main" id="{7E8059BA-3CE5-42C6-8C3D-F8D3CC64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card-title-04">
            <a:extLst xmlns:a="http://schemas.openxmlformats.org/drawingml/2006/main">
              <a:ext uri="{FF2B5EF4-FFF2-40B4-BE49-F238E27FC236}">
                <a16:creationId xmlns:a16="http://schemas.microsoft.com/office/drawing/2014/main" id="{6A11E515-0934-490B-84B8-257B9AC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5752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Controlled cloud environment</a:t>
            </a:r>
          </a:p>
        </p:txBody>
      </p:sp>
      <p:sp>
        <p:nvSpPr>
          <p:cNvPr id="22" name="card-body-04">
            <a:extLst xmlns:a="http://schemas.openxmlformats.org/drawingml/2006/main">
              <a:ext uri="{FF2B5EF4-FFF2-40B4-BE49-F238E27FC236}">
                <a16:creationId xmlns:a16="http://schemas.microsoft.com/office/drawing/2014/main" id="{EEC41735-1859-428D-87BF-204F2A8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Governed hosting pattern</a:t>
            </a:r>
          </a:p>
        </p:txBody>
      </p:sp>
      <p:sp>
        <p:nvSpPr>
          <p:cNvPr id="23" name="s10-validation">
            <a:extLst xmlns:a="http://schemas.openxmlformats.org/drawingml/2006/main">
              <a:ext uri="{FF2B5EF4-FFF2-40B4-BE49-F238E27FC236}">
                <a16:creationId xmlns:a16="http://schemas.microsoft.com/office/drawing/2014/main" id="{C7CA7F7A-7323-4CD9-BFB8-0B7D67A4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067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4" name="s10-validation-text">
            <a:extLst xmlns:a="http://schemas.openxmlformats.org/drawingml/2006/main">
              <a:ext uri="{FF2B5EF4-FFF2-40B4-BE49-F238E27FC236}">
                <a16:creationId xmlns:a16="http://schemas.microsoft.com/office/drawing/2014/main" id="{B68650B2-9B6E-468F-A95B-9224DD91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849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ARCHITECTURE DECISION: validate platform fit, lifecycle, operations, recovery, and support for the selected pattern.</a:t>
            </a:r>
          </a:p>
        </p:txBody>
      </p:sp>
      <p:sp>
        <p:nvSpPr>
          <p:cNvPr id="25" name="divider">
            <a:extLst xmlns:a="http://schemas.openxmlformats.org/drawingml/2006/main">
              <a:ext uri="{FF2B5EF4-FFF2-40B4-BE49-F238E27FC236}">
                <a16:creationId xmlns:a16="http://schemas.microsoft.com/office/drawing/2014/main" id="{6A63B26E-3B79-47C5-9922-67A10B3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322EA06-DA8C-40CF-9EFA-11B8722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deployment pattern follows the sovereignty requirement—not the reverse.</a:t>
            </a:r>
          </a:p>
        </p:txBody>
      </p:sp>
    </p:spTree>
    <p:extLst>
      <p:ext uri="{BB962C8B-B14F-4D97-AF65-F5344CB8AC3E}">
        <p14:creationId xmlns:p14="http://schemas.microsoft.com/office/powerpoint/2010/main" val="559926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21baee0c74f7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42121F-93C9-4542-8304-43C4992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04AC6EE-E886-4349-8E23-8C0C0C48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6A96879-67EB-4BB3-B2D2-86B1960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A80169BA-401B-4D31-9B33-C219986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FB0529-58E6-432A-A2EC-01F9908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Connect the trust infrastructure already inside that boundary</a:t>
            </a:r>
          </a:p>
        </p:txBody>
      </p:sp>
      <p:sp>
        <p:nvSpPr>
          <p:cNvPr id="7" name="s11-core">
            <a:extLst xmlns:a="http://schemas.openxmlformats.org/drawingml/2006/main">
              <a:ext uri="{FF2B5EF4-FFF2-40B4-BE49-F238E27FC236}">
                <a16:creationId xmlns:a16="http://schemas.microsoft.com/office/drawing/2014/main" id="{B47E9727-F9C8-4C94-A884-64E3BC0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37719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a41e436f84ab0"/>
          <a:stretch xmlns:a="http://schemas.openxmlformats.org/drawingml/2006/main"/>
        </p:blipFill>
        <p:spPr>
          <a:xfrm xmlns:a="http://schemas.openxmlformats.org/drawingml/2006/main">
            <a:off x="5562600" y="2965450"/>
            <a:ext cx="1066800" cy="889000"/>
          </a:xfrm>
          <a:prstGeom xmlns:a="http://schemas.openxmlformats.org/drawingml/2006/main" prst="rect">
            <a:avLst/>
          </a:prstGeom>
        </p:spPr>
      </p:pic>
      <p:sp>
        <p:nvSpPr>
          <p:cNvPr id="9" name="s11-core-title">
            <a:extLst xmlns:a="http://schemas.openxmlformats.org/drawingml/2006/main">
              <a:ext uri="{FF2B5EF4-FFF2-40B4-BE49-F238E27FC236}">
                <a16:creationId xmlns:a16="http://schemas.microsoft.com/office/drawing/2014/main" id="{16ADA78C-96A1-4DE7-B50F-D3D7B9A3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0" name="s11-node-0">
            <a:extLst xmlns:a="http://schemas.openxmlformats.org/drawingml/2006/main">
              <a:ext uri="{FF2B5EF4-FFF2-40B4-BE49-F238E27FC236}">
                <a16:creationId xmlns:a16="http://schemas.microsoft.com/office/drawing/2014/main" id="{4785C13C-1C33-443C-95C1-6326D8F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11-label-0">
            <a:extLst xmlns:a="http://schemas.openxmlformats.org/drawingml/2006/main">
              <a:ext uri="{FF2B5EF4-FFF2-40B4-BE49-F238E27FC236}">
                <a16:creationId xmlns:a16="http://schemas.microsoft.com/office/drawing/2014/main" id="{A209AEE9-7A6A-42E4-A73A-04F9DACD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National identity</a:t>
            </a:r>
          </a:p>
        </p:txBody>
      </p:sp>
      <p:sp>
        <p:nvSpPr>
          <p:cNvPr id="12" name="s11-node-1">
            <a:extLst xmlns:a="http://schemas.openxmlformats.org/drawingml/2006/main">
              <a:ext uri="{FF2B5EF4-FFF2-40B4-BE49-F238E27FC236}">
                <a16:creationId xmlns:a16="http://schemas.microsoft.com/office/drawing/2014/main" id="{394D9E26-1553-4FF5-A97C-B8C38C0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11-label-1">
            <a:extLst xmlns:a="http://schemas.openxmlformats.org/drawingml/2006/main">
              <a:ext uri="{FF2B5EF4-FFF2-40B4-BE49-F238E27FC236}">
                <a16:creationId xmlns:a16="http://schemas.microsoft.com/office/drawing/2014/main" id="{73EE7514-DB61-4E0E-AD8C-03AF7621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 IAM</a:t>
            </a:r>
          </a:p>
        </p:txBody>
      </p:sp>
      <p:sp>
        <p:nvSpPr>
          <p:cNvPr id="14" name="s11-node-2">
            <a:extLst xmlns:a="http://schemas.openxmlformats.org/drawingml/2006/main">
              <a:ext uri="{FF2B5EF4-FFF2-40B4-BE49-F238E27FC236}">
                <a16:creationId xmlns:a16="http://schemas.microsoft.com/office/drawing/2014/main" id="{360BB83E-8E23-4026-A700-F5C665C5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s11-label-2">
            <a:extLst xmlns:a="http://schemas.openxmlformats.org/drawingml/2006/main">
              <a:ext uri="{FF2B5EF4-FFF2-40B4-BE49-F238E27FC236}">
                <a16:creationId xmlns:a16="http://schemas.microsoft.com/office/drawing/2014/main" id="{4A6208C6-BFC8-4C25-A5FC-B30BA373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PKI / CA</a:t>
            </a:r>
          </a:p>
        </p:txBody>
      </p:sp>
      <p:sp>
        <p:nvSpPr>
          <p:cNvPr id="16" name="s11-node-3">
            <a:extLst xmlns:a="http://schemas.openxmlformats.org/drawingml/2006/main">
              <a:ext uri="{FF2B5EF4-FFF2-40B4-BE49-F238E27FC236}">
                <a16:creationId xmlns:a16="http://schemas.microsoft.com/office/drawing/2014/main" id="{AFC54FB1-A731-42D9-94ED-A29ED10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11-label-3">
            <a:extLst xmlns:a="http://schemas.openxmlformats.org/drawingml/2006/main">
              <a:ext uri="{FF2B5EF4-FFF2-40B4-BE49-F238E27FC236}">
                <a16:creationId xmlns:a16="http://schemas.microsoft.com/office/drawing/2014/main" id="{40C8B7C0-3586-4554-AA52-6F58B1B9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386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HSM</a:t>
            </a:r>
          </a:p>
        </p:txBody>
      </p:sp>
      <p:sp>
        <p:nvSpPr>
          <p:cNvPr id="18" name="s11-node-4">
            <a:extLst xmlns:a="http://schemas.openxmlformats.org/drawingml/2006/main">
              <a:ext uri="{FF2B5EF4-FFF2-40B4-BE49-F238E27FC236}">
                <a16:creationId xmlns:a16="http://schemas.microsoft.com/office/drawing/2014/main" id="{E93F0AA5-3725-41F0-A31E-C85EC6F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s11-label-4">
            <a:extLst xmlns:a="http://schemas.openxmlformats.org/drawingml/2006/main">
              <a:ext uri="{FF2B5EF4-FFF2-40B4-BE49-F238E27FC236}">
                <a16:creationId xmlns:a16="http://schemas.microsoft.com/office/drawing/2014/main" id="{3D3F30E4-889C-49E9-A50F-58C6578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57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TSA</a:t>
            </a:r>
          </a:p>
        </p:txBody>
      </p:sp>
      <p:sp>
        <p:nvSpPr>
          <p:cNvPr id="20" name="s11-node-5">
            <a:extLst xmlns:a="http://schemas.openxmlformats.org/drawingml/2006/main">
              <a:ext uri="{FF2B5EF4-FFF2-40B4-BE49-F238E27FC236}">
                <a16:creationId xmlns:a16="http://schemas.microsoft.com/office/drawing/2014/main" id="{DED99C20-8D6E-4F1D-BB44-310AD32E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2019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11-label-5">
            <a:extLst xmlns:a="http://schemas.openxmlformats.org/drawingml/2006/main">
              <a:ext uri="{FF2B5EF4-FFF2-40B4-BE49-F238E27FC236}">
                <a16:creationId xmlns:a16="http://schemas.microsoft.com/office/drawing/2014/main" id="{0D565DE2-7BA7-4C65-B1FB-7B9AA509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57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service provider</a:t>
            </a:r>
          </a:p>
        </p:txBody>
      </p:sp>
      <p:sp>
        <p:nvSpPr>
          <p:cNvPr id="22" name="s11-a0-line">
            <a:extLst xmlns:a="http://schemas.openxmlformats.org/drawingml/2006/main">
              <a:ext uri="{FF2B5EF4-FFF2-40B4-BE49-F238E27FC236}">
                <a16:creationId xmlns:a16="http://schemas.microsoft.com/office/drawing/2014/main" id="{B50A1597-37E8-4805-BAE7-4EC58DD4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5272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1-a0-head">
            <a:extLst xmlns:a="http://schemas.openxmlformats.org/drawingml/2006/main">
              <a:ext uri="{FF2B5EF4-FFF2-40B4-BE49-F238E27FC236}">
                <a16:creationId xmlns:a16="http://schemas.microsoft.com/office/drawing/2014/main" id="{683D4B04-7854-4DA9-8E3F-1C04F1E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860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1-a1-line">
            <a:extLst xmlns:a="http://schemas.openxmlformats.org/drawingml/2006/main">
              <a:ext uri="{FF2B5EF4-FFF2-40B4-BE49-F238E27FC236}">
                <a16:creationId xmlns:a16="http://schemas.microsoft.com/office/drawing/2014/main" id="{2B9D7642-27CF-4905-9ECD-94ADC6B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72025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1-a1-head">
            <a:extLst xmlns:a="http://schemas.openxmlformats.org/drawingml/2006/main">
              <a:ext uri="{FF2B5EF4-FFF2-40B4-BE49-F238E27FC236}">
                <a16:creationId xmlns:a16="http://schemas.microsoft.com/office/drawing/2014/main" id="{41B5C32D-C518-4EA0-8C92-25AFDC6E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7053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1-a2-line">
            <a:extLst xmlns:a="http://schemas.openxmlformats.org/drawingml/2006/main">
              <a:ext uri="{FF2B5EF4-FFF2-40B4-BE49-F238E27FC236}">
                <a16:creationId xmlns:a16="http://schemas.microsoft.com/office/drawing/2014/main" id="{067E3803-AE71-47D8-8FE9-777F662D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52725"/>
            <a:ext cx="1114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1-a2-head">
            <a:extLst xmlns:a="http://schemas.openxmlformats.org/drawingml/2006/main">
              <a:ext uri="{FF2B5EF4-FFF2-40B4-BE49-F238E27FC236}">
                <a16:creationId xmlns:a16="http://schemas.microsoft.com/office/drawing/2014/main" id="{16B09A46-CCB3-46BF-B02F-CFE94C32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860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1-a3-line">
            <a:extLst xmlns:a="http://schemas.openxmlformats.org/drawingml/2006/main">
              <a:ext uri="{FF2B5EF4-FFF2-40B4-BE49-F238E27FC236}">
                <a16:creationId xmlns:a16="http://schemas.microsoft.com/office/drawing/2014/main" id="{A4C9F0EA-3237-4405-9957-0A938BE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1114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11-a3-head">
            <a:extLst xmlns:a="http://schemas.openxmlformats.org/drawingml/2006/main">
              <a:ext uri="{FF2B5EF4-FFF2-40B4-BE49-F238E27FC236}">
                <a16:creationId xmlns:a16="http://schemas.microsoft.com/office/drawing/2014/main" id="{CC8E4085-8AF8-481A-B38F-94B6A1C9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053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1-qual">
            <a:extLst xmlns:a="http://schemas.openxmlformats.org/drawingml/2006/main">
              <a:ext uri="{FF2B5EF4-FFF2-40B4-BE49-F238E27FC236}">
                <a16:creationId xmlns:a16="http://schemas.microsoft.com/office/drawing/2014/main" id="{91C64425-158B-4155-AA6D-365F416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Integration endpoints are design inputs to validate during architecture discovery.</a:t>
            </a:r>
          </a:p>
        </p:txBody>
      </p:sp>
    </p:spTree>
    <p:extLst>
      <p:ext uri="{BB962C8B-B14F-4D97-AF65-F5344CB8AC3E}">
        <p14:creationId xmlns:p14="http://schemas.microsoft.com/office/powerpoint/2010/main" val="1835553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e854b2af04a5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BFEF34-6271-4BAA-8DD4-A1B6E909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6955C4D-747C-4E67-BA46-63CF365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A3ED729-2A19-456E-97AB-9BFB2B2B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E3A4ADD-AFF5-41A8-8294-3F41C8F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7897E8-D2E1-4CBC-99AF-2FAD827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Sovereign AI keeps context and execution within governed limits</a:t>
            </a:r>
          </a:p>
        </p:txBody>
      </p:sp>
      <p:sp>
        <p:nvSpPr>
          <p:cNvPr id="7" name="s12-stage-0">
            <a:extLst xmlns:a="http://schemas.openxmlformats.org/drawingml/2006/main">
              <a:ext uri="{FF2B5EF4-FFF2-40B4-BE49-F238E27FC236}">
                <a16:creationId xmlns:a16="http://schemas.microsoft.com/office/drawing/2014/main" id="{CD20B5E8-C725-4690-924E-03D9B27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38350" cy="21336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s12-num-0">
            <a:extLst xmlns:a="http://schemas.openxmlformats.org/drawingml/2006/main">
              <a:ext uri="{FF2B5EF4-FFF2-40B4-BE49-F238E27FC236}">
                <a16:creationId xmlns:a16="http://schemas.microsoft.com/office/drawing/2014/main" id="{B84A91D2-2286-4F47-B491-4DA4E3D0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s12-title-0">
            <a:extLst xmlns:a="http://schemas.openxmlformats.org/drawingml/2006/main">
              <a:ext uri="{FF2B5EF4-FFF2-40B4-BE49-F238E27FC236}">
                <a16:creationId xmlns:a16="http://schemas.microsoft.com/office/drawing/2014/main" id="{41A1C877-0D5D-42DE-BD07-2691DDD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CONTEXT</a:t>
            </a:r>
          </a:p>
        </p:txBody>
      </p:sp>
      <p:sp>
        <p:nvSpPr>
          <p:cNvPr id="10" name="s12-body-0">
            <a:extLst xmlns:a="http://schemas.openxmlformats.org/drawingml/2006/main">
              <a:ext uri="{FF2B5EF4-FFF2-40B4-BE49-F238E27FC236}">
                <a16:creationId xmlns:a16="http://schemas.microsoft.com/office/drawing/2014/main" id="{A80D833D-56A7-4825-97CF-7DA7F44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the agent may see</a:t>
            </a:r>
          </a:p>
        </p:txBody>
      </p:sp>
      <p:sp>
        <p:nvSpPr>
          <p:cNvPr id="11" name="s12-stage-1">
            <a:extLst xmlns:a="http://schemas.openxmlformats.org/drawingml/2006/main">
              <a:ext uri="{FF2B5EF4-FFF2-40B4-BE49-F238E27FC236}">
                <a16:creationId xmlns:a16="http://schemas.microsoft.com/office/drawing/2014/main" id="{EF1B462C-EB6D-454A-B206-CB34004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2038350" cy="21336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s12-num-1">
            <a:extLst xmlns:a="http://schemas.openxmlformats.org/drawingml/2006/main">
              <a:ext uri="{FF2B5EF4-FFF2-40B4-BE49-F238E27FC236}">
                <a16:creationId xmlns:a16="http://schemas.microsoft.com/office/drawing/2014/main" id="{26601538-7BD9-40FF-BFD5-F121D5F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s12-title-1">
            <a:extLst xmlns:a="http://schemas.openxmlformats.org/drawingml/2006/main">
              <a:ext uri="{FF2B5EF4-FFF2-40B4-BE49-F238E27FC236}">
                <a16:creationId xmlns:a16="http://schemas.microsoft.com/office/drawing/2014/main" id="{8E602413-4721-452E-B546-812F81A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4" name="s12-body-1">
            <a:extLst xmlns:a="http://schemas.openxmlformats.org/drawingml/2006/main">
              <a:ext uri="{FF2B5EF4-FFF2-40B4-BE49-F238E27FC236}">
                <a16:creationId xmlns:a16="http://schemas.microsoft.com/office/drawing/2014/main" id="{DE587966-7AF8-4F12-9397-F8C19FF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005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the agent may represent</a:t>
            </a:r>
          </a:p>
        </p:txBody>
      </p:sp>
      <p:sp>
        <p:nvSpPr>
          <p:cNvPr id="15" name="s12-stage-2">
            <a:extLst xmlns:a="http://schemas.openxmlformats.org/drawingml/2006/main">
              <a:ext uri="{FF2B5EF4-FFF2-40B4-BE49-F238E27FC236}">
                <a16:creationId xmlns:a16="http://schemas.microsoft.com/office/drawing/2014/main" id="{4415703D-3421-4307-A3F2-32B7F17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2038350" cy="21336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s12-num-2">
            <a:extLst xmlns:a="http://schemas.openxmlformats.org/drawingml/2006/main">
              <a:ext uri="{FF2B5EF4-FFF2-40B4-BE49-F238E27FC236}">
                <a16:creationId xmlns:a16="http://schemas.microsoft.com/office/drawing/2014/main" id="{86762AF0-6251-40F3-9EA1-DFB50C22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s12-title-2">
            <a:extLst xmlns:a="http://schemas.openxmlformats.org/drawingml/2006/main">
              <a:ext uri="{FF2B5EF4-FFF2-40B4-BE49-F238E27FC236}">
                <a16:creationId xmlns:a16="http://schemas.microsoft.com/office/drawing/2014/main" id="{7D16FEEC-FB00-43DE-B6FC-5E2590C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8" name="s12-body-2">
            <a:extLst xmlns:a="http://schemas.openxmlformats.org/drawingml/2006/main">
              <a:ext uri="{FF2B5EF4-FFF2-40B4-BE49-F238E27FC236}">
                <a16:creationId xmlns:a16="http://schemas.microsoft.com/office/drawing/2014/main" id="{A2B10689-7318-4019-A1A2-E4C18A7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005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the agent may do</a:t>
            </a:r>
          </a:p>
        </p:txBody>
      </p:sp>
      <p:sp>
        <p:nvSpPr>
          <p:cNvPr id="19" name="s12-stage-3">
            <a:extLst xmlns:a="http://schemas.openxmlformats.org/drawingml/2006/main">
              <a:ext uri="{FF2B5EF4-FFF2-40B4-BE49-F238E27FC236}">
                <a16:creationId xmlns:a16="http://schemas.microsoft.com/office/drawing/2014/main" id="{F7DEB85C-2E8A-4A35-843F-6953884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2038350" cy="21336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20" name="s12-num-3">
            <a:extLst xmlns:a="http://schemas.openxmlformats.org/drawingml/2006/main">
              <a:ext uri="{FF2B5EF4-FFF2-40B4-BE49-F238E27FC236}">
                <a16:creationId xmlns:a16="http://schemas.microsoft.com/office/drawing/2014/main" id="{F1F2E713-3348-4616-B436-4A57B66B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s12-title-3">
            <a:extLst xmlns:a="http://schemas.openxmlformats.org/drawingml/2006/main">
              <a:ext uri="{FF2B5EF4-FFF2-40B4-BE49-F238E27FC236}">
                <a16:creationId xmlns:a16="http://schemas.microsoft.com/office/drawing/2014/main" id="{BE1CBB97-0526-455C-AE2E-A351B9A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2" name="s12-body-3">
            <a:extLst xmlns:a="http://schemas.openxmlformats.org/drawingml/2006/main">
              <a:ext uri="{FF2B5EF4-FFF2-40B4-BE49-F238E27FC236}">
                <a16:creationId xmlns:a16="http://schemas.microsoft.com/office/drawing/2014/main" id="{54F0D072-0402-44B7-8B0A-10481BD0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actually happens</a:t>
            </a:r>
          </a:p>
        </p:txBody>
      </p:sp>
      <p:sp>
        <p:nvSpPr>
          <p:cNvPr id="23" name="s12-stage-4">
            <a:extLst xmlns:a="http://schemas.openxmlformats.org/drawingml/2006/main">
              <a:ext uri="{FF2B5EF4-FFF2-40B4-BE49-F238E27FC236}">
                <a16:creationId xmlns:a16="http://schemas.microsoft.com/office/drawing/2014/main" id="{CDAAF485-8470-49A3-AC0A-017BFD90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2038350" cy="21336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4" name="s12-num-4">
            <a:extLst xmlns:a="http://schemas.openxmlformats.org/drawingml/2006/main">
              <a:ext uri="{FF2B5EF4-FFF2-40B4-BE49-F238E27FC236}">
                <a16:creationId xmlns:a16="http://schemas.microsoft.com/office/drawing/2014/main" id="{0456FD64-567F-42DA-BDE1-D975C663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5" name="s12-title-4">
            <a:extLst xmlns:a="http://schemas.openxmlformats.org/drawingml/2006/main">
              <a:ext uri="{FF2B5EF4-FFF2-40B4-BE49-F238E27FC236}">
                <a16:creationId xmlns:a16="http://schemas.microsoft.com/office/drawing/2014/main" id="{5D91DF56-7156-4D56-A4B8-EED7AA6D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6" name="s12-body-4">
            <a:extLst xmlns:a="http://schemas.openxmlformats.org/drawingml/2006/main">
              <a:ext uri="{FF2B5EF4-FFF2-40B4-BE49-F238E27FC236}">
                <a16:creationId xmlns:a16="http://schemas.microsoft.com/office/drawing/2014/main" id="{BBEDBA00-49AC-4FDD-8DDB-B97B0CE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remains provable</a:t>
            </a:r>
          </a:p>
        </p:txBody>
      </p:sp>
      <p:sp>
        <p:nvSpPr>
          <p:cNvPr id="27" name="s12-direction">
            <a:extLst xmlns:a="http://schemas.openxmlformats.org/drawingml/2006/main">
              <a:ext uri="{FF2B5EF4-FFF2-40B4-BE49-F238E27FC236}">
                <a16:creationId xmlns:a16="http://schemas.microsoft.com/office/drawing/2014/main" id="{10E8C25D-208F-4F2F-9618-E05CA80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918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ARCHITECTURE DIRECTION — current capability and integration scope must be validated for the selected use case.</a:t>
            </a:r>
          </a:p>
        </p:txBody>
      </p:sp>
      <p:sp>
        <p:nvSpPr>
          <p:cNvPr id="28" name="divider">
            <a:extLst xmlns:a="http://schemas.openxmlformats.org/drawingml/2006/main">
              <a:ext uri="{FF2B5EF4-FFF2-40B4-BE49-F238E27FC236}">
                <a16:creationId xmlns:a16="http://schemas.microsoft.com/office/drawing/2014/main" id="{8F8029DB-2A0F-4D0F-B3A7-249A0A95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B337CA5-D364-447B-B43D-6DD0F50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goal is not merely sovereign inference. It is sovereign execution.</a:t>
            </a:r>
          </a:p>
        </p:txBody>
      </p:sp>
    </p:spTree>
    <p:extLst>
      <p:ext uri="{BB962C8B-B14F-4D97-AF65-F5344CB8AC3E}">
        <p14:creationId xmlns:p14="http://schemas.microsoft.com/office/powerpoint/2010/main" val="1132724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8df4b2ec34f2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0A87A-03F2-4FB7-80F8-6BF5581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3984E7D-B296-470C-A5EA-F1509B6A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AB73800-B43A-4C07-B272-05CF1C7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A42C0029-5AC3-4DA4-ADD1-DC367186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5CF43D-A4D3-40A5-9BBD-294E0D1B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 requires a clear operating model</a:t>
            </a:r>
          </a:p>
        </p:txBody>
      </p:sp>
      <p:sp>
        <p:nvSpPr>
          <p:cNvPr id="7" name="s13-table">
            <a:extLst xmlns:a="http://schemas.openxmlformats.org/drawingml/2006/main">
              <a:ext uri="{FF2B5EF4-FFF2-40B4-BE49-F238E27FC236}">
                <a16:creationId xmlns:a16="http://schemas.microsoft.com/office/drawing/2014/main" id="{A58DF6F9-7A54-4963-AAF4-875C8C5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2776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13-col-0">
            <a:extLst xmlns:a="http://schemas.openxmlformats.org/drawingml/2006/main">
              <a:ext uri="{FF2B5EF4-FFF2-40B4-BE49-F238E27FC236}">
                <a16:creationId xmlns:a16="http://schemas.microsoft.com/office/drawing/2014/main" id="{3BC24B0B-6199-4461-B036-8783935B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</a:t>
            </a:r>
          </a:p>
        </p:txBody>
      </p:sp>
      <p:sp>
        <p:nvSpPr>
          <p:cNvPr id="9" name="s13-col-1">
            <a:extLst xmlns:a="http://schemas.openxmlformats.org/drawingml/2006/main">
              <a:ext uri="{FF2B5EF4-FFF2-40B4-BE49-F238E27FC236}">
                <a16:creationId xmlns:a16="http://schemas.microsoft.com/office/drawing/2014/main" id="{175B6A74-F76B-4DC0-B59B-F88A95E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/ PARTNER</a:t>
            </a:r>
          </a:p>
        </p:txBody>
      </p:sp>
      <p:sp>
        <p:nvSpPr>
          <p:cNvPr id="10" name="s13-col-2">
            <a:extLst xmlns:a="http://schemas.openxmlformats.org/drawingml/2006/main">
              <a:ext uri="{FF2B5EF4-FFF2-40B4-BE49-F238E27FC236}">
                <a16:creationId xmlns:a16="http://schemas.microsoft.com/office/drawing/2014/main" id="{457A48D8-5639-4EC8-B341-4FED9A60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JOINT GOVERNANCE</a:t>
            </a:r>
          </a:p>
        </p:txBody>
      </p:sp>
      <p:sp>
        <p:nvSpPr>
          <p:cNvPr id="11" name="s13-rule-0">
            <a:extLst xmlns:a="http://schemas.openxmlformats.org/drawingml/2006/main">
              <a:ext uri="{FF2B5EF4-FFF2-40B4-BE49-F238E27FC236}">
                <a16:creationId xmlns:a16="http://schemas.microsoft.com/office/drawing/2014/main" id="{BAC6B286-26ED-4933-BAB8-09CA4E2A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3-row-0">
            <a:extLst xmlns:a="http://schemas.openxmlformats.org/drawingml/2006/main">
              <a:ext uri="{FF2B5EF4-FFF2-40B4-BE49-F238E27FC236}">
                <a16:creationId xmlns:a16="http://schemas.microsoft.com/office/drawing/2014/main" id="{FB47C640-FDAD-41DE-962A-5DBE4166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Infrastructure &amp; data</a:t>
            </a:r>
          </a:p>
        </p:txBody>
      </p:sp>
      <p:sp>
        <p:nvSpPr>
          <p:cNvPr id="13" name="pill-PRIMARY">
            <a:extLst xmlns:a="http://schemas.openxmlformats.org/drawingml/2006/main">
              <a:ext uri="{FF2B5EF4-FFF2-40B4-BE49-F238E27FC236}">
                <a16:creationId xmlns:a16="http://schemas.microsoft.com/office/drawing/2014/main" id="{4BEDF8FB-3369-461A-A5B2-1C825B6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4" name="pill-text-PRIMARY">
            <a:extLst xmlns:a="http://schemas.openxmlformats.org/drawingml/2006/main">
              <a:ext uri="{FF2B5EF4-FFF2-40B4-BE49-F238E27FC236}">
                <a16:creationId xmlns:a16="http://schemas.microsoft.com/office/drawing/2014/main" id="{9C618FC0-0E02-4644-AB35-BEAE347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PRIMARY</a:t>
            </a:r>
          </a:p>
        </p:txBody>
      </p:sp>
      <p:sp>
        <p:nvSpPr>
          <p:cNvPr id="15" name="pill-DEFINED">
            <a:extLst xmlns:a="http://schemas.openxmlformats.org/drawingml/2006/main">
              <a:ext uri="{FF2B5EF4-FFF2-40B4-BE49-F238E27FC236}">
                <a16:creationId xmlns:a16="http://schemas.microsoft.com/office/drawing/2014/main" id="{1109CE45-69D5-4B1D-B38A-A55B7E37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6" name="pill-text-DEFINED">
            <a:extLst xmlns:a="http://schemas.openxmlformats.org/drawingml/2006/main">
              <a:ext uri="{FF2B5EF4-FFF2-40B4-BE49-F238E27FC236}">
                <a16:creationId xmlns:a16="http://schemas.microsoft.com/office/drawing/2014/main" id="{EFB5B503-1DCD-42AA-9227-8BEA2EFE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95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DEFINED</a:t>
            </a:r>
          </a:p>
        </p:txBody>
      </p:sp>
      <p:sp>
        <p:nvSpPr>
          <p:cNvPr id="17" name="pill-AGREED">
            <a:extLst xmlns:a="http://schemas.openxmlformats.org/drawingml/2006/main">
              <a:ext uri="{FF2B5EF4-FFF2-40B4-BE49-F238E27FC236}">
                <a16:creationId xmlns:a16="http://schemas.microsoft.com/office/drawing/2014/main" id="{88705554-EBD2-430A-A85F-8CE3E588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0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8" name="pill-text-AGREED">
            <a:extLst xmlns:a="http://schemas.openxmlformats.org/drawingml/2006/main">
              <a:ext uri="{FF2B5EF4-FFF2-40B4-BE49-F238E27FC236}">
                <a16:creationId xmlns:a16="http://schemas.microsoft.com/office/drawing/2014/main" id="{EB9CA145-6D80-4BA5-BDE0-721F208C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95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AGREED</a:t>
            </a:r>
          </a:p>
        </p:txBody>
      </p:sp>
      <p:sp>
        <p:nvSpPr>
          <p:cNvPr id="19" name="s13-rule-1">
            <a:extLst xmlns:a="http://schemas.openxmlformats.org/drawingml/2006/main">
              <a:ext uri="{FF2B5EF4-FFF2-40B4-BE49-F238E27FC236}">
                <a16:creationId xmlns:a16="http://schemas.microsoft.com/office/drawing/2014/main" id="{F404663D-BBE8-4B20-84F9-9BFEFFD3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3-row-1">
            <a:extLst xmlns:a="http://schemas.openxmlformats.org/drawingml/2006/main">
              <a:ext uri="{FF2B5EF4-FFF2-40B4-BE49-F238E27FC236}">
                <a16:creationId xmlns:a16="http://schemas.microsoft.com/office/drawing/2014/main" id="{25DF131F-7F7F-4D1E-8805-48BDBD4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Keys &amp; security</a:t>
            </a:r>
          </a:p>
        </p:txBody>
      </p:sp>
      <p:sp>
        <p:nvSpPr>
          <p:cNvPr id="21" name="pill-PRIMARY">
            <a:extLst xmlns:a="http://schemas.openxmlformats.org/drawingml/2006/main">
              <a:ext uri="{FF2B5EF4-FFF2-40B4-BE49-F238E27FC236}">
                <a16:creationId xmlns:a16="http://schemas.microsoft.com/office/drawing/2014/main" id="{2A781011-D158-4F03-9258-1FF32BB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2" name="pill-text-PRIMARY">
            <a:extLst xmlns:a="http://schemas.openxmlformats.org/drawingml/2006/main">
              <a:ext uri="{FF2B5EF4-FFF2-40B4-BE49-F238E27FC236}">
                <a16:creationId xmlns:a16="http://schemas.microsoft.com/office/drawing/2014/main" id="{BC20FF8A-05D2-46DA-931F-BD64A271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PRIMARY</a:t>
            </a:r>
          </a:p>
        </p:txBody>
      </p:sp>
      <p:sp>
        <p:nvSpPr>
          <p:cNvPr id="23" name="pill-DEFINED">
            <a:extLst xmlns:a="http://schemas.openxmlformats.org/drawingml/2006/main">
              <a:ext uri="{FF2B5EF4-FFF2-40B4-BE49-F238E27FC236}">
                <a16:creationId xmlns:a16="http://schemas.microsoft.com/office/drawing/2014/main" id="{1B4509AC-CA54-4E1F-8181-A79644B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76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4" name="pill-text-DEFINED">
            <a:extLst xmlns:a="http://schemas.openxmlformats.org/drawingml/2006/main">
              <a:ext uri="{FF2B5EF4-FFF2-40B4-BE49-F238E27FC236}">
                <a16:creationId xmlns:a16="http://schemas.microsoft.com/office/drawing/2014/main" id="{D3DE2538-D5BC-4631-941D-9B42BCC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DEFINED</a:t>
            </a:r>
          </a:p>
        </p:txBody>
      </p:sp>
      <p:sp>
        <p:nvSpPr>
          <p:cNvPr id="25" name="pill-AGREED">
            <a:extLst xmlns:a="http://schemas.openxmlformats.org/drawingml/2006/main">
              <a:ext uri="{FF2B5EF4-FFF2-40B4-BE49-F238E27FC236}">
                <a16:creationId xmlns:a16="http://schemas.microsoft.com/office/drawing/2014/main" id="{BCB3BD11-69EA-4720-8D99-7106FC9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6" name="pill-text-AGREED">
            <a:extLst xmlns:a="http://schemas.openxmlformats.org/drawingml/2006/main">
              <a:ext uri="{FF2B5EF4-FFF2-40B4-BE49-F238E27FC236}">
                <a16:creationId xmlns:a16="http://schemas.microsoft.com/office/drawing/2014/main" id="{3190E179-9E90-43CD-984C-2AC68D7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AGREED</a:t>
            </a:r>
          </a:p>
        </p:txBody>
      </p:sp>
      <p:sp>
        <p:nvSpPr>
          <p:cNvPr id="27" name="s13-rule-2">
            <a:extLst xmlns:a="http://schemas.openxmlformats.org/drawingml/2006/main">
              <a:ext uri="{FF2B5EF4-FFF2-40B4-BE49-F238E27FC236}">
                <a16:creationId xmlns:a16="http://schemas.microsoft.com/office/drawing/2014/main" id="{DAD3CE23-40D2-4030-B118-E43380B5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3-row-2">
            <a:extLst xmlns:a="http://schemas.openxmlformats.org/drawingml/2006/main">
              <a:ext uri="{FF2B5EF4-FFF2-40B4-BE49-F238E27FC236}">
                <a16:creationId xmlns:a16="http://schemas.microsoft.com/office/drawing/2014/main" id="{40B73943-ED01-4E83-A56D-113568EC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Upgrades &amp; lifecycle</a:t>
            </a:r>
          </a:p>
        </p:txBody>
      </p:sp>
      <p:sp>
        <p:nvSpPr>
          <p:cNvPr id="29" name="pill-DEFINED">
            <a:extLst xmlns:a="http://schemas.openxmlformats.org/drawingml/2006/main">
              <a:ext uri="{FF2B5EF4-FFF2-40B4-BE49-F238E27FC236}">
                <a16:creationId xmlns:a16="http://schemas.microsoft.com/office/drawing/2014/main" id="{0A00789C-9AA3-4219-B3D9-8B4DF1F2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528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30" name="pill-text-DEFINED">
            <a:extLst xmlns:a="http://schemas.openxmlformats.org/drawingml/2006/main">
              <a:ext uri="{FF2B5EF4-FFF2-40B4-BE49-F238E27FC236}">
                <a16:creationId xmlns:a16="http://schemas.microsoft.com/office/drawing/2014/main" id="{D3F6C4BE-83F1-47AF-A370-D8C4B06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DEFINED</a:t>
            </a:r>
          </a:p>
        </p:txBody>
      </p:sp>
      <p:sp>
        <p:nvSpPr>
          <p:cNvPr id="31" name="pill-PRIMARY">
            <a:extLst xmlns:a="http://schemas.openxmlformats.org/drawingml/2006/main">
              <a:ext uri="{FF2B5EF4-FFF2-40B4-BE49-F238E27FC236}">
                <a16:creationId xmlns:a16="http://schemas.microsoft.com/office/drawing/2014/main" id="{5A6F64A9-45FC-4CDF-A806-1BDB15C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528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32" name="pill-text-PRIMARY">
            <a:extLst xmlns:a="http://schemas.openxmlformats.org/drawingml/2006/main">
              <a:ext uri="{FF2B5EF4-FFF2-40B4-BE49-F238E27FC236}">
                <a16:creationId xmlns:a16="http://schemas.microsoft.com/office/drawing/2014/main" id="{2D8FACD2-25CA-47A6-9E20-81F7E39C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PRIMARY</a:t>
            </a:r>
          </a:p>
        </p:txBody>
      </p:sp>
      <p:sp>
        <p:nvSpPr>
          <p:cNvPr id="33" name="pill-AGREED">
            <a:extLst xmlns:a="http://schemas.openxmlformats.org/drawingml/2006/main">
              <a:ext uri="{FF2B5EF4-FFF2-40B4-BE49-F238E27FC236}">
                <a16:creationId xmlns:a16="http://schemas.microsoft.com/office/drawing/2014/main" id="{6E9346C5-F778-4B8D-A720-A92049E2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528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34" name="pill-text-AGREED">
            <a:extLst xmlns:a="http://schemas.openxmlformats.org/drawingml/2006/main">
              <a:ext uri="{FF2B5EF4-FFF2-40B4-BE49-F238E27FC236}">
                <a16:creationId xmlns:a16="http://schemas.microsoft.com/office/drawing/2014/main" id="{E34DEB7D-93A0-48C8-8157-137731F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481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AGREED</a:t>
            </a:r>
          </a:p>
        </p:txBody>
      </p:sp>
      <p:sp>
        <p:nvSpPr>
          <p:cNvPr id="35" name="s13-rule-3">
            <a:extLst xmlns:a="http://schemas.openxmlformats.org/drawingml/2006/main">
              <a:ext uri="{FF2B5EF4-FFF2-40B4-BE49-F238E27FC236}">
                <a16:creationId xmlns:a16="http://schemas.microsoft.com/office/drawing/2014/main" id="{4942B9E7-6454-4D08-8C95-6A0FB32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3-row-3">
            <a:extLst xmlns:a="http://schemas.openxmlformats.org/drawingml/2006/main">
              <a:ext uri="{FF2B5EF4-FFF2-40B4-BE49-F238E27FC236}">
                <a16:creationId xmlns:a16="http://schemas.microsoft.com/office/drawing/2014/main" id="{6976AEAE-ACB1-4025-87D6-F890C09C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 &amp; support</a:t>
            </a:r>
          </a:p>
        </p:txBody>
      </p:sp>
      <p:sp>
        <p:nvSpPr>
          <p:cNvPr id="37" name="pill-DEFINED">
            <a:extLst xmlns:a="http://schemas.openxmlformats.org/drawingml/2006/main">
              <a:ext uri="{FF2B5EF4-FFF2-40B4-BE49-F238E27FC236}">
                <a16:creationId xmlns:a16="http://schemas.microsoft.com/office/drawing/2014/main" id="{4330B311-2706-4493-9067-C36FEE2F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38" name="pill-text-DEFINED">
            <a:extLst xmlns:a="http://schemas.openxmlformats.org/drawingml/2006/main">
              <a:ext uri="{FF2B5EF4-FFF2-40B4-BE49-F238E27FC236}">
                <a16:creationId xmlns:a16="http://schemas.microsoft.com/office/drawing/2014/main" id="{8D2F19CC-B6F8-4494-985D-DCCFDD9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DEFINED</a:t>
            </a:r>
          </a:p>
        </p:txBody>
      </p:sp>
      <p:sp>
        <p:nvSpPr>
          <p:cNvPr id="39" name="pill-PRIMARY">
            <a:extLst xmlns:a="http://schemas.openxmlformats.org/drawingml/2006/main">
              <a:ext uri="{FF2B5EF4-FFF2-40B4-BE49-F238E27FC236}">
                <a16:creationId xmlns:a16="http://schemas.microsoft.com/office/drawing/2014/main" id="{E6C8F7A7-97B2-4CB1-B71A-1834A0E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291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40" name="pill-text-PRIMARY">
            <a:extLst xmlns:a="http://schemas.openxmlformats.org/drawingml/2006/main">
              <a:ext uri="{FF2B5EF4-FFF2-40B4-BE49-F238E27FC236}">
                <a16:creationId xmlns:a16="http://schemas.microsoft.com/office/drawing/2014/main" id="{E8F93232-1B68-4E58-A931-3018CDB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24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PRIMARY</a:t>
            </a:r>
          </a:p>
        </p:txBody>
      </p:sp>
      <p:sp>
        <p:nvSpPr>
          <p:cNvPr id="41" name="pill-AGREED">
            <a:extLst xmlns:a="http://schemas.openxmlformats.org/drawingml/2006/main">
              <a:ext uri="{FF2B5EF4-FFF2-40B4-BE49-F238E27FC236}">
                <a16:creationId xmlns:a16="http://schemas.microsoft.com/office/drawing/2014/main" id="{318D529A-AE78-454B-95FB-CD75012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291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42" name="pill-text-AGREED">
            <a:extLst xmlns:a="http://schemas.openxmlformats.org/drawingml/2006/main">
              <a:ext uri="{FF2B5EF4-FFF2-40B4-BE49-F238E27FC236}">
                <a16:creationId xmlns:a16="http://schemas.microsoft.com/office/drawing/2014/main" id="{B5783180-8AC3-470E-B384-17AE605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24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AGREED</a:t>
            </a:r>
          </a:p>
        </p:txBody>
      </p:sp>
      <p:sp>
        <p:nvSpPr>
          <p:cNvPr id="43" name="s13-rule-4">
            <a:extLst xmlns:a="http://schemas.openxmlformats.org/drawingml/2006/main">
              <a:ext uri="{FF2B5EF4-FFF2-40B4-BE49-F238E27FC236}">
                <a16:creationId xmlns:a16="http://schemas.microsoft.com/office/drawing/2014/main" id="{6A01DE7C-946B-49EC-A72D-D297B0F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13-row-4">
            <a:extLst xmlns:a="http://schemas.openxmlformats.org/drawingml/2006/main">
              <a:ext uri="{FF2B5EF4-FFF2-40B4-BE49-F238E27FC236}">
                <a16:creationId xmlns:a16="http://schemas.microsoft.com/office/drawing/2014/main" id="{5CB8EC5F-F5CB-4470-8331-84369259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Recovery &amp; continuity</a:t>
            </a:r>
          </a:p>
        </p:txBody>
      </p:sp>
      <p:sp>
        <p:nvSpPr>
          <p:cNvPr id="45" name="pill-DEFINED">
            <a:extLst xmlns:a="http://schemas.openxmlformats.org/drawingml/2006/main">
              <a:ext uri="{FF2B5EF4-FFF2-40B4-BE49-F238E27FC236}">
                <a16:creationId xmlns:a16="http://schemas.microsoft.com/office/drawing/2014/main" id="{21E57BAB-20B3-49C1-B04E-4ECACBCF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46" name="pill-text-DEFINED">
            <a:extLst xmlns:a="http://schemas.openxmlformats.org/drawingml/2006/main">
              <a:ext uri="{FF2B5EF4-FFF2-40B4-BE49-F238E27FC236}">
                <a16:creationId xmlns:a16="http://schemas.microsoft.com/office/drawing/2014/main" id="{84B4D155-3529-4A66-AEA9-9C29478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DEFINED</a:t>
            </a:r>
          </a:p>
        </p:txBody>
      </p:sp>
      <p:sp>
        <p:nvSpPr>
          <p:cNvPr id="47" name="pill-PRIMARY">
            <a:extLst xmlns:a="http://schemas.openxmlformats.org/drawingml/2006/main">
              <a:ext uri="{FF2B5EF4-FFF2-40B4-BE49-F238E27FC236}">
                <a16:creationId xmlns:a16="http://schemas.microsoft.com/office/drawing/2014/main" id="{9302A575-D831-49C3-9376-FA46A5B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05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48" name="pill-text-PRIMARY">
            <a:extLst xmlns:a="http://schemas.openxmlformats.org/drawingml/2006/main">
              <a:ext uri="{FF2B5EF4-FFF2-40B4-BE49-F238E27FC236}">
                <a16:creationId xmlns:a16="http://schemas.microsoft.com/office/drawing/2014/main" id="{96D87668-8BB2-406B-B6F2-FB94E40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00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PRIMARY</a:t>
            </a:r>
          </a:p>
        </p:txBody>
      </p:sp>
      <p:sp>
        <p:nvSpPr>
          <p:cNvPr id="49" name="pill-AGREED">
            <a:extLst xmlns:a="http://schemas.openxmlformats.org/drawingml/2006/main">
              <a:ext uri="{FF2B5EF4-FFF2-40B4-BE49-F238E27FC236}">
                <a16:creationId xmlns:a16="http://schemas.microsoft.com/office/drawing/2014/main" id="{7A02564D-700E-4FCA-A4E5-175F90E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0537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50" name="pill-text-AGREED">
            <a:extLst xmlns:a="http://schemas.openxmlformats.org/drawingml/2006/main">
              <a:ext uri="{FF2B5EF4-FFF2-40B4-BE49-F238E27FC236}">
                <a16:creationId xmlns:a16="http://schemas.microsoft.com/office/drawing/2014/main" id="{0388B4BB-370A-4D1D-B192-D272C3F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0062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AGREED</a:t>
            </a:r>
          </a:p>
        </p:txBody>
      </p:sp>
      <p:sp>
        <p:nvSpPr>
          <p:cNvPr id="51" name="divider">
            <a:extLst xmlns:a="http://schemas.openxmlformats.org/drawingml/2006/main">
              <a:ext uri="{FF2B5EF4-FFF2-40B4-BE49-F238E27FC236}">
                <a16:creationId xmlns:a16="http://schemas.microsoft.com/office/drawing/2014/main" id="{F4DFD962-47FA-4176-8309-82AF34B3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ottom-line">
            <a:extLst xmlns:a="http://schemas.openxmlformats.org/drawingml/2006/main">
              <a:ext uri="{FF2B5EF4-FFF2-40B4-BE49-F238E27FC236}">
                <a16:creationId xmlns:a16="http://schemas.microsoft.com/office/drawing/2014/main" id="{E8A484B3-6B19-4C16-9DCC-8B163ECA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 without accountable operations is not a sustainable sovereignty model.</a:t>
            </a:r>
          </a:p>
        </p:txBody>
      </p:sp>
    </p:spTree>
    <p:extLst>
      <p:ext uri="{BB962C8B-B14F-4D97-AF65-F5344CB8AC3E}">
        <p14:creationId xmlns:p14="http://schemas.microsoft.com/office/powerpoint/2010/main" val="1966367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0e3fb5a70464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81485AA-AE50-4BEA-B9A6-F9AB5AE9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BFDEC4A-7D7E-4EE3-B2C2-C49BB77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FE530F3-7222-4674-9C86-AFD1BE8D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D5E0622E-ACE5-43EC-9583-D7F6E42B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8A3B69-6EEA-4FEC-8046-E7C8902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Prove the model in one consequential sovereign workflow</a:t>
            </a:r>
          </a:p>
        </p:txBody>
      </p:sp>
      <p:sp>
        <p:nvSpPr>
          <p:cNvPr id="7" name="s14-num-0">
            <a:extLst xmlns:a="http://schemas.openxmlformats.org/drawingml/2006/main">
              <a:ext uri="{FF2B5EF4-FFF2-40B4-BE49-F238E27FC236}">
                <a16:creationId xmlns:a16="http://schemas.microsoft.com/office/drawing/2014/main" id="{82C6DAE2-4F51-4651-AFC8-8477127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187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8" name="s14-title-0">
            <a:extLst xmlns:a="http://schemas.openxmlformats.org/drawingml/2006/main">
              <a:ext uri="{FF2B5EF4-FFF2-40B4-BE49-F238E27FC236}">
                <a16:creationId xmlns:a16="http://schemas.microsoft.com/office/drawing/2014/main" id="{2507119E-AEE8-4313-BFFC-BA8DB0CB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BOUNDARY</a:t>
            </a:r>
          </a:p>
        </p:txBody>
      </p:sp>
      <p:sp>
        <p:nvSpPr>
          <p:cNvPr id="9" name="s14-body-0">
            <a:extLst xmlns:a="http://schemas.openxmlformats.org/drawingml/2006/main">
              <a:ext uri="{FF2B5EF4-FFF2-40B4-BE49-F238E27FC236}">
                <a16:creationId xmlns:a16="http://schemas.microsoft.com/office/drawing/2014/main" id="{5BE056E4-9DAC-4112-AF9D-FF60493C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Define actors, data, keys, operations</a:t>
            </a:r>
          </a:p>
        </p:txBody>
      </p:sp>
      <p:sp>
        <p:nvSpPr>
          <p:cNvPr id="10" name="s14-arrow-0-line">
            <a:extLst xmlns:a="http://schemas.openxmlformats.org/drawingml/2006/main">
              <a:ext uri="{FF2B5EF4-FFF2-40B4-BE49-F238E27FC236}">
                <a16:creationId xmlns:a16="http://schemas.microsoft.com/office/drawing/2014/main" id="{6204D43F-672B-48C2-910F-E6ACDA6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05125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4-arrow-0-head">
            <a:extLst xmlns:a="http://schemas.openxmlformats.org/drawingml/2006/main">
              <a:ext uri="{FF2B5EF4-FFF2-40B4-BE49-F238E27FC236}">
                <a16:creationId xmlns:a16="http://schemas.microsoft.com/office/drawing/2014/main" id="{E14D6F0C-270C-4438-91EF-2F2052A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4-num-1">
            <a:extLst xmlns:a="http://schemas.openxmlformats.org/drawingml/2006/main">
              <a:ext uri="{FF2B5EF4-FFF2-40B4-BE49-F238E27FC236}">
                <a16:creationId xmlns:a16="http://schemas.microsoft.com/office/drawing/2014/main" id="{337346E4-A304-47DB-BD6C-F6B2BE0D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187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3" name="s14-title-1">
            <a:extLst xmlns:a="http://schemas.openxmlformats.org/drawingml/2006/main">
              <a:ext uri="{FF2B5EF4-FFF2-40B4-BE49-F238E27FC236}">
                <a16:creationId xmlns:a16="http://schemas.microsoft.com/office/drawing/2014/main" id="{4262CBF8-CFF1-4757-9D2D-E5FB81C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ARCHITECTURE</a:t>
            </a:r>
          </a:p>
        </p:txBody>
      </p:sp>
      <p:sp>
        <p:nvSpPr>
          <p:cNvPr id="14" name="s14-body-1">
            <a:extLst xmlns:a="http://schemas.openxmlformats.org/drawingml/2006/main">
              <a:ext uri="{FF2B5EF4-FFF2-40B4-BE49-F238E27FC236}">
                <a16:creationId xmlns:a16="http://schemas.microsoft.com/office/drawing/2014/main" id="{E023B3E5-6B5C-4FA0-BDB1-2531424D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957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Select pattern and integration points</a:t>
            </a:r>
          </a:p>
        </p:txBody>
      </p:sp>
      <p:sp>
        <p:nvSpPr>
          <p:cNvPr id="15" name="s14-arrow-1-line">
            <a:extLst xmlns:a="http://schemas.openxmlformats.org/drawingml/2006/main">
              <a:ext uri="{FF2B5EF4-FFF2-40B4-BE49-F238E27FC236}">
                <a16:creationId xmlns:a16="http://schemas.microsoft.com/office/drawing/2014/main" id="{EDA77641-66E6-4635-ACDF-9F77D41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4-arrow-1-head">
            <a:extLst xmlns:a="http://schemas.openxmlformats.org/drawingml/2006/main">
              <a:ext uri="{FF2B5EF4-FFF2-40B4-BE49-F238E27FC236}">
                <a16:creationId xmlns:a16="http://schemas.microsoft.com/office/drawing/2014/main" id="{69C74DB4-B8BD-44B6-B728-62D7ED8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4-num-2">
            <a:extLst xmlns:a="http://schemas.openxmlformats.org/drawingml/2006/main">
              <a:ext uri="{FF2B5EF4-FFF2-40B4-BE49-F238E27FC236}">
                <a16:creationId xmlns:a16="http://schemas.microsoft.com/office/drawing/2014/main" id="{0833F1A2-B27D-48A4-B853-A711F887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8" name="s14-title-2">
            <a:extLst xmlns:a="http://schemas.openxmlformats.org/drawingml/2006/main">
              <a:ext uri="{FF2B5EF4-FFF2-40B4-BE49-F238E27FC236}">
                <a16:creationId xmlns:a16="http://schemas.microsoft.com/office/drawing/2014/main" id="{5092D94A-AEE6-44F6-A742-766F8EDA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PILOT</a:t>
            </a:r>
          </a:p>
        </p:txBody>
      </p:sp>
      <p:sp>
        <p:nvSpPr>
          <p:cNvPr id="19" name="s14-body-2">
            <a:extLst xmlns:a="http://schemas.openxmlformats.org/drawingml/2006/main">
              <a:ext uri="{FF2B5EF4-FFF2-40B4-BE49-F238E27FC236}">
                <a16:creationId xmlns:a16="http://schemas.microsoft.com/office/drawing/2014/main" id="{28A0F8BD-C791-4051-9D1A-B847A87C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957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Execute one real governed workflow</a:t>
            </a:r>
          </a:p>
        </p:txBody>
      </p:sp>
      <p:sp>
        <p:nvSpPr>
          <p:cNvPr id="20" name="s14-arrow-2-line">
            <a:extLst xmlns:a="http://schemas.openxmlformats.org/drawingml/2006/main">
              <a:ext uri="{FF2B5EF4-FFF2-40B4-BE49-F238E27FC236}">
                <a16:creationId xmlns:a16="http://schemas.microsoft.com/office/drawing/2014/main" id="{93DD38EF-4A2E-46A4-8555-3548B01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4-arrow-2-head">
            <a:extLst xmlns:a="http://schemas.openxmlformats.org/drawingml/2006/main">
              <a:ext uri="{FF2B5EF4-FFF2-40B4-BE49-F238E27FC236}">
                <a16:creationId xmlns:a16="http://schemas.microsoft.com/office/drawing/2014/main" id="{942048CF-E8C5-4FBC-8603-C2718646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4-num-3">
            <a:extLst xmlns:a="http://schemas.openxmlformats.org/drawingml/2006/main">
              <a:ext uri="{FF2B5EF4-FFF2-40B4-BE49-F238E27FC236}">
                <a16:creationId xmlns:a16="http://schemas.microsoft.com/office/drawing/2014/main" id="{6FC0E8EC-D60F-4023-94C8-86D4F83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187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04</a:t>
            </a:r>
          </a:p>
        </p:txBody>
      </p:sp>
      <p:sp>
        <p:nvSpPr>
          <p:cNvPr id="23" name="s14-title-3">
            <a:extLst xmlns:a="http://schemas.openxmlformats.org/drawingml/2006/main">
              <a:ext uri="{FF2B5EF4-FFF2-40B4-BE49-F238E27FC236}">
                <a16:creationId xmlns:a16="http://schemas.microsoft.com/office/drawing/2014/main" id="{E78D524B-B4A4-45D5-91FF-8F7224B9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4" name="s14-body-3">
            <a:extLst xmlns:a="http://schemas.openxmlformats.org/drawingml/2006/main">
              <a:ext uri="{FF2B5EF4-FFF2-40B4-BE49-F238E27FC236}">
                <a16:creationId xmlns:a16="http://schemas.microsoft.com/office/drawing/2014/main" id="{A836A8A2-1E5C-4C9C-82DA-D9B2EA9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Verify controls, records, and recovery</a:t>
            </a:r>
          </a:p>
        </p:txBody>
      </p:sp>
      <p:sp>
        <p:nvSpPr>
          <p:cNvPr id="25" name="s14-arrow-3-line">
            <a:extLst xmlns:a="http://schemas.openxmlformats.org/drawingml/2006/main">
              <a:ext uri="{FF2B5EF4-FFF2-40B4-BE49-F238E27FC236}">
                <a16:creationId xmlns:a16="http://schemas.microsoft.com/office/drawing/2014/main" id="{1FD7698C-E7AF-41BA-B0B5-4A8B8EE8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48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4-arrow-3-head">
            <a:extLst xmlns:a="http://schemas.openxmlformats.org/drawingml/2006/main">
              <a:ext uri="{FF2B5EF4-FFF2-40B4-BE49-F238E27FC236}">
                <a16:creationId xmlns:a16="http://schemas.microsoft.com/office/drawing/2014/main" id="{E12E3A31-1967-4D65-BCC1-EA4470F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38450"/>
            <a:ext cx="200025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4-num-4">
            <a:extLst xmlns:a="http://schemas.openxmlformats.org/drawingml/2006/main">
              <a:ext uri="{FF2B5EF4-FFF2-40B4-BE49-F238E27FC236}">
                <a16:creationId xmlns:a16="http://schemas.microsoft.com/office/drawing/2014/main" id="{8C4EBEB7-84CD-44D6-8319-59210BF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187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05</a:t>
            </a:r>
          </a:p>
        </p:txBody>
      </p:sp>
      <p:sp>
        <p:nvSpPr>
          <p:cNvPr id="28" name="s14-title-4">
            <a:extLst xmlns:a="http://schemas.openxmlformats.org/drawingml/2006/main">
              <a:ext uri="{FF2B5EF4-FFF2-40B4-BE49-F238E27FC236}">
                <a16:creationId xmlns:a16="http://schemas.microsoft.com/office/drawing/2014/main" id="{D09BAE6C-2E44-4665-94B5-99AB5A0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DECISION</a:t>
            </a:r>
          </a:p>
        </p:txBody>
      </p:sp>
      <p:sp>
        <p:nvSpPr>
          <p:cNvPr id="29" name="s14-body-4">
            <a:extLst xmlns:a="http://schemas.openxmlformats.org/drawingml/2006/main">
              <a:ext uri="{FF2B5EF4-FFF2-40B4-BE49-F238E27FC236}">
                <a16:creationId xmlns:a16="http://schemas.microsoft.com/office/drawing/2014/main" id="{8D38B957-9788-48B4-A499-80496ED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Approve expansion or close gaps</a:t>
            </a:r>
          </a:p>
        </p:txBody>
      </p:sp>
      <p:sp>
        <p:nvSpPr>
          <p:cNvPr id="30" name="s14-proof">
            <a:extLst xmlns:a="http://schemas.openxmlformats.org/drawingml/2006/main">
              <a:ext uri="{FF2B5EF4-FFF2-40B4-BE49-F238E27FC236}">
                <a16:creationId xmlns:a16="http://schemas.microsoft.com/office/drawing/2014/main" id="{A712607B-F53E-410E-ABB0-A3CBE2D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791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4-proof-text">
            <a:extLst xmlns:a="http://schemas.openxmlformats.org/drawingml/2006/main">
              <a:ext uri="{FF2B5EF4-FFF2-40B4-BE49-F238E27FC236}">
                <a16:creationId xmlns:a16="http://schemas.microsoft.com/office/drawing/2014/main" id="{490CB67D-EC7B-4E3B-83C6-47B8A85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292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PILOT OUTPUT: architecture fit · operating model · control evidence · recovery evidence · expansion decision</a:t>
            </a:r>
          </a:p>
        </p:txBody>
      </p:sp>
    </p:spTree>
    <p:extLst>
      <p:ext uri="{BB962C8B-B14F-4D97-AF65-F5344CB8AC3E}">
        <p14:creationId xmlns:p14="http://schemas.microsoft.com/office/powerpoint/2010/main" val="14311141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9deea25c40f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10E4C8-42FE-4737-B639-38785B2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94BD7E8-E973-436F-9587-5465AD29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8D5DA7D-8C26-4CFF-ABFB-D7339DC4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68EB77D9-2ED0-4FF5-8D4A-93081E28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SOVEREIGN TRUST SOLUTIONS</a:t>
            </a:r>
          </a:p>
        </p:txBody>
      </p:sp>
      <p:sp>
        <p:nvSpPr>
          <p:cNvPr id="6" name="s15-kicker">
            <a:extLst xmlns:a="http://schemas.openxmlformats.org/drawingml/2006/main">
              <a:ext uri="{FF2B5EF4-FFF2-40B4-BE49-F238E27FC236}">
                <a16:creationId xmlns:a16="http://schemas.microsoft.com/office/drawing/2014/main" id="{983EA740-DDC6-450A-ADA7-A1F12C5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NEXT DECISION</a:t>
            </a:r>
          </a:p>
        </p:txBody>
      </p:sp>
      <p:sp>
        <p:nvSpPr>
          <p:cNvPr id="7" name="s15-title">
            <a:extLst xmlns:a="http://schemas.openxmlformats.org/drawingml/2006/main">
              <a:ext uri="{FF2B5EF4-FFF2-40B4-BE49-F238E27FC236}">
                <a16:creationId xmlns:a16="http://schemas.microsoft.com/office/drawing/2014/main" id="{22675D00-FAF5-44D8-B689-A51C67DC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Define the boundary.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Prove the execution.</a:t>
            </a:r>
          </a:p>
        </p:txBody>
      </p:sp>
      <p:sp>
        <p:nvSpPr>
          <p:cNvPr id="8" name="s15-body">
            <a:extLst xmlns:a="http://schemas.openxmlformats.org/drawingml/2006/main">
              <a:ext uri="{FF2B5EF4-FFF2-40B4-BE49-F238E27FC236}">
                <a16:creationId xmlns:a16="http://schemas.microsoft.com/office/drawing/2014/main" id="{E29EADF7-1F84-4C4A-976A-046B1B4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Start with one workflow where sovereignty, trust, and operational accountability materially change the outcome.</a:t>
            </a:r>
          </a:p>
        </p:txBody>
      </p:sp>
      <p:sp>
        <p:nvSpPr>
          <p:cNvPr id="9" name="pill-DISCOVERY">
            <a:extLst xmlns:a="http://schemas.openxmlformats.org/drawingml/2006/main">
              <a:ext uri="{FF2B5EF4-FFF2-40B4-BE49-F238E27FC236}">
                <a16:creationId xmlns:a16="http://schemas.microsoft.com/office/drawing/2014/main" id="{40F2374B-CC7C-4B5E-9897-31DD1BAF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2038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pill-text-DISCOVERY">
            <a:extLst xmlns:a="http://schemas.openxmlformats.org/drawingml/2006/main">
              <a:ext uri="{FF2B5EF4-FFF2-40B4-BE49-F238E27FC236}">
                <a16:creationId xmlns:a16="http://schemas.microsoft.com/office/drawing/2014/main" id="{2C89DA8D-9EE3-43C3-9A41-CE75343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DISCOVERY</a:t>
            </a:r>
          </a:p>
        </p:txBody>
      </p:sp>
      <p:sp>
        <p:nvSpPr>
          <p:cNvPr id="11" name="pill-ARCHITECTURE">
            <a:extLst xmlns:a="http://schemas.openxmlformats.org/drawingml/2006/main">
              <a:ext uri="{FF2B5EF4-FFF2-40B4-BE49-F238E27FC236}">
                <a16:creationId xmlns:a16="http://schemas.microsoft.com/office/drawing/2014/main" id="{74E0D796-2269-4533-ADD5-103394C6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2038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ill-text-ARCHITECTURE">
            <a:extLst xmlns:a="http://schemas.openxmlformats.org/drawingml/2006/main">
              <a:ext uri="{FF2B5EF4-FFF2-40B4-BE49-F238E27FC236}">
                <a16:creationId xmlns:a16="http://schemas.microsoft.com/office/drawing/2014/main" id="{54092AF3-4CAC-45BE-AEED-4C2DB65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ARCHITECTURE</a:t>
            </a:r>
          </a:p>
        </p:txBody>
      </p:sp>
      <p:sp>
        <p:nvSpPr>
          <p:cNvPr id="13" name="pill-OPERATING MODEL">
            <a:extLst xmlns:a="http://schemas.openxmlformats.org/drawingml/2006/main">
              <a:ext uri="{FF2B5EF4-FFF2-40B4-BE49-F238E27FC236}">
                <a16:creationId xmlns:a16="http://schemas.microsoft.com/office/drawing/2014/main" id="{E60FCCEB-B52E-4BFF-8A5B-1DC07CA4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10150"/>
            <a:ext cx="2038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pill-text-OPERATING MODEL">
            <a:extLst xmlns:a="http://schemas.openxmlformats.org/drawingml/2006/main">
              <a:ext uri="{FF2B5EF4-FFF2-40B4-BE49-F238E27FC236}">
                <a16:creationId xmlns:a16="http://schemas.microsoft.com/office/drawing/2014/main" id="{BBFCD844-280F-41CA-8D98-75D8F51D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05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OPERATING MODEL</a:t>
            </a:r>
          </a:p>
        </p:txBody>
      </p:sp>
      <p:sp>
        <p:nvSpPr>
          <p:cNvPr id="15" name="pill-PILOT">
            <a:extLst xmlns:a="http://schemas.openxmlformats.org/drawingml/2006/main">
              <a:ext uri="{FF2B5EF4-FFF2-40B4-BE49-F238E27FC236}">
                <a16:creationId xmlns:a16="http://schemas.microsoft.com/office/drawing/2014/main" id="{43FD46A9-4176-461F-9382-AF90D207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10150"/>
            <a:ext cx="2038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pill-text-PILOT">
            <a:extLst xmlns:a="http://schemas.openxmlformats.org/drawingml/2006/main">
              <a:ext uri="{FF2B5EF4-FFF2-40B4-BE49-F238E27FC236}">
                <a16:creationId xmlns:a16="http://schemas.microsoft.com/office/drawing/2014/main" id="{5DEC078C-CF43-484F-B305-04CF69B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05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PILOT</a:t>
            </a:r>
          </a:p>
        </p:txBody>
      </p:sp>
      <p:sp>
        <p:nvSpPr>
          <p:cNvPr id="17" name="pill-EXPANSION">
            <a:extLst xmlns:a="http://schemas.openxmlformats.org/drawingml/2006/main">
              <a:ext uri="{FF2B5EF4-FFF2-40B4-BE49-F238E27FC236}">
                <a16:creationId xmlns:a16="http://schemas.microsoft.com/office/drawing/2014/main" id="{E1D1C845-4CB3-406D-A79B-88010A6E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2038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pill-text-EXPANSION">
            <a:extLst xmlns:a="http://schemas.openxmlformats.org/drawingml/2006/main">
              <a:ext uri="{FF2B5EF4-FFF2-40B4-BE49-F238E27FC236}">
                <a16:creationId xmlns:a16="http://schemas.microsoft.com/office/drawing/2014/main" id="{FED70E69-57EF-44C2-8314-9AE2017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5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EXPANSION</a:t>
            </a:r>
          </a:p>
        </p:txBody>
      </p:sp>
      <p:sp>
        <p:nvSpPr>
          <p:cNvPr id="19" name="s15-close">
            <a:extLst xmlns:a="http://schemas.openxmlformats.org/drawingml/2006/main">
              <a:ext uri="{FF2B5EF4-FFF2-40B4-BE49-F238E27FC236}">
                <a16:creationId xmlns:a16="http://schemas.microsoft.com/office/drawing/2014/main" id="{3ABD0725-2715-4AC5-A665-FB31296C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</p:spTree>
    <p:extLst>
      <p:ext uri="{BB962C8B-B14F-4D97-AF65-F5344CB8AC3E}">
        <p14:creationId xmlns:p14="http://schemas.microsoft.com/office/powerpoint/2010/main" val="985209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2026-08-29T13:20:25.6240000Z</dcterms:created>
  <dcterms:modified xsi:type="dcterms:W3CDTF">2026-08-29T13:20:25.6240000Z</dcterms:modified>
</coreProperties>
</file>