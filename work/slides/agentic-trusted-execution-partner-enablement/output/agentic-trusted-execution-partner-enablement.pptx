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c11f80e7bf461c" /><Relationship Type="http://schemas.openxmlformats.org/officeDocument/2006/relationships/extended-properties" Target="/docProps/app.xml" Id="R14de8850ece6433b" /><Relationship Type="http://schemas.openxmlformats.org/officeDocument/2006/relationships/officeDocument" Target="/ppt/presentation.xml" Id="R2bfbd30a47274a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e9572048c4463e"/>
  </p:sldMasterIdLst>
  <p:notesMasterIdLst>
    <p:notesMasterId xmlns:r="http://schemas.openxmlformats.org/officeDocument/2006/relationships" r:id="R87df4599b3a34120"/>
  </p:notesMasterIdLst>
  <p:sldIdLst>
    <p:sldId xmlns:r="http://schemas.openxmlformats.org/officeDocument/2006/relationships" id="256" r:id="R0ef20afd4f9e4058"/>
    <p:sldId xmlns:r="http://schemas.openxmlformats.org/officeDocument/2006/relationships" id="257" r:id="Rf111a4ea86fc41a7"/>
    <p:sldId xmlns:r="http://schemas.openxmlformats.org/officeDocument/2006/relationships" id="258" r:id="R6af7d8722c574014"/>
    <p:sldId xmlns:r="http://schemas.openxmlformats.org/officeDocument/2006/relationships" id="259" r:id="R1f18cb97fec6414a"/>
    <p:sldId xmlns:r="http://schemas.openxmlformats.org/officeDocument/2006/relationships" id="260" r:id="R6c2be42d3ae24ac2"/>
    <p:sldId xmlns:r="http://schemas.openxmlformats.org/officeDocument/2006/relationships" id="261" r:id="R6d83463bb1944450"/>
    <p:sldId xmlns:r="http://schemas.openxmlformats.org/officeDocument/2006/relationships" id="262" r:id="Rc08d893fdffa48a5"/>
    <p:sldId xmlns:r="http://schemas.openxmlformats.org/officeDocument/2006/relationships" id="263" r:id="Reb1d97c51b3e4750"/>
    <p:sldId xmlns:r="http://schemas.openxmlformats.org/officeDocument/2006/relationships" id="264" r:id="R4ce26bb1f9e041c0"/>
    <p:sldId xmlns:r="http://schemas.openxmlformats.org/officeDocument/2006/relationships" id="265" r:id="Rab2296cd5b9b4b5a"/>
    <p:sldId xmlns:r="http://schemas.openxmlformats.org/officeDocument/2006/relationships" id="266" r:id="Ra3d634f09b474116"/>
    <p:sldId xmlns:r="http://schemas.openxmlformats.org/officeDocument/2006/relationships" id="267" r:id="Rded9488009524073"/>
    <p:sldId xmlns:r="http://schemas.openxmlformats.org/officeDocument/2006/relationships" id="268" r:id="R2f3aa373a7894b1f"/>
    <p:sldId xmlns:r="http://schemas.openxmlformats.org/officeDocument/2006/relationships" id="269" r:id="R53c0019f0dce4d5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2c3d1041b5464a" /><Relationship Type="http://schemas.openxmlformats.org/officeDocument/2006/relationships/slideMaster" Target="/ppt/slideMasters/slideMaster1.xml" Id="R9ae9572048c4463e" /><Relationship Type="http://schemas.openxmlformats.org/officeDocument/2006/relationships/notesMaster" Target="/ppt/notesMasters/notesMaster1.xml" Id="R87df4599b3a34120" /><Relationship Type="http://schemas.openxmlformats.org/officeDocument/2006/relationships/presProps" Target="/ppt/presProps.xml" Id="Ra729afae254a4586" /><Relationship Type="http://schemas.openxmlformats.org/officeDocument/2006/relationships/tableStyles" Target="/ppt/tableStyles.xml" Id="Ref031a3dbd41438e" /><Relationship Type="http://schemas.openxmlformats.org/officeDocument/2006/relationships/slide" Target="/ppt/slides/slide1.xml" Id="R0ef20afd4f9e4058" /><Relationship Type="http://schemas.openxmlformats.org/officeDocument/2006/relationships/slide" Target="/ppt/slides/slide2.xml" Id="Rf111a4ea86fc41a7" /><Relationship Type="http://schemas.openxmlformats.org/officeDocument/2006/relationships/slide" Target="/ppt/slides/slide3.xml" Id="R6af7d8722c574014" /><Relationship Type="http://schemas.openxmlformats.org/officeDocument/2006/relationships/slide" Target="/ppt/slides/slide4.xml" Id="R1f18cb97fec6414a" /><Relationship Type="http://schemas.openxmlformats.org/officeDocument/2006/relationships/slide" Target="/ppt/slides/slide5.xml" Id="R6c2be42d3ae24ac2" /><Relationship Type="http://schemas.openxmlformats.org/officeDocument/2006/relationships/slide" Target="/ppt/slides/slide6.xml" Id="R6d83463bb1944450" /><Relationship Type="http://schemas.openxmlformats.org/officeDocument/2006/relationships/slide" Target="/ppt/slides/slide7.xml" Id="Rc08d893fdffa48a5" /><Relationship Type="http://schemas.openxmlformats.org/officeDocument/2006/relationships/slide" Target="/ppt/slides/slide8.xml" Id="Reb1d97c51b3e4750" /><Relationship Type="http://schemas.openxmlformats.org/officeDocument/2006/relationships/slide" Target="/ppt/slides/slide9.xml" Id="R4ce26bb1f9e041c0" /><Relationship Type="http://schemas.openxmlformats.org/officeDocument/2006/relationships/slide" Target="/ppt/slides/slide10.xml" Id="Rab2296cd5b9b4b5a" /><Relationship Type="http://schemas.openxmlformats.org/officeDocument/2006/relationships/slide" Target="/ppt/slides/slide11.xml" Id="Ra3d634f09b474116" /><Relationship Type="http://schemas.openxmlformats.org/officeDocument/2006/relationships/slide" Target="/ppt/slides/slide12.xml" Id="Rded9488009524073" /><Relationship Type="http://schemas.openxmlformats.org/officeDocument/2006/relationships/slide" Target="/ppt/slides/slide13.xml" Id="R2f3aa373a7894b1f" /><Relationship Type="http://schemas.openxmlformats.org/officeDocument/2006/relationships/slide" Target="/ppt/slides/slide14.xml" Id="R53c0019f0dce4d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5caef765be4c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735dea81124a9d" /><Relationship Type="http://schemas.openxmlformats.org/officeDocument/2006/relationships/notesMaster" Target="/ppt/notesMasters/notesMaster1.xml" Id="R564f6adfd46c49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6761655d02f4a17" /><Relationship Type="http://schemas.openxmlformats.org/officeDocument/2006/relationships/notesMaster" Target="/ppt/notesMasters/notesMaster1.xml" Id="R7ba9515b7c704d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96868fe44b4f94" /><Relationship Type="http://schemas.openxmlformats.org/officeDocument/2006/relationships/notesMaster" Target="/ppt/notesMasters/notesMaster1.xml" Id="R4fab20dcf4e140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fe623ecc0b748e7" /><Relationship Type="http://schemas.openxmlformats.org/officeDocument/2006/relationships/notesMaster" Target="/ppt/notesMasters/notesMaster1.xml" Id="R8d5e908c32fc4c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23dfe3fcc94f54" /><Relationship Type="http://schemas.openxmlformats.org/officeDocument/2006/relationships/notesMaster" Target="/ppt/notesMasters/notesMaster1.xml" Id="R6dd91670a53441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5989750ec024403" /><Relationship Type="http://schemas.openxmlformats.org/officeDocument/2006/relationships/notesMaster" Target="/ppt/notesMasters/notesMaster1.xml" Id="R17acdf84c89d40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c46d65e0fed46e6" /><Relationship Type="http://schemas.openxmlformats.org/officeDocument/2006/relationships/notesMaster" Target="/ppt/notesMasters/notesMaster1.xml" Id="R89446a798d8d484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f34693b18974dde" /><Relationship Type="http://schemas.openxmlformats.org/officeDocument/2006/relationships/notesMaster" Target="/ppt/notesMasters/notesMaster1.xml" Id="Rb48fdc1e7c61478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79b750a503544a5" /><Relationship Type="http://schemas.openxmlformats.org/officeDocument/2006/relationships/notesMaster" Target="/ppt/notesMasters/notesMaster1.xml" Id="Re85e526f2ff4478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118a8a83d6c4336" /><Relationship Type="http://schemas.openxmlformats.org/officeDocument/2006/relationships/notesMaster" Target="/ppt/notesMasters/notesMaster1.xml" Id="R86ccd29d046440d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89d66199f564f3a" /><Relationship Type="http://schemas.openxmlformats.org/officeDocument/2006/relationships/notesMaster" Target="/ppt/notesMasters/notesMaster1.xml" Id="R00f0efd513ac410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061ebbe8b81479d" /><Relationship Type="http://schemas.openxmlformats.org/officeDocument/2006/relationships/notesMaster" Target="/ppt/notesMasters/notesMaster1.xml" Id="Rd6b9b35be8844a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966b29abfa64898" /><Relationship Type="http://schemas.openxmlformats.org/officeDocument/2006/relationships/notesMaster" Target="/ppt/notesMasters/notesMaster1.xml" Id="Rf88ccc5e4328401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da3e50ff0af4366" /><Relationship Type="http://schemas.openxmlformats.org/officeDocument/2006/relationships/notesMaster" Target="/ppt/notesMasters/notesMaster1.xml" Id="R5c48385e6e5b48f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work/ideas/Trusted Execution for the Agentic Era.md</a:t>
            </a:r>
          </a:p>
          <a:p xmlns:a="http://schemas.openxmlformats.org/drawingml/2006/main">
            <a:r>
              <a:t>- .agents/skills/circularo-slides/references/brand-system.md</a:t>
            </a:r>
          </a:p>
          <a:p xmlns:a="http://schemas.openxmlformats.org/drawingml/2006/main">
            <a:r>
              <a:t>- .agents/skills/circularo-slides/assets/icons/sovereign/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work/ideas/Trusted Execution for the Agentic Era.md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work/ideas/Trusted Execution for the Agentic Era.md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work/ideas/Trusted Execution for the Agentic Era.md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work/ideas/Trusted Execution for the Agentic Era.md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work/ideas/Trusted Execution for the Agentic Era.md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work/ideas/Trusted Execution for the Agentic Era.md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work/ideas/Trusted Execution for the Agentic Era.md</a:t>
            </a:r>
          </a:p>
          <a:p xmlns:a="http://schemas.openxmlformats.org/drawingml/2006/main">
            <a:r>
              <a:t>- .agents/skills/circularo-slides/references/brand-system.md</a:t>
            </a:r>
          </a:p>
          <a:p xmlns:a="http://schemas.openxmlformats.org/drawingml/2006/main">
            <a:r>
              <a:t>- .agents/skills/circularo-slides/assets/icons/sovereign/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work/ideas/Trusted Execution for the Agentic Era.md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work/ideas/Trusted Execution for the Agentic Era.md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work/ideas/Trusted Execution for the Agentic Era.md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work/ideas/Trusted Execution for the Agentic Era.md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work/ideas/Trusted Execution for the Agentic Era.md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work/ideas/Trusted Execution for the Agentic Era.md</a:t>
            </a:r>
          </a:p>
          <a:p xmlns:a="http://schemas.openxmlformats.org/drawingml/2006/main">
            <a:r>
              <a:t>- .agents/skills/circularo-slides/references/brand-system.md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09fa3958ee4cb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ab1ab5dc3b4c4a" /><Relationship Type="http://schemas.openxmlformats.org/officeDocument/2006/relationships/slideLayout" Target="/ppt/slideLayouts/slideLayout1.xml" Id="R55ad373bd9a843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ad373bd9a843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1b35d8a90946f0" /><Relationship Type="http://schemas.openxmlformats.org/officeDocument/2006/relationships/image" Target="/ppt/media/image.png" Id="R21edb1bc30924ff7" /><Relationship Type="http://schemas.openxmlformats.org/officeDocument/2006/relationships/image" Target="/ppt/media/image2.png" Id="R21b1f75111e24b6b" /><Relationship Type="http://schemas.openxmlformats.org/officeDocument/2006/relationships/image" Target="/ppt/media/image3.png" Id="Rd702ad9c90aa4e7b" /><Relationship Type="http://schemas.openxmlformats.org/officeDocument/2006/relationships/image" Target="/ppt/media/image4.png" Id="R62050b13a6f148d4" /><Relationship Type="http://schemas.openxmlformats.org/officeDocument/2006/relationships/notesSlide" Target="/ppt/notesSlides/notesSlide1.xml" Id="R5fa1930c79a446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1ec901f534162" /><Relationship Type="http://schemas.openxmlformats.org/officeDocument/2006/relationships/image" Target="/ppt/media/image5.png" Id="R5f0b43ea96c64076" /><Relationship Type="http://schemas.openxmlformats.org/officeDocument/2006/relationships/notesSlide" Target="/ppt/notesSlides/notesSlide2.xml" Id="R3f32e6316b8e4d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61f4bd4f8b4627" /><Relationship Type="http://schemas.openxmlformats.org/officeDocument/2006/relationships/image" Target="/ppt/media/image6.png" Id="R59641f5cada84f45" /><Relationship Type="http://schemas.openxmlformats.org/officeDocument/2006/relationships/notesSlide" Target="/ppt/notesSlides/notesSlide3.xml" Id="R4ea4e1d6e71d410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85fd8d0deb42d6" /><Relationship Type="http://schemas.openxmlformats.org/officeDocument/2006/relationships/image" Target="/ppt/media/image7.png" Id="R4fdf5e2f2c3a494e" /><Relationship Type="http://schemas.openxmlformats.org/officeDocument/2006/relationships/notesSlide" Target="/ppt/notesSlides/notesSlide4.xml" Id="R049df3fd1b0948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e0a2892d1d47e3" /><Relationship Type="http://schemas.openxmlformats.org/officeDocument/2006/relationships/image" Target="/ppt/media/image8.png" Id="Ra3a7926b551e4621" /><Relationship Type="http://schemas.openxmlformats.org/officeDocument/2006/relationships/notesSlide" Target="/ppt/notesSlides/notesSlide5.xml" Id="R7f125125b1804b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7e736e891849ba" /><Relationship Type="http://schemas.openxmlformats.org/officeDocument/2006/relationships/image" Target="/ppt/media/image9.png" Id="R1fc3342cdbe342f6" /><Relationship Type="http://schemas.openxmlformats.org/officeDocument/2006/relationships/notesSlide" Target="/ppt/notesSlides/notesSlide6.xml" Id="R15643705c65a4f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378d564d8a42a4" /><Relationship Type="http://schemas.openxmlformats.org/officeDocument/2006/relationships/image" Target="/ppt/media/image10.png" Id="Rce669c6607754bcc" /><Relationship Type="http://schemas.openxmlformats.org/officeDocument/2006/relationships/notesSlide" Target="/ppt/notesSlides/notesSlide7.xml" Id="R367082aaabe64c1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399521aa4f4b14" /><Relationship Type="http://schemas.openxmlformats.org/officeDocument/2006/relationships/image" Target="/ppt/media/image11.png" Id="R03db665bed51457f" /><Relationship Type="http://schemas.openxmlformats.org/officeDocument/2006/relationships/image" Target="/ppt/media/image12.png" Id="R48b9bff5df664c26" /><Relationship Type="http://schemas.openxmlformats.org/officeDocument/2006/relationships/image" Target="/ppt/media/image13.png" Id="Rcccc8fd6276f46cc" /><Relationship Type="http://schemas.openxmlformats.org/officeDocument/2006/relationships/image" Target="/ppt/media/image14.png" Id="R3045a8c750d846ab" /><Relationship Type="http://schemas.openxmlformats.org/officeDocument/2006/relationships/image" Target="/ppt/media/image15.png" Id="R2f5b8cbe52e141aa" /><Relationship Type="http://schemas.openxmlformats.org/officeDocument/2006/relationships/image" Target="/ppt/media/image16.png" Id="Rac95ccfe2fa540e5" /><Relationship Type="http://schemas.openxmlformats.org/officeDocument/2006/relationships/image" Target="/ppt/media/image17.png" Id="Re4b5709aa9894b32" /><Relationship Type="http://schemas.openxmlformats.org/officeDocument/2006/relationships/notesSlide" Target="/ppt/notesSlides/notesSlide8.xml" Id="R8027727378cb442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731d7655c54a81" /><Relationship Type="http://schemas.openxmlformats.org/officeDocument/2006/relationships/image" Target="/ppt/media/image18.png" Id="Racd16f39ab684bc0" /><Relationship Type="http://schemas.openxmlformats.org/officeDocument/2006/relationships/notesSlide" Target="/ppt/notesSlides/notesSlide9.xml" Id="Rff03e24211af48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1d84c8c0074208" /><Relationship Type="http://schemas.openxmlformats.org/officeDocument/2006/relationships/image" Target="/ppt/media/image19.png" Id="Rdea3f2312bda442b" /><Relationship Type="http://schemas.openxmlformats.org/officeDocument/2006/relationships/notesSlide" Target="/ppt/notesSlides/notesSlide10.xml" Id="R0380d6c86146473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4e6ae379c3432d" /><Relationship Type="http://schemas.openxmlformats.org/officeDocument/2006/relationships/image" Target="/ppt/media/image20.png" Id="R86b6db5d108243bc" /><Relationship Type="http://schemas.openxmlformats.org/officeDocument/2006/relationships/notesSlide" Target="/ppt/notesSlides/notesSlide11.xml" Id="Rda61819396e64a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60c3d7ce74d0f" /><Relationship Type="http://schemas.openxmlformats.org/officeDocument/2006/relationships/image" Target="/ppt/media/image21.png" Id="R2a53236a8ef047ff" /><Relationship Type="http://schemas.openxmlformats.org/officeDocument/2006/relationships/notesSlide" Target="/ppt/notesSlides/notesSlide12.xml" Id="R9f272f8a51c046e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01a087203e4633" /><Relationship Type="http://schemas.openxmlformats.org/officeDocument/2006/relationships/image" Target="/ppt/media/image22.png" Id="Rdcdc9efabc7c4087" /><Relationship Type="http://schemas.openxmlformats.org/officeDocument/2006/relationships/notesSlide" Target="/ppt/notesSlides/notesSlide13.xml" Id="R50f4815299cf47f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506e67bf334f92" /><Relationship Type="http://schemas.openxmlformats.org/officeDocument/2006/relationships/image" Target="/ppt/media/image23.png" Id="R9f3f5732be104ed9" /><Relationship Type="http://schemas.openxmlformats.org/officeDocument/2006/relationships/notesSlide" Target="/ppt/notesSlides/notesSlide14.xml" Id="Rc016dbc7199047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D009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db1bc30924ff7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C6BA69C-93DF-4235-9F66-B6A2FB84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01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E8567406-A7AC-45CF-86BC-0C8BA342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07A12C97-3C5D-41C6-9AC7-D083EC653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AGENTIC TRUSTED EXECUTION · PARTNER ENABLEMENT</a:t>
            </a:r>
          </a:p>
        </p:txBody>
      </p:sp>
      <p:sp>
        <p:nvSpPr>
          <p:cNvPr id="5" name="partner-enablement-mark">
            <a:extLst xmlns:a="http://schemas.openxmlformats.org/drawingml/2006/main">
              <a:ext uri="{FF2B5EF4-FFF2-40B4-BE49-F238E27FC236}">
                <a16:creationId xmlns:a16="http://schemas.microsoft.com/office/drawing/2014/main" id="{C306777C-C125-4B4C-9560-8E9C633B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INTERNAL &amp; PARTNER ENABLEMENT</a:t>
            </a:r>
          </a:p>
        </p:txBody>
      </p:sp>
      <p:sp>
        <p:nvSpPr>
          <p:cNvPr id="6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5A64292D-66CE-40E5-B485-B7F50022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20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CIRCULARO PARTNER NARRATIVE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A9DA0D8-2B62-4A7B-B520-E6004AE4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76400"/>
            <a:ext cx="63817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4350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Govern consequential action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4350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in the agentic era</a:t>
            </a:r>
          </a:p>
        </p:txBody>
      </p:sp>
      <p:sp>
        <p:nvSpPr>
          <p:cNvPr id="8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E6AF6FAB-2B35-4707-9AC7-5A7821AC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581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E6DEFF"/>
                </a:solidFill>
                <a:latin typeface="Mulish"/>
                <a:ea typeface="Mulish"/>
                <a:cs typeface="Mulish"/>
              </a:defRPr>
            </a:pPr>
            <a:r>
              <a:rPr sz="1725" b="0">
                <a:solidFill>
                  <a:srgbClr val="E6DEFF"/>
                </a:solidFill>
                <a:latin typeface="Mulish"/>
                <a:ea typeface="Mulish"/>
                <a:cs typeface="Mulish"/>
              </a:rPr>
              <a:t>A shared model for connecting capability, authority, execution, and evidence.</a:t>
            </a:r>
          </a:p>
        </p:txBody>
      </p:sp>
      <p:sp>
        <p:nvSpPr>
          <p:cNvPr id="9" name="cover-control-chain">
            <a:extLst xmlns:a="http://schemas.openxmlformats.org/drawingml/2006/main">
              <a:ext uri="{FF2B5EF4-FFF2-40B4-BE49-F238E27FC236}">
                <a16:creationId xmlns:a16="http://schemas.microsoft.com/office/drawing/2014/main" id="{8641D269-7BC6-4FE1-960D-4E8F0299E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67350"/>
            <a:ext cx="638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ACTOR · AUTHORITY · POLICY · APPROVAL · EVIDENCE</a:t>
            </a:r>
          </a:p>
        </p:txBody>
      </p:sp>
      <p:sp>
        <p:nvSpPr>
          <p:cNvPr id="10" name="cover-actors-label">
            <a:extLst xmlns:a="http://schemas.openxmlformats.org/drawingml/2006/main">
              <a:ext uri="{FF2B5EF4-FFF2-40B4-BE49-F238E27FC236}">
                <a16:creationId xmlns:a16="http://schemas.microsoft.com/office/drawing/2014/main" id="{00B2D704-56B3-49E9-8BE9-99A2B246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2001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AUTHORIZED ACTORS</a:t>
            </a:r>
          </a:p>
        </p:txBody>
      </p:sp>
      <p:sp>
        <p:nvSpPr>
          <p:cNvPr id="11" name="cover-actor-line-778">
            <a:extLst xmlns:a="http://schemas.openxmlformats.org/drawingml/2006/main">
              <a:ext uri="{FF2B5EF4-FFF2-40B4-BE49-F238E27FC236}">
                <a16:creationId xmlns:a16="http://schemas.microsoft.com/office/drawing/2014/main" id="{E75ABBB4-1A9D-40B6-A737-D105CDAD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95550"/>
            <a:ext cx="19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1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ver-actor-line-920">
            <a:extLst xmlns:a="http://schemas.openxmlformats.org/drawingml/2006/main">
              <a:ext uri="{FF2B5EF4-FFF2-40B4-BE49-F238E27FC236}">
                <a16:creationId xmlns:a16="http://schemas.microsoft.com/office/drawing/2014/main" id="{3D0E173B-9128-4FC9-BBD5-D0FA8638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95550"/>
            <a:ext cx="19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1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over-actor-line-1062">
            <a:extLst xmlns:a="http://schemas.openxmlformats.org/drawingml/2006/main">
              <a:ext uri="{FF2B5EF4-FFF2-40B4-BE49-F238E27FC236}">
                <a16:creationId xmlns:a16="http://schemas.microsoft.com/office/drawing/2014/main" id="{938EFA0B-E3FD-437C-9126-A1064A9E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2495550"/>
            <a:ext cx="19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1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over-boundary-line">
            <a:extLst xmlns:a="http://schemas.openxmlformats.org/drawingml/2006/main">
              <a:ext uri="{FF2B5EF4-FFF2-40B4-BE49-F238E27FC236}">
                <a16:creationId xmlns:a16="http://schemas.microsoft.com/office/drawing/2014/main" id="{FA76A104-B919-4D4B-AB32-CC985806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05250"/>
            <a:ext cx="19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1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ver-actor-frame-1">
            <a:extLst xmlns:a="http://schemas.openxmlformats.org/drawingml/2006/main">
              <a:ext uri="{FF2B5EF4-FFF2-40B4-BE49-F238E27FC236}">
                <a16:creationId xmlns:a16="http://schemas.microsoft.com/office/drawing/2014/main" id="{3DEF7220-B509-48C5-959D-F0D943F3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619250"/>
            <a:ext cx="10287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b1f75111e24b6b"/>
          <a:stretch xmlns:a="http://schemas.openxmlformats.org/drawingml/2006/main"/>
        </p:blipFill>
        <p:spPr>
          <a:xfrm xmlns:a="http://schemas.openxmlformats.org/drawingml/2006/main">
            <a:off x="7696200" y="1781676"/>
            <a:ext cx="457200" cy="360947"/>
          </a:xfrm>
          <a:prstGeom xmlns:a="http://schemas.openxmlformats.org/drawingml/2006/main" prst="rect">
            <a:avLst/>
          </a:prstGeom>
        </p:spPr>
      </p:pic>
      <p:sp>
        <p:nvSpPr>
          <p:cNvPr id="17" name="cover-actor-label-1">
            <a:extLst xmlns:a="http://schemas.openxmlformats.org/drawingml/2006/main">
              <a:ext uri="{FF2B5EF4-FFF2-40B4-BE49-F238E27FC236}">
                <a16:creationId xmlns:a16="http://schemas.microsoft.com/office/drawing/2014/main" id="{F2885649-3F04-4414-B5BB-D20C878C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2098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People</a:t>
            </a:r>
          </a:p>
        </p:txBody>
      </p:sp>
      <p:sp>
        <p:nvSpPr>
          <p:cNvPr id="18" name="cover-actor-frame-2">
            <a:extLst xmlns:a="http://schemas.openxmlformats.org/drawingml/2006/main">
              <a:ext uri="{FF2B5EF4-FFF2-40B4-BE49-F238E27FC236}">
                <a16:creationId xmlns:a16="http://schemas.microsoft.com/office/drawing/2014/main" id="{AC94FFA4-F063-43A2-B2A4-C905A21F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619250"/>
            <a:ext cx="10287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02ad9c90aa4e7b"/>
          <a:stretch xmlns:a="http://schemas.openxmlformats.org/drawingml/2006/main"/>
        </p:blipFill>
        <p:spPr>
          <a:xfrm xmlns:a="http://schemas.openxmlformats.org/drawingml/2006/main">
            <a:off x="9048750" y="1758950"/>
            <a:ext cx="457200" cy="406400"/>
          </a:xfrm>
          <a:prstGeom xmlns:a="http://schemas.openxmlformats.org/drawingml/2006/main" prst="rect">
            <a:avLst/>
          </a:prstGeom>
        </p:spPr>
      </p:pic>
      <p:sp>
        <p:nvSpPr>
          <p:cNvPr id="20" name="cover-actor-label-2">
            <a:extLst xmlns:a="http://schemas.openxmlformats.org/drawingml/2006/main">
              <a:ext uri="{FF2B5EF4-FFF2-40B4-BE49-F238E27FC236}">
                <a16:creationId xmlns:a16="http://schemas.microsoft.com/office/drawing/2014/main" id="{3195B745-95A2-4DDD-A4F1-0BED94296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2098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Apps</a:t>
            </a:r>
          </a:p>
        </p:txBody>
      </p:sp>
      <p:sp>
        <p:nvSpPr>
          <p:cNvPr id="21" name="cover-actor-frame-3">
            <a:extLst xmlns:a="http://schemas.openxmlformats.org/drawingml/2006/main">
              <a:ext uri="{FF2B5EF4-FFF2-40B4-BE49-F238E27FC236}">
                <a16:creationId xmlns:a16="http://schemas.microsoft.com/office/drawing/2014/main" id="{86219173-8198-4A37-BE75-B19782A8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619250"/>
            <a:ext cx="10287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050b13a6f148d4"/>
          <a:stretch xmlns:a="http://schemas.openxmlformats.org/drawingml/2006/main"/>
        </p:blipFill>
        <p:spPr>
          <a:xfrm xmlns:a="http://schemas.openxmlformats.org/drawingml/2006/main">
            <a:off x="10401300" y="1771650"/>
            <a:ext cx="457200" cy="381000"/>
          </a:xfrm>
          <a:prstGeom xmlns:a="http://schemas.openxmlformats.org/drawingml/2006/main" prst="rect">
            <a:avLst/>
          </a:prstGeom>
        </p:spPr>
      </p:pic>
      <p:sp>
        <p:nvSpPr>
          <p:cNvPr id="23" name="cover-actor-label-3">
            <a:extLst xmlns:a="http://schemas.openxmlformats.org/drawingml/2006/main">
              <a:ext uri="{FF2B5EF4-FFF2-40B4-BE49-F238E27FC236}">
                <a16:creationId xmlns:a16="http://schemas.microsoft.com/office/drawing/2014/main" id="{3E0A1DAC-096A-4F09-B157-24F85DFE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2098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AI agents</a:t>
            </a:r>
          </a:p>
        </p:txBody>
      </p:sp>
      <p:sp>
        <p:nvSpPr>
          <p:cNvPr id="24" name="cover-execution-boundary">
            <a:extLst xmlns:a="http://schemas.openxmlformats.org/drawingml/2006/main">
              <a:ext uri="{FF2B5EF4-FFF2-40B4-BE49-F238E27FC236}">
                <a16:creationId xmlns:a16="http://schemas.microsoft.com/office/drawing/2014/main" id="{8CAB3DE3-59D4-43E8-B4B9-53D0532C5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4095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over-boundary-title">
            <a:extLst xmlns:a="http://schemas.openxmlformats.org/drawingml/2006/main">
              <a:ext uri="{FF2B5EF4-FFF2-40B4-BE49-F238E27FC236}">
                <a16:creationId xmlns:a16="http://schemas.microsoft.com/office/drawing/2014/main" id="{A1E95A43-07F9-4B95-A30A-B9F6239F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81375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CIRCULARO TRUSTED EXECUTION LAYER</a:t>
            </a:r>
          </a:p>
        </p:txBody>
      </p:sp>
      <p:sp>
        <p:nvSpPr>
          <p:cNvPr id="26" name="cover-evidence">
            <a:extLst xmlns:a="http://schemas.openxmlformats.org/drawingml/2006/main">
              <a:ext uri="{FF2B5EF4-FFF2-40B4-BE49-F238E27FC236}">
                <a16:creationId xmlns:a16="http://schemas.microsoft.com/office/drawing/2014/main" id="{7F77BBAF-E9EB-416D-BF8E-CA450444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591050"/>
            <a:ext cx="2571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9525">
            <a:solidFill>
              <a:srgbClr val="C9AEFF"/>
            </a:solidFill>
            <a:prstDash val="solid"/>
          </a:ln>
        </p:spPr>
      </p:sp>
      <p:sp>
        <p:nvSpPr>
          <p:cNvPr id="27" name="cover-evidence-title">
            <a:extLst xmlns:a="http://schemas.openxmlformats.org/drawingml/2006/main">
              <a:ext uri="{FF2B5EF4-FFF2-40B4-BE49-F238E27FC236}">
                <a16:creationId xmlns:a16="http://schemas.microsoft.com/office/drawing/2014/main" id="{7E034630-04B8-4F41-90C0-19489733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8291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TRUSTED RECORD</a:t>
            </a:r>
          </a:p>
        </p:txBody>
      </p:sp>
    </p:spTree>
    <p:extLst>
      <p:ext uri="{BB962C8B-B14F-4D97-AF65-F5344CB8AC3E}">
        <p14:creationId xmlns:p14="http://schemas.microsoft.com/office/powerpoint/2010/main" val="15117028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0b43ea96c64076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251A9CA-F59E-44C5-9809-7FF2B1B1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02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C8155293-CE94-4ECE-BB48-735E5272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44849511-1446-4E38-9E34-5BE9B6451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AGENTIC TRUSTED EXECUTION · PARTNER ENABLEMENT</a:t>
            </a:r>
          </a:p>
        </p:txBody>
      </p:sp>
      <p:sp>
        <p:nvSpPr>
          <p:cNvPr id="5" name="partner-enablement-mark">
            <a:extLst xmlns:a="http://schemas.openxmlformats.org/drawingml/2006/main">
              <a:ext uri="{FF2B5EF4-FFF2-40B4-BE49-F238E27FC236}">
                <a16:creationId xmlns:a16="http://schemas.microsoft.com/office/drawing/2014/main" id="{C4640D38-5600-4322-A30B-07763C0D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&amp; PARTNER ENABLEMENT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E25F39-8A95-4FF8-8194-BD601644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AI is moving from insight to action</a:t>
            </a:r>
          </a:p>
        </p:txBody>
      </p:sp>
      <p:sp>
        <p:nvSpPr>
          <p:cNvPr id="7" name="evolution-spine">
            <a:extLst xmlns:a="http://schemas.openxmlformats.org/drawingml/2006/main">
              <a:ext uri="{FF2B5EF4-FFF2-40B4-BE49-F238E27FC236}">
                <a16:creationId xmlns:a16="http://schemas.microsoft.com/office/drawing/2014/main" id="{F1D7D6D9-C948-4590-AC1E-5054E8CB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76600"/>
            <a:ext cx="10058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evolution-node-1">
            <a:extLst xmlns:a="http://schemas.openxmlformats.org/drawingml/2006/main">
              <a:ext uri="{FF2B5EF4-FFF2-40B4-BE49-F238E27FC236}">
                <a16:creationId xmlns:a16="http://schemas.microsoft.com/office/drawing/2014/main" id="{DAFADFF3-DDAD-4CAE-9077-539E5389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52750"/>
            <a:ext cx="6477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9" name="evolution-number-1">
            <a:extLst xmlns:a="http://schemas.openxmlformats.org/drawingml/2006/main">
              <a:ext uri="{FF2B5EF4-FFF2-40B4-BE49-F238E27FC236}">
                <a16:creationId xmlns:a16="http://schemas.microsoft.com/office/drawing/2014/main" id="{91A35C50-8123-4898-9A14-55876D13C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1623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1</a:t>
            </a:r>
          </a:p>
        </p:txBody>
      </p:sp>
      <p:sp>
        <p:nvSpPr>
          <p:cNvPr id="10" name="evolution-title-1">
            <a:extLst xmlns:a="http://schemas.openxmlformats.org/drawingml/2006/main">
              <a:ext uri="{FF2B5EF4-FFF2-40B4-BE49-F238E27FC236}">
                <a16:creationId xmlns:a16="http://schemas.microsoft.com/office/drawing/2014/main" id="{DD2CB6CD-1894-40F4-ACBF-2044283B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671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7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Digital</a:t>
            </a:r>
          </a:p>
        </p:txBody>
      </p:sp>
      <p:sp>
        <p:nvSpPr>
          <p:cNvPr id="11" name="evolution-detail-1">
            <a:extLst xmlns:a="http://schemas.openxmlformats.org/drawingml/2006/main">
              <a:ext uri="{FF2B5EF4-FFF2-40B4-BE49-F238E27FC236}">
                <a16:creationId xmlns:a16="http://schemas.microsoft.com/office/drawing/2014/main" id="{0E3F31CA-607C-4A39-BBD3-E96DD3DB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Content moves online</a:t>
            </a:r>
          </a:p>
        </p:txBody>
      </p:sp>
      <p:sp>
        <p:nvSpPr>
          <p:cNvPr id="12" name="evolution-node-2">
            <a:extLst xmlns:a="http://schemas.openxmlformats.org/drawingml/2006/main">
              <a:ext uri="{FF2B5EF4-FFF2-40B4-BE49-F238E27FC236}">
                <a16:creationId xmlns:a16="http://schemas.microsoft.com/office/drawing/2014/main" id="{9497B5C9-4EC3-42BC-9C37-6733FD61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52750"/>
            <a:ext cx="6477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3" name="evolution-number-2">
            <a:extLst xmlns:a="http://schemas.openxmlformats.org/drawingml/2006/main">
              <a:ext uri="{FF2B5EF4-FFF2-40B4-BE49-F238E27FC236}">
                <a16:creationId xmlns:a16="http://schemas.microsoft.com/office/drawing/2014/main" id="{333F70DC-DA47-4BB6-B62B-7B3A0080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623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2</a:t>
            </a:r>
          </a:p>
        </p:txBody>
      </p:sp>
      <p:sp>
        <p:nvSpPr>
          <p:cNvPr id="14" name="evolution-title-2">
            <a:extLst xmlns:a="http://schemas.openxmlformats.org/drawingml/2006/main">
              <a:ext uri="{FF2B5EF4-FFF2-40B4-BE49-F238E27FC236}">
                <a16:creationId xmlns:a16="http://schemas.microsoft.com/office/drawing/2014/main" id="{4992F2E3-5EE3-4BD3-AED9-3A1FBB6CD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671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7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Automated</a:t>
            </a:r>
          </a:p>
        </p:txBody>
      </p:sp>
      <p:sp>
        <p:nvSpPr>
          <p:cNvPr id="15" name="evolution-detail-2">
            <a:extLst xmlns:a="http://schemas.openxmlformats.org/drawingml/2006/main">
              <a:ext uri="{FF2B5EF4-FFF2-40B4-BE49-F238E27FC236}">
                <a16:creationId xmlns:a16="http://schemas.microsoft.com/office/drawing/2014/main" id="{249C2B72-CB8D-43A3-8544-FD583475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34340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Repeatable work executes</a:t>
            </a:r>
          </a:p>
        </p:txBody>
      </p:sp>
      <p:sp>
        <p:nvSpPr>
          <p:cNvPr id="16" name="evolution-node-3">
            <a:extLst xmlns:a="http://schemas.openxmlformats.org/drawingml/2006/main">
              <a:ext uri="{FF2B5EF4-FFF2-40B4-BE49-F238E27FC236}">
                <a16:creationId xmlns:a16="http://schemas.microsoft.com/office/drawing/2014/main" id="{0FE00615-68D1-4346-BB35-A0095DEE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52750"/>
            <a:ext cx="6477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7" name="evolution-number-3">
            <a:extLst xmlns:a="http://schemas.openxmlformats.org/drawingml/2006/main">
              <a:ext uri="{FF2B5EF4-FFF2-40B4-BE49-F238E27FC236}">
                <a16:creationId xmlns:a16="http://schemas.microsoft.com/office/drawing/2014/main" id="{77B5C3ED-3B73-4EB1-92DE-45B0012C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3</a:t>
            </a:r>
          </a:p>
        </p:txBody>
      </p:sp>
      <p:sp>
        <p:nvSpPr>
          <p:cNvPr id="18" name="evolution-title-3">
            <a:extLst xmlns:a="http://schemas.openxmlformats.org/drawingml/2006/main">
              <a:ext uri="{FF2B5EF4-FFF2-40B4-BE49-F238E27FC236}">
                <a16:creationId xmlns:a16="http://schemas.microsoft.com/office/drawing/2014/main" id="{C323A2F1-A9F6-49A6-A0E2-3025E922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671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7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AI-assisted</a:t>
            </a:r>
          </a:p>
        </p:txBody>
      </p:sp>
      <p:sp>
        <p:nvSpPr>
          <p:cNvPr id="19" name="evolution-detail-3">
            <a:extLst xmlns:a="http://schemas.openxmlformats.org/drawingml/2006/main">
              <a:ext uri="{FF2B5EF4-FFF2-40B4-BE49-F238E27FC236}">
                <a16:creationId xmlns:a16="http://schemas.microsoft.com/office/drawing/2014/main" id="{9EAA4B59-5984-4483-A375-B887B011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4340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Systems understand and advise</a:t>
            </a:r>
          </a:p>
        </p:txBody>
      </p:sp>
      <p:sp>
        <p:nvSpPr>
          <p:cNvPr id="20" name="evolution-node-4">
            <a:extLst xmlns:a="http://schemas.openxmlformats.org/drawingml/2006/main">
              <a:ext uri="{FF2B5EF4-FFF2-40B4-BE49-F238E27FC236}">
                <a16:creationId xmlns:a16="http://schemas.microsoft.com/office/drawing/2014/main" id="{7EE8E1A6-15BD-4BF4-8B43-DCCC39D9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952750"/>
            <a:ext cx="6477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21" name="evolution-number-4">
            <a:extLst xmlns:a="http://schemas.openxmlformats.org/drawingml/2006/main">
              <a:ext uri="{FF2B5EF4-FFF2-40B4-BE49-F238E27FC236}">
                <a16:creationId xmlns:a16="http://schemas.microsoft.com/office/drawing/2014/main" id="{37B853AD-151A-4BF4-8256-343BD9BED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162300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4</a:t>
            </a:r>
          </a:p>
        </p:txBody>
      </p:sp>
      <p:sp>
        <p:nvSpPr>
          <p:cNvPr id="22" name="evolution-title-4">
            <a:extLst xmlns:a="http://schemas.openxmlformats.org/drawingml/2006/main">
              <a:ext uri="{FF2B5EF4-FFF2-40B4-BE49-F238E27FC236}">
                <a16:creationId xmlns:a16="http://schemas.microsoft.com/office/drawing/2014/main" id="{26FE3EE1-209A-43AE-9A8F-22DFB787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8671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875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Agentic</a:t>
            </a:r>
          </a:p>
        </p:txBody>
      </p:sp>
      <p:sp>
        <p:nvSpPr>
          <p:cNvPr id="23" name="evolution-detail-4">
            <a:extLst xmlns:a="http://schemas.openxmlformats.org/drawingml/2006/main">
              <a:ext uri="{FF2B5EF4-FFF2-40B4-BE49-F238E27FC236}">
                <a16:creationId xmlns:a16="http://schemas.microsoft.com/office/drawing/2014/main" id="{AC99C901-0000-4031-A5D3-A247DC76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34340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Software initiates action</a:t>
            </a:r>
          </a:p>
        </p:txBody>
      </p:sp>
      <p:sp>
        <p:nvSpPr>
          <p:cNvPr id="24" name="takeaway-accent">
            <a:extLst xmlns:a="http://schemas.openxmlformats.org/drawingml/2006/main">
              <a:ext uri="{FF2B5EF4-FFF2-40B4-BE49-F238E27FC236}">
                <a16:creationId xmlns:a16="http://schemas.microsoft.com/office/drawing/2014/main" id="{ECF39C42-906A-45B9-A454-558DE742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1847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C29298C2-E269-4037-947E-456FF281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Once software can initiate consequential work, the control question changes.</a:t>
            </a:r>
          </a:p>
        </p:txBody>
      </p:sp>
    </p:spTree>
    <p:extLst>
      <p:ext uri="{BB962C8B-B14F-4D97-AF65-F5344CB8AC3E}">
        <p14:creationId xmlns:p14="http://schemas.microsoft.com/office/powerpoint/2010/main" val="19067748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D009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41f5cada84f45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3C81C67-85B0-4D80-A176-7906B9BE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03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A0CB7E6E-7816-444A-8442-AB9B47C4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CD007332-B3CF-4762-87FC-7EC58BBD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AGENTIC TRUSTED EXECUTION · PARTNER ENABLEMENT</a:t>
            </a:r>
          </a:p>
        </p:txBody>
      </p:sp>
      <p:sp>
        <p:nvSpPr>
          <p:cNvPr id="5" name="partner-enablement-mark">
            <a:extLst xmlns:a="http://schemas.openxmlformats.org/drawingml/2006/main">
              <a:ext uri="{FF2B5EF4-FFF2-40B4-BE49-F238E27FC236}">
                <a16:creationId xmlns:a16="http://schemas.microsoft.com/office/drawing/2014/main" id="{975601DF-5FE3-42C5-A791-A5133BAB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INTERNAL &amp; PARTNER ENABLEMENT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C8C81DB-8580-4D80-BEE4-145138C3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Capability is not authority</a:t>
            </a:r>
          </a:p>
        </p:txBody>
      </p:sp>
      <p:sp>
        <p:nvSpPr>
          <p:cNvPr id="7" name="authority-divider">
            <a:extLst xmlns:a="http://schemas.openxmlformats.org/drawingml/2006/main">
              <a:ext uri="{FF2B5EF4-FFF2-40B4-BE49-F238E27FC236}">
                <a16:creationId xmlns:a16="http://schemas.microsoft.com/office/drawing/2014/main" id="{37B3402C-1125-4B05-A723-58DDB55C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266950"/>
            <a:ext cx="190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1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uthority-capability-label">
            <a:extLst xmlns:a="http://schemas.openxmlformats.org/drawingml/2006/main">
              <a:ext uri="{FF2B5EF4-FFF2-40B4-BE49-F238E27FC236}">
                <a16:creationId xmlns:a16="http://schemas.microsoft.com/office/drawing/2014/main" id="{E8EF9FC6-197D-4EB3-BCE7-9AFDED35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125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WHAT AI CAN DO</a:t>
            </a:r>
          </a:p>
        </p:txBody>
      </p:sp>
      <p:sp>
        <p:nvSpPr>
          <p:cNvPr id="9" name="authority-capability-list">
            <a:extLst xmlns:a="http://schemas.openxmlformats.org/drawingml/2006/main">
              <a:ext uri="{FF2B5EF4-FFF2-40B4-BE49-F238E27FC236}">
                <a16:creationId xmlns:a16="http://schemas.microsoft.com/office/drawing/2014/main" id="{251C1D41-16AA-47A7-98BA-F78815F5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40957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2325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Understand</a:t>
            </a:r>
          </a:p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2325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Analyse</a:t>
            </a:r>
          </a:p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2325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Recommend</a:t>
            </a:r>
          </a:p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2325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Generate</a:t>
            </a:r>
          </a:p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2325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Plan</a:t>
            </a:r>
          </a:p>
        </p:txBody>
      </p:sp>
      <p:sp>
        <p:nvSpPr>
          <p:cNvPr id="10" name="authority-institution-label">
            <a:extLst xmlns:a="http://schemas.openxmlformats.org/drawingml/2006/main">
              <a:ext uri="{FF2B5EF4-FFF2-40B4-BE49-F238E27FC236}">
                <a16:creationId xmlns:a16="http://schemas.microsoft.com/office/drawing/2014/main" id="{9099C9DD-E0A6-4104-A6E0-77967B1C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66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125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WHAT THE INSTITUTION MUST ESTABLISH</a:t>
            </a:r>
          </a:p>
        </p:txBody>
      </p:sp>
      <p:sp>
        <p:nvSpPr>
          <p:cNvPr id="11" name="authority-dot-1">
            <a:extLst xmlns:a="http://schemas.openxmlformats.org/drawingml/2006/main">
              <a:ext uri="{FF2B5EF4-FFF2-40B4-BE49-F238E27FC236}">
                <a16:creationId xmlns:a16="http://schemas.microsoft.com/office/drawing/2014/main" id="{02DDF6E8-7D7E-4A13-9D3F-991DACBC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908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uthority-question-1">
            <a:extLst xmlns:a="http://schemas.openxmlformats.org/drawingml/2006/main">
              <a:ext uri="{FF2B5EF4-FFF2-40B4-BE49-F238E27FC236}">
                <a16:creationId xmlns:a16="http://schemas.microsoft.com/office/drawing/2014/main" id="{6691E2F1-4674-4702-937A-C64A28465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051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50" b="0">
                <a:solidFill>
                  <a:srgbClr val="FFFFFF"/>
                </a:solidFill>
                <a:latin typeface="Mulish"/>
                <a:ea typeface="Mulish"/>
                <a:cs typeface="Mulish"/>
              </a:rPr>
              <a:t>Who or what is acting?</a:t>
            </a:r>
          </a:p>
        </p:txBody>
      </p:sp>
      <p:sp>
        <p:nvSpPr>
          <p:cNvPr id="13" name="authority-dot-2">
            <a:extLst xmlns:a="http://schemas.openxmlformats.org/drawingml/2006/main">
              <a:ext uri="{FF2B5EF4-FFF2-40B4-BE49-F238E27FC236}">
                <a16:creationId xmlns:a16="http://schemas.microsoft.com/office/drawing/2014/main" id="{C836F6C0-0257-469F-A6D8-1D86BCB6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861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authority-question-2">
            <a:extLst xmlns:a="http://schemas.openxmlformats.org/drawingml/2006/main">
              <a:ext uri="{FF2B5EF4-FFF2-40B4-BE49-F238E27FC236}">
                <a16:creationId xmlns:a16="http://schemas.microsoft.com/office/drawing/2014/main" id="{DD244A6A-2C6F-465C-A8ED-02493222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004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50" b="0">
                <a:solidFill>
                  <a:srgbClr val="FFFFFF"/>
                </a:solidFill>
                <a:latin typeface="Mulish"/>
                <a:ea typeface="Mulish"/>
                <a:cs typeface="Mulish"/>
              </a:rPr>
              <a:t>Whose authority does it represent?</a:t>
            </a:r>
          </a:p>
        </p:txBody>
      </p:sp>
      <p:sp>
        <p:nvSpPr>
          <p:cNvPr id="15" name="authority-dot-3">
            <a:extLst xmlns:a="http://schemas.openxmlformats.org/drawingml/2006/main">
              <a:ext uri="{FF2B5EF4-FFF2-40B4-BE49-F238E27FC236}">
                <a16:creationId xmlns:a16="http://schemas.microsoft.com/office/drawing/2014/main" id="{80C3DEB7-BB90-44B5-89D8-3254FA50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814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authority-question-3">
            <a:extLst xmlns:a="http://schemas.openxmlformats.org/drawingml/2006/main">
              <a:ext uri="{FF2B5EF4-FFF2-40B4-BE49-F238E27FC236}">
                <a16:creationId xmlns:a16="http://schemas.microsoft.com/office/drawing/2014/main" id="{4BA1FA3F-B091-4CE8-842C-9B29C3F7D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957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50" b="0">
                <a:solidFill>
                  <a:srgbClr val="FFFFFF"/>
                </a:solidFill>
                <a:latin typeface="Mulish"/>
                <a:ea typeface="Mulish"/>
                <a:cs typeface="Mulish"/>
              </a:rPr>
              <a:t>What is it permitted to do?</a:t>
            </a:r>
          </a:p>
        </p:txBody>
      </p:sp>
      <p:sp>
        <p:nvSpPr>
          <p:cNvPr id="17" name="authority-dot-4">
            <a:extLst xmlns:a="http://schemas.openxmlformats.org/drawingml/2006/main">
              <a:ext uri="{FF2B5EF4-FFF2-40B4-BE49-F238E27FC236}">
                <a16:creationId xmlns:a16="http://schemas.microsoft.com/office/drawing/2014/main" id="{8BA7BE9F-5206-432E-B2D0-FD7FF449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767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authority-question-4">
            <a:extLst xmlns:a="http://schemas.openxmlformats.org/drawingml/2006/main">
              <a:ext uri="{FF2B5EF4-FFF2-40B4-BE49-F238E27FC236}">
                <a16:creationId xmlns:a16="http://schemas.microsoft.com/office/drawing/2014/main" id="{6FE4D9F3-B9AC-4E08-96F0-36C2170C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910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50" b="0">
                <a:solidFill>
                  <a:srgbClr val="FFFFFF"/>
                </a:solidFill>
                <a:latin typeface="Mulish"/>
                <a:ea typeface="Mulish"/>
                <a:cs typeface="Mulish"/>
              </a:rPr>
              <a:t>Which approval is required?</a:t>
            </a:r>
          </a:p>
        </p:txBody>
      </p:sp>
      <p:sp>
        <p:nvSpPr>
          <p:cNvPr id="19" name="authority-dot-5">
            <a:extLst xmlns:a="http://schemas.openxmlformats.org/drawingml/2006/main">
              <a:ext uri="{FF2B5EF4-FFF2-40B4-BE49-F238E27FC236}">
                <a16:creationId xmlns:a16="http://schemas.microsoft.com/office/drawing/2014/main" id="{4EEB3674-E277-4633-BE5A-F16923CC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720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authority-question-5">
            <a:extLst xmlns:a="http://schemas.openxmlformats.org/drawingml/2006/main">
              <a:ext uri="{FF2B5EF4-FFF2-40B4-BE49-F238E27FC236}">
                <a16:creationId xmlns:a16="http://schemas.microsoft.com/office/drawing/2014/main" id="{0B5411C6-A980-4507-B284-0D26E724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863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50" b="0">
                <a:solidFill>
                  <a:srgbClr val="FFFFFF"/>
                </a:solidFill>
                <a:latin typeface="Mulish"/>
                <a:ea typeface="Mulish"/>
                <a:cs typeface="Mulish"/>
              </a:rPr>
              <a:t>What evidence must remain?</a:t>
            </a:r>
          </a:p>
        </p:txBody>
      </p:sp>
      <p:sp>
        <p:nvSpPr>
          <p:cNvPr id="21" name="takeaway-accent">
            <a:extLst xmlns:a="http://schemas.openxmlformats.org/drawingml/2006/main">
              <a:ext uri="{FF2B5EF4-FFF2-40B4-BE49-F238E27FC236}">
                <a16:creationId xmlns:a16="http://schemas.microsoft.com/office/drawing/2014/main" id="{1A55AAB0-CFCF-494B-8CAB-031E085B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1847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akeaway">
            <a:extLst xmlns:a="http://schemas.openxmlformats.org/drawingml/2006/main">
              <a:ext uri="{FF2B5EF4-FFF2-40B4-BE49-F238E27FC236}">
                <a16:creationId xmlns:a16="http://schemas.microsoft.com/office/drawing/2014/main" id="{6DA069A0-3266-46A1-AB4A-493EEA33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AI may propose an action. Institutional authority determines whether it may execute.</a:t>
            </a:r>
          </a:p>
        </p:txBody>
      </p:sp>
    </p:spTree>
    <p:extLst>
      <p:ext uri="{BB962C8B-B14F-4D97-AF65-F5344CB8AC3E}">
        <p14:creationId xmlns:p14="http://schemas.microsoft.com/office/powerpoint/2010/main" val="21400749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df5e2f2c3a494e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366944D-DF6A-4FB5-BD6D-23EA5F33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04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3A02329A-BBD5-40E9-B60D-99C07507D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F2527ED4-E740-461E-99F7-5CC70DEE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AGENTIC TRUSTED EXECUTION · PARTNER ENABLEMENT</a:t>
            </a:r>
          </a:p>
        </p:txBody>
      </p:sp>
      <p:sp>
        <p:nvSpPr>
          <p:cNvPr id="5" name="partner-enablement-mark">
            <a:extLst xmlns:a="http://schemas.openxmlformats.org/drawingml/2006/main">
              <a:ext uri="{FF2B5EF4-FFF2-40B4-BE49-F238E27FC236}">
                <a16:creationId xmlns:a16="http://schemas.microsoft.com/office/drawing/2014/main" id="{855A6E34-B4D5-46EF-B2FA-3AC0DF23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&amp; PARTNER ENABLEMENT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E9795F-BDB7-4E91-8476-33A4CF4F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Disconnected handoffs create accountability gaps</a:t>
            </a:r>
          </a:p>
        </p:txBody>
      </p:sp>
      <p:sp>
        <p:nvSpPr>
          <p:cNvPr id="7" name="fragmented-spine">
            <a:extLst xmlns:a="http://schemas.openxmlformats.org/drawingml/2006/main">
              <a:ext uri="{FF2B5EF4-FFF2-40B4-BE49-F238E27FC236}">
                <a16:creationId xmlns:a16="http://schemas.microsoft.com/office/drawing/2014/main" id="{D1BF50F7-E901-4E2C-847D-B33688E2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fragment-stage-1">
            <a:extLst xmlns:a="http://schemas.openxmlformats.org/drawingml/2006/main">
              <a:ext uri="{FF2B5EF4-FFF2-40B4-BE49-F238E27FC236}">
                <a16:creationId xmlns:a16="http://schemas.microsoft.com/office/drawing/2014/main" id="{952E4B45-BD1E-45D1-B269-E5A45D04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43200"/>
            <a:ext cx="12954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9525">
            <a:solidFill>
              <a:srgbClr val="D6C1FF"/>
            </a:solidFill>
            <a:prstDash val="solid"/>
          </a:ln>
        </p:spPr>
      </p:sp>
      <p:sp>
        <p:nvSpPr>
          <p:cNvPr id="9" name="fragment-label-1">
            <a:extLst xmlns:a="http://schemas.openxmlformats.org/drawingml/2006/main">
              <a:ext uri="{FF2B5EF4-FFF2-40B4-BE49-F238E27FC236}">
                <a16:creationId xmlns:a16="http://schemas.microsoft.com/office/drawing/2014/main" id="{1DB16C67-7370-4A51-BE51-CC588590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908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Create</a:t>
            </a:r>
          </a:p>
        </p:txBody>
      </p:sp>
      <p:sp>
        <p:nvSpPr>
          <p:cNvPr id="10" name="fragment-gap-1">
            <a:extLst xmlns:a="http://schemas.openxmlformats.org/drawingml/2006/main">
              <a:ext uri="{FF2B5EF4-FFF2-40B4-BE49-F238E27FC236}">
                <a16:creationId xmlns:a16="http://schemas.microsoft.com/office/drawing/2014/main" id="{5CC91AF1-BCCE-492E-97E0-ADCF921A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9527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00FF"/>
                </a:solidFill>
                <a:latin typeface="Spartan"/>
                <a:ea typeface="Spartan"/>
                <a:cs typeface="Spartan"/>
              </a:defRPr>
            </a:pPr>
            <a:r>
              <a:rPr sz="1800" b="1">
                <a:solidFill>
                  <a:srgbClr val="7000FF"/>
                </a:solidFill>
                <a:latin typeface="Spartan"/>
                <a:ea typeface="Spartan"/>
                <a:cs typeface="Spartan"/>
              </a:rPr>
              <a:t>//</a:t>
            </a:r>
          </a:p>
        </p:txBody>
      </p:sp>
      <p:sp>
        <p:nvSpPr>
          <p:cNvPr id="11" name="fragment-stage-2">
            <a:extLst xmlns:a="http://schemas.openxmlformats.org/drawingml/2006/main">
              <a:ext uri="{FF2B5EF4-FFF2-40B4-BE49-F238E27FC236}">
                <a16:creationId xmlns:a16="http://schemas.microsoft.com/office/drawing/2014/main" id="{ACEF10B6-D188-4C0D-88CF-56E5D12E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743200"/>
            <a:ext cx="12954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fragment-label-2">
            <a:extLst xmlns:a="http://schemas.openxmlformats.org/drawingml/2006/main">
              <a:ext uri="{FF2B5EF4-FFF2-40B4-BE49-F238E27FC236}">
                <a16:creationId xmlns:a16="http://schemas.microsoft.com/office/drawing/2014/main" id="{8601C281-C340-4034-BB3B-168C76D3F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9908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Review</a:t>
            </a:r>
          </a:p>
        </p:txBody>
      </p:sp>
      <p:sp>
        <p:nvSpPr>
          <p:cNvPr id="13" name="fragment-gap-2">
            <a:extLst xmlns:a="http://schemas.openxmlformats.org/drawingml/2006/main">
              <a:ext uri="{FF2B5EF4-FFF2-40B4-BE49-F238E27FC236}">
                <a16:creationId xmlns:a16="http://schemas.microsoft.com/office/drawing/2014/main" id="{8A2DD6D4-5A2C-42B0-A412-426ABC5E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527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00FF"/>
                </a:solidFill>
                <a:latin typeface="Spartan"/>
                <a:ea typeface="Spartan"/>
                <a:cs typeface="Spartan"/>
              </a:defRPr>
            </a:pPr>
            <a:r>
              <a:rPr sz="1800" b="1">
                <a:solidFill>
                  <a:srgbClr val="7000FF"/>
                </a:solidFill>
                <a:latin typeface="Spartan"/>
                <a:ea typeface="Spartan"/>
                <a:cs typeface="Spartan"/>
              </a:rPr>
              <a:t>//</a:t>
            </a:r>
          </a:p>
        </p:txBody>
      </p:sp>
      <p:sp>
        <p:nvSpPr>
          <p:cNvPr id="14" name="fragment-stage-3">
            <a:extLst xmlns:a="http://schemas.openxmlformats.org/drawingml/2006/main">
              <a:ext uri="{FF2B5EF4-FFF2-40B4-BE49-F238E27FC236}">
                <a16:creationId xmlns:a16="http://schemas.microsoft.com/office/drawing/2014/main" id="{0782B7DA-9C74-40D7-92DB-38AEBC28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43200"/>
            <a:ext cx="12954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9525">
            <a:solidFill>
              <a:srgbClr val="D6C1FF"/>
            </a:solidFill>
            <a:prstDash val="solid"/>
          </a:ln>
        </p:spPr>
      </p:sp>
      <p:sp>
        <p:nvSpPr>
          <p:cNvPr id="15" name="fragment-label-3">
            <a:extLst xmlns:a="http://schemas.openxmlformats.org/drawingml/2006/main">
              <a:ext uri="{FF2B5EF4-FFF2-40B4-BE49-F238E27FC236}">
                <a16:creationId xmlns:a16="http://schemas.microsoft.com/office/drawing/2014/main" id="{19934D52-8889-4838-AE4B-B627589E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9908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Approve</a:t>
            </a:r>
          </a:p>
        </p:txBody>
      </p:sp>
      <p:sp>
        <p:nvSpPr>
          <p:cNvPr id="16" name="fragment-gap-3">
            <a:extLst xmlns:a="http://schemas.openxmlformats.org/drawingml/2006/main">
              <a:ext uri="{FF2B5EF4-FFF2-40B4-BE49-F238E27FC236}">
                <a16:creationId xmlns:a16="http://schemas.microsoft.com/office/drawing/2014/main" id="{BBFE55A3-1A9E-44D4-8071-7A40CEFE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527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00FF"/>
                </a:solidFill>
                <a:latin typeface="Spartan"/>
                <a:ea typeface="Spartan"/>
                <a:cs typeface="Spartan"/>
              </a:defRPr>
            </a:pPr>
            <a:r>
              <a:rPr sz="1800" b="1">
                <a:solidFill>
                  <a:srgbClr val="7000FF"/>
                </a:solidFill>
                <a:latin typeface="Spartan"/>
                <a:ea typeface="Spartan"/>
                <a:cs typeface="Spartan"/>
              </a:rPr>
              <a:t>//</a:t>
            </a:r>
          </a:p>
        </p:txBody>
      </p:sp>
      <p:sp>
        <p:nvSpPr>
          <p:cNvPr id="17" name="fragment-stage-4">
            <a:extLst xmlns:a="http://schemas.openxmlformats.org/drawingml/2006/main">
              <a:ext uri="{FF2B5EF4-FFF2-40B4-BE49-F238E27FC236}">
                <a16:creationId xmlns:a16="http://schemas.microsoft.com/office/drawing/2014/main" id="{89D66178-186C-44AE-ACFB-BA2BDDC6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43200"/>
            <a:ext cx="12954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fragment-label-4">
            <a:extLst xmlns:a="http://schemas.openxmlformats.org/drawingml/2006/main">
              <a:ext uri="{FF2B5EF4-FFF2-40B4-BE49-F238E27FC236}">
                <a16:creationId xmlns:a16="http://schemas.microsoft.com/office/drawing/2014/main" id="{556B3D2C-F91B-4910-8CDA-930B6638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908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Sign</a:t>
            </a:r>
          </a:p>
        </p:txBody>
      </p:sp>
      <p:sp>
        <p:nvSpPr>
          <p:cNvPr id="19" name="fragment-gap-4">
            <a:extLst xmlns:a="http://schemas.openxmlformats.org/drawingml/2006/main">
              <a:ext uri="{FF2B5EF4-FFF2-40B4-BE49-F238E27FC236}">
                <a16:creationId xmlns:a16="http://schemas.microsoft.com/office/drawing/2014/main" id="{861DC40D-2511-4795-A5EA-5D2234F7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9527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00FF"/>
                </a:solidFill>
                <a:latin typeface="Spartan"/>
                <a:ea typeface="Spartan"/>
                <a:cs typeface="Spartan"/>
              </a:defRPr>
            </a:pPr>
            <a:r>
              <a:rPr sz="1800" b="1">
                <a:solidFill>
                  <a:srgbClr val="7000FF"/>
                </a:solidFill>
                <a:latin typeface="Spartan"/>
                <a:ea typeface="Spartan"/>
                <a:cs typeface="Spartan"/>
              </a:rPr>
              <a:t>//</a:t>
            </a:r>
          </a:p>
        </p:txBody>
      </p:sp>
      <p:sp>
        <p:nvSpPr>
          <p:cNvPr id="20" name="fragment-stage-5">
            <a:extLst xmlns:a="http://schemas.openxmlformats.org/drawingml/2006/main">
              <a:ext uri="{FF2B5EF4-FFF2-40B4-BE49-F238E27FC236}">
                <a16:creationId xmlns:a16="http://schemas.microsoft.com/office/drawing/2014/main" id="{CD1B59DA-77D4-4ADC-B95D-451D6E44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43200"/>
            <a:ext cx="12954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9525">
            <a:solidFill>
              <a:srgbClr val="D6C1FF"/>
            </a:solidFill>
            <a:prstDash val="solid"/>
          </a:ln>
        </p:spPr>
      </p:sp>
      <p:sp>
        <p:nvSpPr>
          <p:cNvPr id="21" name="fragment-label-5">
            <a:extLst xmlns:a="http://schemas.openxmlformats.org/drawingml/2006/main">
              <a:ext uri="{FF2B5EF4-FFF2-40B4-BE49-F238E27FC236}">
                <a16:creationId xmlns:a16="http://schemas.microsoft.com/office/drawing/2014/main" id="{6572A694-F671-451C-9AA1-28AFDE55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Store</a:t>
            </a:r>
          </a:p>
        </p:txBody>
      </p:sp>
      <p:sp>
        <p:nvSpPr>
          <p:cNvPr id="22" name="fragment-gap-5">
            <a:extLst xmlns:a="http://schemas.openxmlformats.org/drawingml/2006/main">
              <a:ext uri="{FF2B5EF4-FFF2-40B4-BE49-F238E27FC236}">
                <a16:creationId xmlns:a16="http://schemas.microsoft.com/office/drawing/2014/main" id="{A58B9349-60D2-40AF-AEB7-24F78FF5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527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000FF"/>
                </a:solidFill>
                <a:latin typeface="Spartan"/>
                <a:ea typeface="Spartan"/>
                <a:cs typeface="Spartan"/>
              </a:defRPr>
            </a:pPr>
            <a:r>
              <a:rPr sz="1800" b="1">
                <a:solidFill>
                  <a:srgbClr val="7000FF"/>
                </a:solidFill>
                <a:latin typeface="Spartan"/>
                <a:ea typeface="Spartan"/>
                <a:cs typeface="Spartan"/>
              </a:rPr>
              <a:t>//</a:t>
            </a:r>
          </a:p>
        </p:txBody>
      </p:sp>
      <p:sp>
        <p:nvSpPr>
          <p:cNvPr id="23" name="fragment-stage-6">
            <a:extLst xmlns:a="http://schemas.openxmlformats.org/drawingml/2006/main">
              <a:ext uri="{FF2B5EF4-FFF2-40B4-BE49-F238E27FC236}">
                <a16:creationId xmlns:a16="http://schemas.microsoft.com/office/drawing/2014/main" id="{BC0CEFFA-8D56-4C05-B694-E05030B6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43200"/>
            <a:ext cx="12954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fragment-label-6">
            <a:extLst xmlns:a="http://schemas.openxmlformats.org/drawingml/2006/main">
              <a:ext uri="{FF2B5EF4-FFF2-40B4-BE49-F238E27FC236}">
                <a16:creationId xmlns:a16="http://schemas.microsoft.com/office/drawing/2014/main" id="{8E98EE04-88CC-4B3E-A31D-5C55AB03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99085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Analyse</a:t>
            </a:r>
          </a:p>
        </p:txBody>
      </p:sp>
      <p:sp>
        <p:nvSpPr>
          <p:cNvPr id="25" name="fragment-question-1">
            <a:extLst xmlns:a="http://schemas.openxmlformats.org/drawingml/2006/main">
              <a:ext uri="{FF2B5EF4-FFF2-40B4-BE49-F238E27FC236}">
                <a16:creationId xmlns:a16="http://schemas.microsoft.com/office/drawing/2014/main" id="{899C95C5-4E5D-449C-88E9-384B2B379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Which version was authoritative?</a:t>
            </a:r>
          </a:p>
        </p:txBody>
      </p:sp>
      <p:sp>
        <p:nvSpPr>
          <p:cNvPr id="26" name="fragment-question-2">
            <a:extLst xmlns:a="http://schemas.openxmlformats.org/drawingml/2006/main">
              <a:ext uri="{FF2B5EF4-FFF2-40B4-BE49-F238E27FC236}">
                <a16:creationId xmlns:a16="http://schemas.microsoft.com/office/drawing/2014/main" id="{D671A60C-4E13-407B-96FB-76DD0E0F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7195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Who had permission to decide?</a:t>
            </a:r>
          </a:p>
        </p:txBody>
      </p:sp>
      <p:sp>
        <p:nvSpPr>
          <p:cNvPr id="27" name="fragment-question-3">
            <a:extLst xmlns:a="http://schemas.openxmlformats.org/drawingml/2006/main">
              <a:ext uri="{FF2B5EF4-FFF2-40B4-BE49-F238E27FC236}">
                <a16:creationId xmlns:a16="http://schemas.microsoft.com/office/drawing/2014/main" id="{4315A03B-92C6-488E-A30C-C7492C0C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7195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Can the complete chain be proven?</a:t>
            </a:r>
          </a:p>
        </p:txBody>
      </p:sp>
      <p:sp>
        <p:nvSpPr>
          <p:cNvPr id="28" name="takeaway-accent">
            <a:extLst xmlns:a="http://schemas.openxmlformats.org/drawingml/2006/main">
              <a:ext uri="{FF2B5EF4-FFF2-40B4-BE49-F238E27FC236}">
                <a16:creationId xmlns:a16="http://schemas.microsoft.com/office/drawing/2014/main" id="{217724DD-A840-43B8-B309-59B211BD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1847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38C65F8E-8D3C-43E0-A1D6-F08AD565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The future requirement is a continuous trust and evidence chain—not another isolated tool.</a:t>
            </a:r>
          </a:p>
        </p:txBody>
      </p:sp>
    </p:spTree>
    <p:extLst>
      <p:ext uri="{BB962C8B-B14F-4D97-AF65-F5344CB8AC3E}">
        <p14:creationId xmlns:p14="http://schemas.microsoft.com/office/powerpoint/2010/main" val="1654100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a7926b551e4621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8C10FCD-92A8-4D4B-9181-2798DB8C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05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DAF7BD0F-9C91-4B01-8A66-914A3EF9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ED8ABD85-59E6-41A5-B73E-F5665911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AGENTIC TRUSTED EXECUTION · PARTNER ENABLEMENT</a:t>
            </a:r>
          </a:p>
        </p:txBody>
      </p:sp>
      <p:sp>
        <p:nvSpPr>
          <p:cNvPr id="5" name="partner-enablement-mark">
            <a:extLst xmlns:a="http://schemas.openxmlformats.org/drawingml/2006/main">
              <a:ext uri="{FF2B5EF4-FFF2-40B4-BE49-F238E27FC236}">
                <a16:creationId xmlns:a16="http://schemas.microsoft.com/office/drawing/2014/main" id="{4DB753FB-654C-491C-952A-B6CE8A75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&amp; PARTNER ENABLEMENT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9266C6-ED14-4C95-9DFC-8BA98DA3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Every consequential action must answer five questions</a:t>
            </a:r>
          </a:p>
        </p:txBody>
      </p:sp>
      <p:sp>
        <p:nvSpPr>
          <p:cNvPr id="7" name="questions-rail">
            <a:extLst xmlns:a="http://schemas.openxmlformats.org/drawingml/2006/main">
              <a:ext uri="{FF2B5EF4-FFF2-40B4-BE49-F238E27FC236}">
                <a16:creationId xmlns:a16="http://schemas.microsoft.com/office/drawing/2014/main" id="{23E07AE0-DCCF-4BD4-B464-E362468A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381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question-node-1">
            <a:extLst xmlns:a="http://schemas.openxmlformats.org/drawingml/2006/main">
              <a:ext uri="{FF2B5EF4-FFF2-40B4-BE49-F238E27FC236}">
                <a16:creationId xmlns:a16="http://schemas.microsoft.com/office/drawing/2014/main" id="{E25A7FFE-6C59-4F03-986C-78ABAF4D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9" name="question-number-1">
            <a:extLst xmlns:a="http://schemas.openxmlformats.org/drawingml/2006/main">
              <a:ext uri="{FF2B5EF4-FFF2-40B4-BE49-F238E27FC236}">
                <a16:creationId xmlns:a16="http://schemas.microsoft.com/office/drawing/2014/main" id="{E911F407-486C-497D-B8E0-EE4BDAC1F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955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1</a:t>
            </a:r>
          </a:p>
        </p:txBody>
      </p:sp>
      <p:sp>
        <p:nvSpPr>
          <p:cNvPr id="10" name="question-label-1">
            <a:extLst xmlns:a="http://schemas.openxmlformats.org/drawingml/2006/main">
              <a:ext uri="{FF2B5EF4-FFF2-40B4-BE49-F238E27FC236}">
                <a16:creationId xmlns:a16="http://schemas.microsoft.com/office/drawing/2014/main" id="{37CFFAFF-D6FA-49C7-BA52-1B7ECF09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669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20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ACTOR</a:t>
            </a:r>
          </a:p>
        </p:txBody>
      </p:sp>
      <p:sp>
        <p:nvSpPr>
          <p:cNvPr id="11" name="question-copy-1">
            <a:extLst xmlns:a="http://schemas.openxmlformats.org/drawingml/2006/main">
              <a:ext uri="{FF2B5EF4-FFF2-40B4-BE49-F238E27FC236}">
                <a16:creationId xmlns:a16="http://schemas.microsoft.com/office/drawing/2014/main" id="{4DAA04F4-AD3A-4031-918F-2E7A7BEF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193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Who or what is acting?</a:t>
            </a:r>
          </a:p>
        </p:txBody>
      </p:sp>
      <p:sp>
        <p:nvSpPr>
          <p:cNvPr id="12" name="question-node-2">
            <a:extLst xmlns:a="http://schemas.openxmlformats.org/drawingml/2006/main">
              <a:ext uri="{FF2B5EF4-FFF2-40B4-BE49-F238E27FC236}">
                <a16:creationId xmlns:a16="http://schemas.microsoft.com/office/drawing/2014/main" id="{255A8BEA-0061-4343-B36C-12E26C14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1940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3" name="question-number-2">
            <a:extLst xmlns:a="http://schemas.openxmlformats.org/drawingml/2006/main">
              <a:ext uri="{FF2B5EF4-FFF2-40B4-BE49-F238E27FC236}">
                <a16:creationId xmlns:a16="http://schemas.microsoft.com/office/drawing/2014/main" id="{B8EA9AB3-A008-4AA7-ADE1-AA63AA13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622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2</a:t>
            </a:r>
          </a:p>
        </p:txBody>
      </p:sp>
      <p:sp>
        <p:nvSpPr>
          <p:cNvPr id="14" name="question-label-2">
            <a:extLst xmlns:a="http://schemas.openxmlformats.org/drawingml/2006/main">
              <a:ext uri="{FF2B5EF4-FFF2-40B4-BE49-F238E27FC236}">
                <a16:creationId xmlns:a16="http://schemas.microsoft.com/office/drawing/2014/main" id="{E2E9A9C0-2BF5-455A-9ED7-FFB2DFFC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933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20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AUTHORITY</a:t>
            </a:r>
          </a:p>
        </p:txBody>
      </p:sp>
      <p:sp>
        <p:nvSpPr>
          <p:cNvPr id="15" name="question-copy-2">
            <a:extLst xmlns:a="http://schemas.openxmlformats.org/drawingml/2006/main">
              <a:ext uri="{FF2B5EF4-FFF2-40B4-BE49-F238E27FC236}">
                <a16:creationId xmlns:a16="http://schemas.microsoft.com/office/drawing/2014/main" id="{0CB782EA-BDD2-425F-BF00-F262A149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8607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On whose authority does the action proceed?</a:t>
            </a:r>
          </a:p>
        </p:txBody>
      </p:sp>
      <p:sp>
        <p:nvSpPr>
          <p:cNvPr id="16" name="question-node-3">
            <a:extLst xmlns:a="http://schemas.openxmlformats.org/drawingml/2006/main">
              <a:ext uri="{FF2B5EF4-FFF2-40B4-BE49-F238E27FC236}">
                <a16:creationId xmlns:a16="http://schemas.microsoft.com/office/drawing/2014/main" id="{833F4651-543E-4FDE-A3F4-8C2B1E24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7" name="question-number-3">
            <a:extLst xmlns:a="http://schemas.openxmlformats.org/drawingml/2006/main">
              <a:ext uri="{FF2B5EF4-FFF2-40B4-BE49-F238E27FC236}">
                <a16:creationId xmlns:a16="http://schemas.microsoft.com/office/drawing/2014/main" id="{7CB5657A-AC43-4481-9934-453D4E25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290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3</a:t>
            </a:r>
          </a:p>
        </p:txBody>
      </p:sp>
      <p:sp>
        <p:nvSpPr>
          <p:cNvPr id="18" name="question-label-3">
            <a:extLst xmlns:a="http://schemas.openxmlformats.org/drawingml/2006/main">
              <a:ext uri="{FF2B5EF4-FFF2-40B4-BE49-F238E27FC236}">
                <a16:creationId xmlns:a16="http://schemas.microsoft.com/office/drawing/2014/main" id="{DB00692F-80C1-4FAD-B343-4F08D26A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004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20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POLICY</a:t>
            </a:r>
          </a:p>
        </p:txBody>
      </p:sp>
      <p:sp>
        <p:nvSpPr>
          <p:cNvPr id="19" name="question-copy-3">
            <a:extLst xmlns:a="http://schemas.openxmlformats.org/drawingml/2006/main">
              <a:ext uri="{FF2B5EF4-FFF2-40B4-BE49-F238E27FC236}">
                <a16:creationId xmlns:a16="http://schemas.microsoft.com/office/drawing/2014/main" id="{12F39846-55F0-4602-85B6-90ED7D52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528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What is permitted—and under which conditions?</a:t>
            </a:r>
          </a:p>
        </p:txBody>
      </p:sp>
      <p:sp>
        <p:nvSpPr>
          <p:cNvPr id="20" name="question-node-4">
            <a:extLst xmlns:a="http://schemas.openxmlformats.org/drawingml/2006/main">
              <a:ext uri="{FF2B5EF4-FFF2-40B4-BE49-F238E27FC236}">
                <a16:creationId xmlns:a16="http://schemas.microsoft.com/office/drawing/2014/main" id="{E0FF1F8B-68D3-4F09-AAB6-E2AA0DDF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5290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21" name="question-number-4">
            <a:extLst xmlns:a="http://schemas.openxmlformats.org/drawingml/2006/main">
              <a:ext uri="{FF2B5EF4-FFF2-40B4-BE49-F238E27FC236}">
                <a16:creationId xmlns:a16="http://schemas.microsoft.com/office/drawing/2014/main" id="{5066C15E-DFAF-45F0-9D17-F50CB7DC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57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4</a:t>
            </a:r>
          </a:p>
        </p:txBody>
      </p:sp>
      <p:sp>
        <p:nvSpPr>
          <p:cNvPr id="22" name="question-label-4">
            <a:extLst xmlns:a="http://schemas.openxmlformats.org/drawingml/2006/main">
              <a:ext uri="{FF2B5EF4-FFF2-40B4-BE49-F238E27FC236}">
                <a16:creationId xmlns:a16="http://schemas.microsoft.com/office/drawing/2014/main" id="{9120CE36-F247-4B48-8038-7D80C9B8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672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20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APPROVAL</a:t>
            </a:r>
          </a:p>
        </p:txBody>
      </p:sp>
      <p:sp>
        <p:nvSpPr>
          <p:cNvPr id="23" name="question-copy-4">
            <a:extLst xmlns:a="http://schemas.openxmlformats.org/drawingml/2006/main">
              <a:ext uri="{FF2B5EF4-FFF2-40B4-BE49-F238E27FC236}">
                <a16:creationId xmlns:a16="http://schemas.microsoft.com/office/drawing/2014/main" id="{3443A24D-4B0E-4934-9315-4B803342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21957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Which decision or human gate is required?</a:t>
            </a:r>
          </a:p>
        </p:txBody>
      </p:sp>
      <p:sp>
        <p:nvSpPr>
          <p:cNvPr id="24" name="question-node-5">
            <a:extLst xmlns:a="http://schemas.openxmlformats.org/drawingml/2006/main">
              <a:ext uri="{FF2B5EF4-FFF2-40B4-BE49-F238E27FC236}">
                <a16:creationId xmlns:a16="http://schemas.microsoft.com/office/drawing/2014/main" id="{66B4CCC4-78D0-4D03-B319-C7A73A5A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19650"/>
            <a:ext cx="5334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25" name="question-number-5">
            <a:extLst xmlns:a="http://schemas.openxmlformats.org/drawingml/2006/main">
              <a:ext uri="{FF2B5EF4-FFF2-40B4-BE49-F238E27FC236}">
                <a16:creationId xmlns:a16="http://schemas.microsoft.com/office/drawing/2014/main" id="{3B1FA0FC-F47C-4FA5-A658-E86B6B76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625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5</a:t>
            </a:r>
          </a:p>
        </p:txBody>
      </p:sp>
      <p:sp>
        <p:nvSpPr>
          <p:cNvPr id="26" name="question-label-5">
            <a:extLst xmlns:a="http://schemas.openxmlformats.org/drawingml/2006/main">
              <a:ext uri="{FF2B5EF4-FFF2-40B4-BE49-F238E27FC236}">
                <a16:creationId xmlns:a16="http://schemas.microsoft.com/office/drawing/2014/main" id="{C33ED8CB-F368-448F-B15A-8A74B14F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339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20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EVIDENCE</a:t>
            </a:r>
          </a:p>
        </p:txBody>
      </p:sp>
      <p:sp>
        <p:nvSpPr>
          <p:cNvPr id="27" name="question-copy-5">
            <a:extLst xmlns:a="http://schemas.openxmlformats.org/drawingml/2006/main">
              <a:ext uri="{FF2B5EF4-FFF2-40B4-BE49-F238E27FC236}">
                <a16:creationId xmlns:a16="http://schemas.microsoft.com/office/drawing/2014/main" id="{DD8C820A-F59D-43CA-B9D9-53B08F57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863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What must remain provable afterwards?</a:t>
            </a:r>
          </a:p>
        </p:txBody>
      </p:sp>
      <p:sp>
        <p:nvSpPr>
          <p:cNvPr id="28" name="takeaway-accent">
            <a:extLst xmlns:a="http://schemas.openxmlformats.org/drawingml/2006/main">
              <a:ext uri="{FF2B5EF4-FFF2-40B4-BE49-F238E27FC236}">
                <a16:creationId xmlns:a16="http://schemas.microsoft.com/office/drawing/2014/main" id="{95280062-14F4-47A8-BF94-7E6CBE94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1847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D03C14F2-972F-4920-9A93-D0CB573E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Control becomes explicit when these answers travel with the action.</a:t>
            </a:r>
          </a:p>
        </p:txBody>
      </p:sp>
    </p:spTree>
    <p:extLst>
      <p:ext uri="{BB962C8B-B14F-4D97-AF65-F5344CB8AC3E}">
        <p14:creationId xmlns:p14="http://schemas.microsoft.com/office/powerpoint/2010/main" val="15967534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c3342cdbe342f6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418B874-2155-4C0B-A233-60E84CC5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06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57700E06-C3A1-4721-9DAF-D4767F14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740DB9FC-8FD0-4573-82E8-B8995614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AGENTIC TRUSTED EXECUTION · PARTNER ENABLEMENT</a:t>
            </a:r>
          </a:p>
        </p:txBody>
      </p:sp>
      <p:sp>
        <p:nvSpPr>
          <p:cNvPr id="5" name="partner-enablement-mark">
            <a:extLst xmlns:a="http://schemas.openxmlformats.org/drawingml/2006/main">
              <a:ext uri="{FF2B5EF4-FFF2-40B4-BE49-F238E27FC236}">
                <a16:creationId xmlns:a16="http://schemas.microsoft.com/office/drawing/2014/main" id="{925E5A3B-B1DE-4650-A642-68B45584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&amp; PARTNER ENABLEMENT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7C71A1-E39B-457E-B473-C49E9B94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Trust begins before the signature</a:t>
            </a:r>
          </a:p>
        </p:txBody>
      </p:sp>
      <p:sp>
        <p:nvSpPr>
          <p:cNvPr id="7" name="lifecycle-spine">
            <a:extLst xmlns:a="http://schemas.openxmlformats.org/drawingml/2006/main">
              <a:ext uri="{FF2B5EF4-FFF2-40B4-BE49-F238E27FC236}">
                <a16:creationId xmlns:a16="http://schemas.microsoft.com/office/drawing/2014/main" id="{910E152B-3B82-4F82-B150-80A838D1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10515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ifecycle-node-1">
            <a:extLst xmlns:a="http://schemas.openxmlformats.org/drawingml/2006/main">
              <a:ext uri="{FF2B5EF4-FFF2-40B4-BE49-F238E27FC236}">
                <a16:creationId xmlns:a16="http://schemas.microsoft.com/office/drawing/2014/main" id="{7214974D-9CB9-40D6-AAAD-2A1462F3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6477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D009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ifecycle-phase-1">
            <a:extLst xmlns:a="http://schemas.openxmlformats.org/drawingml/2006/main">
              <a:ext uri="{FF2B5EF4-FFF2-40B4-BE49-F238E27FC236}">
                <a16:creationId xmlns:a16="http://schemas.microsoft.com/office/drawing/2014/main" id="{1823DDF2-6868-42BF-B5F5-F3493122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03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2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CREATE</a:t>
            </a:r>
          </a:p>
        </p:txBody>
      </p:sp>
      <p:sp>
        <p:nvSpPr>
          <p:cNvPr id="10" name="lifecycle-index-1">
            <a:extLst xmlns:a="http://schemas.openxmlformats.org/drawingml/2006/main">
              <a:ext uri="{FF2B5EF4-FFF2-40B4-BE49-F238E27FC236}">
                <a16:creationId xmlns:a16="http://schemas.microsoft.com/office/drawing/2014/main" id="{03252E42-B5EC-4A34-A266-0880B09E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09925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1</a:t>
            </a:r>
          </a:p>
        </p:txBody>
      </p:sp>
      <p:sp>
        <p:nvSpPr>
          <p:cNvPr id="11" name="lifecycle-detail-1">
            <a:extLst xmlns:a="http://schemas.openxmlformats.org/drawingml/2006/main">
              <a:ext uri="{FF2B5EF4-FFF2-40B4-BE49-F238E27FC236}">
                <a16:creationId xmlns:a16="http://schemas.microsoft.com/office/drawing/2014/main" id="{08360620-5721-47C5-B1EF-757AB55F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81450"/>
            <a:ext cx="2133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Create + collaborate</a:t>
            </a:r>
          </a:p>
        </p:txBody>
      </p:sp>
      <p:sp>
        <p:nvSpPr>
          <p:cNvPr id="12" name="lifecycle-node-2">
            <a:extLst xmlns:a="http://schemas.openxmlformats.org/drawingml/2006/main">
              <a:ext uri="{FF2B5EF4-FFF2-40B4-BE49-F238E27FC236}">
                <a16:creationId xmlns:a16="http://schemas.microsoft.com/office/drawing/2014/main" id="{A0EBA327-28DE-47C8-941D-DB46921B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09900"/>
            <a:ext cx="6477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D009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lifecycle-phase-2">
            <a:extLst xmlns:a="http://schemas.openxmlformats.org/drawingml/2006/main">
              <a:ext uri="{FF2B5EF4-FFF2-40B4-BE49-F238E27FC236}">
                <a16:creationId xmlns:a16="http://schemas.microsoft.com/office/drawing/2014/main" id="{4B046B66-7E4D-40A2-B68F-346A7420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4003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2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DECIDE</a:t>
            </a:r>
          </a:p>
        </p:txBody>
      </p:sp>
      <p:sp>
        <p:nvSpPr>
          <p:cNvPr id="14" name="lifecycle-index-2">
            <a:extLst xmlns:a="http://schemas.openxmlformats.org/drawingml/2006/main">
              <a:ext uri="{FF2B5EF4-FFF2-40B4-BE49-F238E27FC236}">
                <a16:creationId xmlns:a16="http://schemas.microsoft.com/office/drawing/2014/main" id="{C4B34BA7-9BAD-4853-8BF3-61D513A1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09925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2</a:t>
            </a:r>
          </a:p>
        </p:txBody>
      </p:sp>
      <p:sp>
        <p:nvSpPr>
          <p:cNvPr id="15" name="lifecycle-detail-2">
            <a:extLst xmlns:a="http://schemas.openxmlformats.org/drawingml/2006/main">
              <a:ext uri="{FF2B5EF4-FFF2-40B4-BE49-F238E27FC236}">
                <a16:creationId xmlns:a16="http://schemas.microsoft.com/office/drawing/2014/main" id="{C3C04C99-6363-40E5-9A8F-D011759E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981450"/>
            <a:ext cx="2133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Review + approve</a:t>
            </a:r>
          </a:p>
        </p:txBody>
      </p:sp>
      <p:sp>
        <p:nvSpPr>
          <p:cNvPr id="16" name="lifecycle-node-3">
            <a:extLst xmlns:a="http://schemas.openxmlformats.org/drawingml/2006/main">
              <a:ext uri="{FF2B5EF4-FFF2-40B4-BE49-F238E27FC236}">
                <a16:creationId xmlns:a16="http://schemas.microsoft.com/office/drawing/2014/main" id="{4C7A49A3-3BAD-43EF-92E6-9FD18C2E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009900"/>
            <a:ext cx="6477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lifecycle-phase-3">
            <a:extLst xmlns:a="http://schemas.openxmlformats.org/drawingml/2006/main">
              <a:ext uri="{FF2B5EF4-FFF2-40B4-BE49-F238E27FC236}">
                <a16:creationId xmlns:a16="http://schemas.microsoft.com/office/drawing/2014/main" id="{2ED9D0FB-5FAC-4DD5-9F77-6E4FD4A6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003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20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AUTHORIZE</a:t>
            </a:r>
          </a:p>
        </p:txBody>
      </p:sp>
      <p:sp>
        <p:nvSpPr>
          <p:cNvPr id="18" name="lifecycle-index-3">
            <a:extLst xmlns:a="http://schemas.openxmlformats.org/drawingml/2006/main">
              <a:ext uri="{FF2B5EF4-FFF2-40B4-BE49-F238E27FC236}">
                <a16:creationId xmlns:a16="http://schemas.microsoft.com/office/drawing/2014/main" id="{76332348-6BD3-4464-8BEC-305B2CB0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209925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3</a:t>
            </a:r>
          </a:p>
        </p:txBody>
      </p:sp>
      <p:sp>
        <p:nvSpPr>
          <p:cNvPr id="19" name="lifecycle-detail-3">
            <a:extLst xmlns:a="http://schemas.openxmlformats.org/drawingml/2006/main">
              <a:ext uri="{FF2B5EF4-FFF2-40B4-BE49-F238E27FC236}">
                <a16:creationId xmlns:a16="http://schemas.microsoft.com/office/drawing/2014/main" id="{3D33CE0F-2EFB-450C-B101-CBDFBB30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981450"/>
            <a:ext cx="2133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Sign + seal</a:t>
            </a:r>
          </a:p>
        </p:txBody>
      </p:sp>
      <p:sp>
        <p:nvSpPr>
          <p:cNvPr id="20" name="lifecycle-node-4">
            <a:extLst xmlns:a="http://schemas.openxmlformats.org/drawingml/2006/main">
              <a:ext uri="{FF2B5EF4-FFF2-40B4-BE49-F238E27FC236}">
                <a16:creationId xmlns:a16="http://schemas.microsoft.com/office/drawing/2014/main" id="{6261C2F5-4F26-47D3-99C5-24EEE11C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9900"/>
            <a:ext cx="6477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D009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lifecycle-phase-4">
            <a:extLst xmlns:a="http://schemas.openxmlformats.org/drawingml/2006/main">
              <a:ext uri="{FF2B5EF4-FFF2-40B4-BE49-F238E27FC236}">
                <a16:creationId xmlns:a16="http://schemas.microsoft.com/office/drawing/2014/main" id="{1BC60679-54AE-4E9C-A4C9-2865AAA5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4003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2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PRESERVE</a:t>
            </a:r>
          </a:p>
        </p:txBody>
      </p:sp>
      <p:sp>
        <p:nvSpPr>
          <p:cNvPr id="22" name="lifecycle-index-4">
            <a:extLst xmlns:a="http://schemas.openxmlformats.org/drawingml/2006/main">
              <a:ext uri="{FF2B5EF4-FFF2-40B4-BE49-F238E27FC236}">
                <a16:creationId xmlns:a16="http://schemas.microsoft.com/office/drawing/2014/main" id="{B98C0AD9-7F47-4FD7-8772-3DB99CB8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09925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4</a:t>
            </a:r>
          </a:p>
        </p:txBody>
      </p:sp>
      <p:sp>
        <p:nvSpPr>
          <p:cNvPr id="23" name="lifecycle-detail-4">
            <a:extLst xmlns:a="http://schemas.openxmlformats.org/drawingml/2006/main">
              <a:ext uri="{FF2B5EF4-FFF2-40B4-BE49-F238E27FC236}">
                <a16:creationId xmlns:a16="http://schemas.microsoft.com/office/drawing/2014/main" id="{A78C06F4-E039-45D0-B0C4-D8240CAF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81450"/>
            <a:ext cx="2133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Evidence + archive</a:t>
            </a:r>
          </a:p>
        </p:txBody>
      </p:sp>
      <p:sp>
        <p:nvSpPr>
          <p:cNvPr id="24" name="lifecycle-node-5">
            <a:extLst xmlns:a="http://schemas.openxmlformats.org/drawingml/2006/main">
              <a:ext uri="{FF2B5EF4-FFF2-40B4-BE49-F238E27FC236}">
                <a16:creationId xmlns:a16="http://schemas.microsoft.com/office/drawing/2014/main" id="{4C04DFFD-7D32-4B3E-AAB8-C4D7B4A5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009900"/>
            <a:ext cx="6477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1D009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lifecycle-phase-5">
            <a:extLst xmlns:a="http://schemas.openxmlformats.org/drawingml/2006/main">
              <a:ext uri="{FF2B5EF4-FFF2-40B4-BE49-F238E27FC236}">
                <a16:creationId xmlns:a16="http://schemas.microsoft.com/office/drawing/2014/main" id="{4C95B805-93CD-4A3C-A4FB-2FBBF3D0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4003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2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REUSE</a:t>
            </a:r>
          </a:p>
        </p:txBody>
      </p:sp>
      <p:sp>
        <p:nvSpPr>
          <p:cNvPr id="26" name="lifecycle-index-5">
            <a:extLst xmlns:a="http://schemas.openxmlformats.org/drawingml/2006/main">
              <a:ext uri="{FF2B5EF4-FFF2-40B4-BE49-F238E27FC236}">
                <a16:creationId xmlns:a16="http://schemas.microsoft.com/office/drawing/2014/main" id="{FE039654-161B-4186-8C25-C65FC46B4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209925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5</a:t>
            </a:r>
          </a:p>
        </p:txBody>
      </p:sp>
      <p:sp>
        <p:nvSpPr>
          <p:cNvPr id="27" name="lifecycle-detail-5">
            <a:extLst xmlns:a="http://schemas.openxmlformats.org/drawingml/2006/main">
              <a:ext uri="{FF2B5EF4-FFF2-40B4-BE49-F238E27FC236}">
                <a16:creationId xmlns:a16="http://schemas.microsoft.com/office/drawing/2014/main" id="{C0301947-B1C9-4ABB-8954-55871DCF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981450"/>
            <a:ext cx="2133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Retrieve + analyse + act</a:t>
            </a:r>
          </a:p>
        </p:txBody>
      </p:sp>
      <p:sp>
        <p:nvSpPr>
          <p:cNvPr id="28" name="takeaway-accent">
            <a:extLst xmlns:a="http://schemas.openxmlformats.org/drawingml/2006/main">
              <a:ext uri="{FF2B5EF4-FFF2-40B4-BE49-F238E27FC236}">
                <a16:creationId xmlns:a16="http://schemas.microsoft.com/office/drawing/2014/main" id="{186FDDD9-AEBF-41B4-994B-9FA959C6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1847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FF95523B-88B2-4282-AE6C-57CD688D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The signature is an important trust event. It is not the entire trust model.</a:t>
            </a:r>
          </a:p>
        </p:txBody>
      </p:sp>
    </p:spTree>
    <p:extLst>
      <p:ext uri="{BB962C8B-B14F-4D97-AF65-F5344CB8AC3E}">
        <p14:creationId xmlns:p14="http://schemas.microsoft.com/office/powerpoint/2010/main" val="2200078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D009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669c6607754bcc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77ED61D-C9EF-4C22-BE31-46F7D792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07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AADDBBB0-AEBA-4573-906A-97DF3DBA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328C44AB-AECE-4863-B641-7FE98922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AGENTIC TRUSTED EXECUTION · PARTNER ENABLEMENT</a:t>
            </a:r>
          </a:p>
        </p:txBody>
      </p:sp>
      <p:sp>
        <p:nvSpPr>
          <p:cNvPr id="5" name="partner-enablement-mark">
            <a:extLst xmlns:a="http://schemas.openxmlformats.org/drawingml/2006/main">
              <a:ext uri="{FF2B5EF4-FFF2-40B4-BE49-F238E27FC236}">
                <a16:creationId xmlns:a16="http://schemas.microsoft.com/office/drawing/2014/main" id="{7DE5AAD1-53D0-49D9-8C2F-1791FB20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INTERNAL &amp; PARTNER ENABLEMENT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5D9F41-737F-4378-BFB8-88DBF814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Circularo creates the institutional execution boundary</a:t>
            </a:r>
          </a:p>
        </p:txBody>
      </p:sp>
      <p:sp>
        <p:nvSpPr>
          <p:cNvPr id="7" name="boundary-actor-1">
            <a:extLst xmlns:a="http://schemas.openxmlformats.org/drawingml/2006/main">
              <a:ext uri="{FF2B5EF4-FFF2-40B4-BE49-F238E27FC236}">
                <a16:creationId xmlns:a16="http://schemas.microsoft.com/office/drawing/2014/main" id="{384D6BFA-9F72-4EC7-B3F4-26491EEE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098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E6DE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E6DEFF"/>
                </a:solidFill>
                <a:latin typeface="Mulish"/>
                <a:ea typeface="Mulish"/>
                <a:cs typeface="Mulish"/>
              </a:rPr>
              <a:t>People</a:t>
            </a:r>
          </a:p>
        </p:txBody>
      </p:sp>
      <p:sp>
        <p:nvSpPr>
          <p:cNvPr id="8" name="boundary-actor-line-1">
            <a:extLst xmlns:a="http://schemas.openxmlformats.org/drawingml/2006/main">
              <a:ext uri="{FF2B5EF4-FFF2-40B4-BE49-F238E27FC236}">
                <a16:creationId xmlns:a16="http://schemas.microsoft.com/office/drawing/2014/main" id="{C2B769FF-5A84-4C90-9BF8-B4BF85D7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609850"/>
            <a:ext cx="19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1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boundary-actor-2">
            <a:extLst xmlns:a="http://schemas.openxmlformats.org/drawingml/2006/main">
              <a:ext uri="{FF2B5EF4-FFF2-40B4-BE49-F238E27FC236}">
                <a16:creationId xmlns:a16="http://schemas.microsoft.com/office/drawing/2014/main" id="{76919CDE-F71B-4C41-9C5C-B0A9064DF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2098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E6DE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E6DEFF"/>
                </a:solidFill>
                <a:latin typeface="Mulish"/>
                <a:ea typeface="Mulish"/>
                <a:cs typeface="Mulish"/>
              </a:rPr>
              <a:t>External parties</a:t>
            </a:r>
          </a:p>
        </p:txBody>
      </p:sp>
      <p:sp>
        <p:nvSpPr>
          <p:cNvPr id="10" name="boundary-actor-line-2">
            <a:extLst xmlns:a="http://schemas.openxmlformats.org/drawingml/2006/main">
              <a:ext uri="{FF2B5EF4-FFF2-40B4-BE49-F238E27FC236}">
                <a16:creationId xmlns:a16="http://schemas.microsoft.com/office/drawing/2014/main" id="{8882AFB9-5BCE-43A7-93F5-CF819784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609850"/>
            <a:ext cx="19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1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oundary-actor-3">
            <a:extLst xmlns:a="http://schemas.openxmlformats.org/drawingml/2006/main">
              <a:ext uri="{FF2B5EF4-FFF2-40B4-BE49-F238E27FC236}">
                <a16:creationId xmlns:a16="http://schemas.microsoft.com/office/drawing/2014/main" id="{1D7B8CC3-759B-4641-B892-D61F3A19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2098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E6DE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E6DEFF"/>
                </a:solidFill>
                <a:latin typeface="Mulish"/>
                <a:ea typeface="Mulish"/>
                <a:cs typeface="Mulish"/>
              </a:rPr>
              <a:t>Organizations</a:t>
            </a:r>
          </a:p>
        </p:txBody>
      </p:sp>
      <p:sp>
        <p:nvSpPr>
          <p:cNvPr id="12" name="boundary-actor-line-3">
            <a:extLst xmlns:a="http://schemas.openxmlformats.org/drawingml/2006/main">
              <a:ext uri="{FF2B5EF4-FFF2-40B4-BE49-F238E27FC236}">
                <a16:creationId xmlns:a16="http://schemas.microsoft.com/office/drawing/2014/main" id="{C5ADECA1-7BD4-4940-96F3-7FC7FEF8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09850"/>
            <a:ext cx="19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1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oundary-actor-4">
            <a:extLst xmlns:a="http://schemas.openxmlformats.org/drawingml/2006/main">
              <a:ext uri="{FF2B5EF4-FFF2-40B4-BE49-F238E27FC236}">
                <a16:creationId xmlns:a16="http://schemas.microsoft.com/office/drawing/2014/main" id="{FB7FCFDD-FD08-48D3-A63A-B5A87463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098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E6DE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E6DEFF"/>
                </a:solidFill>
                <a:latin typeface="Mulish"/>
                <a:ea typeface="Mulish"/>
                <a:cs typeface="Mulish"/>
              </a:rPr>
              <a:t>Applications</a:t>
            </a:r>
          </a:p>
        </p:txBody>
      </p:sp>
      <p:sp>
        <p:nvSpPr>
          <p:cNvPr id="14" name="boundary-actor-line-4">
            <a:extLst xmlns:a="http://schemas.openxmlformats.org/drawingml/2006/main">
              <a:ext uri="{FF2B5EF4-FFF2-40B4-BE49-F238E27FC236}">
                <a16:creationId xmlns:a16="http://schemas.microsoft.com/office/drawing/2014/main" id="{4CE33E90-828E-44DE-8346-A273962C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609850"/>
            <a:ext cx="19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1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boundary-actor-5">
            <a:extLst xmlns:a="http://schemas.openxmlformats.org/drawingml/2006/main">
              <a:ext uri="{FF2B5EF4-FFF2-40B4-BE49-F238E27FC236}">
                <a16:creationId xmlns:a16="http://schemas.microsoft.com/office/drawing/2014/main" id="{AAC8B08F-5F9C-43FB-823D-5DB9142E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2098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E6DE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E6DEFF"/>
                </a:solidFill>
                <a:latin typeface="Mulish"/>
                <a:ea typeface="Mulish"/>
                <a:cs typeface="Mulish"/>
              </a:rPr>
              <a:t>AI agents</a:t>
            </a:r>
          </a:p>
        </p:txBody>
      </p:sp>
      <p:sp>
        <p:nvSpPr>
          <p:cNvPr id="16" name="boundary-actor-line-5">
            <a:extLst xmlns:a="http://schemas.openxmlformats.org/drawingml/2006/main">
              <a:ext uri="{FF2B5EF4-FFF2-40B4-BE49-F238E27FC236}">
                <a16:creationId xmlns:a16="http://schemas.microsoft.com/office/drawing/2014/main" id="{E292C0B8-6710-4C86-8E7C-5C829872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2609850"/>
            <a:ext cx="19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1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boundary-layer">
            <a:extLst xmlns:a="http://schemas.openxmlformats.org/drawingml/2006/main">
              <a:ext uri="{FF2B5EF4-FFF2-40B4-BE49-F238E27FC236}">
                <a16:creationId xmlns:a16="http://schemas.microsoft.com/office/drawing/2014/main" id="{5DA4A2ED-E943-4CAA-AAAF-FADAB537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100584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layer-title">
            <a:extLst xmlns:a="http://schemas.openxmlformats.org/drawingml/2006/main">
              <a:ext uri="{FF2B5EF4-FFF2-40B4-BE49-F238E27FC236}">
                <a16:creationId xmlns:a16="http://schemas.microsoft.com/office/drawing/2014/main" id="{FD3E80D2-F1D4-450C-94A7-FD514C6E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71850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2175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CIRCULARO TRUSTED EXECUTION LAYER</a:t>
            </a:r>
          </a:p>
        </p:txBody>
      </p:sp>
      <p:sp>
        <p:nvSpPr>
          <p:cNvPr id="19" name="boundary-controls">
            <a:extLst xmlns:a="http://schemas.openxmlformats.org/drawingml/2006/main">
              <a:ext uri="{FF2B5EF4-FFF2-40B4-BE49-F238E27FC236}">
                <a16:creationId xmlns:a16="http://schemas.microsoft.com/office/drawing/2014/main" id="{76B75715-1186-4B78-84DD-A48D46EB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790950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IDENTITY · AUTHORITY · POLICY · APPROVAL · EXECUTION · EVIDENCE</a:t>
            </a:r>
          </a:p>
        </p:txBody>
      </p:sp>
      <p:sp>
        <p:nvSpPr>
          <p:cNvPr id="20" name="boundary-result-line-left">
            <a:extLst xmlns:a="http://schemas.openxmlformats.org/drawingml/2006/main">
              <a:ext uri="{FF2B5EF4-FFF2-40B4-BE49-F238E27FC236}">
                <a16:creationId xmlns:a16="http://schemas.microsoft.com/office/drawing/2014/main" id="{8A599FC0-5258-46B3-BDAA-F6F0AEE4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038600"/>
            <a:ext cx="190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1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boundary-result-line-right">
            <a:extLst xmlns:a="http://schemas.openxmlformats.org/drawingml/2006/main">
              <a:ext uri="{FF2B5EF4-FFF2-40B4-BE49-F238E27FC236}">
                <a16:creationId xmlns:a16="http://schemas.microsoft.com/office/drawing/2014/main" id="{D7095129-C327-4FDA-9740-D3C29F57B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038600"/>
            <a:ext cx="190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1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boundary-action">
            <a:extLst xmlns:a="http://schemas.openxmlformats.org/drawingml/2006/main">
              <a:ext uri="{FF2B5EF4-FFF2-40B4-BE49-F238E27FC236}">
                <a16:creationId xmlns:a16="http://schemas.microsoft.com/office/drawing/2014/main" id="{37E98369-CE19-498D-8381-FDAE707E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0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CONSEQUENTIAL BUSINESS ACTION</a:t>
            </a:r>
          </a:p>
        </p:txBody>
      </p:sp>
      <p:sp>
        <p:nvSpPr>
          <p:cNvPr id="23" name="boundary-record">
            <a:extLst xmlns:a="http://schemas.openxmlformats.org/drawingml/2006/main">
              <a:ext uri="{FF2B5EF4-FFF2-40B4-BE49-F238E27FC236}">
                <a16:creationId xmlns:a16="http://schemas.microsoft.com/office/drawing/2014/main" id="{C7D6F21D-E4CB-46F6-A4B1-8864DAC5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725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TRUSTED RECORD + INSTITUTIONAL EVIDENCE</a:t>
            </a:r>
          </a:p>
        </p:txBody>
      </p:sp>
      <p:sp>
        <p:nvSpPr>
          <p:cNvPr id="24" name="takeaway-accent">
            <a:extLst xmlns:a="http://schemas.openxmlformats.org/drawingml/2006/main">
              <a:ext uri="{FF2B5EF4-FFF2-40B4-BE49-F238E27FC236}">
                <a16:creationId xmlns:a16="http://schemas.microsoft.com/office/drawing/2014/main" id="{74C18555-7E1F-498C-B05E-33AB8C2E8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1847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B40BD07C-3138-421A-AEF6-C57C6C41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The institution governs what may execute and what must remain provable.</a:t>
            </a:r>
          </a:p>
        </p:txBody>
      </p:sp>
    </p:spTree>
    <p:extLst>
      <p:ext uri="{BB962C8B-B14F-4D97-AF65-F5344CB8AC3E}">
        <p14:creationId xmlns:p14="http://schemas.microsoft.com/office/powerpoint/2010/main" val="2300935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db665bed51457f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3C7E4BC-11DD-438F-AFBE-0290AC5F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08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695ECA3B-C322-470A-89C4-427D0DEE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92C8889E-58D0-427C-B762-744CD150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AGENTIC TRUSTED EXECUTION · PARTNER ENABLEMENT</a:t>
            </a:r>
          </a:p>
        </p:txBody>
      </p:sp>
      <p:sp>
        <p:nvSpPr>
          <p:cNvPr id="5" name="partner-enablement-mark">
            <a:extLst xmlns:a="http://schemas.openxmlformats.org/drawingml/2006/main">
              <a:ext uri="{FF2B5EF4-FFF2-40B4-BE49-F238E27FC236}">
                <a16:creationId xmlns:a16="http://schemas.microsoft.com/office/drawing/2014/main" id="{AE932013-A2A8-4F8C-8C5A-E615781FE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&amp; PARTNER ENABLEMENT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2AEC948-91CF-4E69-877E-19A8DBA0A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Six capabilities operate as one governed environment</a:t>
            </a:r>
          </a:p>
        </p:txBody>
      </p:sp>
      <p:sp>
        <p:nvSpPr>
          <p:cNvPr id="7" name="capability-line-left-1">
            <a:extLst xmlns:a="http://schemas.openxmlformats.org/drawingml/2006/main">
              <a:ext uri="{FF2B5EF4-FFF2-40B4-BE49-F238E27FC236}">
                <a16:creationId xmlns:a16="http://schemas.microsoft.com/office/drawing/2014/main" id="{713BC907-B91A-4293-9727-42F28620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81300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apability-line-right-1">
            <a:extLst xmlns:a="http://schemas.openxmlformats.org/drawingml/2006/main">
              <a:ext uri="{FF2B5EF4-FFF2-40B4-BE49-F238E27FC236}">
                <a16:creationId xmlns:a16="http://schemas.microsoft.com/office/drawing/2014/main" id="{7016C094-9DEA-414A-A700-A588C5BD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81300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apability-line-left-2">
            <a:extLst xmlns:a="http://schemas.openxmlformats.org/drawingml/2006/main">
              <a:ext uri="{FF2B5EF4-FFF2-40B4-BE49-F238E27FC236}">
                <a16:creationId xmlns:a16="http://schemas.microsoft.com/office/drawing/2014/main" id="{821FADD8-4CD3-439B-8D93-A195F767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43350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apability-line-right-2">
            <a:extLst xmlns:a="http://schemas.openxmlformats.org/drawingml/2006/main">
              <a:ext uri="{FF2B5EF4-FFF2-40B4-BE49-F238E27FC236}">
                <a16:creationId xmlns:a16="http://schemas.microsoft.com/office/drawing/2014/main" id="{E806E415-AD8E-47E2-BCDB-3EA26E76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43350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apability-line-left-3">
            <a:extLst xmlns:a="http://schemas.openxmlformats.org/drawingml/2006/main">
              <a:ext uri="{FF2B5EF4-FFF2-40B4-BE49-F238E27FC236}">
                <a16:creationId xmlns:a16="http://schemas.microsoft.com/office/drawing/2014/main" id="{33120211-BFC2-42C5-9304-3BC6EACB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05400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apability-line-right-3">
            <a:extLst xmlns:a="http://schemas.openxmlformats.org/drawingml/2006/main">
              <a:ext uri="{FF2B5EF4-FFF2-40B4-BE49-F238E27FC236}">
                <a16:creationId xmlns:a16="http://schemas.microsoft.com/office/drawing/2014/main" id="{95B5EE5A-A767-4312-958D-5B8859EDA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105400"/>
            <a:ext cx="1200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pability-core">
            <a:extLst xmlns:a="http://schemas.openxmlformats.org/drawingml/2006/main">
              <a:ext uri="{FF2B5EF4-FFF2-40B4-BE49-F238E27FC236}">
                <a16:creationId xmlns:a16="http://schemas.microsoft.com/office/drawing/2014/main" id="{67E8F204-4DFD-423E-8EA3-3CC4541C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95600"/>
            <a:ext cx="266700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apability-core-title">
            <a:extLst xmlns:a="http://schemas.openxmlformats.org/drawingml/2006/main">
              <a:ext uri="{FF2B5EF4-FFF2-40B4-BE49-F238E27FC236}">
                <a16:creationId xmlns:a16="http://schemas.microsoft.com/office/drawing/2014/main" id="{C0A1C218-F6F2-4EB8-A4C1-BAF63BCC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143250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1800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ONE GOVERNED</a:t>
            </a:r>
          </a:p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1800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ENVIRONMENT</a:t>
            </a:r>
          </a:p>
        </p:txBody>
      </p:sp>
      <p:sp>
        <p:nvSpPr>
          <p:cNvPr id="15" name="capability-core-detail">
            <a:extLst xmlns:a="http://schemas.openxmlformats.org/drawingml/2006/main">
              <a:ext uri="{FF2B5EF4-FFF2-40B4-BE49-F238E27FC236}">
                <a16:creationId xmlns:a16="http://schemas.microsoft.com/office/drawing/2014/main" id="{0C522B14-03EA-4B43-8B0C-33BEF0A0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05250"/>
            <a:ext cx="2095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0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FFFFFF"/>
                </a:solidFill>
                <a:latin typeface="Mulish"/>
                <a:ea typeface="Mulish"/>
                <a:cs typeface="Mulish"/>
              </a:rPr>
              <a:t>One platform</a:t>
            </a:r>
          </a:p>
          <a:p xmlns:a="http://schemas.openxmlformats.org/drawingml/2006/main">
            <a:pPr algn="ctr">
              <a:defRPr sz="1613" b="0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FFFFFF"/>
                </a:solidFill>
                <a:latin typeface="Mulish"/>
                <a:ea typeface="Mulish"/>
                <a:cs typeface="Mulish"/>
              </a:rPr>
              <a:t>One governance model</a:t>
            </a:r>
          </a:p>
          <a:p xmlns:a="http://schemas.openxmlformats.org/drawingml/2006/main">
            <a:pPr algn="ctr">
              <a:defRPr sz="1613" b="0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FFFFFF"/>
                </a:solidFill>
                <a:latin typeface="Mulish"/>
                <a:ea typeface="Mulish"/>
                <a:cs typeface="Mulish"/>
              </a:rPr>
              <a:t>One evidence chain</a:t>
            </a:r>
          </a:p>
          <a:p xmlns:a="http://schemas.openxmlformats.org/drawingml/2006/main">
            <a:pPr algn="ctr">
              <a:defRPr sz="1613" b="0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FFFFFF"/>
                </a:solidFill>
                <a:latin typeface="Mulish"/>
                <a:ea typeface="Mulish"/>
                <a:cs typeface="Mulish"/>
              </a:rPr>
              <a:t>One API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b9bff5df664c26"/>
          <a:stretch xmlns:a="http://schemas.openxmlformats.org/drawingml/2006/main"/>
        </p:blipFill>
        <p:spPr>
          <a:xfrm xmlns:a="http://schemas.openxmlformats.org/drawingml/2006/main">
            <a:off x="590550" y="2280708"/>
            <a:ext cx="590550" cy="524933"/>
          </a:xfrm>
          <a:prstGeom xmlns:a="http://schemas.openxmlformats.org/drawingml/2006/main" prst="rect">
            <a:avLst/>
          </a:prstGeom>
        </p:spPr>
      </p:pic>
      <p:sp>
        <p:nvSpPr>
          <p:cNvPr id="17" name="capability-left-title-1">
            <a:extLst xmlns:a="http://schemas.openxmlformats.org/drawingml/2006/main">
              <a:ext uri="{FF2B5EF4-FFF2-40B4-BE49-F238E27FC236}">
                <a16:creationId xmlns:a16="http://schemas.microsoft.com/office/drawing/2014/main" id="{91BCA5FC-63FD-4952-9CA4-524630CF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66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Cloud</a:t>
            </a:r>
          </a:p>
        </p:txBody>
      </p:sp>
      <p:sp>
        <p:nvSpPr>
          <p:cNvPr id="18" name="capability-left-detail-1">
            <a:extLst xmlns:a="http://schemas.openxmlformats.org/drawingml/2006/main">
              <a:ext uri="{FF2B5EF4-FFF2-40B4-BE49-F238E27FC236}">
                <a16:creationId xmlns:a16="http://schemas.microsoft.com/office/drawing/2014/main" id="{E4484751-EDDD-4A30-832B-D3FAFD83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908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Control where the environment operates</a:t>
            </a:r>
          </a:p>
        </p:txBody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c8fd6276f46cc"/>
          <a:stretch xmlns:a="http://schemas.openxmlformats.org/drawingml/2006/main"/>
        </p:blipFill>
        <p:spPr>
          <a:xfrm xmlns:a="http://schemas.openxmlformats.org/drawingml/2006/main">
            <a:off x="8705850" y="2247900"/>
            <a:ext cx="590550" cy="590550"/>
          </a:xfrm>
          <a:prstGeom xmlns:a="http://schemas.openxmlformats.org/drawingml/2006/main" prst="rect">
            <a:avLst/>
          </a:prstGeom>
        </p:spPr>
      </p:pic>
      <p:sp>
        <p:nvSpPr>
          <p:cNvPr id="20" name="capability-right-title-1">
            <a:extLst xmlns:a="http://schemas.openxmlformats.org/drawingml/2006/main">
              <a:ext uri="{FF2B5EF4-FFF2-40B4-BE49-F238E27FC236}">
                <a16:creationId xmlns:a16="http://schemas.microsoft.com/office/drawing/2014/main" id="{F66E4008-75BD-4300-A838-BAE30859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266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Sign &amp; Seal</a:t>
            </a:r>
          </a:p>
        </p:txBody>
      </p:sp>
      <p:sp>
        <p:nvSpPr>
          <p:cNvPr id="21" name="capability-right-detail-1">
            <a:extLst xmlns:a="http://schemas.openxmlformats.org/drawingml/2006/main">
              <a:ext uri="{FF2B5EF4-FFF2-40B4-BE49-F238E27FC236}">
                <a16:creationId xmlns:a16="http://schemas.microsoft.com/office/drawing/2014/main" id="{FF102E98-5CBE-485A-B215-70B5F537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5908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Apply personal or organizational authority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45a8c750d846ab"/>
          <a:stretch xmlns:a="http://schemas.openxmlformats.org/drawingml/2006/main"/>
        </p:blipFill>
        <p:spPr>
          <a:xfrm xmlns:a="http://schemas.openxmlformats.org/drawingml/2006/main">
            <a:off x="590550" y="3472113"/>
            <a:ext cx="590550" cy="466224"/>
          </a:xfrm>
          <a:prstGeom xmlns:a="http://schemas.openxmlformats.org/drawingml/2006/main" prst="rect">
            <a:avLst/>
          </a:prstGeom>
        </p:spPr>
      </p:pic>
      <p:sp>
        <p:nvSpPr>
          <p:cNvPr id="23" name="capability-left-title-2">
            <a:extLst xmlns:a="http://schemas.openxmlformats.org/drawingml/2006/main">
              <a:ext uri="{FF2B5EF4-FFF2-40B4-BE49-F238E27FC236}">
                <a16:creationId xmlns:a16="http://schemas.microsoft.com/office/drawing/2014/main" id="{083E3005-555B-4C2B-BF98-B666E77E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290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Identity</a:t>
            </a:r>
          </a:p>
        </p:txBody>
      </p:sp>
      <p:sp>
        <p:nvSpPr>
          <p:cNvPr id="24" name="capability-left-detail-2">
            <a:extLst xmlns:a="http://schemas.openxmlformats.org/drawingml/2006/main">
              <a:ext uri="{FF2B5EF4-FFF2-40B4-BE49-F238E27FC236}">
                <a16:creationId xmlns:a16="http://schemas.microsoft.com/office/drawing/2014/main" id="{9919685E-0A91-4328-8972-E9C360F2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5285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Establish who or what is acting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b8cbe52e141aa"/>
          <a:stretch xmlns:a="http://schemas.openxmlformats.org/drawingml/2006/main"/>
        </p:blipFill>
        <p:spPr>
          <a:xfrm xmlns:a="http://schemas.openxmlformats.org/drawingml/2006/main">
            <a:off x="8705850" y="3442758"/>
            <a:ext cx="590550" cy="524933"/>
          </a:xfrm>
          <a:prstGeom xmlns:a="http://schemas.openxmlformats.org/drawingml/2006/main" prst="rect">
            <a:avLst/>
          </a:prstGeom>
        </p:spPr>
      </p:pic>
      <p:sp>
        <p:nvSpPr>
          <p:cNvPr id="26" name="capability-right-title-2">
            <a:extLst xmlns:a="http://schemas.openxmlformats.org/drawingml/2006/main">
              <a:ext uri="{FF2B5EF4-FFF2-40B4-BE49-F238E27FC236}">
                <a16:creationId xmlns:a16="http://schemas.microsoft.com/office/drawing/2014/main" id="{207D86CA-D4EE-43EF-B1D0-6717F5E1A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4290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DMS / Vault</a:t>
            </a:r>
          </a:p>
        </p:txBody>
      </p:sp>
      <p:sp>
        <p:nvSpPr>
          <p:cNvPr id="27" name="capability-right-detail-2">
            <a:extLst xmlns:a="http://schemas.openxmlformats.org/drawingml/2006/main">
              <a:ext uri="{FF2B5EF4-FFF2-40B4-BE49-F238E27FC236}">
                <a16:creationId xmlns:a16="http://schemas.microsoft.com/office/drawing/2014/main" id="{EFADF906-CBC2-4C59-B74A-6D93F928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75285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Preserve records, evidence, and history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95ccfe2fa540e5"/>
          <a:stretch xmlns:a="http://schemas.openxmlformats.org/drawingml/2006/main"/>
        </p:blipFill>
        <p:spPr>
          <a:xfrm xmlns:a="http://schemas.openxmlformats.org/drawingml/2006/main">
            <a:off x="590550" y="4604808"/>
            <a:ext cx="590550" cy="524933"/>
          </a:xfrm>
          <a:prstGeom xmlns:a="http://schemas.openxmlformats.org/drawingml/2006/main" prst="rect">
            <a:avLst/>
          </a:prstGeom>
        </p:spPr>
      </p:pic>
      <p:sp>
        <p:nvSpPr>
          <p:cNvPr id="29" name="capability-left-title-3">
            <a:extLst xmlns:a="http://schemas.openxmlformats.org/drawingml/2006/main">
              <a:ext uri="{FF2B5EF4-FFF2-40B4-BE49-F238E27FC236}">
                <a16:creationId xmlns:a16="http://schemas.microsoft.com/office/drawing/2014/main" id="{33AB3838-5AED-4409-BE3F-F8022F42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91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Collaboration</a:t>
            </a:r>
          </a:p>
        </p:txBody>
      </p:sp>
      <p:sp>
        <p:nvSpPr>
          <p:cNvPr id="30" name="capability-left-detail-3">
            <a:extLst xmlns:a="http://schemas.openxmlformats.org/drawingml/2006/main">
              <a:ext uri="{FF2B5EF4-FFF2-40B4-BE49-F238E27FC236}">
                <a16:creationId xmlns:a16="http://schemas.microsoft.com/office/drawing/2014/main" id="{D4516CFF-C5BA-4E45-8911-C65D1BE1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149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Create, review, and approve content</a:t>
            </a:r>
          </a:p>
        </p:txBody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b5709aa9894b32"/>
          <a:stretch xmlns:a="http://schemas.openxmlformats.org/drawingml/2006/main"/>
        </p:blipFill>
        <p:spPr>
          <a:xfrm xmlns:a="http://schemas.openxmlformats.org/drawingml/2006/main">
            <a:off x="8705850" y="4621213"/>
            <a:ext cx="590550" cy="492125"/>
          </a:xfrm>
          <a:prstGeom xmlns:a="http://schemas.openxmlformats.org/drawingml/2006/main" prst="rect">
            <a:avLst/>
          </a:prstGeom>
        </p:spPr>
      </p:pic>
      <p:sp>
        <p:nvSpPr>
          <p:cNvPr id="32" name="capability-right-title-3">
            <a:extLst xmlns:a="http://schemas.openxmlformats.org/drawingml/2006/main">
              <a:ext uri="{FF2B5EF4-FFF2-40B4-BE49-F238E27FC236}">
                <a16:creationId xmlns:a16="http://schemas.microsoft.com/office/drawing/2014/main" id="{0DB9A98A-E9AB-4D07-9773-02AF805F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591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AI</a:t>
            </a:r>
          </a:p>
        </p:txBody>
      </p:sp>
      <p:sp>
        <p:nvSpPr>
          <p:cNvPr id="33" name="capability-right-detail-3">
            <a:extLst xmlns:a="http://schemas.openxmlformats.org/drawingml/2006/main">
              <a:ext uri="{FF2B5EF4-FFF2-40B4-BE49-F238E27FC236}">
                <a16:creationId xmlns:a16="http://schemas.microsoft.com/office/drawing/2014/main" id="{CF00FF33-F496-441A-9CA5-8B959507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91490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Apply intelligence and governed action</a:t>
            </a:r>
          </a:p>
        </p:txBody>
      </p:sp>
      <p:sp>
        <p:nvSpPr>
          <p:cNvPr id="34" name="takeaway-accent">
            <a:extLst xmlns:a="http://schemas.openxmlformats.org/drawingml/2006/main">
              <a:ext uri="{FF2B5EF4-FFF2-40B4-BE49-F238E27FC236}">
                <a16:creationId xmlns:a16="http://schemas.microsoft.com/office/drawing/2014/main" id="{1F5352E9-7A0B-4E8A-8B9A-1AD452C8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1847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takeaway">
            <a:extLst xmlns:a="http://schemas.openxmlformats.org/drawingml/2006/main">
              <a:ext uri="{FF2B5EF4-FFF2-40B4-BE49-F238E27FC236}">
                <a16:creationId xmlns:a16="http://schemas.microsoft.com/office/drawing/2014/main" id="{545CCC73-5971-48E4-AA3E-9F5B55A2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626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The capabilities stay connected through one governance and evidence model.</a:t>
            </a:r>
          </a:p>
        </p:txBody>
      </p:sp>
    </p:spTree>
    <p:extLst>
      <p:ext uri="{BB962C8B-B14F-4D97-AF65-F5344CB8AC3E}">
        <p14:creationId xmlns:p14="http://schemas.microsoft.com/office/powerpoint/2010/main" val="78760022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d16f39ab684bc0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400A9F-C734-41D4-ABFD-7A5FCABA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09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8D0A6F8E-1978-41E9-85AC-C61C392D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7EF43357-A15D-4563-84A7-FB5D99DB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AGENTIC TRUSTED EXECUTION · PARTNER ENABLEMENT</a:t>
            </a:r>
          </a:p>
        </p:txBody>
      </p:sp>
      <p:sp>
        <p:nvSpPr>
          <p:cNvPr id="5" name="partner-enablement-mark">
            <a:extLst xmlns:a="http://schemas.openxmlformats.org/drawingml/2006/main">
              <a:ext uri="{FF2B5EF4-FFF2-40B4-BE49-F238E27FC236}">
                <a16:creationId xmlns:a16="http://schemas.microsoft.com/office/drawing/2014/main" id="{A1393C5A-44B3-45F9-B1CF-8CE0F178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&amp; PARTNER ENABLEMENT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51D985-9634-4CCE-AACC-4E201207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Assurance should match the significance of the action</a:t>
            </a:r>
          </a:p>
        </p:txBody>
      </p:sp>
      <p:sp>
        <p:nvSpPr>
          <p:cNvPr id="7" name="assurance-number-1">
            <a:extLst xmlns:a="http://schemas.openxmlformats.org/drawingml/2006/main">
              <a:ext uri="{FF2B5EF4-FFF2-40B4-BE49-F238E27FC236}">
                <a16:creationId xmlns:a16="http://schemas.microsoft.com/office/drawing/2014/main" id="{7F7C0A71-BDD2-4DE1-83BD-EEE2D50D6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000FF"/>
                </a:solidFill>
                <a:latin typeface="Spartan"/>
                <a:ea typeface="Spartan"/>
                <a:cs typeface="Spartan"/>
              </a:defRPr>
            </a:pPr>
            <a:r>
              <a:rPr sz="2100" b="1">
                <a:solidFill>
                  <a:srgbClr val="7000FF"/>
                </a:solidFill>
                <a:latin typeface="Spartan"/>
                <a:ea typeface="Spartan"/>
                <a:cs typeface="Spartan"/>
              </a:rPr>
              <a:t>01</a:t>
            </a:r>
          </a:p>
        </p:txBody>
      </p:sp>
      <p:sp>
        <p:nvSpPr>
          <p:cNvPr id="8" name="assurance-rule-1">
            <a:extLst xmlns:a="http://schemas.openxmlformats.org/drawingml/2006/main">
              <a:ext uri="{FF2B5EF4-FFF2-40B4-BE49-F238E27FC236}">
                <a16:creationId xmlns:a16="http://schemas.microsoft.com/office/drawing/2014/main" id="{3089E2C4-1CCA-4225-9F2C-0A17A01F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05100"/>
            <a:ext cx="323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009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ssurance-title-1">
            <a:extLst xmlns:a="http://schemas.openxmlformats.org/drawingml/2006/main">
              <a:ext uri="{FF2B5EF4-FFF2-40B4-BE49-F238E27FC236}">
                <a16:creationId xmlns:a16="http://schemas.microsoft.com/office/drawing/2014/main" id="{015BE046-499B-4EE2-96CD-3C59FAE5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99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2025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Workflow assurance</a:t>
            </a:r>
          </a:p>
        </p:txBody>
      </p:sp>
      <p:sp>
        <p:nvSpPr>
          <p:cNvPr id="10" name="assurance-question-1">
            <a:extLst xmlns:a="http://schemas.openxmlformats.org/drawingml/2006/main">
              <a:ext uri="{FF2B5EF4-FFF2-40B4-BE49-F238E27FC236}">
                <a16:creationId xmlns:a16="http://schemas.microsoft.com/office/drawing/2014/main" id="{DFCC0DFA-54F0-40BD-9B35-0CA20E4D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29050"/>
            <a:ext cx="323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Was the correct process followed—and was the right approval obtained?</a:t>
            </a:r>
          </a:p>
        </p:txBody>
      </p:sp>
      <p:sp>
        <p:nvSpPr>
          <p:cNvPr id="11" name="assurance-evidence-1">
            <a:extLst xmlns:a="http://schemas.openxmlformats.org/drawingml/2006/main">
              <a:ext uri="{FF2B5EF4-FFF2-40B4-BE49-F238E27FC236}">
                <a16:creationId xmlns:a16="http://schemas.microsoft.com/office/drawing/2014/main" id="{BB1DC93F-F059-4E2D-99C6-3A045672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Approval + process history</a:t>
            </a:r>
          </a:p>
        </p:txBody>
      </p:sp>
      <p:sp>
        <p:nvSpPr>
          <p:cNvPr id="12" name="assurance-number-2">
            <a:extLst xmlns:a="http://schemas.openxmlformats.org/drawingml/2006/main">
              <a:ext uri="{FF2B5EF4-FFF2-40B4-BE49-F238E27FC236}">
                <a16:creationId xmlns:a16="http://schemas.microsoft.com/office/drawing/2014/main" id="{98DF5134-66EA-4CFE-9B5A-8B77D2DA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90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000FF"/>
                </a:solidFill>
                <a:latin typeface="Spartan"/>
                <a:ea typeface="Spartan"/>
                <a:cs typeface="Spartan"/>
              </a:defRPr>
            </a:pPr>
            <a:r>
              <a:rPr sz="2100" b="1">
                <a:solidFill>
                  <a:srgbClr val="7000FF"/>
                </a:solidFill>
                <a:latin typeface="Spartan"/>
                <a:ea typeface="Spartan"/>
                <a:cs typeface="Spartan"/>
              </a:rPr>
              <a:t>02</a:t>
            </a:r>
          </a:p>
        </p:txBody>
      </p:sp>
      <p:sp>
        <p:nvSpPr>
          <p:cNvPr id="13" name="assurance-rule-2">
            <a:extLst xmlns:a="http://schemas.openxmlformats.org/drawingml/2006/main">
              <a:ext uri="{FF2B5EF4-FFF2-40B4-BE49-F238E27FC236}">
                <a16:creationId xmlns:a16="http://schemas.microsoft.com/office/drawing/2014/main" id="{25A97129-08A3-45BA-8DCE-70E9D051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05100"/>
            <a:ext cx="323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assurance-title-2">
            <a:extLst xmlns:a="http://schemas.openxmlformats.org/drawingml/2006/main">
              <a:ext uri="{FF2B5EF4-FFF2-40B4-BE49-F238E27FC236}">
                <a16:creationId xmlns:a16="http://schemas.microsoft.com/office/drawing/2014/main" id="{13CBA226-0D7C-46E3-A80A-5B332A2E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099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2025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Personal assurance</a:t>
            </a:r>
          </a:p>
        </p:txBody>
      </p:sp>
      <p:sp>
        <p:nvSpPr>
          <p:cNvPr id="15" name="assurance-question-2">
            <a:extLst xmlns:a="http://schemas.openxmlformats.org/drawingml/2006/main">
              <a:ext uri="{FF2B5EF4-FFF2-40B4-BE49-F238E27FC236}">
                <a16:creationId xmlns:a16="http://schemas.microsoft.com/office/drawing/2014/main" id="{07151A3C-F967-4FA7-B8BB-2231E60A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29050"/>
            <a:ext cx="323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Who personally authorized or signed—and at what identity assurance?</a:t>
            </a:r>
          </a:p>
        </p:txBody>
      </p:sp>
      <p:sp>
        <p:nvSpPr>
          <p:cNvPr id="16" name="assurance-evidence-2">
            <a:extLst xmlns:a="http://schemas.openxmlformats.org/drawingml/2006/main">
              <a:ext uri="{FF2B5EF4-FFF2-40B4-BE49-F238E27FC236}">
                <a16:creationId xmlns:a16="http://schemas.microsoft.com/office/drawing/2014/main" id="{E29986A0-4F0A-41AA-8E25-67D82514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53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Identity + signature</a:t>
            </a:r>
          </a:p>
        </p:txBody>
      </p:sp>
      <p:sp>
        <p:nvSpPr>
          <p:cNvPr id="17" name="assurance-number-3">
            <a:extLst xmlns:a="http://schemas.openxmlformats.org/drawingml/2006/main">
              <a:ext uri="{FF2B5EF4-FFF2-40B4-BE49-F238E27FC236}">
                <a16:creationId xmlns:a16="http://schemas.microsoft.com/office/drawing/2014/main" id="{F13E69F7-0B0C-434F-9C79-2877D1F0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90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000FF"/>
                </a:solidFill>
                <a:latin typeface="Spartan"/>
                <a:ea typeface="Spartan"/>
                <a:cs typeface="Spartan"/>
              </a:defRPr>
            </a:pPr>
            <a:r>
              <a:rPr sz="2100" b="1">
                <a:solidFill>
                  <a:srgbClr val="7000FF"/>
                </a:solidFill>
                <a:latin typeface="Spartan"/>
                <a:ea typeface="Spartan"/>
                <a:cs typeface="Spartan"/>
              </a:rPr>
              <a:t>03</a:t>
            </a:r>
          </a:p>
        </p:txBody>
      </p:sp>
      <p:sp>
        <p:nvSpPr>
          <p:cNvPr id="18" name="assurance-rule-3">
            <a:extLst xmlns:a="http://schemas.openxmlformats.org/drawingml/2006/main">
              <a:ext uri="{FF2B5EF4-FFF2-40B4-BE49-F238E27FC236}">
                <a16:creationId xmlns:a16="http://schemas.microsoft.com/office/drawing/2014/main" id="{2F36D0F3-0B1D-4936-A603-F55775F5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05100"/>
            <a:ext cx="323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009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assurance-title-3">
            <a:extLst xmlns:a="http://schemas.openxmlformats.org/drawingml/2006/main">
              <a:ext uri="{FF2B5EF4-FFF2-40B4-BE49-F238E27FC236}">
                <a16:creationId xmlns:a16="http://schemas.microsoft.com/office/drawing/2014/main" id="{17E393AB-4FCE-4962-9738-CD3D6E1B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099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2025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Organizational assurance</a:t>
            </a:r>
          </a:p>
        </p:txBody>
      </p:sp>
      <p:sp>
        <p:nvSpPr>
          <p:cNvPr id="20" name="assurance-question-3">
            <a:extLst xmlns:a="http://schemas.openxmlformats.org/drawingml/2006/main">
              <a:ext uri="{FF2B5EF4-FFF2-40B4-BE49-F238E27FC236}">
                <a16:creationId xmlns:a16="http://schemas.microsoft.com/office/drawing/2014/main" id="{5215F756-AC58-4A34-BB99-E83BCF4F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29050"/>
            <a:ext cx="323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Did this officially originate from the organization?</a:t>
            </a:r>
          </a:p>
        </p:txBody>
      </p:sp>
      <p:sp>
        <p:nvSpPr>
          <p:cNvPr id="21" name="assurance-evidence-3">
            <a:extLst xmlns:a="http://schemas.openxmlformats.org/drawingml/2006/main">
              <a:ext uri="{FF2B5EF4-FFF2-40B4-BE49-F238E27FC236}">
                <a16:creationId xmlns:a16="http://schemas.microsoft.com/office/drawing/2014/main" id="{FDD58F14-E05A-487A-BDBC-383D7C6A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53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Seal + integrity evidence</a:t>
            </a:r>
          </a:p>
        </p:txBody>
      </p:sp>
      <p:sp>
        <p:nvSpPr>
          <p:cNvPr id="22" name="takeaway-accent">
            <a:extLst xmlns:a="http://schemas.openxmlformats.org/drawingml/2006/main">
              <a:ext uri="{FF2B5EF4-FFF2-40B4-BE49-F238E27FC236}">
                <a16:creationId xmlns:a16="http://schemas.microsoft.com/office/drawing/2014/main" id="{20A182C5-6690-4623-8E57-F200BDB7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1847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akeaway">
            <a:extLst xmlns:a="http://schemas.openxmlformats.org/drawingml/2006/main">
              <a:ext uri="{FF2B5EF4-FFF2-40B4-BE49-F238E27FC236}">
                <a16:creationId xmlns:a16="http://schemas.microsoft.com/office/drawing/2014/main" id="{82CDD774-71F2-4DCF-8042-2E95A07C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The right combination depends on the action, market, and required level of assurance.</a:t>
            </a:r>
          </a:p>
        </p:txBody>
      </p:sp>
    </p:spTree>
    <p:extLst>
      <p:ext uri="{BB962C8B-B14F-4D97-AF65-F5344CB8AC3E}">
        <p14:creationId xmlns:p14="http://schemas.microsoft.com/office/powerpoint/2010/main" val="16310283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a3f2312bda442b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0402D18-33F1-4E1E-8EDD-3B281FA6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10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79D3A784-CFAA-4FDF-9850-6AE0E315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36F44814-C19B-493D-AEE1-9E9BB0BE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AGENTIC TRUSTED EXECUTION · PARTNER ENABLEMENT</a:t>
            </a:r>
          </a:p>
        </p:txBody>
      </p:sp>
      <p:sp>
        <p:nvSpPr>
          <p:cNvPr id="5" name="partner-enablement-mark">
            <a:extLst xmlns:a="http://schemas.openxmlformats.org/drawingml/2006/main">
              <a:ext uri="{FF2B5EF4-FFF2-40B4-BE49-F238E27FC236}">
                <a16:creationId xmlns:a16="http://schemas.microsoft.com/office/drawing/2014/main" id="{2D1D3EA5-D9AC-4493-8CE4-CFF744EF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&amp; PARTNER ENABLEMENT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7AB83D-651A-44D7-815D-A0F041F1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The output is a verifiable record—not just a PDF</a:t>
            </a:r>
          </a:p>
        </p:txBody>
      </p:sp>
      <p:sp>
        <p:nvSpPr>
          <p:cNvPr id="7" name="record-line-left-1">
            <a:extLst xmlns:a="http://schemas.openxmlformats.org/drawingml/2006/main">
              <a:ext uri="{FF2B5EF4-FFF2-40B4-BE49-F238E27FC236}">
                <a16:creationId xmlns:a16="http://schemas.microsoft.com/office/drawing/2014/main" id="{CFF68036-4908-4761-97B7-4C22EEFA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795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record-item-left-1">
            <a:extLst xmlns:a="http://schemas.openxmlformats.org/drawingml/2006/main">
              <a:ext uri="{FF2B5EF4-FFF2-40B4-BE49-F238E27FC236}">
                <a16:creationId xmlns:a16="http://schemas.microsoft.com/office/drawing/2014/main" id="{0508085A-5845-4D2C-93D9-E863143C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Authoritative version</a:t>
            </a:r>
          </a:p>
        </p:txBody>
      </p:sp>
      <p:sp>
        <p:nvSpPr>
          <p:cNvPr id="9" name="record-line-left-2">
            <a:extLst xmlns:a="http://schemas.openxmlformats.org/drawingml/2006/main">
              <a:ext uri="{FF2B5EF4-FFF2-40B4-BE49-F238E27FC236}">
                <a16:creationId xmlns:a16="http://schemas.microsoft.com/office/drawing/2014/main" id="{70C4F255-13B6-4357-84E3-ADA4656A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27660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cord-item-left-2">
            <a:extLst xmlns:a="http://schemas.openxmlformats.org/drawingml/2006/main">
              <a:ext uri="{FF2B5EF4-FFF2-40B4-BE49-F238E27FC236}">
                <a16:creationId xmlns:a16="http://schemas.microsoft.com/office/drawing/2014/main" id="{DD8DAD8C-A573-486D-B686-7E93C840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Identities</a:t>
            </a:r>
          </a:p>
        </p:txBody>
      </p:sp>
      <p:sp>
        <p:nvSpPr>
          <p:cNvPr id="11" name="record-line-left-3">
            <a:extLst xmlns:a="http://schemas.openxmlformats.org/drawingml/2006/main">
              <a:ext uri="{FF2B5EF4-FFF2-40B4-BE49-F238E27FC236}">
                <a16:creationId xmlns:a16="http://schemas.microsoft.com/office/drawing/2014/main" id="{1563C6A3-6C5D-4826-BD21-B9811E368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0525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ecord-item-left-3">
            <a:extLst xmlns:a="http://schemas.openxmlformats.org/drawingml/2006/main">
              <a:ext uri="{FF2B5EF4-FFF2-40B4-BE49-F238E27FC236}">
                <a16:creationId xmlns:a16="http://schemas.microsoft.com/office/drawing/2014/main" id="{D0E697CC-4ADA-4651-976E-D589ADFF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Roles</a:t>
            </a:r>
          </a:p>
        </p:txBody>
      </p:sp>
      <p:sp>
        <p:nvSpPr>
          <p:cNvPr id="13" name="record-line-left-4">
            <a:extLst xmlns:a="http://schemas.openxmlformats.org/drawingml/2006/main">
              <a:ext uri="{FF2B5EF4-FFF2-40B4-BE49-F238E27FC236}">
                <a16:creationId xmlns:a16="http://schemas.microsoft.com/office/drawing/2014/main" id="{6425A8F1-3CF8-43B6-AA00-C3C6A1C7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53390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ecord-item-left-4">
            <a:extLst xmlns:a="http://schemas.openxmlformats.org/drawingml/2006/main">
              <a:ext uri="{FF2B5EF4-FFF2-40B4-BE49-F238E27FC236}">
                <a16:creationId xmlns:a16="http://schemas.microsoft.com/office/drawing/2014/main" id="{25CAFD69-2008-4A42-98C4-E8710CFD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Approvals</a:t>
            </a:r>
          </a:p>
        </p:txBody>
      </p:sp>
      <p:sp>
        <p:nvSpPr>
          <p:cNvPr id="15" name="record-line-right-1">
            <a:extLst xmlns:a="http://schemas.openxmlformats.org/drawingml/2006/main">
              <a:ext uri="{FF2B5EF4-FFF2-40B4-BE49-F238E27FC236}">
                <a16:creationId xmlns:a16="http://schemas.microsoft.com/office/drawing/2014/main" id="{F15E6DC9-5ED8-4E32-B068-103405E5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4795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ecord-item-right-1">
            <a:extLst xmlns:a="http://schemas.openxmlformats.org/drawingml/2006/main">
              <a:ext uri="{FF2B5EF4-FFF2-40B4-BE49-F238E27FC236}">
                <a16:creationId xmlns:a16="http://schemas.microsoft.com/office/drawing/2014/main" id="{DC25A0B3-7EA8-4676-8580-E9565446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146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Signatures + seals</a:t>
            </a:r>
          </a:p>
        </p:txBody>
      </p:sp>
      <p:sp>
        <p:nvSpPr>
          <p:cNvPr id="17" name="record-line-right-2">
            <a:extLst xmlns:a="http://schemas.openxmlformats.org/drawingml/2006/main">
              <a:ext uri="{FF2B5EF4-FFF2-40B4-BE49-F238E27FC236}">
                <a16:creationId xmlns:a16="http://schemas.microsoft.com/office/drawing/2014/main" id="{C8625072-D67D-4E70-8E06-D4A65070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27660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cord-item-right-2">
            <a:extLst xmlns:a="http://schemas.openxmlformats.org/drawingml/2006/main">
              <a:ext uri="{FF2B5EF4-FFF2-40B4-BE49-F238E27FC236}">
                <a16:creationId xmlns:a16="http://schemas.microsoft.com/office/drawing/2014/main" id="{83128104-65FC-40CB-8292-7573BB4E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432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Timestamps</a:t>
            </a:r>
          </a:p>
        </p:txBody>
      </p:sp>
      <p:sp>
        <p:nvSpPr>
          <p:cNvPr id="19" name="record-line-right-3">
            <a:extLst xmlns:a="http://schemas.openxmlformats.org/drawingml/2006/main">
              <a:ext uri="{FF2B5EF4-FFF2-40B4-BE49-F238E27FC236}">
                <a16:creationId xmlns:a16="http://schemas.microsoft.com/office/drawing/2014/main" id="{41325D4D-D73C-4C62-BB60-2823C0E7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90525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cord-item-right-3">
            <a:extLst xmlns:a="http://schemas.openxmlformats.org/drawingml/2006/main">
              <a:ext uri="{FF2B5EF4-FFF2-40B4-BE49-F238E27FC236}">
                <a16:creationId xmlns:a16="http://schemas.microsoft.com/office/drawing/2014/main" id="{D3911FA4-67E7-4C2B-B1CF-97CE954CC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719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Audit events</a:t>
            </a:r>
          </a:p>
        </p:txBody>
      </p:sp>
      <p:sp>
        <p:nvSpPr>
          <p:cNvPr id="21" name="record-line-right-4">
            <a:extLst xmlns:a="http://schemas.openxmlformats.org/drawingml/2006/main">
              <a:ext uri="{FF2B5EF4-FFF2-40B4-BE49-F238E27FC236}">
                <a16:creationId xmlns:a16="http://schemas.microsoft.com/office/drawing/2014/main" id="{75AEDD3E-4C4E-4289-A29F-4518D5B0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53390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record-item-right-4">
            <a:extLst xmlns:a="http://schemas.openxmlformats.org/drawingml/2006/main">
              <a:ext uri="{FF2B5EF4-FFF2-40B4-BE49-F238E27FC236}">
                <a16:creationId xmlns:a16="http://schemas.microsoft.com/office/drawing/2014/main" id="{12ABCFCE-4AE1-4AE5-A158-85B561A1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005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Retention metadata</a:t>
            </a:r>
          </a:p>
        </p:txBody>
      </p:sp>
      <p:sp>
        <p:nvSpPr>
          <p:cNvPr id="23" name="record-core">
            <a:extLst xmlns:a="http://schemas.openxmlformats.org/drawingml/2006/main">
              <a:ext uri="{FF2B5EF4-FFF2-40B4-BE49-F238E27FC236}">
                <a16:creationId xmlns:a16="http://schemas.microsoft.com/office/drawing/2014/main" id="{E2826595-CCF0-4B16-9973-AC29529D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66950"/>
            <a:ext cx="2400300" cy="28575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record-core-title">
            <a:extLst xmlns:a="http://schemas.openxmlformats.org/drawingml/2006/main">
              <a:ext uri="{FF2B5EF4-FFF2-40B4-BE49-F238E27FC236}">
                <a16:creationId xmlns:a16="http://schemas.microsoft.com/office/drawing/2014/main" id="{33C425C2-FACB-41FC-8B30-F51498C7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90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2400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TRUSTED</a:t>
            </a:r>
          </a:p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2400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RECORD</a:t>
            </a:r>
          </a:p>
        </p:txBody>
      </p:sp>
      <p:sp>
        <p:nvSpPr>
          <p:cNvPr id="25" name="record-core-detail">
            <a:extLst xmlns:a="http://schemas.openxmlformats.org/drawingml/2006/main">
              <a:ext uri="{FF2B5EF4-FFF2-40B4-BE49-F238E27FC236}">
                <a16:creationId xmlns:a16="http://schemas.microsoft.com/office/drawing/2014/main" id="{8EFABD5F-EABD-4387-83DC-6874C2F4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171950"/>
            <a:ext cx="190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Verifiable institutional evidence</a:t>
            </a:r>
          </a:p>
        </p:txBody>
      </p:sp>
      <p:sp>
        <p:nvSpPr>
          <p:cNvPr id="26" name="takeaway-accent">
            <a:extLst xmlns:a="http://schemas.openxmlformats.org/drawingml/2006/main">
              <a:ext uri="{FF2B5EF4-FFF2-40B4-BE49-F238E27FC236}">
                <a16:creationId xmlns:a16="http://schemas.microsoft.com/office/drawing/2014/main" id="{9453AC77-989D-4D89-9156-E29634BC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1847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akeaway">
            <a:extLst xmlns:a="http://schemas.openxmlformats.org/drawingml/2006/main">
              <a:ext uri="{FF2B5EF4-FFF2-40B4-BE49-F238E27FC236}">
                <a16:creationId xmlns:a16="http://schemas.microsoft.com/office/drawing/2014/main" id="{46FD4C90-BD5F-4310-8E27-50CDFBA0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 completed transaction becomes durable institutional evidence.</a:t>
            </a:r>
          </a:p>
        </p:txBody>
      </p:sp>
    </p:spTree>
    <p:extLst>
      <p:ext uri="{BB962C8B-B14F-4D97-AF65-F5344CB8AC3E}">
        <p14:creationId xmlns:p14="http://schemas.microsoft.com/office/powerpoint/2010/main" val="3482543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b6db5d108243bc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B08E4FF-D9B5-4D61-895D-861A0515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11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11BCC6CC-5585-440A-B8BB-C20C1C26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E9BB0D4E-0DD7-4153-8DAC-8233D1C7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AGENTIC TRUSTED EXECUTION · PARTNER ENABLEMENT</a:t>
            </a:r>
          </a:p>
        </p:txBody>
      </p:sp>
      <p:sp>
        <p:nvSpPr>
          <p:cNvPr id="5" name="partner-enablement-mark">
            <a:extLst xmlns:a="http://schemas.openxmlformats.org/drawingml/2006/main">
              <a:ext uri="{FF2B5EF4-FFF2-40B4-BE49-F238E27FC236}">
                <a16:creationId xmlns:a16="http://schemas.microsoft.com/office/drawing/2014/main" id="{CA551F2D-0BC4-4DC7-ACAF-76D10091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&amp; PARTNER ENABLEMENT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8D0188B-454A-41FB-A990-3D00645A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Institutional evidence becomes governed AI context</a:t>
            </a:r>
          </a:p>
        </p:txBody>
      </p:sp>
      <p:sp>
        <p:nvSpPr>
          <p:cNvPr id="7" name="context-records">
            <a:extLst xmlns:a="http://schemas.openxmlformats.org/drawingml/2006/main">
              <a:ext uri="{FF2B5EF4-FFF2-40B4-BE49-F238E27FC236}">
                <a16:creationId xmlns:a16="http://schemas.microsoft.com/office/drawing/2014/main" id="{6BE86934-53CD-4538-85A0-33DFF146A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23050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5EDFF"/>
          </a:solidFill>
          <a:ln xmlns:a="http://schemas.openxmlformats.org/drawingml/2006/main" w="9525">
            <a:solidFill>
              <a:srgbClr val="D6C1FF"/>
            </a:solidFill>
            <a:prstDash val="solid"/>
          </a:ln>
        </p:spPr>
      </p:sp>
      <p:sp>
        <p:nvSpPr>
          <p:cNvPr id="8" name="context-records-title">
            <a:extLst xmlns:a="http://schemas.openxmlformats.org/drawingml/2006/main">
              <a:ext uri="{FF2B5EF4-FFF2-40B4-BE49-F238E27FC236}">
                <a16:creationId xmlns:a16="http://schemas.microsoft.com/office/drawing/2014/main" id="{61624DA7-2FEA-4621-AB13-90CE5E22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21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TRUSTED</a:t>
            </a:r>
          </a:p>
          <a:p xmlns:a="http://schemas.openxmlformats.org/drawingml/2006/main">
            <a:pPr algn="ctr">
              <a:defRPr sz="21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21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RECORDS</a:t>
            </a:r>
          </a:p>
        </p:txBody>
      </p:sp>
      <p:sp>
        <p:nvSpPr>
          <p:cNvPr id="9" name="context-arrow-one">
            <a:extLst xmlns:a="http://schemas.openxmlformats.org/drawingml/2006/main">
              <a:ext uri="{FF2B5EF4-FFF2-40B4-BE49-F238E27FC236}">
                <a16:creationId xmlns:a16="http://schemas.microsoft.com/office/drawing/2014/main" id="{7E9D3416-24A6-4B02-9371-6F89232C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194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000FF"/>
                </a:solidFill>
                <a:latin typeface="Spartan"/>
                <a:ea typeface="Spartan"/>
                <a:cs typeface="Spartan"/>
              </a:defRPr>
            </a:pPr>
            <a:r>
              <a:rPr sz="2850" b="1">
                <a:solidFill>
                  <a:srgbClr val="7000FF"/>
                </a:solidFill>
                <a:latin typeface="Spartan"/>
                <a:ea typeface="Spartan"/>
                <a:cs typeface="Spartan"/>
              </a:rPr>
              <a:t>→</a:t>
            </a:r>
          </a:p>
        </p:txBody>
      </p:sp>
      <p:sp>
        <p:nvSpPr>
          <p:cNvPr id="10" name="context-trusted-context">
            <a:extLst xmlns:a="http://schemas.openxmlformats.org/drawingml/2006/main">
              <a:ext uri="{FF2B5EF4-FFF2-40B4-BE49-F238E27FC236}">
                <a16:creationId xmlns:a16="http://schemas.microsoft.com/office/drawing/2014/main" id="{5E048406-81A8-4AC6-9ED7-71957FF1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23050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D009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ontext-trusted-context-title">
            <a:extLst xmlns:a="http://schemas.openxmlformats.org/drawingml/2006/main">
              <a:ext uri="{FF2B5EF4-FFF2-40B4-BE49-F238E27FC236}">
                <a16:creationId xmlns:a16="http://schemas.microsoft.com/office/drawing/2014/main" id="{568BC7D4-29BD-43ED-A41E-2201B539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1432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2100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TRUSTED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2100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AI CONTEXT</a:t>
            </a:r>
          </a:p>
        </p:txBody>
      </p:sp>
      <p:sp>
        <p:nvSpPr>
          <p:cNvPr id="12" name="context-governance">
            <a:extLst xmlns:a="http://schemas.openxmlformats.org/drawingml/2006/main">
              <a:ext uri="{FF2B5EF4-FFF2-40B4-BE49-F238E27FC236}">
                <a16:creationId xmlns:a16="http://schemas.microsoft.com/office/drawing/2014/main" id="{06F5B873-9E35-44DE-8C9F-C5A8014AF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1300"/>
            <a:ext cx="20002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ontext-governance-title">
            <a:extLst xmlns:a="http://schemas.openxmlformats.org/drawingml/2006/main">
              <a:ext uri="{FF2B5EF4-FFF2-40B4-BE49-F238E27FC236}">
                <a16:creationId xmlns:a16="http://schemas.microsoft.com/office/drawing/2014/main" id="{B98B74D4-D57C-4E70-BFD8-C86DB9DF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81350"/>
            <a:ext cx="1619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POLICY · PERMISSIONS</a:t>
            </a:r>
          </a:p>
          <a:p xmlns:a="http://schemas.openxmlformats.org/drawingml/2006/main">
            <a:pPr algn="ctr">
              <a:defRPr sz="1613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PROVENANCE · AUDIT</a:t>
            </a:r>
          </a:p>
        </p:txBody>
      </p:sp>
      <p:sp>
        <p:nvSpPr>
          <p:cNvPr id="14" name="context-arrow-two">
            <a:extLst xmlns:a="http://schemas.openxmlformats.org/drawingml/2006/main">
              <a:ext uri="{FF2B5EF4-FFF2-40B4-BE49-F238E27FC236}">
                <a16:creationId xmlns:a16="http://schemas.microsoft.com/office/drawing/2014/main" id="{B75A2E90-AEF1-4873-B199-0172A9C4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1945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000FF"/>
                </a:solidFill>
                <a:latin typeface="Spartan"/>
                <a:ea typeface="Spartan"/>
                <a:cs typeface="Spartan"/>
              </a:defRPr>
            </a:pPr>
            <a:r>
              <a:rPr sz="2850" b="1">
                <a:solidFill>
                  <a:srgbClr val="7000FF"/>
                </a:solidFill>
                <a:latin typeface="Spartan"/>
                <a:ea typeface="Spartan"/>
                <a:cs typeface="Spartan"/>
              </a:rPr>
              <a:t>→</a:t>
            </a:r>
          </a:p>
        </p:txBody>
      </p:sp>
      <p:sp>
        <p:nvSpPr>
          <p:cNvPr id="15" name="context-outcome-label-1">
            <a:extLst xmlns:a="http://schemas.openxmlformats.org/drawingml/2006/main">
              <a:ext uri="{FF2B5EF4-FFF2-40B4-BE49-F238E27FC236}">
                <a16:creationId xmlns:a16="http://schemas.microsoft.com/office/drawing/2014/main" id="{B4C033FB-4A97-4509-A827-8051B10F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2098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KNOW</a:t>
            </a:r>
          </a:p>
        </p:txBody>
      </p:sp>
      <p:sp>
        <p:nvSpPr>
          <p:cNvPr id="16" name="context-outcome-detail-1">
            <a:extLst xmlns:a="http://schemas.openxmlformats.org/drawingml/2006/main">
              <a:ext uri="{FF2B5EF4-FFF2-40B4-BE49-F238E27FC236}">
                <a16:creationId xmlns:a16="http://schemas.microsoft.com/office/drawing/2014/main" id="{4972A4B9-9CB6-4FCA-98FB-BDDA7546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Extract · classify · retrieve</a:t>
            </a:r>
          </a:p>
        </p:txBody>
      </p:sp>
      <p:sp>
        <p:nvSpPr>
          <p:cNvPr id="17" name="context-outcome-label-2">
            <a:extLst xmlns:a="http://schemas.openxmlformats.org/drawingml/2006/main">
              <a:ext uri="{FF2B5EF4-FFF2-40B4-BE49-F238E27FC236}">
                <a16:creationId xmlns:a16="http://schemas.microsoft.com/office/drawing/2014/main" id="{1EDB69E1-6CB6-4E3D-9BAD-5AE07872A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004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ADVISE</a:t>
            </a:r>
          </a:p>
        </p:txBody>
      </p:sp>
      <p:sp>
        <p:nvSpPr>
          <p:cNvPr id="18" name="context-outcome-detail-2">
            <a:extLst xmlns:a="http://schemas.openxmlformats.org/drawingml/2006/main">
              <a:ext uri="{FF2B5EF4-FFF2-40B4-BE49-F238E27FC236}">
                <a16:creationId xmlns:a16="http://schemas.microsoft.com/office/drawing/2014/main" id="{ECA64809-4039-4378-9A0C-5D9C5E76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5623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Obligations · risks · recommendations</a:t>
            </a:r>
          </a:p>
        </p:txBody>
      </p:sp>
      <p:sp>
        <p:nvSpPr>
          <p:cNvPr id="19" name="context-outcome-label-3">
            <a:extLst xmlns:a="http://schemas.openxmlformats.org/drawingml/2006/main">
              <a:ext uri="{FF2B5EF4-FFF2-40B4-BE49-F238E27FC236}">
                <a16:creationId xmlns:a16="http://schemas.microsoft.com/office/drawing/2014/main" id="{2266BA7C-3464-4053-B2FB-DAB5B0F0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910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ACT</a:t>
            </a:r>
          </a:p>
        </p:txBody>
      </p:sp>
      <p:sp>
        <p:nvSpPr>
          <p:cNvPr id="20" name="context-outcome-detail-3">
            <a:extLst xmlns:a="http://schemas.openxmlformats.org/drawingml/2006/main">
              <a:ext uri="{FF2B5EF4-FFF2-40B4-BE49-F238E27FC236}">
                <a16:creationId xmlns:a16="http://schemas.microsoft.com/office/drawing/2014/main" id="{6C5ACCA4-03B2-44E4-89D9-9347B573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5529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Workflows · approvals · permitted actions</a:t>
            </a:r>
          </a:p>
        </p:txBody>
      </p:sp>
      <p:sp>
        <p:nvSpPr>
          <p:cNvPr id="21" name="takeaway-accent">
            <a:extLst xmlns:a="http://schemas.openxmlformats.org/drawingml/2006/main">
              <a:ext uri="{FF2B5EF4-FFF2-40B4-BE49-F238E27FC236}">
                <a16:creationId xmlns:a16="http://schemas.microsoft.com/office/drawing/2014/main" id="{2A67EBF4-15AB-41D5-BBDC-247F0B64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1847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akeaway">
            <a:extLst xmlns:a="http://schemas.openxmlformats.org/drawingml/2006/main">
              <a:ext uri="{FF2B5EF4-FFF2-40B4-BE49-F238E27FC236}">
                <a16:creationId xmlns:a16="http://schemas.microsoft.com/office/drawing/2014/main" id="{66966615-A147-4FE0-92A9-74D76AB4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Trusted records give AI verified, permission-controlled, attributable context.</a:t>
            </a:r>
          </a:p>
        </p:txBody>
      </p:sp>
    </p:spTree>
    <p:extLst>
      <p:ext uri="{BB962C8B-B14F-4D97-AF65-F5344CB8AC3E}">
        <p14:creationId xmlns:p14="http://schemas.microsoft.com/office/powerpoint/2010/main" val="7201320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D009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53236a8ef047ff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14B04EE-0FCC-445A-842A-E77EDA49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12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43A62EA5-404B-4C81-9B6D-B9922AAB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247D7845-9A04-473F-ADB8-9B763F3A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AGENTIC TRUSTED EXECUTION · PARTNER ENABLEMENT</a:t>
            </a:r>
          </a:p>
        </p:txBody>
      </p:sp>
      <p:sp>
        <p:nvSpPr>
          <p:cNvPr id="5" name="partner-enablement-mark">
            <a:extLst xmlns:a="http://schemas.openxmlformats.org/drawingml/2006/main">
              <a:ext uri="{FF2B5EF4-FFF2-40B4-BE49-F238E27FC236}">
                <a16:creationId xmlns:a16="http://schemas.microsoft.com/office/drawing/2014/main" id="{7A8DA472-0136-446E-93C7-AAC4F4D6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INTERNAL &amp; PARTNER ENABLEMENT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A91BF5-34D9-42D8-A45E-E67C2ACA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Agents can prepare, initiate, or execute—but authority decides how far</a:t>
            </a:r>
          </a:p>
        </p:txBody>
      </p:sp>
      <p:sp>
        <p:nvSpPr>
          <p:cNvPr id="7" name="agent-lane-1">
            <a:extLst xmlns:a="http://schemas.openxmlformats.org/drawingml/2006/main">
              <a:ext uri="{FF2B5EF4-FFF2-40B4-BE49-F238E27FC236}">
                <a16:creationId xmlns:a16="http://schemas.microsoft.com/office/drawing/2014/main" id="{1ACDC37A-DBFF-4501-A147-097D363A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112776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2A129B"/>
          </a:solidFill>
          <a:ln xmlns:a="http://schemas.openxmlformats.org/drawingml/2006/main" w="9525">
            <a:solidFill>
              <a:srgbClr val="6E51DA"/>
            </a:solidFill>
            <a:prstDash val="solid"/>
          </a:ln>
        </p:spPr>
      </p:sp>
      <p:sp>
        <p:nvSpPr>
          <p:cNvPr id="8" name="agent-lane-title-1">
            <a:extLst xmlns:a="http://schemas.openxmlformats.org/drawingml/2006/main">
              <a:ext uri="{FF2B5EF4-FFF2-40B4-BE49-F238E27FC236}">
                <a16:creationId xmlns:a16="http://schemas.microsoft.com/office/drawing/2014/main" id="{33056364-11BC-4D78-9692-4C047218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098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PREPARE</a:t>
            </a:r>
          </a:p>
        </p:txBody>
      </p:sp>
      <p:sp>
        <p:nvSpPr>
          <p:cNvPr id="9" name="agent-lane-actions-1">
            <a:extLst xmlns:a="http://schemas.openxmlformats.org/drawingml/2006/main">
              <a:ext uri="{FF2B5EF4-FFF2-40B4-BE49-F238E27FC236}">
                <a16:creationId xmlns:a16="http://schemas.microsoft.com/office/drawing/2014/main" id="{6A51E62D-F13A-47C9-A6CF-BBCC9EFF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098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Draft · classify · recommend</a:t>
            </a:r>
          </a:p>
        </p:txBody>
      </p:sp>
      <p:sp>
        <p:nvSpPr>
          <p:cNvPr id="10" name="agent-lane-gate-1">
            <a:extLst xmlns:a="http://schemas.openxmlformats.org/drawingml/2006/main">
              <a:ext uri="{FF2B5EF4-FFF2-40B4-BE49-F238E27FC236}">
                <a16:creationId xmlns:a16="http://schemas.microsoft.com/office/drawing/2014/main" id="{7E5D25A8-266E-44FB-8367-6C043941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098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13" b="0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FFFFFF"/>
                </a:solidFill>
                <a:latin typeface="Mulish"/>
                <a:ea typeface="Mulish"/>
                <a:cs typeface="Mulish"/>
              </a:rPr>
              <a:t>Inside policy</a:t>
            </a:r>
          </a:p>
        </p:txBody>
      </p:sp>
      <p:sp>
        <p:nvSpPr>
          <p:cNvPr id="11" name="agent-lane-2">
            <a:extLst xmlns:a="http://schemas.openxmlformats.org/drawingml/2006/main">
              <a:ext uri="{FF2B5EF4-FFF2-40B4-BE49-F238E27FC236}">
                <a16:creationId xmlns:a16="http://schemas.microsoft.com/office/drawing/2014/main" id="{1E9364B0-C8F7-4248-A208-5B616E3A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8050"/>
            <a:ext cx="112776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2A129B"/>
          </a:solidFill>
          <a:ln xmlns:a="http://schemas.openxmlformats.org/drawingml/2006/main" w="9525">
            <a:solidFill>
              <a:srgbClr val="6E51DA"/>
            </a:solidFill>
            <a:prstDash val="solid"/>
          </a:ln>
        </p:spPr>
      </p:sp>
      <p:sp>
        <p:nvSpPr>
          <p:cNvPr id="12" name="agent-lane-title-2">
            <a:extLst xmlns:a="http://schemas.openxmlformats.org/drawingml/2006/main">
              <a:ext uri="{FF2B5EF4-FFF2-40B4-BE49-F238E27FC236}">
                <a16:creationId xmlns:a16="http://schemas.microsoft.com/office/drawing/2014/main" id="{99884AB1-2CB2-4066-BE98-AEDF4166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INITIATE</a:t>
            </a:r>
          </a:p>
        </p:txBody>
      </p:sp>
      <p:sp>
        <p:nvSpPr>
          <p:cNvPr id="13" name="agent-lane-actions-2">
            <a:extLst xmlns:a="http://schemas.openxmlformats.org/drawingml/2006/main">
              <a:ext uri="{FF2B5EF4-FFF2-40B4-BE49-F238E27FC236}">
                <a16:creationId xmlns:a16="http://schemas.microsoft.com/office/drawing/2014/main" id="{A246DA34-300A-4041-8038-A6E2F285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766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Start workflow · request approval</a:t>
            </a:r>
          </a:p>
        </p:txBody>
      </p:sp>
      <p:sp>
        <p:nvSpPr>
          <p:cNvPr id="14" name="agent-lane-gate-2">
            <a:extLst xmlns:a="http://schemas.openxmlformats.org/drawingml/2006/main">
              <a:ext uri="{FF2B5EF4-FFF2-40B4-BE49-F238E27FC236}">
                <a16:creationId xmlns:a16="http://schemas.microsoft.com/office/drawing/2014/main" id="{9F18A945-846C-4F8F-BEE8-95D335EB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766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13" b="0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FFFFFF"/>
                </a:solidFill>
                <a:latin typeface="Mulish"/>
                <a:ea typeface="Mulish"/>
                <a:cs typeface="Mulish"/>
              </a:rPr>
              <a:t>Delegated mandate</a:t>
            </a:r>
          </a:p>
        </p:txBody>
      </p:sp>
      <p:sp>
        <p:nvSpPr>
          <p:cNvPr id="15" name="agent-lane-3">
            <a:extLst xmlns:a="http://schemas.openxmlformats.org/drawingml/2006/main">
              <a:ext uri="{FF2B5EF4-FFF2-40B4-BE49-F238E27FC236}">
                <a16:creationId xmlns:a16="http://schemas.microsoft.com/office/drawing/2014/main" id="{E15B01B1-AA55-46C2-B26E-00D3DE61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14850"/>
            <a:ext cx="112776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9525">
            <a:solidFill>
              <a:srgbClr val="6E51DA"/>
            </a:solidFill>
            <a:prstDash val="solid"/>
          </a:ln>
        </p:spPr>
      </p:sp>
      <p:sp>
        <p:nvSpPr>
          <p:cNvPr id="16" name="agent-lane-title-3">
            <a:extLst xmlns:a="http://schemas.openxmlformats.org/drawingml/2006/main">
              <a:ext uri="{FF2B5EF4-FFF2-40B4-BE49-F238E27FC236}">
                <a16:creationId xmlns:a16="http://schemas.microsoft.com/office/drawing/2014/main" id="{998CF8DF-B19D-4B2C-B8E9-83C3C786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EXECUTE</a:t>
            </a:r>
          </a:p>
        </p:txBody>
      </p:sp>
      <p:sp>
        <p:nvSpPr>
          <p:cNvPr id="17" name="agent-lane-actions-3">
            <a:extLst xmlns:a="http://schemas.openxmlformats.org/drawingml/2006/main">
              <a:ext uri="{FF2B5EF4-FFF2-40B4-BE49-F238E27FC236}">
                <a16:creationId xmlns:a16="http://schemas.microsoft.com/office/drawing/2014/main" id="{6BA73252-03B0-45F2-9D28-532DA33D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434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Invoke trust service · commit action</a:t>
            </a:r>
          </a:p>
        </p:txBody>
      </p:sp>
      <p:sp>
        <p:nvSpPr>
          <p:cNvPr id="18" name="agent-lane-gate-3">
            <a:extLst xmlns:a="http://schemas.openxmlformats.org/drawingml/2006/main">
              <a:ext uri="{FF2B5EF4-FFF2-40B4-BE49-F238E27FC236}">
                <a16:creationId xmlns:a16="http://schemas.microsoft.com/office/drawing/2014/main" id="{9854EEC9-7AC6-4291-BE8C-6EEF1215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7434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13" b="0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FFFFFF"/>
                </a:solidFill>
                <a:latin typeface="Mulish"/>
                <a:ea typeface="Mulish"/>
                <a:cs typeface="Mulish"/>
              </a:rPr>
              <a:t>Approval + evidence gate</a:t>
            </a:r>
          </a:p>
        </p:txBody>
      </p:sp>
      <p:sp>
        <p:nvSpPr>
          <p:cNvPr id="19" name="takeaway-accent">
            <a:extLst xmlns:a="http://schemas.openxmlformats.org/drawingml/2006/main">
              <a:ext uri="{FF2B5EF4-FFF2-40B4-BE49-F238E27FC236}">
                <a16:creationId xmlns:a16="http://schemas.microsoft.com/office/drawing/2014/main" id="{1852B33A-7CE8-4EDF-9813-BB3800E0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1847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akeaway">
            <a:extLst xmlns:a="http://schemas.openxmlformats.org/drawingml/2006/main">
              <a:ext uri="{FF2B5EF4-FFF2-40B4-BE49-F238E27FC236}">
                <a16:creationId xmlns:a16="http://schemas.microsoft.com/office/drawing/2014/main" id="{C0F87616-18B7-47EF-9550-05A1C375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Circularo governs what the agent may do, what executes, and what evidence remains.</a:t>
            </a:r>
          </a:p>
        </p:txBody>
      </p:sp>
    </p:spTree>
    <p:extLst>
      <p:ext uri="{BB962C8B-B14F-4D97-AF65-F5344CB8AC3E}">
        <p14:creationId xmlns:p14="http://schemas.microsoft.com/office/powerpoint/2010/main" val="9324580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dc9efabc7c4087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A98DF0C-859D-4465-970E-87106E23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13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4E7CC624-0D60-412D-B109-0228FFB0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F34708FB-C5AA-47B2-88EF-92F5308F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AGENTIC TRUSTED EXECUTION · PARTNER ENABLEMENT</a:t>
            </a:r>
          </a:p>
        </p:txBody>
      </p:sp>
      <p:sp>
        <p:nvSpPr>
          <p:cNvPr id="5" name="partner-enablement-mark">
            <a:extLst xmlns:a="http://schemas.openxmlformats.org/drawingml/2006/main">
              <a:ext uri="{FF2B5EF4-FFF2-40B4-BE49-F238E27FC236}">
                <a16:creationId xmlns:a16="http://schemas.microsoft.com/office/drawing/2014/main" id="{E207B6C7-67B8-479B-B140-7EDB1260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85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667085"/>
                </a:solidFill>
                <a:latin typeface="Mulish"/>
                <a:ea typeface="Mulish"/>
                <a:cs typeface="Mulish"/>
              </a:rPr>
              <a:t>INTERNAL &amp; PARTNER ENABLEMENT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80FE74-681D-43C2-87E4-691376E7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0090"/>
                </a:solidFill>
                <a:latin typeface="Spartan"/>
                <a:ea typeface="Spartan"/>
                <a:cs typeface="Spartan"/>
              </a:defRPr>
            </a:pPr>
            <a:r>
              <a:rPr sz="3600" b="1">
                <a:solidFill>
                  <a:srgbClr val="1D0090"/>
                </a:solidFill>
                <a:latin typeface="Spartan"/>
                <a:ea typeface="Spartan"/>
                <a:cs typeface="Spartan"/>
              </a:rPr>
              <a:t>Partners can make trusted execution repeatable</a:t>
            </a:r>
          </a:p>
        </p:txBody>
      </p:sp>
      <p:sp>
        <p:nvSpPr>
          <p:cNvPr id="7" name="partner-spine">
            <a:extLst xmlns:a="http://schemas.openxmlformats.org/drawingml/2006/main">
              <a:ext uri="{FF2B5EF4-FFF2-40B4-BE49-F238E27FC236}">
                <a16:creationId xmlns:a16="http://schemas.microsoft.com/office/drawing/2014/main" id="{ED62E141-A679-42D2-B16A-5060B9BA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10058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artner-node-1">
            <a:extLst xmlns:a="http://schemas.openxmlformats.org/drawingml/2006/main">
              <a:ext uri="{FF2B5EF4-FFF2-40B4-BE49-F238E27FC236}">
                <a16:creationId xmlns:a16="http://schemas.microsoft.com/office/drawing/2014/main" id="{1ED274B5-1807-450E-AF0F-3CCD59DE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6225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9" name="partner-number-1">
            <a:extLst xmlns:a="http://schemas.openxmlformats.org/drawingml/2006/main">
              <a:ext uri="{FF2B5EF4-FFF2-40B4-BE49-F238E27FC236}">
                <a16:creationId xmlns:a16="http://schemas.microsoft.com/office/drawing/2014/main" id="{DA392227-DD62-4F03-B90C-DD5C8D6D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971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01</a:t>
            </a:r>
          </a:p>
        </p:txBody>
      </p:sp>
      <p:sp>
        <p:nvSpPr>
          <p:cNvPr id="10" name="partner-title-1">
            <a:extLst xmlns:a="http://schemas.openxmlformats.org/drawingml/2006/main">
              <a:ext uri="{FF2B5EF4-FFF2-40B4-BE49-F238E27FC236}">
                <a16:creationId xmlns:a16="http://schemas.microsoft.com/office/drawing/2014/main" id="{D4B22E19-F200-42DD-905C-679E088B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52850"/>
            <a:ext cx="2362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Select the action</a:t>
            </a:r>
          </a:p>
        </p:txBody>
      </p:sp>
      <p:sp>
        <p:nvSpPr>
          <p:cNvPr id="11" name="partner-question-1">
            <a:extLst xmlns:a="http://schemas.openxmlformats.org/drawingml/2006/main">
              <a:ext uri="{FF2B5EF4-FFF2-40B4-BE49-F238E27FC236}">
                <a16:creationId xmlns:a16="http://schemas.microsoft.com/office/drawing/2014/main" id="{1C9B1ABB-FBA4-49E4-B9B2-A07823C2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0"/>
            <a:ext cx="2362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Which outcome matters?</a:t>
            </a:r>
          </a:p>
        </p:txBody>
      </p:sp>
      <p:sp>
        <p:nvSpPr>
          <p:cNvPr id="12" name="partner-output-1">
            <a:extLst xmlns:a="http://schemas.openxmlformats.org/drawingml/2006/main">
              <a:ext uri="{FF2B5EF4-FFF2-40B4-BE49-F238E27FC236}">
                <a16:creationId xmlns:a16="http://schemas.microsoft.com/office/drawing/2014/main" id="{8DD3A0D2-4370-48BB-8068-5D71BD0D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Outcome + actor</a:t>
            </a:r>
          </a:p>
        </p:txBody>
      </p:sp>
      <p:sp>
        <p:nvSpPr>
          <p:cNvPr id="13" name="partner-node-2">
            <a:extLst xmlns:a="http://schemas.openxmlformats.org/drawingml/2006/main">
              <a:ext uri="{FF2B5EF4-FFF2-40B4-BE49-F238E27FC236}">
                <a16:creationId xmlns:a16="http://schemas.microsoft.com/office/drawing/2014/main" id="{674EE51C-9BC3-48EE-B695-9491DC68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6225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4" name="partner-number-2">
            <a:extLst xmlns:a="http://schemas.openxmlformats.org/drawingml/2006/main">
              <a:ext uri="{FF2B5EF4-FFF2-40B4-BE49-F238E27FC236}">
                <a16:creationId xmlns:a16="http://schemas.microsoft.com/office/drawing/2014/main" id="{AEBEB449-70E6-4F1E-9499-8C062FC0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71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02</a:t>
            </a:r>
          </a:p>
        </p:txBody>
      </p:sp>
      <p:sp>
        <p:nvSpPr>
          <p:cNvPr id="15" name="partner-title-2">
            <a:extLst xmlns:a="http://schemas.openxmlformats.org/drawingml/2006/main">
              <a:ext uri="{FF2B5EF4-FFF2-40B4-BE49-F238E27FC236}">
                <a16:creationId xmlns:a16="http://schemas.microsoft.com/office/drawing/2014/main" id="{2E7855F0-6CDD-4F4F-8ADD-D091615E7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752850"/>
            <a:ext cx="2362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Define authority</a:t>
            </a:r>
          </a:p>
        </p:txBody>
      </p:sp>
      <p:sp>
        <p:nvSpPr>
          <p:cNvPr id="16" name="partner-question-2">
            <a:extLst xmlns:a="http://schemas.openxmlformats.org/drawingml/2006/main">
              <a:ext uri="{FF2B5EF4-FFF2-40B4-BE49-F238E27FC236}">
                <a16:creationId xmlns:a16="http://schemas.microsoft.com/office/drawing/2014/main" id="{0EAE2811-49A4-432D-9E0F-A055F96C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476750"/>
            <a:ext cx="2362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Who may decide?</a:t>
            </a:r>
          </a:p>
        </p:txBody>
      </p:sp>
      <p:sp>
        <p:nvSpPr>
          <p:cNvPr id="17" name="partner-output-2">
            <a:extLst xmlns:a="http://schemas.openxmlformats.org/drawingml/2006/main">
              <a:ext uri="{FF2B5EF4-FFF2-40B4-BE49-F238E27FC236}">
                <a16:creationId xmlns:a16="http://schemas.microsoft.com/office/drawing/2014/main" id="{6FE2F2FC-1ABC-483C-AFEB-9DA3CFAF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6730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Mandate + approval</a:t>
            </a:r>
          </a:p>
        </p:txBody>
      </p:sp>
      <p:sp>
        <p:nvSpPr>
          <p:cNvPr id="18" name="partner-node-3">
            <a:extLst xmlns:a="http://schemas.openxmlformats.org/drawingml/2006/main">
              <a:ext uri="{FF2B5EF4-FFF2-40B4-BE49-F238E27FC236}">
                <a16:creationId xmlns:a16="http://schemas.microsoft.com/office/drawing/2014/main" id="{4159FF83-44CF-4761-952A-96B8F8A3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6225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19" name="partner-number-3">
            <a:extLst xmlns:a="http://schemas.openxmlformats.org/drawingml/2006/main">
              <a:ext uri="{FF2B5EF4-FFF2-40B4-BE49-F238E27FC236}">
                <a16:creationId xmlns:a16="http://schemas.microsoft.com/office/drawing/2014/main" id="{2A76DF85-F024-41BC-9251-1181DD66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971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03</a:t>
            </a:r>
          </a:p>
        </p:txBody>
      </p:sp>
      <p:sp>
        <p:nvSpPr>
          <p:cNvPr id="20" name="partner-title-3">
            <a:extLst xmlns:a="http://schemas.openxmlformats.org/drawingml/2006/main">
              <a:ext uri="{FF2B5EF4-FFF2-40B4-BE49-F238E27FC236}">
                <a16:creationId xmlns:a16="http://schemas.microsoft.com/office/drawing/2014/main" id="{B3CEA62B-04F1-486C-ADCF-06F060EE4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52850"/>
            <a:ext cx="2362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Design the trust path</a:t>
            </a:r>
          </a:p>
        </p:txBody>
      </p:sp>
      <p:sp>
        <p:nvSpPr>
          <p:cNvPr id="21" name="partner-question-3">
            <a:extLst xmlns:a="http://schemas.openxmlformats.org/drawingml/2006/main">
              <a:ext uri="{FF2B5EF4-FFF2-40B4-BE49-F238E27FC236}">
                <a16:creationId xmlns:a16="http://schemas.microsoft.com/office/drawing/2014/main" id="{C058691C-6780-41A6-86BA-8452F990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476750"/>
            <a:ext cx="2362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Which controls apply?</a:t>
            </a:r>
          </a:p>
        </p:txBody>
      </p:sp>
      <p:sp>
        <p:nvSpPr>
          <p:cNvPr id="22" name="partner-output-3">
            <a:extLst xmlns:a="http://schemas.openxmlformats.org/drawingml/2006/main">
              <a:ext uri="{FF2B5EF4-FFF2-40B4-BE49-F238E27FC236}">
                <a16:creationId xmlns:a16="http://schemas.microsoft.com/office/drawing/2014/main" id="{E2F9A075-25CA-41F8-921C-F42A15C1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06730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Services + workflow</a:t>
            </a:r>
          </a:p>
        </p:txBody>
      </p:sp>
      <p:sp>
        <p:nvSpPr>
          <p:cNvPr id="23" name="partner-node-4">
            <a:extLst xmlns:a="http://schemas.openxmlformats.org/drawingml/2006/main">
              <a:ext uri="{FF2B5EF4-FFF2-40B4-BE49-F238E27FC236}">
                <a16:creationId xmlns:a16="http://schemas.microsoft.com/office/drawing/2014/main" id="{FE328D20-F1B7-49EA-A9ED-6760EE50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76225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7000FF"/>
          </a:solidFill>
          <a:ln xmlns:a="http://schemas.openxmlformats.org/drawingml/2006/main" w="19050">
            <a:solidFill>
              <a:srgbClr val="7000FF"/>
            </a:solidFill>
            <a:prstDash val="solid"/>
          </a:ln>
        </p:spPr>
      </p:sp>
      <p:sp>
        <p:nvSpPr>
          <p:cNvPr id="24" name="partner-number-4">
            <a:extLst xmlns:a="http://schemas.openxmlformats.org/drawingml/2006/main">
              <a:ext uri="{FF2B5EF4-FFF2-40B4-BE49-F238E27FC236}">
                <a16:creationId xmlns:a16="http://schemas.microsoft.com/office/drawing/2014/main" id="{FDBE39A7-FB75-4015-B883-C6B0EC411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71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04</a:t>
            </a:r>
          </a:p>
        </p:txBody>
      </p:sp>
      <p:sp>
        <p:nvSpPr>
          <p:cNvPr id="25" name="partner-title-4">
            <a:extLst xmlns:a="http://schemas.openxmlformats.org/drawingml/2006/main">
              <a:ext uri="{FF2B5EF4-FFF2-40B4-BE49-F238E27FC236}">
                <a16:creationId xmlns:a16="http://schemas.microsoft.com/office/drawing/2014/main" id="{D04656CF-665E-467B-88BB-4F7AC440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52850"/>
            <a:ext cx="2362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Prove the outcome</a:t>
            </a:r>
          </a:p>
        </p:txBody>
      </p:sp>
      <p:sp>
        <p:nvSpPr>
          <p:cNvPr id="26" name="partner-question-4">
            <a:extLst xmlns:a="http://schemas.openxmlformats.org/drawingml/2006/main">
              <a:ext uri="{FF2B5EF4-FFF2-40B4-BE49-F238E27FC236}">
                <a16:creationId xmlns:a16="http://schemas.microsoft.com/office/drawing/2014/main" id="{F61AA793-9399-4BDC-B46F-76FDA89D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476750"/>
            <a:ext cx="2362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0">
                <a:solidFill>
                  <a:srgbClr val="3D3D3D"/>
                </a:solidFill>
                <a:latin typeface="Mulish"/>
                <a:ea typeface="Mulish"/>
                <a:cs typeface="Mulish"/>
              </a:defRPr>
            </a:pPr>
            <a:r>
              <a:rPr sz="1613" b="0">
                <a:solidFill>
                  <a:srgbClr val="3D3D3D"/>
                </a:solidFill>
                <a:latin typeface="Mulish"/>
                <a:ea typeface="Mulish"/>
                <a:cs typeface="Mulish"/>
              </a:rPr>
              <a:t>What must remain?</a:t>
            </a:r>
          </a:p>
        </p:txBody>
      </p:sp>
      <p:sp>
        <p:nvSpPr>
          <p:cNvPr id="27" name="partner-output-4">
            <a:extLst xmlns:a="http://schemas.openxmlformats.org/drawingml/2006/main">
              <a:ext uri="{FF2B5EF4-FFF2-40B4-BE49-F238E27FC236}">
                <a16:creationId xmlns:a16="http://schemas.microsoft.com/office/drawing/2014/main" id="{1B28C2C7-D8B5-4814-97DD-51803310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06730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13" b="1">
                <a:solidFill>
                  <a:srgbClr val="7000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7000FF"/>
                </a:solidFill>
                <a:latin typeface="Mulish"/>
                <a:ea typeface="Mulish"/>
                <a:cs typeface="Mulish"/>
              </a:rPr>
              <a:t>Evidence + record</a:t>
            </a:r>
          </a:p>
        </p:txBody>
      </p:sp>
      <p:sp>
        <p:nvSpPr>
          <p:cNvPr id="28" name="takeaway-accent">
            <a:extLst xmlns:a="http://schemas.openxmlformats.org/drawingml/2006/main">
              <a:ext uri="{FF2B5EF4-FFF2-40B4-BE49-F238E27FC236}">
                <a16:creationId xmlns:a16="http://schemas.microsoft.com/office/drawing/2014/main" id="{E4915F38-0F31-4FC9-AC0C-33A92F57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1847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54704991-48A1-4200-8224-BACB663F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10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D0090"/>
                </a:solidFill>
                <a:latin typeface="Mulish"/>
                <a:ea typeface="Mulish"/>
                <a:cs typeface="Mulish"/>
              </a:defRPr>
            </a:pPr>
            <a:r>
              <a:rPr sz="1650" b="1">
                <a:solidFill>
                  <a:srgbClr val="1D0090"/>
                </a:solidFill>
                <a:latin typeface="Mulish"/>
                <a:ea typeface="Mulish"/>
                <a:cs typeface="Mulish"/>
              </a:rPr>
              <a:t>Lead with one consequential action, then design authority, controls, and evidence around it.</a:t>
            </a:r>
          </a:p>
        </p:txBody>
      </p:sp>
    </p:spTree>
    <p:extLst>
      <p:ext uri="{BB962C8B-B14F-4D97-AF65-F5344CB8AC3E}">
        <p14:creationId xmlns:p14="http://schemas.microsoft.com/office/powerpoint/2010/main" val="153943105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D009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f5732be104ed9"/>
          <a:stretch xmlns:a="http://schemas.openxmlformats.org/drawingml/2006/main"/>
        </p:blipFill>
        <p:spPr>
          <a:xfrm xmlns:a="http://schemas.openxmlformats.org/drawingml/2006/main">
            <a:off x="457200" y="228600"/>
            <a:ext cx="381000" cy="381000"/>
          </a:xfrm>
          <a:prstGeom xmlns:a="http://schemas.openxmlformats.org/drawingml/2006/main" prst="rect">
            <a:avLst/>
          </a:prstGeom>
        </p:spPr>
      </p:pic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937CFE8-100C-4385-9820-4C924446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14</a:t>
            </a:r>
          </a:p>
        </p:txBody>
      </p:sp>
      <p:sp>
        <p:nvSpPr>
          <p:cNvPr id="3" name="signature-line">
            <a:extLst xmlns:a="http://schemas.openxmlformats.org/drawingml/2006/main">
              <a:ext uri="{FF2B5EF4-FFF2-40B4-BE49-F238E27FC236}">
                <a16:creationId xmlns:a16="http://schemas.microsoft.com/office/drawing/2014/main" id="{EBDC171A-8E95-4887-B934-0105CCEA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055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eyebrow">
            <a:extLst xmlns:a="http://schemas.openxmlformats.org/drawingml/2006/main">
              <a:ext uri="{FF2B5EF4-FFF2-40B4-BE49-F238E27FC236}">
                <a16:creationId xmlns:a16="http://schemas.microsoft.com/office/drawing/2014/main" id="{1CE50109-88C8-4208-9267-3B1A6F80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05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AGENTIC TRUSTED EXECUTION · PARTNER ENABLEMENT</a:t>
            </a:r>
          </a:p>
        </p:txBody>
      </p:sp>
      <p:sp>
        <p:nvSpPr>
          <p:cNvPr id="5" name="partner-enablement-mark">
            <a:extLst xmlns:a="http://schemas.openxmlformats.org/drawingml/2006/main">
              <a:ext uri="{FF2B5EF4-FFF2-40B4-BE49-F238E27FC236}">
                <a16:creationId xmlns:a16="http://schemas.microsoft.com/office/drawing/2014/main" id="{F7336A2C-5AAB-4155-B896-E12C0D0A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90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INTERNAL &amp; PARTNER ENABLEMENT</a:t>
            </a:r>
          </a:p>
        </p:txBody>
      </p:sp>
      <p:sp>
        <p:nvSpPr>
          <p:cNvPr id="6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2F73312E-A5CE-48F0-B092-EAACD473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20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THE CIRCULARO PROPOSITION</a:t>
            </a:r>
          </a:p>
        </p:txBody>
      </p:sp>
      <p:sp>
        <p:nvSpPr>
          <p:cNvPr id="7" name="close-title">
            <a:extLst xmlns:a="http://schemas.openxmlformats.org/drawingml/2006/main">
              <a:ext uri="{FF2B5EF4-FFF2-40B4-BE49-F238E27FC236}">
                <a16:creationId xmlns:a16="http://schemas.microsoft.com/office/drawing/2014/main" id="{95C8F4D5-740D-47AB-A0D8-902D3312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0250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Spartan"/>
                <a:ea typeface="Spartan"/>
                <a:cs typeface="Spartan"/>
              </a:defRPr>
            </a:pPr>
            <a:r>
              <a:rPr sz="4800" b="1">
                <a:solidFill>
                  <a:srgbClr val="FFFFFF"/>
                </a:solidFill>
                <a:latin typeface="Spartan"/>
                <a:ea typeface="Spartan"/>
                <a:cs typeface="Spartan"/>
              </a:rPr>
              <a:t>Govern what executes.</a:t>
            </a:r>
          </a:p>
        </p:txBody>
      </p:sp>
      <p:sp>
        <p:nvSpPr>
          <p:cNvPr id="8" name="close-subtitle">
            <a:extLst xmlns:a="http://schemas.openxmlformats.org/drawingml/2006/main">
              <a:ext uri="{FF2B5EF4-FFF2-40B4-BE49-F238E27FC236}">
                <a16:creationId xmlns:a16="http://schemas.microsoft.com/office/drawing/2014/main" id="{5F2E8E34-B915-443A-A896-5D754EC4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57550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Connect people, organizations, applications, and AI agents to consequential business processes through one governed execution environment.</a:t>
            </a:r>
          </a:p>
        </p:txBody>
      </p:sp>
      <p:sp>
        <p:nvSpPr>
          <p:cNvPr id="9" name="close-rule-1">
            <a:extLst xmlns:a="http://schemas.openxmlformats.org/drawingml/2006/main">
              <a:ext uri="{FF2B5EF4-FFF2-40B4-BE49-F238E27FC236}">
                <a16:creationId xmlns:a16="http://schemas.microsoft.com/office/drawing/2014/main" id="{792D8663-EEAF-47AE-8A5F-7C70EE15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1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lose-commitment-1">
            <a:extLst xmlns:a="http://schemas.openxmlformats.org/drawingml/2006/main">
              <a:ext uri="{FF2B5EF4-FFF2-40B4-BE49-F238E27FC236}">
                <a16:creationId xmlns:a16="http://schemas.microsoft.com/office/drawing/2014/main" id="{1FEF4CDB-CD76-41C8-94E2-3FC876B8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72050"/>
            <a:ext cx="2362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ONE PLATFORM</a:t>
            </a:r>
          </a:p>
        </p:txBody>
      </p:sp>
      <p:sp>
        <p:nvSpPr>
          <p:cNvPr id="11" name="close-rule-2">
            <a:extLst xmlns:a="http://schemas.openxmlformats.org/drawingml/2006/main">
              <a:ext uri="{FF2B5EF4-FFF2-40B4-BE49-F238E27FC236}">
                <a16:creationId xmlns:a16="http://schemas.microsoft.com/office/drawing/2014/main" id="{D038F231-C88D-4421-8A05-942463D8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76250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1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lose-commitment-2">
            <a:extLst xmlns:a="http://schemas.openxmlformats.org/drawingml/2006/main">
              <a:ext uri="{FF2B5EF4-FFF2-40B4-BE49-F238E27FC236}">
                <a16:creationId xmlns:a16="http://schemas.microsoft.com/office/drawing/2014/main" id="{FE51E823-CC79-4D45-A38B-8FF2EF047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972050"/>
            <a:ext cx="2362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ONE GOVERNANCE MODEL</a:t>
            </a:r>
          </a:p>
        </p:txBody>
      </p:sp>
      <p:sp>
        <p:nvSpPr>
          <p:cNvPr id="13" name="close-rule-3">
            <a:extLst xmlns:a="http://schemas.openxmlformats.org/drawingml/2006/main">
              <a:ext uri="{FF2B5EF4-FFF2-40B4-BE49-F238E27FC236}">
                <a16:creationId xmlns:a16="http://schemas.microsoft.com/office/drawing/2014/main" id="{9B294F83-1DCF-4691-BF14-CE9A264C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51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lose-commitment-3">
            <a:extLst xmlns:a="http://schemas.openxmlformats.org/drawingml/2006/main">
              <a:ext uri="{FF2B5EF4-FFF2-40B4-BE49-F238E27FC236}">
                <a16:creationId xmlns:a16="http://schemas.microsoft.com/office/drawing/2014/main" id="{6210D2B0-7DE0-4746-8EA0-F47B2A84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72050"/>
            <a:ext cx="2362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1">
                <a:solidFill>
                  <a:srgbClr val="FFFF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FFFFFF"/>
                </a:solidFill>
                <a:latin typeface="Mulish"/>
                <a:ea typeface="Mulish"/>
                <a:cs typeface="Mulish"/>
              </a:rPr>
              <a:t>ONE EVIDENCE CHAIN</a:t>
            </a:r>
          </a:p>
        </p:txBody>
      </p:sp>
      <p:sp>
        <p:nvSpPr>
          <p:cNvPr id="15" name="close-rule-4">
            <a:extLst xmlns:a="http://schemas.openxmlformats.org/drawingml/2006/main">
              <a:ext uri="{FF2B5EF4-FFF2-40B4-BE49-F238E27FC236}">
                <a16:creationId xmlns:a16="http://schemas.microsoft.com/office/drawing/2014/main" id="{79A13E7D-B080-40A1-B83F-0ACFEB5F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76250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0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lose-commitment-4">
            <a:extLst xmlns:a="http://schemas.openxmlformats.org/drawingml/2006/main">
              <a:ext uri="{FF2B5EF4-FFF2-40B4-BE49-F238E27FC236}">
                <a16:creationId xmlns:a16="http://schemas.microsoft.com/office/drawing/2014/main" id="{A122AB28-5E6E-4E64-A7A2-B73F42EF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72050"/>
            <a:ext cx="2362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13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613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ONE API</a:t>
            </a:r>
          </a:p>
        </p:txBody>
      </p:sp>
      <p:sp>
        <p:nvSpPr>
          <p:cNvPr id="17" name="close-action">
            <a:extLst xmlns:a="http://schemas.openxmlformats.org/drawingml/2006/main">
              <a:ext uri="{FF2B5EF4-FFF2-40B4-BE49-F238E27FC236}">
                <a16:creationId xmlns:a16="http://schemas.microsoft.com/office/drawing/2014/main" id="{1BD9041B-5293-4BAC-821E-FBF66B91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9AEFF"/>
                </a:solidFill>
                <a:latin typeface="Mulish"/>
                <a:ea typeface="Mulish"/>
                <a:cs typeface="Mulish"/>
              </a:defRPr>
            </a:pPr>
            <a:r>
              <a:rPr sz="1800" b="1">
                <a:solidFill>
                  <a:srgbClr val="C9AEFF"/>
                </a:solidFill>
                <a:latin typeface="Mulish"/>
                <a:ea typeface="Mulish"/>
                <a:cs typeface="Mulish"/>
              </a:rPr>
              <a:t>Start with one consequential action.</a:t>
            </a:r>
          </a:p>
        </p:txBody>
      </p:sp>
    </p:spTree>
    <p:extLst>
      <p:ext uri="{BB962C8B-B14F-4D97-AF65-F5344CB8AC3E}">
        <p14:creationId xmlns:p14="http://schemas.microsoft.com/office/powerpoint/2010/main" val="4825197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2026-08-29T10:51:42.6400000Z</dcterms:created>
  <dcterms:modified xsi:type="dcterms:W3CDTF">2026-08-29T10:51:42.6400000Z</dcterms:modified>
</coreProperties>
</file>