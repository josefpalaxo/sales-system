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0" d="0"/>
          <a:sy n="0" d="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867323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258620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9680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2105770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1352690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817499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33260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822345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  <a:p>
            <a:pPr>
              <a:defRPr/>
            </a:pPr>
            <a:r>
              <a:rPr/>
              <a:t>- .agents/skills/circularo-slides/assets/icons/sovereign/</a:t>
            </a:r>
            <a:endParaRPr/>
          </a:p>
        </p:txBody>
      </p:sp>
      <p:sp>
        <p:nvSpPr>
          <p:cNvPr id="191659306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80541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19796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253458116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3823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76865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86809154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9950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95268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198133626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808020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010420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66818927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3660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26372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60574061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38983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96845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169159089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73246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882857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  <a:p>
            <a:pPr>
              <a:defRPr/>
            </a:pPr>
            <a:r>
              <a:rPr/>
              <a:t>- .agents/skills/circularo-slides/assets/icons/sovereign/</a:t>
            </a:r>
            <a:endParaRPr/>
          </a:p>
        </p:txBody>
      </p:sp>
      <p:sp>
        <p:nvSpPr>
          <p:cNvPr id="142469455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95948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0413726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184185957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36528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634388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122390082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007109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9885280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65335784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81945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78457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30023539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42189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1089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38901480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429978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5486544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[Sources]</a:t>
            </a:r>
            <a:endParaRPr/>
          </a:p>
          <a:p>
            <a:pPr>
              <a:defRPr/>
            </a:pPr>
            <a:r>
              <a:rPr/>
              <a:t>- work/ideas/Trusted Execution for the Agentic Era.md</a:t>
            </a:r>
            <a:endParaRPr/>
          </a:p>
          <a:p>
            <a:pPr>
              <a:defRPr/>
            </a:pPr>
            <a:r>
              <a:rPr/>
              <a:t>- .agents/skills/circularo-slides/references/brand-system.md</a:t>
            </a:r>
            <a:endParaRPr/>
          </a:p>
        </p:txBody>
      </p:sp>
      <p:sp>
        <p:nvSpPr>
          <p:cNvPr id="205430297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Master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D009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11644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256019384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01</a:t>
            </a:r>
            <a:endParaRPr/>
          </a:p>
        </p:txBody>
      </p:sp>
      <p:sp>
        <p:nvSpPr>
          <p:cNvPr id="1417444887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452885505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730874996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882149515" name="cover-kicker"/>
          <p:cNvSpPr>
            <a:spLocks noGrp="1"/>
          </p:cNvSpPr>
          <p:nvPr/>
        </p:nvSpPr>
        <p:spPr bwMode="auto">
          <a:xfrm>
            <a:off x="457200" y="1162050"/>
            <a:ext cx="447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CIRCULARO PARTNER NARRATIVE</a:t>
            </a:r>
            <a:endParaRPr/>
          </a:p>
        </p:txBody>
      </p:sp>
      <p:sp>
        <p:nvSpPr>
          <p:cNvPr id="1730013581" name="cover-title"/>
          <p:cNvSpPr>
            <a:spLocks noGrp="1"/>
          </p:cNvSpPr>
          <p:nvPr/>
        </p:nvSpPr>
        <p:spPr bwMode="auto">
          <a:xfrm>
            <a:off x="457200" y="1676400"/>
            <a:ext cx="6477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lang="en-US" sz="3250" b="1" i="0" u="none" strike="noStrike" cap="none" spc="0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Govern trusted action in the agentic era</a:t>
            </a:r>
            <a:endParaRPr/>
          </a:p>
        </p:txBody>
      </p:sp>
      <p:sp>
        <p:nvSpPr>
          <p:cNvPr id="861420320" name="cover-subtitle"/>
          <p:cNvSpPr>
            <a:spLocks noGrp="1"/>
          </p:cNvSpPr>
          <p:nvPr/>
        </p:nvSpPr>
        <p:spPr bwMode="auto">
          <a:xfrm>
            <a:off x="457200" y="4038600"/>
            <a:ext cx="5810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50" b="0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750" b="0">
                <a:solidFill>
                  <a:srgbClr val="E6DEFF"/>
                </a:solidFill>
                <a:latin typeface="Mulish"/>
                <a:ea typeface="Mulish"/>
                <a:cs typeface="Mulish"/>
              </a:rPr>
              <a:t>Connecting identity, authority, execution, and evidence across people, applications, and AI agents.</a:t>
            </a:r>
            <a:endParaRPr/>
          </a:p>
        </p:txBody>
      </p:sp>
      <p:sp>
        <p:nvSpPr>
          <p:cNvPr id="2115315773" name="cover-control-chain"/>
          <p:cNvSpPr>
            <a:spLocks noGrp="1"/>
          </p:cNvSpPr>
          <p:nvPr/>
        </p:nvSpPr>
        <p:spPr bwMode="auto">
          <a:xfrm>
            <a:off x="457200" y="5467350"/>
            <a:ext cx="638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ACTOR · AUTHORITY · POLICY · APPROVAL · EVIDENCE</a:t>
            </a:r>
            <a:endParaRPr/>
          </a:p>
        </p:txBody>
      </p:sp>
      <p:sp>
        <p:nvSpPr>
          <p:cNvPr id="195263660" name="cover-actors-label"/>
          <p:cNvSpPr>
            <a:spLocks noGrp="1"/>
          </p:cNvSpPr>
          <p:nvPr/>
        </p:nvSpPr>
        <p:spPr bwMode="auto">
          <a:xfrm>
            <a:off x="7334250" y="1200150"/>
            <a:ext cx="3714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AUTHORIZED ACTORS</a:t>
            </a:r>
            <a:endParaRPr/>
          </a:p>
        </p:txBody>
      </p:sp>
      <p:sp>
        <p:nvSpPr>
          <p:cNvPr id="1238746771" name="cover-actor-line-778"/>
          <p:cNvSpPr>
            <a:spLocks noGrp="1"/>
          </p:cNvSpPr>
          <p:nvPr/>
        </p:nvSpPr>
        <p:spPr bwMode="auto">
          <a:xfrm>
            <a:off x="7924800" y="2495550"/>
            <a:ext cx="19050" cy="6667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817995096" name="cover-actor-line-920"/>
          <p:cNvSpPr>
            <a:spLocks noGrp="1"/>
          </p:cNvSpPr>
          <p:nvPr/>
        </p:nvSpPr>
        <p:spPr bwMode="auto">
          <a:xfrm>
            <a:off x="9277350" y="2495550"/>
            <a:ext cx="19050" cy="6667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591746896" name="cover-actor-line-1062"/>
          <p:cNvSpPr>
            <a:spLocks noGrp="1"/>
          </p:cNvSpPr>
          <p:nvPr/>
        </p:nvSpPr>
        <p:spPr bwMode="auto">
          <a:xfrm>
            <a:off x="10629900" y="2495550"/>
            <a:ext cx="19050" cy="6667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346562137" name="cover-boundary-line"/>
          <p:cNvSpPr>
            <a:spLocks noGrp="1"/>
          </p:cNvSpPr>
          <p:nvPr/>
        </p:nvSpPr>
        <p:spPr bwMode="auto">
          <a:xfrm>
            <a:off x="9277350" y="3905250"/>
            <a:ext cx="19050" cy="68580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784634523" name="cover-actor-frame-1"/>
          <p:cNvSpPr>
            <a:spLocks noGrp="1"/>
          </p:cNvSpPr>
          <p:nvPr/>
        </p:nvSpPr>
        <p:spPr bwMode="auto">
          <a:xfrm>
            <a:off x="7410450" y="1619250"/>
            <a:ext cx="10287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16842989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7696200" y="1781676"/>
            <a:ext cx="457200" cy="360947"/>
          </a:xfrm>
          <a:prstGeom prst="rect">
            <a:avLst/>
          </a:prstGeom>
        </p:spPr>
      </p:pic>
      <p:sp>
        <p:nvSpPr>
          <p:cNvPr id="1654336281" name="cover-actor-label-1"/>
          <p:cNvSpPr>
            <a:spLocks noGrp="1"/>
          </p:cNvSpPr>
          <p:nvPr/>
        </p:nvSpPr>
        <p:spPr bwMode="auto">
          <a:xfrm>
            <a:off x="7296149" y="22098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People</a:t>
            </a:r>
            <a:endParaRPr/>
          </a:p>
        </p:txBody>
      </p:sp>
      <p:sp>
        <p:nvSpPr>
          <p:cNvPr id="1454375008" name="cover-actor-frame-2"/>
          <p:cNvSpPr>
            <a:spLocks noGrp="1"/>
          </p:cNvSpPr>
          <p:nvPr/>
        </p:nvSpPr>
        <p:spPr bwMode="auto">
          <a:xfrm>
            <a:off x="8763000" y="1619250"/>
            <a:ext cx="10287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29845040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048750" y="1758950"/>
            <a:ext cx="457200" cy="406400"/>
          </a:xfrm>
          <a:prstGeom prst="rect">
            <a:avLst/>
          </a:prstGeom>
        </p:spPr>
      </p:pic>
      <p:sp>
        <p:nvSpPr>
          <p:cNvPr id="51237712" name="cover-actor-label-2"/>
          <p:cNvSpPr>
            <a:spLocks noGrp="1"/>
          </p:cNvSpPr>
          <p:nvPr/>
        </p:nvSpPr>
        <p:spPr bwMode="auto">
          <a:xfrm>
            <a:off x="8648700" y="22098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Apps</a:t>
            </a:r>
            <a:endParaRPr/>
          </a:p>
        </p:txBody>
      </p:sp>
      <p:sp>
        <p:nvSpPr>
          <p:cNvPr id="1253307128" name="cover-actor-frame-3"/>
          <p:cNvSpPr>
            <a:spLocks noGrp="1"/>
          </p:cNvSpPr>
          <p:nvPr/>
        </p:nvSpPr>
        <p:spPr bwMode="auto">
          <a:xfrm>
            <a:off x="10115550" y="1619250"/>
            <a:ext cx="10287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pic>
        <p:nvPicPr>
          <p:cNvPr id="1542619078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0401300" y="1771650"/>
            <a:ext cx="457200" cy="381000"/>
          </a:xfrm>
          <a:prstGeom prst="rect">
            <a:avLst/>
          </a:prstGeom>
        </p:spPr>
      </p:pic>
      <p:sp>
        <p:nvSpPr>
          <p:cNvPr id="221706499" name="cover-actor-label-3"/>
          <p:cNvSpPr>
            <a:spLocks noGrp="1"/>
          </p:cNvSpPr>
          <p:nvPr/>
        </p:nvSpPr>
        <p:spPr bwMode="auto">
          <a:xfrm>
            <a:off x="10001250" y="2209800"/>
            <a:ext cx="1257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 agents</a:t>
            </a:r>
            <a:endParaRPr/>
          </a:p>
        </p:txBody>
      </p:sp>
      <p:sp>
        <p:nvSpPr>
          <p:cNvPr id="1803898065" name="cover-execution-boundary"/>
          <p:cNvSpPr>
            <a:spLocks noGrp="1"/>
          </p:cNvSpPr>
          <p:nvPr/>
        </p:nvSpPr>
        <p:spPr bwMode="auto">
          <a:xfrm>
            <a:off x="7239000" y="3143250"/>
            <a:ext cx="4095750" cy="781050"/>
          </a:xfrm>
          <a:prstGeom prst="roundRect">
            <a:avLst>
              <a:gd name="adj" fmla="val 14634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546383043" name="cover-boundary-title"/>
          <p:cNvSpPr>
            <a:spLocks noGrp="1"/>
          </p:cNvSpPr>
          <p:nvPr/>
        </p:nvSpPr>
        <p:spPr bwMode="auto">
          <a:xfrm>
            <a:off x="7524750" y="3381375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TRUSTED EXECUTION LAYER</a:t>
            </a:r>
            <a:endParaRPr/>
          </a:p>
        </p:txBody>
      </p:sp>
      <p:sp>
        <p:nvSpPr>
          <p:cNvPr id="1049779950" name="cover-evidence"/>
          <p:cNvSpPr>
            <a:spLocks noGrp="1"/>
          </p:cNvSpPr>
          <p:nvPr/>
        </p:nvSpPr>
        <p:spPr bwMode="auto">
          <a:xfrm>
            <a:off x="8001000" y="4591050"/>
            <a:ext cx="2571750" cy="742950"/>
          </a:xfrm>
          <a:prstGeom prst="roundRect">
            <a:avLst>
              <a:gd name="adj" fmla="val 15385"/>
            </a:avLst>
          </a:prstGeom>
          <a:solidFill>
            <a:srgbClr val="F5EDFF"/>
          </a:solidFill>
          <a:ln w="9525">
            <a:solidFill>
              <a:srgbClr val="C9AEFF"/>
            </a:solidFill>
            <a:prstDash val="solid"/>
          </a:ln>
        </p:spPr>
      </p:sp>
      <p:sp>
        <p:nvSpPr>
          <p:cNvPr id="1254545062" name="cover-evidence-title"/>
          <p:cNvSpPr>
            <a:spLocks noGrp="1"/>
          </p:cNvSpPr>
          <p:nvPr/>
        </p:nvSpPr>
        <p:spPr bwMode="auto">
          <a:xfrm>
            <a:off x="8191500" y="48291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5784005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31607888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  <a:endParaRPr/>
          </a:p>
        </p:txBody>
      </p:sp>
      <p:sp>
        <p:nvSpPr>
          <p:cNvPr id="1276060506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719990273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333740084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444737102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AI is moving from insight to action</a:t>
            </a:r>
            <a:endParaRPr/>
          </a:p>
        </p:txBody>
      </p:sp>
      <p:sp>
        <p:nvSpPr>
          <p:cNvPr id="875585798" name="evolution-spine"/>
          <p:cNvSpPr>
            <a:spLocks noGrp="1"/>
          </p:cNvSpPr>
          <p:nvPr/>
        </p:nvSpPr>
        <p:spPr bwMode="auto">
          <a:xfrm>
            <a:off x="1066800" y="3276600"/>
            <a:ext cx="10058400" cy="2857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2098496986" name="evolution-node-1"/>
          <p:cNvSpPr>
            <a:spLocks noGrp="1"/>
          </p:cNvSpPr>
          <p:nvPr/>
        </p:nvSpPr>
        <p:spPr bwMode="auto">
          <a:xfrm>
            <a:off x="1485900" y="295275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1073369147" name="evolution-number-1"/>
          <p:cNvSpPr>
            <a:spLocks noGrp="1"/>
          </p:cNvSpPr>
          <p:nvPr/>
        </p:nvSpPr>
        <p:spPr bwMode="auto">
          <a:xfrm>
            <a:off x="1619250" y="31623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  <a:endParaRPr/>
          </a:p>
        </p:txBody>
      </p:sp>
      <p:sp>
        <p:nvSpPr>
          <p:cNvPr id="356177548" name="evolution-title-1"/>
          <p:cNvSpPr>
            <a:spLocks noGrp="1"/>
          </p:cNvSpPr>
          <p:nvPr/>
        </p:nvSpPr>
        <p:spPr bwMode="auto">
          <a:xfrm>
            <a:off x="552450" y="38671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Digital</a:t>
            </a:r>
            <a:endParaRPr/>
          </a:p>
        </p:txBody>
      </p:sp>
      <p:sp>
        <p:nvSpPr>
          <p:cNvPr id="557515915" name="evolution-detail-1"/>
          <p:cNvSpPr>
            <a:spLocks noGrp="1"/>
          </p:cNvSpPr>
          <p:nvPr/>
        </p:nvSpPr>
        <p:spPr bwMode="auto">
          <a:xfrm>
            <a:off x="628650" y="4343400"/>
            <a:ext cx="236219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Content moves online</a:t>
            </a:r>
            <a:endParaRPr/>
          </a:p>
        </p:txBody>
      </p:sp>
      <p:sp>
        <p:nvSpPr>
          <p:cNvPr id="735923188" name="evolution-node-2"/>
          <p:cNvSpPr>
            <a:spLocks noGrp="1"/>
          </p:cNvSpPr>
          <p:nvPr/>
        </p:nvSpPr>
        <p:spPr bwMode="auto">
          <a:xfrm>
            <a:off x="4362450" y="295275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1373923880" name="evolution-number-2"/>
          <p:cNvSpPr>
            <a:spLocks noGrp="1"/>
          </p:cNvSpPr>
          <p:nvPr/>
        </p:nvSpPr>
        <p:spPr bwMode="auto">
          <a:xfrm>
            <a:off x="4495800" y="31623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  <a:endParaRPr/>
          </a:p>
        </p:txBody>
      </p:sp>
      <p:sp>
        <p:nvSpPr>
          <p:cNvPr id="402224560" name="evolution-title-2"/>
          <p:cNvSpPr>
            <a:spLocks noGrp="1"/>
          </p:cNvSpPr>
          <p:nvPr/>
        </p:nvSpPr>
        <p:spPr bwMode="auto">
          <a:xfrm>
            <a:off x="3429000" y="38671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Automated</a:t>
            </a:r>
            <a:endParaRPr/>
          </a:p>
        </p:txBody>
      </p:sp>
      <p:sp>
        <p:nvSpPr>
          <p:cNvPr id="1864232859" name="evolution-detail-2"/>
          <p:cNvSpPr>
            <a:spLocks noGrp="1"/>
          </p:cNvSpPr>
          <p:nvPr/>
        </p:nvSpPr>
        <p:spPr bwMode="auto">
          <a:xfrm>
            <a:off x="3505199" y="4343400"/>
            <a:ext cx="236219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Repeatable work executes</a:t>
            </a:r>
            <a:endParaRPr/>
          </a:p>
        </p:txBody>
      </p:sp>
      <p:sp>
        <p:nvSpPr>
          <p:cNvPr id="1582463857" name="evolution-node-3"/>
          <p:cNvSpPr>
            <a:spLocks noGrp="1"/>
          </p:cNvSpPr>
          <p:nvPr/>
        </p:nvSpPr>
        <p:spPr bwMode="auto">
          <a:xfrm>
            <a:off x="7239000" y="295275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1058847668" name="evolution-number-3"/>
          <p:cNvSpPr>
            <a:spLocks noGrp="1"/>
          </p:cNvSpPr>
          <p:nvPr/>
        </p:nvSpPr>
        <p:spPr bwMode="auto">
          <a:xfrm>
            <a:off x="7372350" y="31623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  <a:endParaRPr/>
          </a:p>
        </p:txBody>
      </p:sp>
      <p:sp>
        <p:nvSpPr>
          <p:cNvPr id="413849675" name="evolution-title-3"/>
          <p:cNvSpPr>
            <a:spLocks noGrp="1"/>
          </p:cNvSpPr>
          <p:nvPr/>
        </p:nvSpPr>
        <p:spPr bwMode="auto">
          <a:xfrm>
            <a:off x="6305550" y="38671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AI-assisted</a:t>
            </a:r>
            <a:endParaRPr/>
          </a:p>
        </p:txBody>
      </p:sp>
      <p:sp>
        <p:nvSpPr>
          <p:cNvPr id="2140169427" name="evolution-detail-3"/>
          <p:cNvSpPr>
            <a:spLocks noGrp="1"/>
          </p:cNvSpPr>
          <p:nvPr/>
        </p:nvSpPr>
        <p:spPr bwMode="auto">
          <a:xfrm>
            <a:off x="6381750" y="4343400"/>
            <a:ext cx="236219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Systems understand and advise</a:t>
            </a:r>
            <a:endParaRPr/>
          </a:p>
        </p:txBody>
      </p:sp>
      <p:sp>
        <p:nvSpPr>
          <p:cNvPr id="1629412464" name="evolution-node-4"/>
          <p:cNvSpPr>
            <a:spLocks noGrp="1"/>
          </p:cNvSpPr>
          <p:nvPr/>
        </p:nvSpPr>
        <p:spPr bwMode="auto">
          <a:xfrm>
            <a:off x="10115550" y="295275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7000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2020704496" name="evolution-number-4"/>
          <p:cNvSpPr>
            <a:spLocks noGrp="1"/>
          </p:cNvSpPr>
          <p:nvPr/>
        </p:nvSpPr>
        <p:spPr bwMode="auto">
          <a:xfrm>
            <a:off x="10248900" y="3162300"/>
            <a:ext cx="381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  <a:endParaRPr/>
          </a:p>
        </p:txBody>
      </p:sp>
      <p:sp>
        <p:nvSpPr>
          <p:cNvPr id="687420969" name="evolution-title-4"/>
          <p:cNvSpPr>
            <a:spLocks noGrp="1"/>
          </p:cNvSpPr>
          <p:nvPr/>
        </p:nvSpPr>
        <p:spPr bwMode="auto">
          <a:xfrm>
            <a:off x="9182100" y="3867150"/>
            <a:ext cx="2514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9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9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</a:t>
            </a:r>
            <a:endParaRPr/>
          </a:p>
        </p:txBody>
      </p:sp>
      <p:sp>
        <p:nvSpPr>
          <p:cNvPr id="1970846145" name="evolution-detail-4"/>
          <p:cNvSpPr>
            <a:spLocks noGrp="1"/>
          </p:cNvSpPr>
          <p:nvPr/>
        </p:nvSpPr>
        <p:spPr bwMode="auto">
          <a:xfrm>
            <a:off x="9258300" y="4343400"/>
            <a:ext cx="2362199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Software initiates action</a:t>
            </a:r>
            <a:endParaRPr/>
          </a:p>
        </p:txBody>
      </p:sp>
      <p:sp>
        <p:nvSpPr>
          <p:cNvPr id="453043176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2086921334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Once software can initiate trusted work, the control question changes.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D009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478601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594197856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  <a:endParaRPr/>
          </a:p>
        </p:txBody>
      </p:sp>
      <p:sp>
        <p:nvSpPr>
          <p:cNvPr id="1871763694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04084782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443194688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618638517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Capability is not authority</a:t>
            </a:r>
            <a:endParaRPr/>
          </a:p>
        </p:txBody>
      </p:sp>
      <p:sp>
        <p:nvSpPr>
          <p:cNvPr id="1570151244" name="authority-divider"/>
          <p:cNvSpPr>
            <a:spLocks noGrp="1"/>
          </p:cNvSpPr>
          <p:nvPr/>
        </p:nvSpPr>
        <p:spPr bwMode="auto">
          <a:xfrm>
            <a:off x="6000750" y="2266950"/>
            <a:ext cx="19050" cy="30289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844088779" name="authority-capability-label"/>
          <p:cNvSpPr>
            <a:spLocks noGrp="1"/>
          </p:cNvSpPr>
          <p:nvPr/>
        </p:nvSpPr>
        <p:spPr bwMode="auto">
          <a:xfrm>
            <a:off x="685800" y="22669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WHAT AI CAN DO</a:t>
            </a:r>
            <a:endParaRPr/>
          </a:p>
        </p:txBody>
      </p:sp>
      <p:sp>
        <p:nvSpPr>
          <p:cNvPr id="1168852892" name="authority-capability-list"/>
          <p:cNvSpPr>
            <a:spLocks noGrp="1"/>
          </p:cNvSpPr>
          <p:nvPr/>
        </p:nvSpPr>
        <p:spPr bwMode="auto">
          <a:xfrm>
            <a:off x="685800" y="2686050"/>
            <a:ext cx="4095750" cy="2343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Understand</a:t>
            </a:r>
            <a:endParaRPr/>
          </a:p>
          <a:p>
            <a:pPr algn="l">
              <a:defRPr sz="2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Analyse</a:t>
            </a:r>
            <a:endParaRPr/>
          </a:p>
          <a:p>
            <a:pPr algn="l">
              <a:defRPr sz="2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Recommend</a:t>
            </a:r>
            <a:endParaRPr/>
          </a:p>
          <a:p>
            <a:pPr algn="l">
              <a:defRPr sz="2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Generate</a:t>
            </a:r>
            <a:endParaRPr/>
          </a:p>
          <a:p>
            <a:pPr algn="l">
              <a:defRPr sz="23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3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Plan</a:t>
            </a:r>
            <a:endParaRPr/>
          </a:p>
        </p:txBody>
      </p:sp>
      <p:sp>
        <p:nvSpPr>
          <p:cNvPr id="1384540265" name="authority-institution-label"/>
          <p:cNvSpPr>
            <a:spLocks noGrp="1"/>
          </p:cNvSpPr>
          <p:nvPr/>
        </p:nvSpPr>
        <p:spPr bwMode="auto">
          <a:xfrm>
            <a:off x="6553200" y="22669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1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WHAT THE INSTITUTION MUST ESTABLISH</a:t>
            </a:r>
            <a:endParaRPr/>
          </a:p>
        </p:txBody>
      </p:sp>
      <p:sp>
        <p:nvSpPr>
          <p:cNvPr id="531168120" name="authority-dot-1"/>
          <p:cNvSpPr>
            <a:spLocks noGrp="1"/>
          </p:cNvSpPr>
          <p:nvPr/>
        </p:nvSpPr>
        <p:spPr bwMode="auto">
          <a:xfrm>
            <a:off x="6572250" y="2790824"/>
            <a:ext cx="95250" cy="95250"/>
          </a:xfrm>
          <a:prstGeom prst="roundRect">
            <a:avLst>
              <a:gd name="adj" fmla="val 50000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577352708" name="authority-question-1"/>
          <p:cNvSpPr>
            <a:spLocks noGrp="1"/>
          </p:cNvSpPr>
          <p:nvPr/>
        </p:nvSpPr>
        <p:spPr bwMode="auto">
          <a:xfrm>
            <a:off x="6858000" y="27051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 or what is acting?</a:t>
            </a:r>
            <a:endParaRPr/>
          </a:p>
        </p:txBody>
      </p:sp>
      <p:sp>
        <p:nvSpPr>
          <p:cNvPr id="1292409698" name="authority-dot-2"/>
          <p:cNvSpPr>
            <a:spLocks noGrp="1"/>
          </p:cNvSpPr>
          <p:nvPr/>
        </p:nvSpPr>
        <p:spPr bwMode="auto">
          <a:xfrm>
            <a:off x="6572250" y="32861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2017608238" name="authority-question-2"/>
          <p:cNvSpPr>
            <a:spLocks noGrp="1"/>
          </p:cNvSpPr>
          <p:nvPr/>
        </p:nvSpPr>
        <p:spPr bwMode="auto">
          <a:xfrm>
            <a:off x="6858000" y="32004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Whose authority does it represent?</a:t>
            </a:r>
            <a:endParaRPr/>
          </a:p>
        </p:txBody>
      </p:sp>
      <p:sp>
        <p:nvSpPr>
          <p:cNvPr id="2042555998" name="authority-dot-3"/>
          <p:cNvSpPr>
            <a:spLocks noGrp="1"/>
          </p:cNvSpPr>
          <p:nvPr/>
        </p:nvSpPr>
        <p:spPr bwMode="auto">
          <a:xfrm>
            <a:off x="6572250" y="3781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325608349" name="authority-question-3"/>
          <p:cNvSpPr>
            <a:spLocks noGrp="1"/>
          </p:cNvSpPr>
          <p:nvPr/>
        </p:nvSpPr>
        <p:spPr bwMode="auto">
          <a:xfrm>
            <a:off x="6858000" y="36957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is it permitted to do?</a:t>
            </a:r>
            <a:endParaRPr/>
          </a:p>
        </p:txBody>
      </p:sp>
      <p:sp>
        <p:nvSpPr>
          <p:cNvPr id="1425624518" name="authority-dot-4"/>
          <p:cNvSpPr>
            <a:spLocks noGrp="1"/>
          </p:cNvSpPr>
          <p:nvPr/>
        </p:nvSpPr>
        <p:spPr bwMode="auto">
          <a:xfrm>
            <a:off x="6572250" y="42767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777655569" name="authority-question-4"/>
          <p:cNvSpPr>
            <a:spLocks noGrp="1"/>
          </p:cNvSpPr>
          <p:nvPr/>
        </p:nvSpPr>
        <p:spPr bwMode="auto">
          <a:xfrm>
            <a:off x="6858000" y="41910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Which approval is required?</a:t>
            </a:r>
            <a:endParaRPr/>
          </a:p>
        </p:txBody>
      </p:sp>
      <p:sp>
        <p:nvSpPr>
          <p:cNvPr id="1091335526" name="authority-dot-5"/>
          <p:cNvSpPr>
            <a:spLocks noGrp="1"/>
          </p:cNvSpPr>
          <p:nvPr/>
        </p:nvSpPr>
        <p:spPr bwMode="auto">
          <a:xfrm>
            <a:off x="6572250" y="47720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616181419" name="authority-question-5"/>
          <p:cNvSpPr>
            <a:spLocks noGrp="1"/>
          </p:cNvSpPr>
          <p:nvPr/>
        </p:nvSpPr>
        <p:spPr bwMode="auto">
          <a:xfrm>
            <a:off x="6858000" y="4686300"/>
            <a:ext cx="438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What evidence must remain?</a:t>
            </a:r>
            <a:endParaRPr/>
          </a:p>
        </p:txBody>
      </p:sp>
      <p:sp>
        <p:nvSpPr>
          <p:cNvPr id="1775245326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922468796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AI may propose an action. Institutional authority determines whether it may execute.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495126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703618923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04</a:t>
            </a:r>
            <a:endParaRPr/>
          </a:p>
        </p:txBody>
      </p:sp>
      <p:sp>
        <p:nvSpPr>
          <p:cNvPr id="1951238149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013315113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964512457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340891382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Disconnected handoffs create accountability gaps</a:t>
            </a:r>
            <a:endParaRPr/>
          </a:p>
        </p:txBody>
      </p:sp>
      <p:sp>
        <p:nvSpPr>
          <p:cNvPr id="122273064" name="fragmented-spine"/>
          <p:cNvSpPr>
            <a:spLocks noGrp="1"/>
          </p:cNvSpPr>
          <p:nvPr/>
        </p:nvSpPr>
        <p:spPr bwMode="auto">
          <a:xfrm>
            <a:off x="800100" y="3124200"/>
            <a:ext cx="10591799" cy="28575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768998609" name="fragment-stage-1"/>
          <p:cNvSpPr>
            <a:spLocks noGrp="1"/>
          </p:cNvSpPr>
          <p:nvPr/>
        </p:nvSpPr>
        <p:spPr bwMode="auto">
          <a:xfrm>
            <a:off x="64770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5EDFF"/>
          </a:solidFill>
          <a:ln w="9525">
            <a:solidFill>
              <a:srgbClr val="D6C1FF"/>
            </a:solidFill>
            <a:prstDash val="solid"/>
          </a:ln>
        </p:spPr>
      </p:sp>
      <p:sp>
        <p:nvSpPr>
          <p:cNvPr id="1317082542" name="fragment-label-1"/>
          <p:cNvSpPr>
            <a:spLocks noGrp="1"/>
          </p:cNvSpPr>
          <p:nvPr/>
        </p:nvSpPr>
        <p:spPr bwMode="auto">
          <a:xfrm>
            <a:off x="64770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  <a:endParaRPr/>
          </a:p>
        </p:txBody>
      </p:sp>
      <p:sp>
        <p:nvSpPr>
          <p:cNvPr id="872132006" name="fragment-gap-1"/>
          <p:cNvSpPr>
            <a:spLocks noGrp="1"/>
          </p:cNvSpPr>
          <p:nvPr/>
        </p:nvSpPr>
        <p:spPr bwMode="auto">
          <a:xfrm>
            <a:off x="2038349" y="29527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//</a:t>
            </a:r>
            <a:endParaRPr/>
          </a:p>
        </p:txBody>
      </p:sp>
      <p:sp>
        <p:nvSpPr>
          <p:cNvPr id="1770189991" name="fragment-stage-2"/>
          <p:cNvSpPr>
            <a:spLocks noGrp="1"/>
          </p:cNvSpPr>
          <p:nvPr/>
        </p:nvSpPr>
        <p:spPr bwMode="auto">
          <a:xfrm>
            <a:off x="249555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982052452" name="fragment-label-2"/>
          <p:cNvSpPr>
            <a:spLocks noGrp="1"/>
          </p:cNvSpPr>
          <p:nvPr/>
        </p:nvSpPr>
        <p:spPr bwMode="auto">
          <a:xfrm>
            <a:off x="249555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</a:t>
            </a:r>
            <a:endParaRPr/>
          </a:p>
        </p:txBody>
      </p:sp>
      <p:sp>
        <p:nvSpPr>
          <p:cNvPr id="1492403783" name="fragment-gap-2"/>
          <p:cNvSpPr>
            <a:spLocks noGrp="1"/>
          </p:cNvSpPr>
          <p:nvPr/>
        </p:nvSpPr>
        <p:spPr bwMode="auto">
          <a:xfrm>
            <a:off x="3886200" y="29527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//</a:t>
            </a:r>
            <a:endParaRPr/>
          </a:p>
        </p:txBody>
      </p:sp>
      <p:sp>
        <p:nvSpPr>
          <p:cNvPr id="1741501408" name="fragment-stage-3"/>
          <p:cNvSpPr>
            <a:spLocks noGrp="1"/>
          </p:cNvSpPr>
          <p:nvPr/>
        </p:nvSpPr>
        <p:spPr bwMode="auto">
          <a:xfrm>
            <a:off x="434340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5EDFF"/>
          </a:solidFill>
          <a:ln w="9525">
            <a:solidFill>
              <a:srgbClr val="D6C1FF"/>
            </a:solidFill>
            <a:prstDash val="solid"/>
          </a:ln>
        </p:spPr>
      </p:sp>
      <p:sp>
        <p:nvSpPr>
          <p:cNvPr id="905112098" name="fragment-label-3"/>
          <p:cNvSpPr>
            <a:spLocks noGrp="1"/>
          </p:cNvSpPr>
          <p:nvPr/>
        </p:nvSpPr>
        <p:spPr bwMode="auto">
          <a:xfrm>
            <a:off x="434340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Approve</a:t>
            </a:r>
            <a:endParaRPr/>
          </a:p>
        </p:txBody>
      </p:sp>
      <p:sp>
        <p:nvSpPr>
          <p:cNvPr id="647926971" name="fragment-gap-3"/>
          <p:cNvSpPr>
            <a:spLocks noGrp="1"/>
          </p:cNvSpPr>
          <p:nvPr/>
        </p:nvSpPr>
        <p:spPr bwMode="auto">
          <a:xfrm>
            <a:off x="5734050" y="29527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//</a:t>
            </a:r>
            <a:endParaRPr/>
          </a:p>
        </p:txBody>
      </p:sp>
      <p:sp>
        <p:nvSpPr>
          <p:cNvPr id="1255241740" name="fragment-stage-4"/>
          <p:cNvSpPr>
            <a:spLocks noGrp="1"/>
          </p:cNvSpPr>
          <p:nvPr/>
        </p:nvSpPr>
        <p:spPr bwMode="auto">
          <a:xfrm>
            <a:off x="619125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763332184" name="fragment-label-4"/>
          <p:cNvSpPr>
            <a:spLocks noGrp="1"/>
          </p:cNvSpPr>
          <p:nvPr/>
        </p:nvSpPr>
        <p:spPr bwMode="auto">
          <a:xfrm>
            <a:off x="619125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</a:t>
            </a:r>
            <a:endParaRPr/>
          </a:p>
        </p:txBody>
      </p:sp>
      <p:sp>
        <p:nvSpPr>
          <p:cNvPr id="685146519" name="fragment-gap-4"/>
          <p:cNvSpPr>
            <a:spLocks noGrp="1"/>
          </p:cNvSpPr>
          <p:nvPr/>
        </p:nvSpPr>
        <p:spPr bwMode="auto">
          <a:xfrm>
            <a:off x="7581899" y="29527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//</a:t>
            </a:r>
            <a:endParaRPr/>
          </a:p>
        </p:txBody>
      </p:sp>
      <p:sp>
        <p:nvSpPr>
          <p:cNvPr id="1597264303" name="fragment-stage-5"/>
          <p:cNvSpPr>
            <a:spLocks noGrp="1"/>
          </p:cNvSpPr>
          <p:nvPr/>
        </p:nvSpPr>
        <p:spPr bwMode="auto">
          <a:xfrm>
            <a:off x="803910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5EDFF"/>
          </a:solidFill>
          <a:ln w="9525">
            <a:solidFill>
              <a:srgbClr val="D6C1FF"/>
            </a:solidFill>
            <a:prstDash val="solid"/>
          </a:ln>
        </p:spPr>
      </p:sp>
      <p:sp>
        <p:nvSpPr>
          <p:cNvPr id="777488576" name="fragment-label-5"/>
          <p:cNvSpPr>
            <a:spLocks noGrp="1"/>
          </p:cNvSpPr>
          <p:nvPr/>
        </p:nvSpPr>
        <p:spPr bwMode="auto">
          <a:xfrm>
            <a:off x="803910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Store</a:t>
            </a:r>
            <a:endParaRPr/>
          </a:p>
        </p:txBody>
      </p:sp>
      <p:sp>
        <p:nvSpPr>
          <p:cNvPr id="156541786" name="fragment-gap-5"/>
          <p:cNvSpPr>
            <a:spLocks noGrp="1"/>
          </p:cNvSpPr>
          <p:nvPr/>
        </p:nvSpPr>
        <p:spPr bwMode="auto">
          <a:xfrm>
            <a:off x="9429750" y="2952750"/>
            <a:ext cx="361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//</a:t>
            </a:r>
            <a:endParaRPr/>
          </a:p>
        </p:txBody>
      </p:sp>
      <p:sp>
        <p:nvSpPr>
          <p:cNvPr id="651182588" name="fragment-stage-6"/>
          <p:cNvSpPr>
            <a:spLocks noGrp="1"/>
          </p:cNvSpPr>
          <p:nvPr/>
        </p:nvSpPr>
        <p:spPr bwMode="auto">
          <a:xfrm>
            <a:off x="9886950" y="2743200"/>
            <a:ext cx="12954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146086304" name="fragment-label-6"/>
          <p:cNvSpPr>
            <a:spLocks noGrp="1"/>
          </p:cNvSpPr>
          <p:nvPr/>
        </p:nvSpPr>
        <p:spPr bwMode="auto">
          <a:xfrm>
            <a:off x="9886950" y="2990850"/>
            <a:ext cx="1295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Analyse</a:t>
            </a:r>
            <a:endParaRPr/>
          </a:p>
        </p:txBody>
      </p:sp>
      <p:sp>
        <p:nvSpPr>
          <p:cNvPr id="1102923125" name="fragment-question-1"/>
          <p:cNvSpPr>
            <a:spLocks noGrp="1"/>
          </p:cNvSpPr>
          <p:nvPr/>
        </p:nvSpPr>
        <p:spPr bwMode="auto">
          <a:xfrm>
            <a:off x="685800" y="4171950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version was authoritative?</a:t>
            </a:r>
            <a:endParaRPr/>
          </a:p>
        </p:txBody>
      </p:sp>
      <p:sp>
        <p:nvSpPr>
          <p:cNvPr id="1498980551" name="fragment-question-2"/>
          <p:cNvSpPr>
            <a:spLocks noGrp="1"/>
          </p:cNvSpPr>
          <p:nvPr/>
        </p:nvSpPr>
        <p:spPr bwMode="auto">
          <a:xfrm>
            <a:off x="4419600" y="4171950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Who had permission to decide?</a:t>
            </a:r>
            <a:endParaRPr/>
          </a:p>
        </p:txBody>
      </p:sp>
      <p:sp>
        <p:nvSpPr>
          <p:cNvPr id="1861954798" name="fragment-question-3"/>
          <p:cNvSpPr>
            <a:spLocks noGrp="1"/>
          </p:cNvSpPr>
          <p:nvPr/>
        </p:nvSpPr>
        <p:spPr bwMode="auto">
          <a:xfrm>
            <a:off x="8153399" y="4171950"/>
            <a:ext cx="3333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Can the complete chain be proven?</a:t>
            </a:r>
            <a:endParaRPr/>
          </a:p>
        </p:txBody>
      </p:sp>
      <p:sp>
        <p:nvSpPr>
          <p:cNvPr id="1206785804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989134001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future requirement is a continuous trust and evidence chain—not another isolated tool.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30440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488954950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05</a:t>
            </a:r>
            <a:endParaRPr/>
          </a:p>
        </p:txBody>
      </p:sp>
      <p:sp>
        <p:nvSpPr>
          <p:cNvPr id="1814939876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901704844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606394804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749756478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Every trusted action must answer five questions</a:t>
            </a:r>
            <a:endParaRPr/>
          </a:p>
        </p:txBody>
      </p:sp>
      <p:sp>
        <p:nvSpPr>
          <p:cNvPr id="425011555" name="questions-rail"/>
          <p:cNvSpPr>
            <a:spLocks noGrp="1"/>
          </p:cNvSpPr>
          <p:nvPr/>
        </p:nvSpPr>
        <p:spPr bwMode="auto">
          <a:xfrm>
            <a:off x="876299" y="2305050"/>
            <a:ext cx="38100" cy="2895600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282650614" name="question-node-1"/>
          <p:cNvSpPr>
            <a:spLocks noGrp="1"/>
          </p:cNvSpPr>
          <p:nvPr/>
        </p:nvSpPr>
        <p:spPr bwMode="auto">
          <a:xfrm>
            <a:off x="628650" y="215265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1934573685" name="question-number-1"/>
          <p:cNvSpPr>
            <a:spLocks noGrp="1"/>
          </p:cNvSpPr>
          <p:nvPr/>
        </p:nvSpPr>
        <p:spPr bwMode="auto">
          <a:xfrm>
            <a:off x="762000" y="2295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</a:t>
            </a:r>
            <a:endParaRPr/>
          </a:p>
        </p:txBody>
      </p:sp>
      <p:sp>
        <p:nvSpPr>
          <p:cNvPr id="1254956817" name="question-label-1"/>
          <p:cNvSpPr>
            <a:spLocks noGrp="1"/>
          </p:cNvSpPr>
          <p:nvPr/>
        </p:nvSpPr>
        <p:spPr bwMode="auto">
          <a:xfrm>
            <a:off x="1466849" y="2266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ACTOR</a:t>
            </a:r>
            <a:endParaRPr/>
          </a:p>
        </p:txBody>
      </p:sp>
      <p:sp>
        <p:nvSpPr>
          <p:cNvPr id="1447422549" name="question-copy-1"/>
          <p:cNvSpPr>
            <a:spLocks noGrp="1"/>
          </p:cNvSpPr>
          <p:nvPr/>
        </p:nvSpPr>
        <p:spPr bwMode="auto">
          <a:xfrm>
            <a:off x="3429000" y="22193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Who or what is acting?</a:t>
            </a:r>
            <a:endParaRPr/>
          </a:p>
        </p:txBody>
      </p:sp>
      <p:sp>
        <p:nvSpPr>
          <p:cNvPr id="1879179804" name="question-node-2"/>
          <p:cNvSpPr>
            <a:spLocks noGrp="1"/>
          </p:cNvSpPr>
          <p:nvPr/>
        </p:nvSpPr>
        <p:spPr bwMode="auto">
          <a:xfrm>
            <a:off x="628650" y="28194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316336917" name="question-number-2"/>
          <p:cNvSpPr>
            <a:spLocks noGrp="1"/>
          </p:cNvSpPr>
          <p:nvPr/>
        </p:nvSpPr>
        <p:spPr bwMode="auto">
          <a:xfrm>
            <a:off x="762000" y="29622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2</a:t>
            </a:r>
            <a:endParaRPr/>
          </a:p>
        </p:txBody>
      </p:sp>
      <p:sp>
        <p:nvSpPr>
          <p:cNvPr id="1219223496" name="question-label-2"/>
          <p:cNvSpPr>
            <a:spLocks noGrp="1"/>
          </p:cNvSpPr>
          <p:nvPr/>
        </p:nvSpPr>
        <p:spPr bwMode="auto">
          <a:xfrm>
            <a:off x="1466849" y="2933699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AUTHORITY</a:t>
            </a:r>
            <a:endParaRPr/>
          </a:p>
        </p:txBody>
      </p:sp>
      <p:sp>
        <p:nvSpPr>
          <p:cNvPr id="136320168" name="question-copy-2"/>
          <p:cNvSpPr>
            <a:spLocks noGrp="1"/>
          </p:cNvSpPr>
          <p:nvPr/>
        </p:nvSpPr>
        <p:spPr bwMode="auto">
          <a:xfrm>
            <a:off x="3429000" y="288607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On whose authority does the action proceed?</a:t>
            </a:r>
            <a:endParaRPr/>
          </a:p>
        </p:txBody>
      </p:sp>
      <p:sp>
        <p:nvSpPr>
          <p:cNvPr id="520635613" name="question-node-3"/>
          <p:cNvSpPr>
            <a:spLocks noGrp="1"/>
          </p:cNvSpPr>
          <p:nvPr/>
        </p:nvSpPr>
        <p:spPr bwMode="auto">
          <a:xfrm>
            <a:off x="628650" y="348615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483503309" name="question-number-3"/>
          <p:cNvSpPr>
            <a:spLocks noGrp="1"/>
          </p:cNvSpPr>
          <p:nvPr/>
        </p:nvSpPr>
        <p:spPr bwMode="auto">
          <a:xfrm>
            <a:off x="762000" y="36290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3</a:t>
            </a:r>
            <a:endParaRPr/>
          </a:p>
        </p:txBody>
      </p:sp>
      <p:sp>
        <p:nvSpPr>
          <p:cNvPr id="1327063170" name="question-label-3"/>
          <p:cNvSpPr>
            <a:spLocks noGrp="1"/>
          </p:cNvSpPr>
          <p:nvPr/>
        </p:nvSpPr>
        <p:spPr bwMode="auto">
          <a:xfrm>
            <a:off x="1466849" y="36004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POLICY</a:t>
            </a:r>
            <a:endParaRPr/>
          </a:p>
        </p:txBody>
      </p:sp>
      <p:sp>
        <p:nvSpPr>
          <p:cNvPr id="434015257" name="question-copy-3"/>
          <p:cNvSpPr>
            <a:spLocks noGrp="1"/>
          </p:cNvSpPr>
          <p:nvPr/>
        </p:nvSpPr>
        <p:spPr bwMode="auto">
          <a:xfrm>
            <a:off x="3429000" y="35528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is permitted—and under which conditions?</a:t>
            </a:r>
            <a:endParaRPr/>
          </a:p>
        </p:txBody>
      </p:sp>
      <p:sp>
        <p:nvSpPr>
          <p:cNvPr id="660722117" name="question-node-4"/>
          <p:cNvSpPr>
            <a:spLocks noGrp="1"/>
          </p:cNvSpPr>
          <p:nvPr/>
        </p:nvSpPr>
        <p:spPr bwMode="auto">
          <a:xfrm>
            <a:off x="628650" y="415290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863646582" name="question-number-4"/>
          <p:cNvSpPr>
            <a:spLocks noGrp="1"/>
          </p:cNvSpPr>
          <p:nvPr/>
        </p:nvSpPr>
        <p:spPr bwMode="auto">
          <a:xfrm>
            <a:off x="762000" y="429577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4</a:t>
            </a:r>
            <a:endParaRPr/>
          </a:p>
        </p:txBody>
      </p:sp>
      <p:sp>
        <p:nvSpPr>
          <p:cNvPr id="1421158770" name="question-label-4"/>
          <p:cNvSpPr>
            <a:spLocks noGrp="1"/>
          </p:cNvSpPr>
          <p:nvPr/>
        </p:nvSpPr>
        <p:spPr bwMode="auto">
          <a:xfrm>
            <a:off x="1466849" y="42672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APPROVAL</a:t>
            </a:r>
            <a:endParaRPr/>
          </a:p>
        </p:txBody>
      </p:sp>
      <p:sp>
        <p:nvSpPr>
          <p:cNvPr id="1144811701" name="question-copy-4"/>
          <p:cNvSpPr>
            <a:spLocks noGrp="1"/>
          </p:cNvSpPr>
          <p:nvPr/>
        </p:nvSpPr>
        <p:spPr bwMode="auto">
          <a:xfrm>
            <a:off x="3429000" y="421957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Which decision or human gate is required?</a:t>
            </a:r>
            <a:endParaRPr/>
          </a:p>
        </p:txBody>
      </p:sp>
      <p:sp>
        <p:nvSpPr>
          <p:cNvPr id="918876501" name="question-node-5"/>
          <p:cNvSpPr>
            <a:spLocks noGrp="1"/>
          </p:cNvSpPr>
          <p:nvPr/>
        </p:nvSpPr>
        <p:spPr bwMode="auto">
          <a:xfrm>
            <a:off x="628650" y="4819650"/>
            <a:ext cx="533400" cy="533400"/>
          </a:xfrm>
          <a:prstGeom prst="roundRect">
            <a:avLst>
              <a:gd name="adj" fmla="val 21429"/>
            </a:avLst>
          </a:prstGeom>
          <a:solidFill>
            <a:srgbClr val="7000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453166145" name="question-number-5"/>
          <p:cNvSpPr>
            <a:spLocks noGrp="1"/>
          </p:cNvSpPr>
          <p:nvPr/>
        </p:nvSpPr>
        <p:spPr bwMode="auto">
          <a:xfrm>
            <a:off x="762000" y="496252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5</a:t>
            </a:r>
            <a:endParaRPr/>
          </a:p>
        </p:txBody>
      </p:sp>
      <p:sp>
        <p:nvSpPr>
          <p:cNvPr id="1368459228" name="question-label-5"/>
          <p:cNvSpPr>
            <a:spLocks noGrp="1"/>
          </p:cNvSpPr>
          <p:nvPr/>
        </p:nvSpPr>
        <p:spPr bwMode="auto">
          <a:xfrm>
            <a:off x="1466849" y="49339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</a:t>
            </a:r>
            <a:endParaRPr/>
          </a:p>
        </p:txBody>
      </p:sp>
      <p:sp>
        <p:nvSpPr>
          <p:cNvPr id="1838998384" name="question-copy-5"/>
          <p:cNvSpPr>
            <a:spLocks noGrp="1"/>
          </p:cNvSpPr>
          <p:nvPr/>
        </p:nvSpPr>
        <p:spPr bwMode="auto">
          <a:xfrm>
            <a:off x="3429000" y="4886325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What must remain provable afterwards?</a:t>
            </a:r>
            <a:endParaRPr/>
          </a:p>
        </p:txBody>
      </p:sp>
      <p:sp>
        <p:nvSpPr>
          <p:cNvPr id="1507771220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429526670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Control becomes explicit when these answers travel with the action.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88343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556087004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06</a:t>
            </a:r>
            <a:endParaRPr/>
          </a:p>
        </p:txBody>
      </p:sp>
      <p:sp>
        <p:nvSpPr>
          <p:cNvPr id="1840090463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890856702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544038407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232351526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 begins before the signature</a:t>
            </a:r>
            <a:endParaRPr/>
          </a:p>
        </p:txBody>
      </p:sp>
      <p:sp>
        <p:nvSpPr>
          <p:cNvPr id="664159243" name="lifecycle-spine"/>
          <p:cNvSpPr>
            <a:spLocks noGrp="1"/>
          </p:cNvSpPr>
          <p:nvPr/>
        </p:nvSpPr>
        <p:spPr bwMode="auto">
          <a:xfrm>
            <a:off x="838200" y="3333750"/>
            <a:ext cx="10515600" cy="3810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542122974" name="lifecycle-node-1"/>
          <p:cNvSpPr>
            <a:spLocks noGrp="1"/>
          </p:cNvSpPr>
          <p:nvPr/>
        </p:nvSpPr>
        <p:spPr bwMode="auto">
          <a:xfrm>
            <a:off x="1257300" y="300990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69704620" name="lifecycle-phase-1"/>
          <p:cNvSpPr>
            <a:spLocks noGrp="1"/>
          </p:cNvSpPr>
          <p:nvPr/>
        </p:nvSpPr>
        <p:spPr bwMode="auto">
          <a:xfrm>
            <a:off x="514350" y="2400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</a:t>
            </a:r>
            <a:endParaRPr/>
          </a:p>
        </p:txBody>
      </p:sp>
      <p:sp>
        <p:nvSpPr>
          <p:cNvPr id="29614695" name="lifecycle-index-1"/>
          <p:cNvSpPr>
            <a:spLocks noGrp="1"/>
          </p:cNvSpPr>
          <p:nvPr/>
        </p:nvSpPr>
        <p:spPr bwMode="auto">
          <a:xfrm>
            <a:off x="1428750" y="320992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</a:t>
            </a:r>
            <a:endParaRPr/>
          </a:p>
        </p:txBody>
      </p:sp>
      <p:sp>
        <p:nvSpPr>
          <p:cNvPr id="1917769324" name="lifecycle-detail-1"/>
          <p:cNvSpPr>
            <a:spLocks noGrp="1"/>
          </p:cNvSpPr>
          <p:nvPr/>
        </p:nvSpPr>
        <p:spPr bwMode="auto">
          <a:xfrm>
            <a:off x="514350" y="3981450"/>
            <a:ext cx="2133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Create + collaborate</a:t>
            </a:r>
            <a:endParaRPr/>
          </a:p>
        </p:txBody>
      </p:sp>
      <p:sp>
        <p:nvSpPr>
          <p:cNvPr id="1209468044" name="lifecycle-node-2"/>
          <p:cNvSpPr>
            <a:spLocks noGrp="1"/>
          </p:cNvSpPr>
          <p:nvPr/>
        </p:nvSpPr>
        <p:spPr bwMode="auto">
          <a:xfrm>
            <a:off x="3543300" y="300990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830035289" name="lifecycle-phase-2"/>
          <p:cNvSpPr>
            <a:spLocks noGrp="1"/>
          </p:cNvSpPr>
          <p:nvPr/>
        </p:nvSpPr>
        <p:spPr bwMode="auto">
          <a:xfrm>
            <a:off x="2800350" y="2400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DECIDE</a:t>
            </a:r>
            <a:endParaRPr/>
          </a:p>
        </p:txBody>
      </p:sp>
      <p:sp>
        <p:nvSpPr>
          <p:cNvPr id="475794762" name="lifecycle-index-2"/>
          <p:cNvSpPr>
            <a:spLocks noGrp="1"/>
          </p:cNvSpPr>
          <p:nvPr/>
        </p:nvSpPr>
        <p:spPr bwMode="auto">
          <a:xfrm>
            <a:off x="3714750" y="320992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2</a:t>
            </a:r>
            <a:endParaRPr/>
          </a:p>
        </p:txBody>
      </p:sp>
      <p:sp>
        <p:nvSpPr>
          <p:cNvPr id="1955348121" name="lifecycle-detail-2"/>
          <p:cNvSpPr>
            <a:spLocks noGrp="1"/>
          </p:cNvSpPr>
          <p:nvPr/>
        </p:nvSpPr>
        <p:spPr bwMode="auto">
          <a:xfrm>
            <a:off x="2800350" y="3981450"/>
            <a:ext cx="2133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Review + approve</a:t>
            </a:r>
            <a:endParaRPr/>
          </a:p>
        </p:txBody>
      </p:sp>
      <p:sp>
        <p:nvSpPr>
          <p:cNvPr id="1280498960" name="lifecycle-node-3"/>
          <p:cNvSpPr>
            <a:spLocks noGrp="1"/>
          </p:cNvSpPr>
          <p:nvPr/>
        </p:nvSpPr>
        <p:spPr bwMode="auto">
          <a:xfrm>
            <a:off x="5829300" y="300990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530742341" name="lifecycle-phase-3"/>
          <p:cNvSpPr>
            <a:spLocks noGrp="1"/>
          </p:cNvSpPr>
          <p:nvPr/>
        </p:nvSpPr>
        <p:spPr bwMode="auto">
          <a:xfrm>
            <a:off x="5086350" y="2400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AUTHORIZE</a:t>
            </a:r>
            <a:endParaRPr/>
          </a:p>
        </p:txBody>
      </p:sp>
      <p:sp>
        <p:nvSpPr>
          <p:cNvPr id="1877127041" name="lifecycle-index-3"/>
          <p:cNvSpPr>
            <a:spLocks noGrp="1"/>
          </p:cNvSpPr>
          <p:nvPr/>
        </p:nvSpPr>
        <p:spPr bwMode="auto">
          <a:xfrm>
            <a:off x="6000750" y="320992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3</a:t>
            </a:r>
            <a:endParaRPr/>
          </a:p>
        </p:txBody>
      </p:sp>
      <p:sp>
        <p:nvSpPr>
          <p:cNvPr id="116462218" name="lifecycle-detail-3"/>
          <p:cNvSpPr>
            <a:spLocks noGrp="1"/>
          </p:cNvSpPr>
          <p:nvPr/>
        </p:nvSpPr>
        <p:spPr bwMode="auto">
          <a:xfrm>
            <a:off x="5086350" y="3981450"/>
            <a:ext cx="2133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+ seal</a:t>
            </a:r>
            <a:endParaRPr/>
          </a:p>
        </p:txBody>
      </p:sp>
      <p:sp>
        <p:nvSpPr>
          <p:cNvPr id="1912383446" name="lifecycle-node-4"/>
          <p:cNvSpPr>
            <a:spLocks noGrp="1"/>
          </p:cNvSpPr>
          <p:nvPr/>
        </p:nvSpPr>
        <p:spPr bwMode="auto">
          <a:xfrm>
            <a:off x="8115300" y="300990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1910750935" name="lifecycle-phase-4"/>
          <p:cNvSpPr>
            <a:spLocks noGrp="1"/>
          </p:cNvSpPr>
          <p:nvPr/>
        </p:nvSpPr>
        <p:spPr bwMode="auto">
          <a:xfrm>
            <a:off x="7372350" y="2400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PRESERVE</a:t>
            </a:r>
            <a:endParaRPr/>
          </a:p>
        </p:txBody>
      </p:sp>
      <p:sp>
        <p:nvSpPr>
          <p:cNvPr id="2066948624" name="lifecycle-index-4"/>
          <p:cNvSpPr>
            <a:spLocks noGrp="1"/>
          </p:cNvSpPr>
          <p:nvPr/>
        </p:nvSpPr>
        <p:spPr bwMode="auto">
          <a:xfrm>
            <a:off x="8286750" y="320992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4</a:t>
            </a:r>
            <a:endParaRPr/>
          </a:p>
        </p:txBody>
      </p:sp>
      <p:sp>
        <p:nvSpPr>
          <p:cNvPr id="1512549362" name="lifecycle-detail-4"/>
          <p:cNvSpPr>
            <a:spLocks noGrp="1"/>
          </p:cNvSpPr>
          <p:nvPr/>
        </p:nvSpPr>
        <p:spPr bwMode="auto">
          <a:xfrm>
            <a:off x="7372350" y="3981450"/>
            <a:ext cx="2133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Evidence + archive</a:t>
            </a:r>
            <a:endParaRPr/>
          </a:p>
        </p:txBody>
      </p:sp>
      <p:sp>
        <p:nvSpPr>
          <p:cNvPr id="1080156200" name="lifecycle-node-5"/>
          <p:cNvSpPr>
            <a:spLocks noGrp="1"/>
          </p:cNvSpPr>
          <p:nvPr/>
        </p:nvSpPr>
        <p:spPr bwMode="auto">
          <a:xfrm>
            <a:off x="10401300" y="3009900"/>
            <a:ext cx="647700" cy="647700"/>
          </a:xfrm>
          <a:prstGeom prst="roundRect">
            <a:avLst>
              <a:gd name="adj" fmla="val 17647"/>
            </a:avLst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1513296511" name="lifecycle-phase-5"/>
          <p:cNvSpPr>
            <a:spLocks noGrp="1"/>
          </p:cNvSpPr>
          <p:nvPr/>
        </p:nvSpPr>
        <p:spPr bwMode="auto">
          <a:xfrm>
            <a:off x="9658350" y="24003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REUSE</a:t>
            </a:r>
            <a:endParaRPr/>
          </a:p>
        </p:txBody>
      </p:sp>
      <p:sp>
        <p:nvSpPr>
          <p:cNvPr id="293990361" name="lifecycle-index-5"/>
          <p:cNvSpPr>
            <a:spLocks noGrp="1"/>
          </p:cNvSpPr>
          <p:nvPr/>
        </p:nvSpPr>
        <p:spPr bwMode="auto">
          <a:xfrm>
            <a:off x="10572750" y="320992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5</a:t>
            </a:r>
            <a:endParaRPr/>
          </a:p>
        </p:txBody>
      </p:sp>
      <p:sp>
        <p:nvSpPr>
          <p:cNvPr id="1675353261" name="lifecycle-detail-5"/>
          <p:cNvSpPr>
            <a:spLocks noGrp="1"/>
          </p:cNvSpPr>
          <p:nvPr/>
        </p:nvSpPr>
        <p:spPr bwMode="auto">
          <a:xfrm>
            <a:off x="9658350" y="3981450"/>
            <a:ext cx="21336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Retrieve + analyse + act</a:t>
            </a:r>
            <a:endParaRPr/>
          </a:p>
        </p:txBody>
      </p:sp>
      <p:sp>
        <p:nvSpPr>
          <p:cNvPr id="791082855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57580425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signature is an important trust event. It is not the entire trust model.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D009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373785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215461470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07</a:t>
            </a:r>
            <a:endParaRPr/>
          </a:p>
        </p:txBody>
      </p:sp>
      <p:sp>
        <p:nvSpPr>
          <p:cNvPr id="678761186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11224390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2035462142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490503147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creates the institutional execution boundary</a:t>
            </a:r>
            <a:endParaRPr/>
          </a:p>
        </p:txBody>
      </p:sp>
      <p:sp>
        <p:nvSpPr>
          <p:cNvPr id="966986675" name="boundary-actor-1"/>
          <p:cNvSpPr>
            <a:spLocks noGrp="1"/>
          </p:cNvSpPr>
          <p:nvPr/>
        </p:nvSpPr>
        <p:spPr bwMode="auto">
          <a:xfrm>
            <a:off x="476250" y="2209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People</a:t>
            </a:r>
            <a:endParaRPr/>
          </a:p>
        </p:txBody>
      </p:sp>
      <p:sp>
        <p:nvSpPr>
          <p:cNvPr id="78904231" name="boundary-actor-line-1"/>
          <p:cNvSpPr>
            <a:spLocks noGrp="1"/>
          </p:cNvSpPr>
          <p:nvPr/>
        </p:nvSpPr>
        <p:spPr bwMode="auto">
          <a:xfrm>
            <a:off x="1514475" y="2609850"/>
            <a:ext cx="19050" cy="5524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823948403" name="boundary-actor-2"/>
          <p:cNvSpPr>
            <a:spLocks noGrp="1"/>
          </p:cNvSpPr>
          <p:nvPr/>
        </p:nvSpPr>
        <p:spPr bwMode="auto">
          <a:xfrm>
            <a:off x="2743200" y="2209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External parties</a:t>
            </a:r>
            <a:endParaRPr/>
          </a:p>
        </p:txBody>
      </p:sp>
      <p:sp>
        <p:nvSpPr>
          <p:cNvPr id="450832640" name="boundary-actor-line-2"/>
          <p:cNvSpPr>
            <a:spLocks noGrp="1"/>
          </p:cNvSpPr>
          <p:nvPr/>
        </p:nvSpPr>
        <p:spPr bwMode="auto">
          <a:xfrm>
            <a:off x="3781425" y="2609850"/>
            <a:ext cx="19050" cy="5524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2104229782" name="boundary-actor-3"/>
          <p:cNvSpPr>
            <a:spLocks noGrp="1"/>
          </p:cNvSpPr>
          <p:nvPr/>
        </p:nvSpPr>
        <p:spPr bwMode="auto">
          <a:xfrm>
            <a:off x="5010149" y="2209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Organizations</a:t>
            </a:r>
            <a:endParaRPr/>
          </a:p>
        </p:txBody>
      </p:sp>
      <p:sp>
        <p:nvSpPr>
          <p:cNvPr id="183001763" name="boundary-actor-line-3"/>
          <p:cNvSpPr>
            <a:spLocks noGrp="1"/>
          </p:cNvSpPr>
          <p:nvPr/>
        </p:nvSpPr>
        <p:spPr bwMode="auto">
          <a:xfrm>
            <a:off x="6048375" y="2609850"/>
            <a:ext cx="19050" cy="5524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538763802" name="boundary-actor-4"/>
          <p:cNvSpPr>
            <a:spLocks noGrp="1"/>
          </p:cNvSpPr>
          <p:nvPr/>
        </p:nvSpPr>
        <p:spPr bwMode="auto">
          <a:xfrm>
            <a:off x="7277100" y="2209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Applications</a:t>
            </a:r>
            <a:endParaRPr/>
          </a:p>
        </p:txBody>
      </p:sp>
      <p:sp>
        <p:nvSpPr>
          <p:cNvPr id="408759994" name="boundary-actor-line-4"/>
          <p:cNvSpPr>
            <a:spLocks noGrp="1"/>
          </p:cNvSpPr>
          <p:nvPr/>
        </p:nvSpPr>
        <p:spPr bwMode="auto">
          <a:xfrm>
            <a:off x="8315325" y="2609850"/>
            <a:ext cx="19050" cy="5524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6917682" name="boundary-actor-5"/>
          <p:cNvSpPr>
            <a:spLocks noGrp="1"/>
          </p:cNvSpPr>
          <p:nvPr/>
        </p:nvSpPr>
        <p:spPr bwMode="auto">
          <a:xfrm>
            <a:off x="9544050" y="220980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E6D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E6DEFF"/>
                </a:solidFill>
                <a:latin typeface="Mulish"/>
                <a:ea typeface="Mulish"/>
                <a:cs typeface="Mulish"/>
              </a:rPr>
              <a:t>AI agents</a:t>
            </a:r>
            <a:endParaRPr/>
          </a:p>
        </p:txBody>
      </p:sp>
      <p:sp>
        <p:nvSpPr>
          <p:cNvPr id="359995350" name="boundary-actor-line-5"/>
          <p:cNvSpPr>
            <a:spLocks noGrp="1"/>
          </p:cNvSpPr>
          <p:nvPr/>
        </p:nvSpPr>
        <p:spPr bwMode="auto">
          <a:xfrm>
            <a:off x="10582275" y="2609850"/>
            <a:ext cx="19050" cy="5524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890253209" name="boundary-layer"/>
          <p:cNvSpPr>
            <a:spLocks noGrp="1"/>
          </p:cNvSpPr>
          <p:nvPr/>
        </p:nvSpPr>
        <p:spPr bwMode="auto">
          <a:xfrm>
            <a:off x="1066800" y="3162300"/>
            <a:ext cx="10058400" cy="876299"/>
          </a:xfrm>
          <a:prstGeom prst="roundRect">
            <a:avLst>
              <a:gd name="adj" fmla="val 13043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910492762" name="boundary-layer-title"/>
          <p:cNvSpPr>
            <a:spLocks noGrp="1"/>
          </p:cNvSpPr>
          <p:nvPr/>
        </p:nvSpPr>
        <p:spPr bwMode="auto">
          <a:xfrm>
            <a:off x="2381250" y="3371850"/>
            <a:ext cx="7429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CIRCULARO TRUSTED EXECUTION LAYER</a:t>
            </a:r>
            <a:endParaRPr/>
          </a:p>
        </p:txBody>
      </p:sp>
      <p:sp>
        <p:nvSpPr>
          <p:cNvPr id="901483896" name="boundary-controls"/>
          <p:cNvSpPr>
            <a:spLocks noGrp="1"/>
          </p:cNvSpPr>
          <p:nvPr/>
        </p:nvSpPr>
        <p:spPr bwMode="auto">
          <a:xfrm>
            <a:off x="1714500" y="3790949"/>
            <a:ext cx="876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IDENTITY · AUTHORITY · POLICY · APPROVAL · EXECUTION · EVIDENCE</a:t>
            </a:r>
            <a:endParaRPr/>
          </a:p>
        </p:txBody>
      </p:sp>
      <p:sp>
        <p:nvSpPr>
          <p:cNvPr id="920574630" name="boundary-result-line-left"/>
          <p:cNvSpPr>
            <a:spLocks noGrp="1"/>
          </p:cNvSpPr>
          <p:nvPr/>
        </p:nvSpPr>
        <p:spPr bwMode="auto">
          <a:xfrm>
            <a:off x="3581400" y="4038600"/>
            <a:ext cx="19050" cy="6286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490923578" name="boundary-result-line-right"/>
          <p:cNvSpPr>
            <a:spLocks noGrp="1"/>
          </p:cNvSpPr>
          <p:nvPr/>
        </p:nvSpPr>
        <p:spPr bwMode="auto">
          <a:xfrm>
            <a:off x="8610600" y="4038600"/>
            <a:ext cx="19050" cy="628650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440783290" name="boundary-action"/>
          <p:cNvSpPr>
            <a:spLocks noGrp="1"/>
          </p:cNvSpPr>
          <p:nvPr/>
        </p:nvSpPr>
        <p:spPr bwMode="auto">
          <a:xfrm>
            <a:off x="1066800" y="4762500"/>
            <a:ext cx="502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BUSINESS ACTION</a:t>
            </a:r>
            <a:endParaRPr/>
          </a:p>
        </p:txBody>
      </p:sp>
      <p:sp>
        <p:nvSpPr>
          <p:cNvPr id="862158563" name="boundary-record"/>
          <p:cNvSpPr>
            <a:spLocks noGrp="1"/>
          </p:cNvSpPr>
          <p:nvPr/>
        </p:nvSpPr>
        <p:spPr bwMode="auto">
          <a:xfrm>
            <a:off x="6096000" y="4762500"/>
            <a:ext cx="5029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TRUSTED RECORD + INSTITUTIONAL EVIDENCE</a:t>
            </a:r>
            <a:endParaRPr/>
          </a:p>
        </p:txBody>
      </p:sp>
      <p:sp>
        <p:nvSpPr>
          <p:cNvPr id="888628653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2007834822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institution governs what may execute and what must remain provable.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65515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622093303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08</a:t>
            </a:r>
            <a:endParaRPr/>
          </a:p>
        </p:txBody>
      </p:sp>
      <p:sp>
        <p:nvSpPr>
          <p:cNvPr id="678866918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97620369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660549958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605797381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Six capabilities operate as one governed environment</a:t>
            </a:r>
            <a:endParaRPr/>
          </a:p>
        </p:txBody>
      </p:sp>
      <p:sp>
        <p:nvSpPr>
          <p:cNvPr id="1259754245" name="capability-line-left-1"/>
          <p:cNvSpPr>
            <a:spLocks noGrp="1"/>
          </p:cNvSpPr>
          <p:nvPr/>
        </p:nvSpPr>
        <p:spPr bwMode="auto">
          <a:xfrm>
            <a:off x="3562350" y="278130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46796626" name="capability-line-right-1"/>
          <p:cNvSpPr>
            <a:spLocks noGrp="1"/>
          </p:cNvSpPr>
          <p:nvPr/>
        </p:nvSpPr>
        <p:spPr bwMode="auto">
          <a:xfrm>
            <a:off x="7429500" y="278130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910281367" name="capability-line-left-2"/>
          <p:cNvSpPr>
            <a:spLocks noGrp="1"/>
          </p:cNvSpPr>
          <p:nvPr/>
        </p:nvSpPr>
        <p:spPr bwMode="auto">
          <a:xfrm>
            <a:off x="3562350" y="394335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03252527" name="capability-line-right-2"/>
          <p:cNvSpPr>
            <a:spLocks noGrp="1"/>
          </p:cNvSpPr>
          <p:nvPr/>
        </p:nvSpPr>
        <p:spPr bwMode="auto">
          <a:xfrm>
            <a:off x="7429500" y="394335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500794975" name="capability-line-left-3"/>
          <p:cNvSpPr>
            <a:spLocks noGrp="1"/>
          </p:cNvSpPr>
          <p:nvPr/>
        </p:nvSpPr>
        <p:spPr bwMode="auto">
          <a:xfrm>
            <a:off x="3562350" y="510540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787221115" name="capability-line-right-3"/>
          <p:cNvSpPr>
            <a:spLocks noGrp="1"/>
          </p:cNvSpPr>
          <p:nvPr/>
        </p:nvSpPr>
        <p:spPr bwMode="auto">
          <a:xfrm>
            <a:off x="7429500" y="5105400"/>
            <a:ext cx="12001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91876665" name="capability-core"/>
          <p:cNvSpPr>
            <a:spLocks noGrp="1"/>
          </p:cNvSpPr>
          <p:nvPr/>
        </p:nvSpPr>
        <p:spPr bwMode="auto">
          <a:xfrm>
            <a:off x="4762500" y="2895600"/>
            <a:ext cx="2667000" cy="2076450"/>
          </a:xfrm>
          <a:prstGeom prst="roundRect">
            <a:avLst>
              <a:gd name="adj" fmla="val 5505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756726244" name="capability-core-title"/>
          <p:cNvSpPr>
            <a:spLocks noGrp="1"/>
          </p:cNvSpPr>
          <p:nvPr/>
        </p:nvSpPr>
        <p:spPr bwMode="auto">
          <a:xfrm>
            <a:off x="4905375" y="3143250"/>
            <a:ext cx="23812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ONE GOVERNED</a:t>
            </a:r>
            <a:endParaRPr/>
          </a:p>
          <a:p>
            <a:pPr algn="ctr">
              <a:defRPr sz="1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1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ENVIRONMENT</a:t>
            </a:r>
            <a:endParaRPr/>
          </a:p>
        </p:txBody>
      </p:sp>
      <p:sp>
        <p:nvSpPr>
          <p:cNvPr id="646744955" name="capability-core-detail"/>
          <p:cNvSpPr>
            <a:spLocks noGrp="1"/>
          </p:cNvSpPr>
          <p:nvPr/>
        </p:nvSpPr>
        <p:spPr bwMode="auto">
          <a:xfrm>
            <a:off x="5048250" y="3905250"/>
            <a:ext cx="20955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platform</a:t>
            </a:r>
            <a:endParaRPr/>
          </a:p>
          <a:p>
            <a:pPr algn="ct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governance model</a:t>
            </a:r>
            <a:endParaRPr/>
          </a:p>
          <a:p>
            <a:pPr algn="ct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evidence chain</a:t>
            </a:r>
            <a:endParaRPr/>
          </a:p>
          <a:p>
            <a:pPr algn="ct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API</a:t>
            </a:r>
            <a:endParaRPr/>
          </a:p>
        </p:txBody>
      </p:sp>
      <p:pic>
        <p:nvPicPr>
          <p:cNvPr id="18391315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90549" y="2280708"/>
            <a:ext cx="590549" cy="524933"/>
          </a:xfrm>
          <a:prstGeom prst="rect">
            <a:avLst/>
          </a:prstGeom>
        </p:spPr>
      </p:pic>
      <p:sp>
        <p:nvSpPr>
          <p:cNvPr id="2074974920" name="capability-left-title-1"/>
          <p:cNvSpPr>
            <a:spLocks noGrp="1"/>
          </p:cNvSpPr>
          <p:nvPr/>
        </p:nvSpPr>
        <p:spPr bwMode="auto">
          <a:xfrm>
            <a:off x="1371600" y="2266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Cloud</a:t>
            </a:r>
            <a:endParaRPr/>
          </a:p>
        </p:txBody>
      </p:sp>
      <p:sp>
        <p:nvSpPr>
          <p:cNvPr id="2009607727" name="capability-left-detail-1"/>
          <p:cNvSpPr>
            <a:spLocks noGrp="1"/>
          </p:cNvSpPr>
          <p:nvPr/>
        </p:nvSpPr>
        <p:spPr bwMode="auto">
          <a:xfrm>
            <a:off x="1371600" y="25908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Control where the environment operates</a:t>
            </a:r>
            <a:endParaRPr/>
          </a:p>
        </p:txBody>
      </p:sp>
      <p:pic>
        <p:nvPicPr>
          <p:cNvPr id="1587043654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705850" y="2247900"/>
            <a:ext cx="590549" cy="590549"/>
          </a:xfrm>
          <a:prstGeom prst="rect">
            <a:avLst/>
          </a:prstGeom>
        </p:spPr>
      </p:pic>
      <p:sp>
        <p:nvSpPr>
          <p:cNvPr id="1124256964" name="capability-right-title-1"/>
          <p:cNvSpPr>
            <a:spLocks noGrp="1"/>
          </p:cNvSpPr>
          <p:nvPr/>
        </p:nvSpPr>
        <p:spPr bwMode="auto">
          <a:xfrm>
            <a:off x="9486900" y="22669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 &amp; Seal</a:t>
            </a:r>
            <a:endParaRPr/>
          </a:p>
        </p:txBody>
      </p:sp>
      <p:sp>
        <p:nvSpPr>
          <p:cNvPr id="243997827" name="capability-right-detail-1"/>
          <p:cNvSpPr>
            <a:spLocks noGrp="1"/>
          </p:cNvSpPr>
          <p:nvPr/>
        </p:nvSpPr>
        <p:spPr bwMode="auto">
          <a:xfrm>
            <a:off x="9486900" y="25908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Apply personal or organizational authority</a:t>
            </a:r>
            <a:endParaRPr/>
          </a:p>
        </p:txBody>
      </p:sp>
      <p:pic>
        <p:nvPicPr>
          <p:cNvPr id="133771775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590549" y="3472113"/>
            <a:ext cx="590549" cy="466224"/>
          </a:xfrm>
          <a:prstGeom prst="rect">
            <a:avLst/>
          </a:prstGeom>
        </p:spPr>
      </p:pic>
      <p:sp>
        <p:nvSpPr>
          <p:cNvPr id="432428473" name="capability-left-title-2"/>
          <p:cNvSpPr>
            <a:spLocks noGrp="1"/>
          </p:cNvSpPr>
          <p:nvPr/>
        </p:nvSpPr>
        <p:spPr bwMode="auto">
          <a:xfrm>
            <a:off x="1371600" y="3429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Identity</a:t>
            </a:r>
            <a:endParaRPr/>
          </a:p>
        </p:txBody>
      </p:sp>
      <p:sp>
        <p:nvSpPr>
          <p:cNvPr id="1954824930" name="capability-left-detail-2"/>
          <p:cNvSpPr>
            <a:spLocks noGrp="1"/>
          </p:cNvSpPr>
          <p:nvPr/>
        </p:nvSpPr>
        <p:spPr bwMode="auto">
          <a:xfrm>
            <a:off x="1371600" y="37528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Establish who or what is acting</a:t>
            </a:r>
            <a:endParaRPr/>
          </a:p>
        </p:txBody>
      </p:sp>
      <p:pic>
        <p:nvPicPr>
          <p:cNvPr id="192284351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8705850" y="3442758"/>
            <a:ext cx="590549" cy="524933"/>
          </a:xfrm>
          <a:prstGeom prst="rect">
            <a:avLst/>
          </a:prstGeom>
        </p:spPr>
      </p:pic>
      <p:sp>
        <p:nvSpPr>
          <p:cNvPr id="966657983" name="capability-right-title-2"/>
          <p:cNvSpPr>
            <a:spLocks noGrp="1"/>
          </p:cNvSpPr>
          <p:nvPr/>
        </p:nvSpPr>
        <p:spPr bwMode="auto">
          <a:xfrm>
            <a:off x="9486900" y="34290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DMS / Vault</a:t>
            </a:r>
            <a:endParaRPr/>
          </a:p>
        </p:txBody>
      </p:sp>
      <p:sp>
        <p:nvSpPr>
          <p:cNvPr id="1273665034" name="capability-right-detail-2"/>
          <p:cNvSpPr>
            <a:spLocks noGrp="1"/>
          </p:cNvSpPr>
          <p:nvPr/>
        </p:nvSpPr>
        <p:spPr bwMode="auto">
          <a:xfrm>
            <a:off x="9486900" y="375285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Preserve records, evidence, and history</a:t>
            </a:r>
            <a:endParaRPr/>
          </a:p>
        </p:txBody>
      </p:sp>
      <p:pic>
        <p:nvPicPr>
          <p:cNvPr id="1600402715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590549" y="4604808"/>
            <a:ext cx="590549" cy="524933"/>
          </a:xfrm>
          <a:prstGeom prst="rect">
            <a:avLst/>
          </a:prstGeom>
        </p:spPr>
      </p:pic>
      <p:sp>
        <p:nvSpPr>
          <p:cNvPr id="621315986" name="capability-left-title-3"/>
          <p:cNvSpPr>
            <a:spLocks noGrp="1"/>
          </p:cNvSpPr>
          <p:nvPr/>
        </p:nvSpPr>
        <p:spPr bwMode="auto">
          <a:xfrm>
            <a:off x="1371600" y="4591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Collaboration</a:t>
            </a:r>
            <a:endParaRPr/>
          </a:p>
        </p:txBody>
      </p:sp>
      <p:sp>
        <p:nvSpPr>
          <p:cNvPr id="609661442" name="capability-left-detail-3"/>
          <p:cNvSpPr>
            <a:spLocks noGrp="1"/>
          </p:cNvSpPr>
          <p:nvPr/>
        </p:nvSpPr>
        <p:spPr bwMode="auto">
          <a:xfrm>
            <a:off x="1371600" y="49149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Create, review, and approve content</a:t>
            </a:r>
            <a:endParaRPr/>
          </a:p>
        </p:txBody>
      </p:sp>
      <p:pic>
        <p:nvPicPr>
          <p:cNvPr id="756856042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8705850" y="4621212"/>
            <a:ext cx="590549" cy="492125"/>
          </a:xfrm>
          <a:prstGeom prst="rect">
            <a:avLst/>
          </a:prstGeom>
        </p:spPr>
      </p:pic>
      <p:sp>
        <p:nvSpPr>
          <p:cNvPr id="886373070" name="capability-right-title-3"/>
          <p:cNvSpPr>
            <a:spLocks noGrp="1"/>
          </p:cNvSpPr>
          <p:nvPr/>
        </p:nvSpPr>
        <p:spPr bwMode="auto">
          <a:xfrm>
            <a:off x="9486900" y="4591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AI</a:t>
            </a:r>
            <a:endParaRPr/>
          </a:p>
        </p:txBody>
      </p:sp>
      <p:sp>
        <p:nvSpPr>
          <p:cNvPr id="1974681354" name="capability-right-detail-3"/>
          <p:cNvSpPr>
            <a:spLocks noGrp="1"/>
          </p:cNvSpPr>
          <p:nvPr/>
        </p:nvSpPr>
        <p:spPr bwMode="auto">
          <a:xfrm>
            <a:off x="9486900" y="4914900"/>
            <a:ext cx="2190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Apply intelligence and governed action</a:t>
            </a:r>
            <a:endParaRPr/>
          </a:p>
        </p:txBody>
      </p:sp>
      <p:sp>
        <p:nvSpPr>
          <p:cNvPr id="1135618126" name="takeaway-accent"/>
          <p:cNvSpPr>
            <a:spLocks noGrp="1"/>
          </p:cNvSpPr>
          <p:nvPr/>
        </p:nvSpPr>
        <p:spPr bwMode="auto">
          <a:xfrm>
            <a:off x="457200" y="58102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512391229" name="takeaway"/>
          <p:cNvSpPr>
            <a:spLocks noGrp="1"/>
          </p:cNvSpPr>
          <p:nvPr/>
        </p:nvSpPr>
        <p:spPr bwMode="auto">
          <a:xfrm>
            <a:off x="457200" y="59626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capabilities stay connected through one governance and evidence model.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85131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259354915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09</a:t>
            </a:r>
            <a:endParaRPr/>
          </a:p>
        </p:txBody>
      </p:sp>
      <p:sp>
        <p:nvSpPr>
          <p:cNvPr id="1670577287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62038404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749478225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043297261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Assurance should match the significance of the action</a:t>
            </a:r>
            <a:endParaRPr/>
          </a:p>
        </p:txBody>
      </p:sp>
      <p:sp>
        <p:nvSpPr>
          <p:cNvPr id="1519932802" name="assurance-number-1"/>
          <p:cNvSpPr>
            <a:spLocks noGrp="1"/>
          </p:cNvSpPr>
          <p:nvPr/>
        </p:nvSpPr>
        <p:spPr bwMode="auto">
          <a:xfrm>
            <a:off x="571500" y="2190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01</a:t>
            </a:r>
            <a:endParaRPr/>
          </a:p>
        </p:txBody>
      </p:sp>
      <p:sp>
        <p:nvSpPr>
          <p:cNvPr id="191589948" name="assurance-rule-1"/>
          <p:cNvSpPr>
            <a:spLocks noGrp="1"/>
          </p:cNvSpPr>
          <p:nvPr/>
        </p:nvSpPr>
        <p:spPr bwMode="auto">
          <a:xfrm>
            <a:off x="571500" y="2705100"/>
            <a:ext cx="3238500" cy="38100"/>
          </a:xfrm>
          <a:prstGeom prst="rect">
            <a:avLst/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733260746" name="assurance-title-1"/>
          <p:cNvSpPr>
            <a:spLocks noGrp="1"/>
          </p:cNvSpPr>
          <p:nvPr/>
        </p:nvSpPr>
        <p:spPr bwMode="auto">
          <a:xfrm>
            <a:off x="571500" y="30099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Workflow assurance</a:t>
            </a:r>
            <a:endParaRPr/>
          </a:p>
        </p:txBody>
      </p:sp>
      <p:sp>
        <p:nvSpPr>
          <p:cNvPr id="763462983" name="assurance-question-1"/>
          <p:cNvSpPr>
            <a:spLocks noGrp="1"/>
          </p:cNvSpPr>
          <p:nvPr/>
        </p:nvSpPr>
        <p:spPr bwMode="auto">
          <a:xfrm>
            <a:off x="571500" y="3829050"/>
            <a:ext cx="3238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Was the correct process followed—and was the right approval obtained?</a:t>
            </a:r>
            <a:endParaRPr/>
          </a:p>
        </p:txBody>
      </p:sp>
      <p:sp>
        <p:nvSpPr>
          <p:cNvPr id="1416765792" name="assurance-evidence-1"/>
          <p:cNvSpPr>
            <a:spLocks noGrp="1"/>
          </p:cNvSpPr>
          <p:nvPr/>
        </p:nvSpPr>
        <p:spPr bwMode="auto">
          <a:xfrm>
            <a:off x="571500" y="49530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Approval + process history</a:t>
            </a:r>
            <a:endParaRPr/>
          </a:p>
        </p:txBody>
      </p:sp>
      <p:sp>
        <p:nvSpPr>
          <p:cNvPr id="1778610276" name="assurance-number-2"/>
          <p:cNvSpPr>
            <a:spLocks noGrp="1"/>
          </p:cNvSpPr>
          <p:nvPr/>
        </p:nvSpPr>
        <p:spPr bwMode="auto">
          <a:xfrm>
            <a:off x="4362450" y="2190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02</a:t>
            </a:r>
            <a:endParaRPr/>
          </a:p>
        </p:txBody>
      </p:sp>
      <p:sp>
        <p:nvSpPr>
          <p:cNvPr id="1683430189" name="assurance-rule-2"/>
          <p:cNvSpPr>
            <a:spLocks noGrp="1"/>
          </p:cNvSpPr>
          <p:nvPr/>
        </p:nvSpPr>
        <p:spPr bwMode="auto">
          <a:xfrm>
            <a:off x="4362450" y="2705100"/>
            <a:ext cx="3238500" cy="38100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042332921" name="assurance-title-2"/>
          <p:cNvSpPr>
            <a:spLocks noGrp="1"/>
          </p:cNvSpPr>
          <p:nvPr/>
        </p:nvSpPr>
        <p:spPr bwMode="auto">
          <a:xfrm>
            <a:off x="4362450" y="30099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Personal assurance</a:t>
            </a:r>
            <a:endParaRPr/>
          </a:p>
        </p:txBody>
      </p:sp>
      <p:sp>
        <p:nvSpPr>
          <p:cNvPr id="1656834814" name="assurance-question-2"/>
          <p:cNvSpPr>
            <a:spLocks noGrp="1"/>
          </p:cNvSpPr>
          <p:nvPr/>
        </p:nvSpPr>
        <p:spPr bwMode="auto">
          <a:xfrm>
            <a:off x="4362450" y="3829050"/>
            <a:ext cx="3238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personally authorized or signed—and at what identity assurance?</a:t>
            </a:r>
            <a:endParaRPr/>
          </a:p>
        </p:txBody>
      </p:sp>
      <p:sp>
        <p:nvSpPr>
          <p:cNvPr id="1145779967" name="assurance-evidence-2"/>
          <p:cNvSpPr>
            <a:spLocks noGrp="1"/>
          </p:cNvSpPr>
          <p:nvPr/>
        </p:nvSpPr>
        <p:spPr bwMode="auto">
          <a:xfrm>
            <a:off x="4362450" y="49530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Identity + signature</a:t>
            </a:r>
            <a:endParaRPr/>
          </a:p>
        </p:txBody>
      </p:sp>
      <p:sp>
        <p:nvSpPr>
          <p:cNvPr id="1163685207" name="assurance-number-3"/>
          <p:cNvSpPr>
            <a:spLocks noGrp="1"/>
          </p:cNvSpPr>
          <p:nvPr/>
        </p:nvSpPr>
        <p:spPr bwMode="auto">
          <a:xfrm>
            <a:off x="8153399" y="21907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03</a:t>
            </a:r>
            <a:endParaRPr/>
          </a:p>
        </p:txBody>
      </p:sp>
      <p:sp>
        <p:nvSpPr>
          <p:cNvPr id="1199136451" name="assurance-rule-3"/>
          <p:cNvSpPr>
            <a:spLocks noGrp="1"/>
          </p:cNvSpPr>
          <p:nvPr/>
        </p:nvSpPr>
        <p:spPr bwMode="auto">
          <a:xfrm>
            <a:off x="8153399" y="2705100"/>
            <a:ext cx="3238500" cy="38100"/>
          </a:xfrm>
          <a:prstGeom prst="rect">
            <a:avLst/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552349167" name="assurance-title-3"/>
          <p:cNvSpPr>
            <a:spLocks noGrp="1"/>
          </p:cNvSpPr>
          <p:nvPr/>
        </p:nvSpPr>
        <p:spPr bwMode="auto">
          <a:xfrm>
            <a:off x="8153399" y="3009900"/>
            <a:ext cx="3238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0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Organizational assurance</a:t>
            </a:r>
            <a:endParaRPr/>
          </a:p>
        </p:txBody>
      </p:sp>
      <p:sp>
        <p:nvSpPr>
          <p:cNvPr id="1967015607" name="assurance-question-3"/>
          <p:cNvSpPr>
            <a:spLocks noGrp="1"/>
          </p:cNvSpPr>
          <p:nvPr/>
        </p:nvSpPr>
        <p:spPr bwMode="auto">
          <a:xfrm>
            <a:off x="8153399" y="3829050"/>
            <a:ext cx="323850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Did this officially originate from the organization?</a:t>
            </a:r>
            <a:endParaRPr/>
          </a:p>
        </p:txBody>
      </p:sp>
      <p:sp>
        <p:nvSpPr>
          <p:cNvPr id="647312226" name="assurance-evidence-3"/>
          <p:cNvSpPr>
            <a:spLocks noGrp="1"/>
          </p:cNvSpPr>
          <p:nvPr/>
        </p:nvSpPr>
        <p:spPr bwMode="auto">
          <a:xfrm>
            <a:off x="8153399" y="49530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Seal + integrity evidence</a:t>
            </a:r>
            <a:endParaRPr/>
          </a:p>
        </p:txBody>
      </p:sp>
      <p:sp>
        <p:nvSpPr>
          <p:cNvPr id="1000325737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742565417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The right combination depends on the action, market, and required level of assurance.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539427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714519202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</a:t>
            </a:r>
            <a:endParaRPr/>
          </a:p>
        </p:txBody>
      </p:sp>
      <p:sp>
        <p:nvSpPr>
          <p:cNvPr id="34742042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51123775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921537967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982977551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The output is a verifiable record—not just a PDF</a:t>
            </a:r>
            <a:endParaRPr/>
          </a:p>
        </p:txBody>
      </p:sp>
      <p:sp>
        <p:nvSpPr>
          <p:cNvPr id="669579662" name="record-line-left-1"/>
          <p:cNvSpPr>
            <a:spLocks noGrp="1"/>
          </p:cNvSpPr>
          <p:nvPr/>
        </p:nvSpPr>
        <p:spPr bwMode="auto">
          <a:xfrm>
            <a:off x="3657600" y="2647949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823445087" name="record-item-left-1"/>
          <p:cNvSpPr>
            <a:spLocks noGrp="1"/>
          </p:cNvSpPr>
          <p:nvPr/>
        </p:nvSpPr>
        <p:spPr bwMode="auto">
          <a:xfrm>
            <a:off x="704850" y="25146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Authoritative version</a:t>
            </a:r>
            <a:endParaRPr/>
          </a:p>
        </p:txBody>
      </p:sp>
      <p:sp>
        <p:nvSpPr>
          <p:cNvPr id="638770191" name="record-line-left-2"/>
          <p:cNvSpPr>
            <a:spLocks noGrp="1"/>
          </p:cNvSpPr>
          <p:nvPr/>
        </p:nvSpPr>
        <p:spPr bwMode="auto">
          <a:xfrm>
            <a:off x="3657600" y="327660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886331572" name="record-item-left-2"/>
          <p:cNvSpPr>
            <a:spLocks noGrp="1"/>
          </p:cNvSpPr>
          <p:nvPr/>
        </p:nvSpPr>
        <p:spPr bwMode="auto">
          <a:xfrm>
            <a:off x="704850" y="31432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Identities</a:t>
            </a:r>
            <a:endParaRPr/>
          </a:p>
        </p:txBody>
      </p:sp>
      <p:sp>
        <p:nvSpPr>
          <p:cNvPr id="382437537" name="record-line-left-3"/>
          <p:cNvSpPr>
            <a:spLocks noGrp="1"/>
          </p:cNvSpPr>
          <p:nvPr/>
        </p:nvSpPr>
        <p:spPr bwMode="auto">
          <a:xfrm>
            <a:off x="3657600" y="390525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1373245312" name="record-item-left-3"/>
          <p:cNvSpPr>
            <a:spLocks noGrp="1"/>
          </p:cNvSpPr>
          <p:nvPr/>
        </p:nvSpPr>
        <p:spPr bwMode="auto">
          <a:xfrm>
            <a:off x="704850" y="37719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Roles</a:t>
            </a:r>
            <a:endParaRPr/>
          </a:p>
        </p:txBody>
      </p:sp>
      <p:sp>
        <p:nvSpPr>
          <p:cNvPr id="1451960303" name="record-line-left-4"/>
          <p:cNvSpPr>
            <a:spLocks noGrp="1"/>
          </p:cNvSpPr>
          <p:nvPr/>
        </p:nvSpPr>
        <p:spPr bwMode="auto">
          <a:xfrm>
            <a:off x="3657600" y="453390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529414071" name="record-item-left-4"/>
          <p:cNvSpPr>
            <a:spLocks noGrp="1"/>
          </p:cNvSpPr>
          <p:nvPr/>
        </p:nvSpPr>
        <p:spPr bwMode="auto">
          <a:xfrm>
            <a:off x="704850" y="4400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Approvals</a:t>
            </a:r>
            <a:endParaRPr/>
          </a:p>
        </p:txBody>
      </p:sp>
      <p:sp>
        <p:nvSpPr>
          <p:cNvPr id="1682793292" name="record-line-right-1"/>
          <p:cNvSpPr>
            <a:spLocks noGrp="1"/>
          </p:cNvSpPr>
          <p:nvPr/>
        </p:nvSpPr>
        <p:spPr bwMode="auto">
          <a:xfrm>
            <a:off x="7296149" y="2647949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82518658" name="record-item-right-1"/>
          <p:cNvSpPr>
            <a:spLocks noGrp="1"/>
          </p:cNvSpPr>
          <p:nvPr/>
        </p:nvSpPr>
        <p:spPr bwMode="auto">
          <a:xfrm>
            <a:off x="8724900" y="25146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Signatures + seals</a:t>
            </a:r>
            <a:endParaRPr/>
          </a:p>
        </p:txBody>
      </p:sp>
      <p:sp>
        <p:nvSpPr>
          <p:cNvPr id="1586695276" name="record-line-right-2"/>
          <p:cNvSpPr>
            <a:spLocks noGrp="1"/>
          </p:cNvSpPr>
          <p:nvPr/>
        </p:nvSpPr>
        <p:spPr bwMode="auto">
          <a:xfrm>
            <a:off x="7296149" y="327660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481171659" name="record-item-right-2"/>
          <p:cNvSpPr>
            <a:spLocks noGrp="1"/>
          </p:cNvSpPr>
          <p:nvPr/>
        </p:nvSpPr>
        <p:spPr bwMode="auto">
          <a:xfrm>
            <a:off x="8724900" y="31432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Timestamps</a:t>
            </a:r>
            <a:endParaRPr/>
          </a:p>
        </p:txBody>
      </p:sp>
      <p:sp>
        <p:nvSpPr>
          <p:cNvPr id="2020867747" name="record-line-right-3"/>
          <p:cNvSpPr>
            <a:spLocks noGrp="1"/>
          </p:cNvSpPr>
          <p:nvPr/>
        </p:nvSpPr>
        <p:spPr bwMode="auto">
          <a:xfrm>
            <a:off x="7296149" y="390525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694779249" name="record-item-right-3"/>
          <p:cNvSpPr>
            <a:spLocks noGrp="1"/>
          </p:cNvSpPr>
          <p:nvPr/>
        </p:nvSpPr>
        <p:spPr bwMode="auto">
          <a:xfrm>
            <a:off x="8724900" y="377190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Audit events</a:t>
            </a:r>
            <a:endParaRPr/>
          </a:p>
        </p:txBody>
      </p:sp>
      <p:sp>
        <p:nvSpPr>
          <p:cNvPr id="486779472" name="record-line-right-4"/>
          <p:cNvSpPr>
            <a:spLocks noGrp="1"/>
          </p:cNvSpPr>
          <p:nvPr/>
        </p:nvSpPr>
        <p:spPr bwMode="auto">
          <a:xfrm>
            <a:off x="7296149" y="4533900"/>
            <a:ext cx="1238250" cy="1905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365529739" name="record-item-right-4"/>
          <p:cNvSpPr>
            <a:spLocks noGrp="1"/>
          </p:cNvSpPr>
          <p:nvPr/>
        </p:nvSpPr>
        <p:spPr bwMode="auto">
          <a:xfrm>
            <a:off x="8724900" y="4400550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Retention metadata</a:t>
            </a:r>
            <a:endParaRPr/>
          </a:p>
        </p:txBody>
      </p:sp>
      <p:sp>
        <p:nvSpPr>
          <p:cNvPr id="1592323180" name="record-core"/>
          <p:cNvSpPr>
            <a:spLocks noGrp="1"/>
          </p:cNvSpPr>
          <p:nvPr/>
        </p:nvSpPr>
        <p:spPr bwMode="auto">
          <a:xfrm>
            <a:off x="4895850" y="2266950"/>
            <a:ext cx="2400300" cy="2857500"/>
          </a:xfrm>
          <a:prstGeom prst="roundRect">
            <a:avLst>
              <a:gd name="adj" fmla="val 4762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260706613" name="record-core-title"/>
          <p:cNvSpPr>
            <a:spLocks noGrp="1"/>
          </p:cNvSpPr>
          <p:nvPr/>
        </p:nvSpPr>
        <p:spPr bwMode="auto">
          <a:xfrm>
            <a:off x="5200650" y="3105150"/>
            <a:ext cx="17907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</a:t>
            </a:r>
            <a:endParaRPr/>
          </a:p>
          <a:p>
            <a:pPr algn="ctr">
              <a:defRPr sz="24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4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RECORD</a:t>
            </a:r>
            <a:endParaRPr/>
          </a:p>
        </p:txBody>
      </p:sp>
      <p:sp>
        <p:nvSpPr>
          <p:cNvPr id="2122521525" name="record-core-detail"/>
          <p:cNvSpPr>
            <a:spLocks noGrp="1"/>
          </p:cNvSpPr>
          <p:nvPr/>
        </p:nvSpPr>
        <p:spPr bwMode="auto">
          <a:xfrm>
            <a:off x="5143500" y="4171950"/>
            <a:ext cx="190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Verifiable institutional evidence</a:t>
            </a:r>
            <a:endParaRPr/>
          </a:p>
        </p:txBody>
      </p:sp>
      <p:sp>
        <p:nvSpPr>
          <p:cNvPr id="893223030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76531444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 completed transaction becomes durable institutional evidence.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300459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819959104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11</a:t>
            </a:r>
            <a:endParaRPr/>
          </a:p>
        </p:txBody>
      </p:sp>
      <p:sp>
        <p:nvSpPr>
          <p:cNvPr id="711671502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420099762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565811393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654787786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Institutional evidence becomes governed AI context</a:t>
            </a:r>
            <a:endParaRPr/>
          </a:p>
        </p:txBody>
      </p:sp>
      <p:sp>
        <p:nvSpPr>
          <p:cNvPr id="1933178696" name="context-records"/>
          <p:cNvSpPr>
            <a:spLocks noGrp="1"/>
          </p:cNvSpPr>
          <p:nvPr/>
        </p:nvSpPr>
        <p:spPr bwMode="auto">
          <a:xfrm>
            <a:off x="552450" y="2781300"/>
            <a:ext cx="2305050" cy="1485900"/>
          </a:xfrm>
          <a:prstGeom prst="roundRect">
            <a:avLst>
              <a:gd name="adj" fmla="val 7692"/>
            </a:avLst>
          </a:prstGeom>
          <a:solidFill>
            <a:srgbClr val="F5EDFF"/>
          </a:solidFill>
          <a:ln w="9525">
            <a:solidFill>
              <a:srgbClr val="D6C1FF"/>
            </a:solidFill>
            <a:prstDash val="solid"/>
          </a:ln>
        </p:spPr>
      </p:sp>
      <p:sp>
        <p:nvSpPr>
          <p:cNvPr id="711202571" name="context-records-title"/>
          <p:cNvSpPr>
            <a:spLocks noGrp="1"/>
          </p:cNvSpPr>
          <p:nvPr/>
        </p:nvSpPr>
        <p:spPr bwMode="auto">
          <a:xfrm>
            <a:off x="838200" y="3143250"/>
            <a:ext cx="1733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TRUSTED</a:t>
            </a:r>
            <a:endParaRPr/>
          </a:p>
          <a:p>
            <a:pPr algn="ctr">
              <a:defRPr sz="21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RECORDS</a:t>
            </a:r>
            <a:endParaRPr/>
          </a:p>
        </p:txBody>
      </p:sp>
      <p:sp>
        <p:nvSpPr>
          <p:cNvPr id="1659966764" name="context-arrow-one"/>
          <p:cNvSpPr>
            <a:spLocks noGrp="1"/>
          </p:cNvSpPr>
          <p:nvPr/>
        </p:nvSpPr>
        <p:spPr bwMode="auto">
          <a:xfrm>
            <a:off x="3048000" y="3219449"/>
            <a:ext cx="685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  <a:endParaRPr/>
          </a:p>
        </p:txBody>
      </p:sp>
      <p:sp>
        <p:nvSpPr>
          <p:cNvPr id="641194447" name="context-trusted-context"/>
          <p:cNvSpPr>
            <a:spLocks noGrp="1"/>
          </p:cNvSpPr>
          <p:nvPr/>
        </p:nvSpPr>
        <p:spPr bwMode="auto">
          <a:xfrm>
            <a:off x="3905250" y="2781300"/>
            <a:ext cx="2305050" cy="1485900"/>
          </a:xfrm>
          <a:prstGeom prst="roundRect">
            <a:avLst>
              <a:gd name="adj" fmla="val 7692"/>
            </a:avLst>
          </a:prstGeom>
          <a:solidFill>
            <a:srgbClr val="1D0090"/>
          </a:solidFill>
          <a:ln w="0">
            <a:noFill/>
            <a:prstDash val="solid"/>
          </a:ln>
        </p:spPr>
      </p:sp>
      <p:sp>
        <p:nvSpPr>
          <p:cNvPr id="858321514" name="context-trusted-context-title"/>
          <p:cNvSpPr>
            <a:spLocks noGrp="1"/>
          </p:cNvSpPr>
          <p:nvPr/>
        </p:nvSpPr>
        <p:spPr bwMode="auto">
          <a:xfrm>
            <a:off x="4191000" y="3143250"/>
            <a:ext cx="17335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TRUSTED</a:t>
            </a:r>
            <a:endParaRPr/>
          </a:p>
          <a:p>
            <a:pPr algn="ctr">
              <a:defRPr sz="21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1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AI CONTEXT</a:t>
            </a:r>
            <a:endParaRPr/>
          </a:p>
        </p:txBody>
      </p:sp>
      <p:sp>
        <p:nvSpPr>
          <p:cNvPr id="1174274144" name="context-governance"/>
          <p:cNvSpPr>
            <a:spLocks noGrp="1"/>
          </p:cNvSpPr>
          <p:nvPr/>
        </p:nvSpPr>
        <p:spPr bwMode="auto">
          <a:xfrm>
            <a:off x="6572250" y="2781300"/>
            <a:ext cx="2000250" cy="1485900"/>
          </a:xfrm>
          <a:prstGeom prst="roundRect">
            <a:avLst>
              <a:gd name="adj" fmla="val 7692"/>
            </a:avLst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918770566" name="context-governance-title"/>
          <p:cNvSpPr>
            <a:spLocks noGrp="1"/>
          </p:cNvSpPr>
          <p:nvPr/>
        </p:nvSpPr>
        <p:spPr bwMode="auto">
          <a:xfrm>
            <a:off x="6762750" y="3181350"/>
            <a:ext cx="1619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POLICY · PERMISSIONS</a:t>
            </a:r>
            <a:endParaRPr/>
          </a:p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PROVENANCE · AUDIT</a:t>
            </a:r>
            <a:endParaRPr/>
          </a:p>
        </p:txBody>
      </p:sp>
      <p:sp>
        <p:nvSpPr>
          <p:cNvPr id="1879218581" name="context-arrow-two"/>
          <p:cNvSpPr>
            <a:spLocks noGrp="1"/>
          </p:cNvSpPr>
          <p:nvPr/>
        </p:nvSpPr>
        <p:spPr bwMode="auto">
          <a:xfrm>
            <a:off x="8743950" y="3219449"/>
            <a:ext cx="590549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8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28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→</a:t>
            </a:r>
            <a:endParaRPr/>
          </a:p>
        </p:txBody>
      </p:sp>
      <p:sp>
        <p:nvSpPr>
          <p:cNvPr id="297041414" name="context-outcome-label-1"/>
          <p:cNvSpPr>
            <a:spLocks noGrp="1"/>
          </p:cNvSpPr>
          <p:nvPr/>
        </p:nvSpPr>
        <p:spPr bwMode="auto">
          <a:xfrm>
            <a:off x="9429750" y="22098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KNOW</a:t>
            </a:r>
            <a:endParaRPr/>
          </a:p>
        </p:txBody>
      </p:sp>
      <p:sp>
        <p:nvSpPr>
          <p:cNvPr id="128967151" name="context-outcome-detail-1"/>
          <p:cNvSpPr>
            <a:spLocks noGrp="1"/>
          </p:cNvSpPr>
          <p:nvPr/>
        </p:nvSpPr>
        <p:spPr bwMode="auto">
          <a:xfrm>
            <a:off x="9429750" y="25717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Extract · classify · retrieve</a:t>
            </a:r>
            <a:endParaRPr/>
          </a:p>
        </p:txBody>
      </p:sp>
      <p:sp>
        <p:nvSpPr>
          <p:cNvPr id="753719605" name="context-outcome-label-2"/>
          <p:cNvSpPr>
            <a:spLocks noGrp="1"/>
          </p:cNvSpPr>
          <p:nvPr/>
        </p:nvSpPr>
        <p:spPr bwMode="auto">
          <a:xfrm>
            <a:off x="9429750" y="32004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ADVISE</a:t>
            </a:r>
            <a:endParaRPr/>
          </a:p>
        </p:txBody>
      </p:sp>
      <p:sp>
        <p:nvSpPr>
          <p:cNvPr id="475718629" name="context-outcome-detail-2"/>
          <p:cNvSpPr>
            <a:spLocks noGrp="1"/>
          </p:cNvSpPr>
          <p:nvPr/>
        </p:nvSpPr>
        <p:spPr bwMode="auto">
          <a:xfrm>
            <a:off x="9429750" y="35623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Obligations · risks · recommendations</a:t>
            </a:r>
            <a:endParaRPr/>
          </a:p>
        </p:txBody>
      </p:sp>
      <p:sp>
        <p:nvSpPr>
          <p:cNvPr id="800891000" name="context-outcome-label-3"/>
          <p:cNvSpPr>
            <a:spLocks noGrp="1"/>
          </p:cNvSpPr>
          <p:nvPr/>
        </p:nvSpPr>
        <p:spPr bwMode="auto">
          <a:xfrm>
            <a:off x="9429750" y="41910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ACT</a:t>
            </a:r>
            <a:endParaRPr/>
          </a:p>
        </p:txBody>
      </p:sp>
      <p:sp>
        <p:nvSpPr>
          <p:cNvPr id="910466663" name="context-outcome-detail-3"/>
          <p:cNvSpPr>
            <a:spLocks noGrp="1"/>
          </p:cNvSpPr>
          <p:nvPr/>
        </p:nvSpPr>
        <p:spPr bwMode="auto">
          <a:xfrm>
            <a:off x="9429750" y="4552950"/>
            <a:ext cx="209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Workflows · approvals · permitted actions</a:t>
            </a:r>
            <a:endParaRPr/>
          </a:p>
        </p:txBody>
      </p:sp>
      <p:sp>
        <p:nvSpPr>
          <p:cNvPr id="602760540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225123754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Trusted records give AI verified, permission-controlled, attributable context.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D009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953257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867655463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12</a:t>
            </a:r>
            <a:endParaRPr/>
          </a:p>
        </p:txBody>
      </p:sp>
      <p:sp>
        <p:nvSpPr>
          <p:cNvPr id="1966088527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899442608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223700941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679576780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Agents can prepare, initiate, or execute—but authority decides how far</a:t>
            </a:r>
            <a:endParaRPr/>
          </a:p>
        </p:txBody>
      </p:sp>
      <p:sp>
        <p:nvSpPr>
          <p:cNvPr id="1250845135" name="agent-lane-1"/>
          <p:cNvSpPr>
            <a:spLocks noGrp="1"/>
          </p:cNvSpPr>
          <p:nvPr/>
        </p:nvSpPr>
        <p:spPr bwMode="auto">
          <a:xfrm>
            <a:off x="457200" y="2381250"/>
            <a:ext cx="11277600" cy="819150"/>
          </a:xfrm>
          <a:prstGeom prst="roundRect">
            <a:avLst>
              <a:gd name="adj" fmla="val 13953"/>
            </a:avLst>
          </a:prstGeom>
          <a:solidFill>
            <a:srgbClr val="2A129B"/>
          </a:solidFill>
          <a:ln w="9525">
            <a:solidFill>
              <a:srgbClr val="6E51DA"/>
            </a:solidFill>
            <a:prstDash val="solid"/>
          </a:ln>
        </p:spPr>
      </p:sp>
      <p:sp>
        <p:nvSpPr>
          <p:cNvPr id="1638544545" name="agent-lane-title-1"/>
          <p:cNvSpPr>
            <a:spLocks noGrp="1"/>
          </p:cNvSpPr>
          <p:nvPr/>
        </p:nvSpPr>
        <p:spPr bwMode="auto">
          <a:xfrm>
            <a:off x="781050" y="26098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PREPARE</a:t>
            </a:r>
            <a:endParaRPr/>
          </a:p>
        </p:txBody>
      </p:sp>
      <p:sp>
        <p:nvSpPr>
          <p:cNvPr id="615063398" name="agent-lane-actions-1"/>
          <p:cNvSpPr>
            <a:spLocks noGrp="1"/>
          </p:cNvSpPr>
          <p:nvPr/>
        </p:nvSpPr>
        <p:spPr bwMode="auto">
          <a:xfrm>
            <a:off x="2857500" y="26098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Draft · classify · recommend</a:t>
            </a:r>
            <a:endParaRPr/>
          </a:p>
        </p:txBody>
      </p:sp>
      <p:sp>
        <p:nvSpPr>
          <p:cNvPr id="847022828" name="agent-lane-gate-1"/>
          <p:cNvSpPr>
            <a:spLocks noGrp="1"/>
          </p:cNvSpPr>
          <p:nvPr/>
        </p:nvSpPr>
        <p:spPr bwMode="auto">
          <a:xfrm>
            <a:off x="8058150" y="26098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Inside policy</a:t>
            </a:r>
            <a:endParaRPr/>
          </a:p>
        </p:txBody>
      </p:sp>
      <p:sp>
        <p:nvSpPr>
          <p:cNvPr id="797206370" name="agent-lane-2"/>
          <p:cNvSpPr>
            <a:spLocks noGrp="1"/>
          </p:cNvSpPr>
          <p:nvPr/>
        </p:nvSpPr>
        <p:spPr bwMode="auto">
          <a:xfrm>
            <a:off x="457200" y="3448050"/>
            <a:ext cx="11277600" cy="819150"/>
          </a:xfrm>
          <a:prstGeom prst="roundRect">
            <a:avLst>
              <a:gd name="adj" fmla="val 13953"/>
            </a:avLst>
          </a:prstGeom>
          <a:solidFill>
            <a:srgbClr val="2A129B"/>
          </a:solidFill>
          <a:ln w="9525">
            <a:solidFill>
              <a:srgbClr val="6E51DA"/>
            </a:solidFill>
            <a:prstDash val="solid"/>
          </a:ln>
        </p:spPr>
      </p:sp>
      <p:sp>
        <p:nvSpPr>
          <p:cNvPr id="664567846" name="agent-lane-title-2"/>
          <p:cNvSpPr>
            <a:spLocks noGrp="1"/>
          </p:cNvSpPr>
          <p:nvPr/>
        </p:nvSpPr>
        <p:spPr bwMode="auto">
          <a:xfrm>
            <a:off x="781050" y="36766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INITIATE</a:t>
            </a:r>
            <a:endParaRPr/>
          </a:p>
        </p:txBody>
      </p:sp>
      <p:sp>
        <p:nvSpPr>
          <p:cNvPr id="127356670" name="agent-lane-actions-2"/>
          <p:cNvSpPr>
            <a:spLocks noGrp="1"/>
          </p:cNvSpPr>
          <p:nvPr/>
        </p:nvSpPr>
        <p:spPr bwMode="auto">
          <a:xfrm>
            <a:off x="2857500" y="36766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Start workflow · request approval</a:t>
            </a:r>
            <a:endParaRPr/>
          </a:p>
        </p:txBody>
      </p:sp>
      <p:sp>
        <p:nvSpPr>
          <p:cNvPr id="1164131703" name="agent-lane-gate-2"/>
          <p:cNvSpPr>
            <a:spLocks noGrp="1"/>
          </p:cNvSpPr>
          <p:nvPr/>
        </p:nvSpPr>
        <p:spPr bwMode="auto">
          <a:xfrm>
            <a:off x="8058150" y="36766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Delegated mandate</a:t>
            </a:r>
            <a:endParaRPr/>
          </a:p>
        </p:txBody>
      </p:sp>
      <p:sp>
        <p:nvSpPr>
          <p:cNvPr id="648709234" name="agent-lane-3"/>
          <p:cNvSpPr>
            <a:spLocks noGrp="1"/>
          </p:cNvSpPr>
          <p:nvPr/>
        </p:nvSpPr>
        <p:spPr bwMode="auto">
          <a:xfrm>
            <a:off x="457200" y="4514850"/>
            <a:ext cx="11277600" cy="819150"/>
          </a:xfrm>
          <a:prstGeom prst="roundRect">
            <a:avLst>
              <a:gd name="adj" fmla="val 13953"/>
            </a:avLst>
          </a:prstGeom>
          <a:solidFill>
            <a:srgbClr val="7000FF"/>
          </a:solidFill>
          <a:ln w="9525">
            <a:solidFill>
              <a:srgbClr val="6E51DA"/>
            </a:solidFill>
            <a:prstDash val="solid"/>
          </a:ln>
        </p:spPr>
      </p:sp>
      <p:sp>
        <p:nvSpPr>
          <p:cNvPr id="138942414" name="agent-lane-title-3"/>
          <p:cNvSpPr>
            <a:spLocks noGrp="1"/>
          </p:cNvSpPr>
          <p:nvPr/>
        </p:nvSpPr>
        <p:spPr bwMode="auto">
          <a:xfrm>
            <a:off x="781050" y="47434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EXECUTE</a:t>
            </a:r>
            <a:endParaRPr/>
          </a:p>
        </p:txBody>
      </p:sp>
      <p:sp>
        <p:nvSpPr>
          <p:cNvPr id="2087202907" name="agent-lane-actions-3"/>
          <p:cNvSpPr>
            <a:spLocks noGrp="1"/>
          </p:cNvSpPr>
          <p:nvPr/>
        </p:nvSpPr>
        <p:spPr bwMode="auto">
          <a:xfrm>
            <a:off x="2857500" y="4743450"/>
            <a:ext cx="485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Invoke trust service · commit action</a:t>
            </a:r>
            <a:endParaRPr/>
          </a:p>
        </p:txBody>
      </p:sp>
      <p:sp>
        <p:nvSpPr>
          <p:cNvPr id="1882147025" name="agent-lane-gate-3"/>
          <p:cNvSpPr>
            <a:spLocks noGrp="1"/>
          </p:cNvSpPr>
          <p:nvPr/>
        </p:nvSpPr>
        <p:spPr bwMode="auto">
          <a:xfrm>
            <a:off x="8058150" y="474345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600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Approval + evidence gate</a:t>
            </a:r>
            <a:endParaRPr/>
          </a:p>
        </p:txBody>
      </p:sp>
      <p:sp>
        <p:nvSpPr>
          <p:cNvPr id="1680423598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599280922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Circularo governs what the agent may do, what executes, and what evidence remains.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084314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1230197106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13</a:t>
            </a:r>
            <a:endParaRPr/>
          </a:p>
        </p:txBody>
      </p:sp>
      <p:sp>
        <p:nvSpPr>
          <p:cNvPr id="433785952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21261645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608565691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667085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667085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1440803445" name="slide-title"/>
          <p:cNvSpPr>
            <a:spLocks noGrp="1"/>
          </p:cNvSpPr>
          <p:nvPr/>
        </p:nvSpPr>
        <p:spPr bwMode="auto">
          <a:xfrm>
            <a:off x="457200" y="914400"/>
            <a:ext cx="108585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60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60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Partners can make trusted execution repeatable</a:t>
            </a:r>
            <a:endParaRPr/>
          </a:p>
        </p:txBody>
      </p:sp>
      <p:sp>
        <p:nvSpPr>
          <p:cNvPr id="766402529" name="partner-spine"/>
          <p:cNvSpPr>
            <a:spLocks noGrp="1"/>
          </p:cNvSpPr>
          <p:nvPr/>
        </p:nvSpPr>
        <p:spPr bwMode="auto">
          <a:xfrm>
            <a:off x="1066800" y="3105150"/>
            <a:ext cx="10058400" cy="38100"/>
          </a:xfrm>
          <a:prstGeom prst="rect">
            <a:avLst/>
          </a:prstGeom>
          <a:solidFill>
            <a:srgbClr val="D0D5DD"/>
          </a:solidFill>
          <a:ln w="0">
            <a:noFill/>
            <a:prstDash val="solid"/>
          </a:ln>
        </p:spPr>
      </p:sp>
      <p:sp>
        <p:nvSpPr>
          <p:cNvPr id="656020599" name="partner-node-1"/>
          <p:cNvSpPr>
            <a:spLocks noGrp="1"/>
          </p:cNvSpPr>
          <p:nvPr/>
        </p:nvSpPr>
        <p:spPr bwMode="auto">
          <a:xfrm>
            <a:off x="1409700" y="2762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2027773944" name="partner-number-1"/>
          <p:cNvSpPr>
            <a:spLocks noGrp="1"/>
          </p:cNvSpPr>
          <p:nvPr/>
        </p:nvSpPr>
        <p:spPr bwMode="auto">
          <a:xfrm>
            <a:off x="1543050" y="2971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  <a:endParaRPr/>
          </a:p>
        </p:txBody>
      </p:sp>
      <p:sp>
        <p:nvSpPr>
          <p:cNvPr id="2061867150" name="partner-title-1"/>
          <p:cNvSpPr>
            <a:spLocks noGrp="1"/>
          </p:cNvSpPr>
          <p:nvPr/>
        </p:nvSpPr>
        <p:spPr bwMode="auto">
          <a:xfrm>
            <a:off x="571500" y="3752850"/>
            <a:ext cx="2362199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Select the action</a:t>
            </a:r>
            <a:endParaRPr/>
          </a:p>
        </p:txBody>
      </p:sp>
      <p:sp>
        <p:nvSpPr>
          <p:cNvPr id="689235596" name="partner-question-1"/>
          <p:cNvSpPr>
            <a:spLocks noGrp="1"/>
          </p:cNvSpPr>
          <p:nvPr/>
        </p:nvSpPr>
        <p:spPr bwMode="auto">
          <a:xfrm>
            <a:off x="571500" y="4476750"/>
            <a:ext cx="236219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outcome matters?</a:t>
            </a:r>
            <a:endParaRPr/>
          </a:p>
        </p:txBody>
      </p:sp>
      <p:sp>
        <p:nvSpPr>
          <p:cNvPr id="1691804084" name="partner-output-1"/>
          <p:cNvSpPr>
            <a:spLocks noGrp="1"/>
          </p:cNvSpPr>
          <p:nvPr/>
        </p:nvSpPr>
        <p:spPr bwMode="auto">
          <a:xfrm>
            <a:off x="571500" y="5067300"/>
            <a:ext cx="23621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Outcome + actor</a:t>
            </a:r>
            <a:endParaRPr/>
          </a:p>
        </p:txBody>
      </p:sp>
      <p:sp>
        <p:nvSpPr>
          <p:cNvPr id="1166862358" name="partner-node-2"/>
          <p:cNvSpPr>
            <a:spLocks noGrp="1"/>
          </p:cNvSpPr>
          <p:nvPr/>
        </p:nvSpPr>
        <p:spPr bwMode="auto">
          <a:xfrm>
            <a:off x="4286250" y="2762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256899663" name="partner-number-2"/>
          <p:cNvSpPr>
            <a:spLocks noGrp="1"/>
          </p:cNvSpPr>
          <p:nvPr/>
        </p:nvSpPr>
        <p:spPr bwMode="auto">
          <a:xfrm>
            <a:off x="4419600" y="2971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  <a:endParaRPr/>
          </a:p>
        </p:txBody>
      </p:sp>
      <p:sp>
        <p:nvSpPr>
          <p:cNvPr id="624208961" name="partner-title-2"/>
          <p:cNvSpPr>
            <a:spLocks noGrp="1"/>
          </p:cNvSpPr>
          <p:nvPr/>
        </p:nvSpPr>
        <p:spPr bwMode="auto">
          <a:xfrm>
            <a:off x="3448050" y="3752850"/>
            <a:ext cx="2362199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Define authority</a:t>
            </a:r>
            <a:endParaRPr/>
          </a:p>
        </p:txBody>
      </p:sp>
      <p:sp>
        <p:nvSpPr>
          <p:cNvPr id="1404473793" name="partner-question-2"/>
          <p:cNvSpPr>
            <a:spLocks noGrp="1"/>
          </p:cNvSpPr>
          <p:nvPr/>
        </p:nvSpPr>
        <p:spPr bwMode="auto">
          <a:xfrm>
            <a:off x="3448050" y="4476750"/>
            <a:ext cx="236219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Who may decide?</a:t>
            </a:r>
            <a:endParaRPr/>
          </a:p>
        </p:txBody>
      </p:sp>
      <p:sp>
        <p:nvSpPr>
          <p:cNvPr id="359743389" name="partner-output-2"/>
          <p:cNvSpPr>
            <a:spLocks noGrp="1"/>
          </p:cNvSpPr>
          <p:nvPr/>
        </p:nvSpPr>
        <p:spPr bwMode="auto">
          <a:xfrm>
            <a:off x="3448050" y="5067300"/>
            <a:ext cx="23621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Mandate + approval</a:t>
            </a:r>
            <a:endParaRPr/>
          </a:p>
        </p:txBody>
      </p:sp>
      <p:sp>
        <p:nvSpPr>
          <p:cNvPr id="1539258866" name="partner-node-3"/>
          <p:cNvSpPr>
            <a:spLocks noGrp="1"/>
          </p:cNvSpPr>
          <p:nvPr/>
        </p:nvSpPr>
        <p:spPr bwMode="auto">
          <a:xfrm>
            <a:off x="7162800" y="2762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1501244093" name="partner-number-3"/>
          <p:cNvSpPr>
            <a:spLocks noGrp="1"/>
          </p:cNvSpPr>
          <p:nvPr/>
        </p:nvSpPr>
        <p:spPr bwMode="auto">
          <a:xfrm>
            <a:off x="7296149" y="2971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03</a:t>
            </a:r>
            <a:endParaRPr/>
          </a:p>
        </p:txBody>
      </p:sp>
      <p:sp>
        <p:nvSpPr>
          <p:cNvPr id="2122570131" name="partner-title-3"/>
          <p:cNvSpPr>
            <a:spLocks noGrp="1"/>
          </p:cNvSpPr>
          <p:nvPr/>
        </p:nvSpPr>
        <p:spPr bwMode="auto">
          <a:xfrm>
            <a:off x="6324600" y="3752850"/>
            <a:ext cx="2362199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Design the trust path</a:t>
            </a:r>
            <a:endParaRPr/>
          </a:p>
        </p:txBody>
      </p:sp>
      <p:sp>
        <p:nvSpPr>
          <p:cNvPr id="1908072801" name="partner-question-3"/>
          <p:cNvSpPr>
            <a:spLocks noGrp="1"/>
          </p:cNvSpPr>
          <p:nvPr/>
        </p:nvSpPr>
        <p:spPr bwMode="auto">
          <a:xfrm>
            <a:off x="6324600" y="4476750"/>
            <a:ext cx="236219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Which controls apply?</a:t>
            </a:r>
            <a:endParaRPr/>
          </a:p>
        </p:txBody>
      </p:sp>
      <p:sp>
        <p:nvSpPr>
          <p:cNvPr id="1663803635" name="partner-output-3"/>
          <p:cNvSpPr>
            <a:spLocks noGrp="1"/>
          </p:cNvSpPr>
          <p:nvPr/>
        </p:nvSpPr>
        <p:spPr bwMode="auto">
          <a:xfrm>
            <a:off x="6324600" y="5067300"/>
            <a:ext cx="23621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Services + workflow</a:t>
            </a:r>
            <a:endParaRPr/>
          </a:p>
        </p:txBody>
      </p:sp>
      <p:sp>
        <p:nvSpPr>
          <p:cNvPr id="1210399305" name="partner-node-4"/>
          <p:cNvSpPr>
            <a:spLocks noGrp="1"/>
          </p:cNvSpPr>
          <p:nvPr/>
        </p:nvSpPr>
        <p:spPr bwMode="auto">
          <a:xfrm>
            <a:off x="10039350" y="2762250"/>
            <a:ext cx="685800" cy="685800"/>
          </a:xfrm>
          <a:prstGeom prst="roundRect">
            <a:avLst>
              <a:gd name="adj" fmla="val 16667"/>
            </a:avLst>
          </a:prstGeom>
          <a:solidFill>
            <a:srgbClr val="7000FF"/>
          </a:solidFill>
          <a:ln w="19050">
            <a:solidFill>
              <a:srgbClr val="7000FF"/>
            </a:solidFill>
            <a:prstDash val="solid"/>
          </a:ln>
        </p:spPr>
      </p:sp>
      <p:sp>
        <p:nvSpPr>
          <p:cNvPr id="749690157" name="partner-number-4"/>
          <p:cNvSpPr>
            <a:spLocks noGrp="1"/>
          </p:cNvSpPr>
          <p:nvPr/>
        </p:nvSpPr>
        <p:spPr bwMode="auto">
          <a:xfrm>
            <a:off x="10172700" y="2971800"/>
            <a:ext cx="419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04</a:t>
            </a:r>
            <a:endParaRPr/>
          </a:p>
        </p:txBody>
      </p:sp>
      <p:sp>
        <p:nvSpPr>
          <p:cNvPr id="235289689" name="partner-title-4"/>
          <p:cNvSpPr>
            <a:spLocks noGrp="1"/>
          </p:cNvSpPr>
          <p:nvPr/>
        </p:nvSpPr>
        <p:spPr bwMode="auto">
          <a:xfrm>
            <a:off x="9201150" y="3752850"/>
            <a:ext cx="2362199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Prove the outcome</a:t>
            </a:r>
            <a:endParaRPr/>
          </a:p>
        </p:txBody>
      </p:sp>
      <p:sp>
        <p:nvSpPr>
          <p:cNvPr id="1647912809" name="partner-question-4"/>
          <p:cNvSpPr>
            <a:spLocks noGrp="1"/>
          </p:cNvSpPr>
          <p:nvPr/>
        </p:nvSpPr>
        <p:spPr bwMode="auto">
          <a:xfrm>
            <a:off x="9201150" y="4476750"/>
            <a:ext cx="236219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0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What must remain?</a:t>
            </a:r>
            <a:endParaRPr/>
          </a:p>
        </p:txBody>
      </p:sp>
      <p:sp>
        <p:nvSpPr>
          <p:cNvPr id="1972287890" name="partner-output-4"/>
          <p:cNvSpPr>
            <a:spLocks noGrp="1"/>
          </p:cNvSpPr>
          <p:nvPr/>
        </p:nvSpPr>
        <p:spPr bwMode="auto">
          <a:xfrm>
            <a:off x="9201150" y="5067300"/>
            <a:ext cx="236219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60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Evidence + record</a:t>
            </a:r>
            <a:endParaRPr/>
          </a:p>
        </p:txBody>
      </p:sp>
      <p:sp>
        <p:nvSpPr>
          <p:cNvPr id="269266239" name="takeaway-accent"/>
          <p:cNvSpPr>
            <a:spLocks noGrp="1"/>
          </p:cNvSpPr>
          <p:nvPr/>
        </p:nvSpPr>
        <p:spPr bwMode="auto">
          <a:xfrm>
            <a:off x="457200" y="5657850"/>
            <a:ext cx="1847850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1785989965" name="takeaway"/>
          <p:cNvSpPr>
            <a:spLocks noGrp="1"/>
          </p:cNvSpPr>
          <p:nvPr/>
        </p:nvSpPr>
        <p:spPr bwMode="auto">
          <a:xfrm>
            <a:off x="457200" y="5810250"/>
            <a:ext cx="1047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Lead with one trusted action, then design authority, controls, and evidence around it.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1D009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90296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57200" y="228600"/>
            <a:ext cx="381000" cy="381000"/>
          </a:xfrm>
          <a:prstGeom prst="rect">
            <a:avLst/>
          </a:prstGeom>
        </p:spPr>
      </p:pic>
      <p:sp>
        <p:nvSpPr>
          <p:cNvPr id="3577817" name="page-number"/>
          <p:cNvSpPr>
            <a:spLocks noGrp="1"/>
          </p:cNvSpPr>
          <p:nvPr/>
        </p:nvSpPr>
        <p:spPr bwMode="auto">
          <a:xfrm>
            <a:off x="11277600" y="6438899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14</a:t>
            </a:r>
            <a:endParaRPr/>
          </a:p>
        </p:txBody>
      </p:sp>
      <p:sp>
        <p:nvSpPr>
          <p:cNvPr id="193981407" name="signature-line"/>
          <p:cNvSpPr>
            <a:spLocks noGrp="1"/>
          </p:cNvSpPr>
          <p:nvPr/>
        </p:nvSpPr>
        <p:spPr bwMode="auto">
          <a:xfrm>
            <a:off x="457200" y="6305550"/>
            <a:ext cx="2381250" cy="952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5589892" name="slide-eyebrow"/>
          <p:cNvSpPr>
            <a:spLocks noGrp="1"/>
          </p:cNvSpPr>
          <p:nvPr/>
        </p:nvSpPr>
        <p:spPr bwMode="auto">
          <a:xfrm>
            <a:off x="990600" y="295274"/>
            <a:ext cx="685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AGENTIC TRUSTED EXECUTION · PARTNER ENABLEMENT</a:t>
            </a:r>
            <a:endParaRPr/>
          </a:p>
        </p:txBody>
      </p:sp>
      <p:sp>
        <p:nvSpPr>
          <p:cNvPr id="121347968" name="partner-enablement-mark"/>
          <p:cNvSpPr>
            <a:spLocks noGrp="1"/>
          </p:cNvSpPr>
          <p:nvPr/>
        </p:nvSpPr>
        <p:spPr bwMode="auto">
          <a:xfrm>
            <a:off x="8572500" y="323850"/>
            <a:ext cx="2667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9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INTERNAL &amp; PARTNER ENABLEMENT</a:t>
            </a:r>
            <a:endParaRPr/>
          </a:p>
        </p:txBody>
      </p:sp>
      <p:sp>
        <p:nvSpPr>
          <p:cNvPr id="2120488764" name="close-kicker"/>
          <p:cNvSpPr>
            <a:spLocks noGrp="1"/>
          </p:cNvSpPr>
          <p:nvPr/>
        </p:nvSpPr>
        <p:spPr bwMode="auto">
          <a:xfrm>
            <a:off x="457200" y="12382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2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THE CIRCULARO PROPOSITION</a:t>
            </a:r>
            <a:endParaRPr/>
          </a:p>
        </p:txBody>
      </p:sp>
      <p:sp>
        <p:nvSpPr>
          <p:cNvPr id="2037393626" name="close-title"/>
          <p:cNvSpPr>
            <a:spLocks noGrp="1"/>
          </p:cNvSpPr>
          <p:nvPr/>
        </p:nvSpPr>
        <p:spPr bwMode="auto">
          <a:xfrm>
            <a:off x="457200" y="200025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8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Govern what executes.</a:t>
            </a:r>
            <a:endParaRPr/>
          </a:p>
        </p:txBody>
      </p:sp>
      <p:sp>
        <p:nvSpPr>
          <p:cNvPr id="1197430697" name="close-subtitle"/>
          <p:cNvSpPr>
            <a:spLocks noGrp="1"/>
          </p:cNvSpPr>
          <p:nvPr/>
        </p:nvSpPr>
        <p:spPr bwMode="auto">
          <a:xfrm>
            <a:off x="457200" y="3257550"/>
            <a:ext cx="10572750" cy="8762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Connect people, organizations, applications, and AI agents to trusted business actions through one governed execution environment.</a:t>
            </a:r>
            <a:endParaRPr/>
          </a:p>
        </p:txBody>
      </p:sp>
      <p:sp>
        <p:nvSpPr>
          <p:cNvPr id="293762788" name="close-rule-1"/>
          <p:cNvSpPr>
            <a:spLocks noGrp="1"/>
          </p:cNvSpPr>
          <p:nvPr/>
        </p:nvSpPr>
        <p:spPr bwMode="auto">
          <a:xfrm>
            <a:off x="457200" y="4762500"/>
            <a:ext cx="2362199" cy="28575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1224394283" name="close-commitment-1"/>
          <p:cNvSpPr>
            <a:spLocks noGrp="1"/>
          </p:cNvSpPr>
          <p:nvPr/>
        </p:nvSpPr>
        <p:spPr bwMode="auto">
          <a:xfrm>
            <a:off x="457200" y="4972050"/>
            <a:ext cx="236219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PLATFORM</a:t>
            </a:r>
            <a:endParaRPr/>
          </a:p>
        </p:txBody>
      </p:sp>
      <p:sp>
        <p:nvSpPr>
          <p:cNvPr id="330110599" name="close-rule-2"/>
          <p:cNvSpPr>
            <a:spLocks noGrp="1"/>
          </p:cNvSpPr>
          <p:nvPr/>
        </p:nvSpPr>
        <p:spPr bwMode="auto">
          <a:xfrm>
            <a:off x="3276600" y="4762500"/>
            <a:ext cx="2362199" cy="28575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923058629" name="close-commitment-2"/>
          <p:cNvSpPr>
            <a:spLocks noGrp="1"/>
          </p:cNvSpPr>
          <p:nvPr/>
        </p:nvSpPr>
        <p:spPr bwMode="auto">
          <a:xfrm>
            <a:off x="3276600" y="4972050"/>
            <a:ext cx="236219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GOVERNANCE MODEL</a:t>
            </a:r>
            <a:endParaRPr/>
          </a:p>
        </p:txBody>
      </p:sp>
      <p:sp>
        <p:nvSpPr>
          <p:cNvPr id="1592691345" name="close-rule-3"/>
          <p:cNvSpPr>
            <a:spLocks noGrp="1"/>
          </p:cNvSpPr>
          <p:nvPr/>
        </p:nvSpPr>
        <p:spPr bwMode="auto">
          <a:xfrm>
            <a:off x="6096000" y="4762500"/>
            <a:ext cx="2362199" cy="28575"/>
          </a:xfrm>
          <a:prstGeom prst="rect">
            <a:avLst/>
          </a:prstGeom>
          <a:solidFill>
            <a:srgbClr val="6E51DA"/>
          </a:solidFill>
          <a:ln w="0">
            <a:noFill/>
            <a:prstDash val="solid"/>
          </a:ln>
        </p:spPr>
      </p:sp>
      <p:sp>
        <p:nvSpPr>
          <p:cNvPr id="320188586" name="close-commitment-3"/>
          <p:cNvSpPr>
            <a:spLocks noGrp="1"/>
          </p:cNvSpPr>
          <p:nvPr/>
        </p:nvSpPr>
        <p:spPr bwMode="auto">
          <a:xfrm>
            <a:off x="6096000" y="4972050"/>
            <a:ext cx="236219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ONE EVIDENCE CHAIN</a:t>
            </a:r>
            <a:endParaRPr/>
          </a:p>
        </p:txBody>
      </p:sp>
      <p:sp>
        <p:nvSpPr>
          <p:cNvPr id="1910517106" name="close-rule-4"/>
          <p:cNvSpPr>
            <a:spLocks noGrp="1"/>
          </p:cNvSpPr>
          <p:nvPr/>
        </p:nvSpPr>
        <p:spPr bwMode="auto">
          <a:xfrm>
            <a:off x="8915400" y="4762500"/>
            <a:ext cx="2362199" cy="28575"/>
          </a:xfrm>
          <a:prstGeom prst="rect">
            <a:avLst/>
          </a:prstGeom>
          <a:solidFill>
            <a:srgbClr val="7000FF"/>
          </a:solidFill>
          <a:ln w="0">
            <a:noFill/>
            <a:prstDash val="solid"/>
          </a:ln>
        </p:spPr>
      </p:sp>
      <p:sp>
        <p:nvSpPr>
          <p:cNvPr id="363891346" name="close-commitment-4"/>
          <p:cNvSpPr>
            <a:spLocks noGrp="1"/>
          </p:cNvSpPr>
          <p:nvPr/>
        </p:nvSpPr>
        <p:spPr bwMode="auto">
          <a:xfrm>
            <a:off x="8915400" y="4972050"/>
            <a:ext cx="236219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6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ONE API</a:t>
            </a:r>
            <a:endParaRPr/>
          </a:p>
        </p:txBody>
      </p:sp>
      <p:sp>
        <p:nvSpPr>
          <p:cNvPr id="67144111" name="close-action"/>
          <p:cNvSpPr>
            <a:spLocks noGrp="1"/>
          </p:cNvSpPr>
          <p:nvPr/>
        </p:nvSpPr>
        <p:spPr bwMode="auto">
          <a:xfrm>
            <a:off x="457200" y="59055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C9AEFF"/>
                </a:solidFill>
                <a:latin typeface="Mulish"/>
                <a:ea typeface="Mulish"/>
                <a:cs typeface="Mulish"/>
              </a:defRPr>
            </a:pPr>
            <a:r>
              <a:rPr sz="1800" b="1">
                <a:solidFill>
                  <a:srgbClr val="C9AEFF"/>
                </a:solidFill>
                <a:latin typeface="Mulish"/>
                <a:ea typeface="Mulish"/>
                <a:cs typeface="Mulish"/>
              </a:rPr>
              <a:t>Start with one trusted action.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2026-09-01T06:09:55Z</dcterms:modified>
</cp:coreProperties>
</file>