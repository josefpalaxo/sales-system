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08e1b011f421a" /><Relationship Type="http://schemas.openxmlformats.org/officeDocument/2006/relationships/extended-properties" Target="/docProps/app.xml" Id="Rbbb4a36d3e1d4901" /><Relationship Type="http://schemas.openxmlformats.org/officeDocument/2006/relationships/officeDocument" Target="/ppt/presentation.xml" Id="R0b741d5881754f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dc77ba556467f"/>
  </p:sldMasterIdLst>
  <p:notesMasterIdLst>
    <p:notesMasterId xmlns:r="http://schemas.openxmlformats.org/officeDocument/2006/relationships" r:id="R64b3c72359164477"/>
  </p:notesMasterIdLst>
  <p:sldIdLst>
    <p:sldId xmlns:r="http://schemas.openxmlformats.org/officeDocument/2006/relationships" id="256" r:id="R116dfe2c1b6347ff"/>
    <p:sldId xmlns:r="http://schemas.openxmlformats.org/officeDocument/2006/relationships" id="257" r:id="R1a173de52fb644b9"/>
    <p:sldId xmlns:r="http://schemas.openxmlformats.org/officeDocument/2006/relationships" id="258" r:id="R6207485607a6498e"/>
    <p:sldId xmlns:r="http://schemas.openxmlformats.org/officeDocument/2006/relationships" id="259" r:id="R48535b08bc854f01"/>
    <p:sldId xmlns:r="http://schemas.openxmlformats.org/officeDocument/2006/relationships" id="260" r:id="R0aaf612025324a40"/>
    <p:sldId xmlns:r="http://schemas.openxmlformats.org/officeDocument/2006/relationships" id="261" r:id="Rc1025c6e4fbd4567"/>
    <p:sldId xmlns:r="http://schemas.openxmlformats.org/officeDocument/2006/relationships" id="262" r:id="R719500d82d6c41f0"/>
    <p:sldId xmlns:r="http://schemas.openxmlformats.org/officeDocument/2006/relationships" id="263" r:id="R57c42285da084c24"/>
    <p:sldId xmlns:r="http://schemas.openxmlformats.org/officeDocument/2006/relationships" id="264" r:id="R744422c3d6904441"/>
    <p:sldId xmlns:r="http://schemas.openxmlformats.org/officeDocument/2006/relationships" id="265" r:id="R74cb66fd550b486c"/>
    <p:sldId xmlns:r="http://schemas.openxmlformats.org/officeDocument/2006/relationships" id="266" r:id="Ree4b8b3cb45840c2"/>
    <p:sldId xmlns:r="http://schemas.openxmlformats.org/officeDocument/2006/relationships" id="267" r:id="Rb168ff9695a44f6c"/>
    <p:sldId xmlns:r="http://schemas.openxmlformats.org/officeDocument/2006/relationships" id="268" r:id="Rbac89f0ad14c485a"/>
    <p:sldId xmlns:r="http://schemas.openxmlformats.org/officeDocument/2006/relationships" id="269" r:id="Rdf056abfa46e4f8b"/>
    <p:sldId xmlns:r="http://schemas.openxmlformats.org/officeDocument/2006/relationships" id="270" r:id="Raf9be401513c4e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92dc7db4b4e93" /><Relationship Type="http://schemas.openxmlformats.org/officeDocument/2006/relationships/slideMaster" Target="/ppt/slideMasters/slideMaster1.xml" Id="R93edc77ba556467f" /><Relationship Type="http://schemas.openxmlformats.org/officeDocument/2006/relationships/notesMaster" Target="/ppt/notesMasters/notesMaster1.xml" Id="R64b3c72359164477" /><Relationship Type="http://schemas.openxmlformats.org/officeDocument/2006/relationships/presProps" Target="/ppt/presProps.xml" Id="R48269d582aa541e0" /><Relationship Type="http://schemas.openxmlformats.org/officeDocument/2006/relationships/tableStyles" Target="/ppt/tableStyles.xml" Id="R88d82c459af34ef7" /><Relationship Type="http://schemas.openxmlformats.org/officeDocument/2006/relationships/slide" Target="/ppt/slides/slide1.xml" Id="R116dfe2c1b6347ff" /><Relationship Type="http://schemas.openxmlformats.org/officeDocument/2006/relationships/slide" Target="/ppt/slides/slide2.xml" Id="R1a173de52fb644b9" /><Relationship Type="http://schemas.openxmlformats.org/officeDocument/2006/relationships/slide" Target="/ppt/slides/slide3.xml" Id="R6207485607a6498e" /><Relationship Type="http://schemas.openxmlformats.org/officeDocument/2006/relationships/slide" Target="/ppt/slides/slide4.xml" Id="R48535b08bc854f01" /><Relationship Type="http://schemas.openxmlformats.org/officeDocument/2006/relationships/slide" Target="/ppt/slides/slide5.xml" Id="R0aaf612025324a40" /><Relationship Type="http://schemas.openxmlformats.org/officeDocument/2006/relationships/slide" Target="/ppt/slides/slide6.xml" Id="Rc1025c6e4fbd4567" /><Relationship Type="http://schemas.openxmlformats.org/officeDocument/2006/relationships/slide" Target="/ppt/slides/slide7.xml" Id="R719500d82d6c41f0" /><Relationship Type="http://schemas.openxmlformats.org/officeDocument/2006/relationships/slide" Target="/ppt/slides/slide8.xml" Id="R57c42285da084c24" /><Relationship Type="http://schemas.openxmlformats.org/officeDocument/2006/relationships/slide" Target="/ppt/slides/slide9.xml" Id="R744422c3d6904441" /><Relationship Type="http://schemas.openxmlformats.org/officeDocument/2006/relationships/slide" Target="/ppt/slides/slide10.xml" Id="R74cb66fd550b486c" /><Relationship Type="http://schemas.openxmlformats.org/officeDocument/2006/relationships/slide" Target="/ppt/slides/slide11.xml" Id="Ree4b8b3cb45840c2" /><Relationship Type="http://schemas.openxmlformats.org/officeDocument/2006/relationships/slide" Target="/ppt/slides/slide12.xml" Id="Rb168ff9695a44f6c" /><Relationship Type="http://schemas.openxmlformats.org/officeDocument/2006/relationships/slide" Target="/ppt/slides/slide13.xml" Id="Rbac89f0ad14c485a" /><Relationship Type="http://schemas.openxmlformats.org/officeDocument/2006/relationships/slide" Target="/ppt/slides/slide14.xml" Id="Rdf056abfa46e4f8b" /><Relationship Type="http://schemas.openxmlformats.org/officeDocument/2006/relationships/slide" Target="/ppt/slides/slide15.xml" Id="Raf9be401513c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21c1d895c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2b5c5dae04a8b" /><Relationship Type="http://schemas.openxmlformats.org/officeDocument/2006/relationships/notesMaster" Target="/ppt/notesMasters/notesMaster1.xml" Id="R370a365e978c4c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6c2e3d31ec421f" /><Relationship Type="http://schemas.openxmlformats.org/officeDocument/2006/relationships/notesMaster" Target="/ppt/notesMasters/notesMaster1.xml" Id="R7390097c8d2c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607d3fbe94e89" /><Relationship Type="http://schemas.openxmlformats.org/officeDocument/2006/relationships/notesMaster" Target="/ppt/notesMasters/notesMaster1.xml" Id="Rc34abcebe751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7b4cc023249e1" /><Relationship Type="http://schemas.openxmlformats.org/officeDocument/2006/relationships/notesMaster" Target="/ppt/notesMasters/notesMaster1.xml" Id="Ra5038936ca48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22d2b2b584b12" /><Relationship Type="http://schemas.openxmlformats.org/officeDocument/2006/relationships/notesMaster" Target="/ppt/notesMasters/notesMaster1.xml" Id="R8d0db1462a5749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6683436ade4733" /><Relationship Type="http://schemas.openxmlformats.org/officeDocument/2006/relationships/notesMaster" Target="/ppt/notesMasters/notesMaster1.xml" Id="R66759cb0e90041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73063ea08c4512" /><Relationship Type="http://schemas.openxmlformats.org/officeDocument/2006/relationships/notesMaster" Target="/ppt/notesMasters/notesMaster1.xml" Id="Rf006da702b6a46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363583833e46e1" /><Relationship Type="http://schemas.openxmlformats.org/officeDocument/2006/relationships/notesMaster" Target="/ppt/notesMasters/notesMaster1.xml" Id="Rba35b8bf90ae4c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323ec7227b41ea" /><Relationship Type="http://schemas.openxmlformats.org/officeDocument/2006/relationships/notesMaster" Target="/ppt/notesMasters/notesMaster1.xml" Id="Rfe73a64e0eba4e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39b79aad2340f5" /><Relationship Type="http://schemas.openxmlformats.org/officeDocument/2006/relationships/notesMaster" Target="/ppt/notesMasters/notesMaster1.xml" Id="R6db8b8e6c2ad4b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3953ac8be94ac5" /><Relationship Type="http://schemas.openxmlformats.org/officeDocument/2006/relationships/notesMaster" Target="/ppt/notesMasters/notesMaster1.xml" Id="Rf2e245407e3642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b20fad1e0d402d" /><Relationship Type="http://schemas.openxmlformats.org/officeDocument/2006/relationships/notesMaster" Target="/ppt/notesMasters/notesMaster1.xml" Id="R6369742381b943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2ef5d0d9a6430f" /><Relationship Type="http://schemas.openxmlformats.org/officeDocument/2006/relationships/notesMaster" Target="/ppt/notesMasters/notesMaster1.xml" Id="R61cc6e8ab6a64a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51aef13e684604" /><Relationship Type="http://schemas.openxmlformats.org/officeDocument/2006/relationships/notesMaster" Target="/ppt/notesMasters/notesMaster1.xml" Id="R01a1d79977114c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423eaf5469485d" /><Relationship Type="http://schemas.openxmlformats.org/officeDocument/2006/relationships/notesMaster" Target="/ppt/notesMasters/notesMaster1.xml" Id="R84357adc4bd9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work/new-story/Circularo-Narrative-Trust-Orchestration-and-Agentic-Trusted-Execution.md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4a3068db242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12e867ae941d0" /><Relationship Type="http://schemas.openxmlformats.org/officeDocument/2006/relationships/slideLayout" Target="/ppt/slideLayouts/slideLayout1.xml" Id="Re866ee06db6d4e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66ee06db6d4e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9e7dbe624340" /><Relationship Type="http://schemas.openxmlformats.org/officeDocument/2006/relationships/image" Target="/ppt/media/image.png" Id="R7fcaa5c6badc44c6" /><Relationship Type="http://schemas.openxmlformats.org/officeDocument/2006/relationships/notesSlide" Target="/ppt/notesSlides/notesSlide1.xml" Id="Ra7afe76c5f7e40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bb43113ac4ca6" /><Relationship Type="http://schemas.openxmlformats.org/officeDocument/2006/relationships/image" Target="/ppt/media/image2.png" Id="R05f6b5cf16e54f96" /><Relationship Type="http://schemas.openxmlformats.org/officeDocument/2006/relationships/notesSlide" Target="/ppt/notesSlides/notesSlide2.xml" Id="R8c1e46015b68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43a0ff6314ff3" /><Relationship Type="http://schemas.openxmlformats.org/officeDocument/2006/relationships/image" Target="/ppt/media/image3.png" Id="R62e865e0dc3b4c51" /><Relationship Type="http://schemas.openxmlformats.org/officeDocument/2006/relationships/notesSlide" Target="/ppt/notesSlides/notesSlide3.xml" Id="Rc332e714062241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628fc835945d2" /><Relationship Type="http://schemas.openxmlformats.org/officeDocument/2006/relationships/image" Target="/ppt/media/image4.png" Id="Ra42d0a82f12e45e3" /><Relationship Type="http://schemas.openxmlformats.org/officeDocument/2006/relationships/notesSlide" Target="/ppt/notesSlides/notesSlide4.xml" Id="R12d36102197f47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a28ce44f4446" /><Relationship Type="http://schemas.openxmlformats.org/officeDocument/2006/relationships/image" Target="/ppt/media/image5.png" Id="Ra9595e310c424463" /><Relationship Type="http://schemas.openxmlformats.org/officeDocument/2006/relationships/notesSlide" Target="/ppt/notesSlides/notesSlide5.xml" Id="Rcc9c45099a1442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8e86f6f994bbb" /><Relationship Type="http://schemas.openxmlformats.org/officeDocument/2006/relationships/image" Target="/ppt/media/image6.png" Id="R5021cf5ed772451f" /><Relationship Type="http://schemas.openxmlformats.org/officeDocument/2006/relationships/notesSlide" Target="/ppt/notesSlides/notesSlide6.xml" Id="R62d89552ffde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9a3fa2ab45ff" /><Relationship Type="http://schemas.openxmlformats.org/officeDocument/2006/relationships/image" Target="/ppt/media/image7.png" Id="R6537001ec4b54f22" /><Relationship Type="http://schemas.openxmlformats.org/officeDocument/2006/relationships/notesSlide" Target="/ppt/notesSlides/notesSlide7.xml" Id="R393e93b6024b48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5eaf8ad84599" /><Relationship Type="http://schemas.openxmlformats.org/officeDocument/2006/relationships/image" Target="/ppt/media/image8.png" Id="Ra445ff4478694602" /><Relationship Type="http://schemas.openxmlformats.org/officeDocument/2006/relationships/notesSlide" Target="/ppt/notesSlides/notesSlide8.xml" Id="Ra92284f9bbe0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088924ea94db0" /><Relationship Type="http://schemas.openxmlformats.org/officeDocument/2006/relationships/image" Target="/ppt/media/image9.png" Id="R8bb536ac4c25406e" /><Relationship Type="http://schemas.openxmlformats.org/officeDocument/2006/relationships/notesSlide" Target="/ppt/notesSlides/notesSlide9.xml" Id="R329a58784a75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f5d23ab974845" /><Relationship Type="http://schemas.openxmlformats.org/officeDocument/2006/relationships/image" Target="/ppt/media/image10.png" Id="Rf69a509eb8e343fa" /><Relationship Type="http://schemas.openxmlformats.org/officeDocument/2006/relationships/notesSlide" Target="/ppt/notesSlides/notesSlide10.xml" Id="Race64e73e3c4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f1ad87a224288" /><Relationship Type="http://schemas.openxmlformats.org/officeDocument/2006/relationships/image" Target="/ppt/media/image11.png" Id="R80631c1ae31e4bcf" /><Relationship Type="http://schemas.openxmlformats.org/officeDocument/2006/relationships/notesSlide" Target="/ppt/notesSlides/notesSlide11.xml" Id="R8c1a52c5722b4f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b037dcb134030" /><Relationship Type="http://schemas.openxmlformats.org/officeDocument/2006/relationships/image" Target="/ppt/media/image12.png" Id="R1c95deb54fa641a8" /><Relationship Type="http://schemas.openxmlformats.org/officeDocument/2006/relationships/notesSlide" Target="/ppt/notesSlides/notesSlide12.xml" Id="R3d9ea950a80a41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c6535f5e648d0" /><Relationship Type="http://schemas.openxmlformats.org/officeDocument/2006/relationships/image" Target="/ppt/media/image13.png" Id="Rad0990dd9fea4113" /><Relationship Type="http://schemas.openxmlformats.org/officeDocument/2006/relationships/notesSlide" Target="/ppt/notesSlides/notesSlide13.xml" Id="R29521ea6471f49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8de6302a74590" /><Relationship Type="http://schemas.openxmlformats.org/officeDocument/2006/relationships/image" Target="/ppt/media/image14.png" Id="R02cc0c55387a4ca3" /><Relationship Type="http://schemas.openxmlformats.org/officeDocument/2006/relationships/notesSlide" Target="/ppt/notesSlides/notesSlide14.xml" Id="R719a7a75814d48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7fe6adaa34979" /><Relationship Type="http://schemas.openxmlformats.org/officeDocument/2006/relationships/image" Target="/ppt/media/image15.png" Id="Re45663a7428d44a1" /><Relationship Type="http://schemas.openxmlformats.org/officeDocument/2006/relationships/notesSlide" Target="/ppt/notesSlides/notesSlide15.xml" Id="Rd8578b449670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a5c6badc44c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351213-E7F9-4AB1-AA2F-D8EDD669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F2B222C-5D8B-43B6-A15B-D0B0F88E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76DBB32-C997-4836-8974-4CAF0271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BB4F35C6-446D-45CF-9DBE-EFF2003C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C721BBB-3C88-418B-9F95-960D3884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NARRATIVE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25906CB-E751-4DE8-A705-1F5FF0E7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Circularo’s strategic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evolution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812D70-260E-41D3-8D0C-DAA6D2D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 orchestration and agentic trusted execution</a:t>
            </a:r>
          </a:p>
        </p:txBody>
      </p:sp>
      <p:sp>
        <p:nvSpPr>
          <p:cNvPr id="9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59E9F63-6E47-4F1A-A4E5-0F2A443E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Leadership · Product · Sales · Marketing</a:t>
            </a:r>
          </a:p>
        </p:txBody>
      </p:sp>
      <p:sp>
        <p:nvSpPr>
          <p:cNvPr id="10" name="cover-spine">
            <a:extLst xmlns:a="http://schemas.openxmlformats.org/drawingml/2006/main">
              <a:ext uri="{FF2B5EF4-FFF2-40B4-BE49-F238E27FC236}">
                <a16:creationId xmlns:a16="http://schemas.microsoft.com/office/drawing/2014/main" id="{B31D8FB3-FEE6-41EE-8FC1-B9DB4848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285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stage-1-frame">
            <a:extLst xmlns:a="http://schemas.openxmlformats.org/drawingml/2006/main">
              <a:ext uri="{FF2B5EF4-FFF2-40B4-BE49-F238E27FC236}">
                <a16:creationId xmlns:a16="http://schemas.microsoft.com/office/drawing/2014/main" id="{A3B7341D-BF70-4029-AAFE-8FB0AC81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33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2" name="cover-stage-1-text">
            <a:extLst xmlns:a="http://schemas.openxmlformats.org/drawingml/2006/main">
              <a:ext uri="{FF2B5EF4-FFF2-40B4-BE49-F238E27FC236}">
                <a16:creationId xmlns:a16="http://schemas.microsoft.com/office/drawing/2014/main" id="{DB31F878-0AB6-46C0-B21D-EC70D3E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3" name="cover-stage-label-1">
            <a:extLst xmlns:a="http://schemas.openxmlformats.org/drawingml/2006/main">
              <a:ext uri="{FF2B5EF4-FFF2-40B4-BE49-F238E27FC236}">
                <a16:creationId xmlns:a16="http://schemas.microsoft.com/office/drawing/2014/main" id="{1D4A1962-472C-4017-8036-33FE7FD4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DIGITAL</a:t>
            </a:r>
          </a:p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SIGNATURES</a:t>
            </a:r>
          </a:p>
        </p:txBody>
      </p:sp>
      <p:sp>
        <p:nvSpPr>
          <p:cNvPr id="14" name="cover-stage-2-frame">
            <a:extLst xmlns:a="http://schemas.openxmlformats.org/drawingml/2006/main">
              <a:ext uri="{FF2B5EF4-FFF2-40B4-BE49-F238E27FC236}">
                <a16:creationId xmlns:a16="http://schemas.microsoft.com/office/drawing/2014/main" id="{1A88BD24-E4F9-4B30-A3D5-E1582938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5" name="cover-stage-2-text">
            <a:extLst xmlns:a="http://schemas.openxmlformats.org/drawingml/2006/main">
              <a:ext uri="{FF2B5EF4-FFF2-40B4-BE49-F238E27FC236}">
                <a16:creationId xmlns:a16="http://schemas.microsoft.com/office/drawing/2014/main" id="{DE3B77EE-4D93-4FB5-9C0F-12D13FD6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6" name="cover-stage-label-2">
            <a:extLst xmlns:a="http://schemas.openxmlformats.org/drawingml/2006/main">
              <a:ext uri="{FF2B5EF4-FFF2-40B4-BE49-F238E27FC236}">
                <a16:creationId xmlns:a16="http://schemas.microsoft.com/office/drawing/2014/main" id="{634BFE0A-74E0-4828-AC95-183D17E5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DIGITAL</a:t>
            </a:r>
          </a:p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17" name="cover-stage-3-frame">
            <a:extLst xmlns:a="http://schemas.openxmlformats.org/drawingml/2006/main">
              <a:ext uri="{FF2B5EF4-FFF2-40B4-BE49-F238E27FC236}">
                <a16:creationId xmlns:a16="http://schemas.microsoft.com/office/drawing/2014/main" id="{E26E6EFD-7E90-4FC5-BAF5-FF18454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8" name="cover-stage-3-text">
            <a:extLst xmlns:a="http://schemas.openxmlformats.org/drawingml/2006/main">
              <a:ext uri="{FF2B5EF4-FFF2-40B4-BE49-F238E27FC236}">
                <a16:creationId xmlns:a16="http://schemas.microsoft.com/office/drawing/2014/main" id="{530617D6-3693-44DA-9275-4865374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cover-stage-label-3">
            <a:extLst xmlns:a="http://schemas.openxmlformats.org/drawingml/2006/main">
              <a:ext uri="{FF2B5EF4-FFF2-40B4-BE49-F238E27FC236}">
                <a16:creationId xmlns:a16="http://schemas.microsoft.com/office/drawing/2014/main" id="{E0E584B0-FC58-4E27-8194-7ED9A09A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TRUSTED</a:t>
            </a:r>
          </a:p>
          <a:p xmlns:a="http://schemas.openxmlformats.org/drawingml/2006/main">
            <a:pPr algn="l">
              <a:defRPr sz="1500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0" name="cover-stage-4-frame">
            <a:extLst xmlns:a="http://schemas.openxmlformats.org/drawingml/2006/main">
              <a:ext uri="{FF2B5EF4-FFF2-40B4-BE49-F238E27FC236}">
                <a16:creationId xmlns:a16="http://schemas.microsoft.com/office/drawing/2014/main" id="{AAC45435-BB6A-4394-820A-A4381BB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cover-stage-4-text">
            <a:extLst xmlns:a="http://schemas.openxmlformats.org/drawingml/2006/main">
              <a:ext uri="{FF2B5EF4-FFF2-40B4-BE49-F238E27FC236}">
                <a16:creationId xmlns:a16="http://schemas.microsoft.com/office/drawing/2014/main" id="{9CA95331-F766-4985-9E46-8A3F30A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cover-stage-label-4">
            <a:extLst xmlns:a="http://schemas.openxmlformats.org/drawingml/2006/main">
              <a:ext uri="{FF2B5EF4-FFF2-40B4-BE49-F238E27FC236}">
                <a16:creationId xmlns:a16="http://schemas.microsoft.com/office/drawing/2014/main" id="{2E6F398A-204D-424F-B4B9-4B9FBFF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57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 TRUSTED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530630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6b5cf16e54f9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18D346-F6A0-48DF-9287-6935F197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E062C94-DC6C-4264-B649-6B53BEF8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0A800E2-3055-476F-BA3B-D3ED281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B8F83EBA-133D-4EEA-802F-0C48123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BE207-0CA0-4459-BC4B-B6213248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continuous expansion of the trust problem</a:t>
            </a:r>
          </a:p>
        </p:txBody>
      </p:sp>
      <p:sp>
        <p:nvSpPr>
          <p:cNvPr id="7" name="evolution-line">
            <a:extLst xmlns:a="http://schemas.openxmlformats.org/drawingml/2006/main">
              <a:ext uri="{FF2B5EF4-FFF2-40B4-BE49-F238E27FC236}">
                <a16:creationId xmlns:a16="http://schemas.microsoft.com/office/drawing/2014/main" id="{4CB0F01D-7A33-47AA-BAFB-50A9308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017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1-frame">
            <a:extLst xmlns:a="http://schemas.openxmlformats.org/drawingml/2006/main">
              <a:ext uri="{FF2B5EF4-FFF2-40B4-BE49-F238E27FC236}">
                <a16:creationId xmlns:a16="http://schemas.microsoft.com/office/drawing/2014/main" id="{3C33E76C-1B19-4EEE-848C-E3EB711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evolution-1-text">
            <a:extLst xmlns:a="http://schemas.openxmlformats.org/drawingml/2006/main">
              <a:ext uri="{FF2B5EF4-FFF2-40B4-BE49-F238E27FC236}">
                <a16:creationId xmlns:a16="http://schemas.microsoft.com/office/drawing/2014/main" id="{60A96C67-445F-4502-B61B-D7CED21A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evolution-title-1">
            <a:extLst xmlns:a="http://schemas.openxmlformats.org/drawingml/2006/main">
              <a:ext uri="{FF2B5EF4-FFF2-40B4-BE49-F238E27FC236}">
                <a16:creationId xmlns:a16="http://schemas.microsoft.com/office/drawing/2014/main" id="{B6066A6B-00A3-431C-9885-F923FC4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signatures</a:t>
            </a:r>
          </a:p>
        </p:txBody>
      </p:sp>
      <p:sp>
        <p:nvSpPr>
          <p:cNvPr id="11" name="evolution-body-1">
            <a:extLst xmlns:a="http://schemas.openxmlformats.org/drawingml/2006/main">
              <a:ext uri="{FF2B5EF4-FFF2-40B4-BE49-F238E27FC236}">
                <a16:creationId xmlns:a16="http://schemas.microsoft.com/office/drawing/2014/main" id="{24B4FC3E-FA4D-41A9-9D24-3DD12A7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Prove who signed and preserve document integrity</a:t>
            </a:r>
          </a:p>
        </p:txBody>
      </p:sp>
      <p:sp>
        <p:nvSpPr>
          <p:cNvPr id="12" name="evolution-2-frame">
            <a:extLst xmlns:a="http://schemas.openxmlformats.org/drawingml/2006/main">
              <a:ext uri="{FF2B5EF4-FFF2-40B4-BE49-F238E27FC236}">
                <a16:creationId xmlns:a16="http://schemas.microsoft.com/office/drawing/2014/main" id="{61B1487E-ED44-4518-BECE-A7CDAAF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24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evolution-2-text">
            <a:extLst xmlns:a="http://schemas.openxmlformats.org/drawingml/2006/main">
              <a:ext uri="{FF2B5EF4-FFF2-40B4-BE49-F238E27FC236}">
                <a16:creationId xmlns:a16="http://schemas.microsoft.com/office/drawing/2014/main" id="{B4F30C19-E0E0-4C3E-97AA-5551AD7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evolution-title-2">
            <a:extLst xmlns:a="http://schemas.openxmlformats.org/drawingml/2006/main">
              <a:ext uri="{FF2B5EF4-FFF2-40B4-BE49-F238E27FC236}">
                <a16:creationId xmlns:a16="http://schemas.microsoft.com/office/drawing/2014/main" id="{12940A9C-61D7-4F65-9966-1503A2EC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trust</a:t>
            </a:r>
          </a:p>
        </p:txBody>
      </p:sp>
      <p:sp>
        <p:nvSpPr>
          <p:cNvPr id="15" name="evolution-body-2">
            <a:extLst xmlns:a="http://schemas.openxmlformats.org/drawingml/2006/main">
              <a:ext uri="{FF2B5EF4-FFF2-40B4-BE49-F238E27FC236}">
                <a16:creationId xmlns:a16="http://schemas.microsoft.com/office/drawing/2014/main" id="{27C2C1AC-E8AD-41FA-AFA6-5C87C0B9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Maintain identity and authority across the process</a:t>
            </a:r>
          </a:p>
        </p:txBody>
      </p:sp>
      <p:sp>
        <p:nvSpPr>
          <p:cNvPr id="16" name="evolution-3-frame">
            <a:extLst xmlns:a="http://schemas.openxmlformats.org/drawingml/2006/main">
              <a:ext uri="{FF2B5EF4-FFF2-40B4-BE49-F238E27FC236}">
                <a16:creationId xmlns:a16="http://schemas.microsoft.com/office/drawing/2014/main" id="{42F1F6DE-1E7A-42B5-A7A2-D855401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evolution-3-text">
            <a:extLst xmlns:a="http://schemas.openxmlformats.org/drawingml/2006/main">
              <a:ext uri="{FF2B5EF4-FFF2-40B4-BE49-F238E27FC236}">
                <a16:creationId xmlns:a16="http://schemas.microsoft.com/office/drawing/2014/main" id="{F699B82E-A38C-47F2-974D-67BB692F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evolution-title-3">
            <a:extLst xmlns:a="http://schemas.openxmlformats.org/drawingml/2006/main">
              <a:ext uri="{FF2B5EF4-FFF2-40B4-BE49-F238E27FC236}">
                <a16:creationId xmlns:a16="http://schemas.microsoft.com/office/drawing/2014/main" id="{C1C03CD9-DA50-4AE5-B2D8-7005AC29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</a:t>
            </a:r>
          </a:p>
        </p:txBody>
      </p:sp>
      <p:sp>
        <p:nvSpPr>
          <p:cNvPr id="19" name="evolution-body-3">
            <a:extLst xmlns:a="http://schemas.openxmlformats.org/drawingml/2006/main">
              <a:ext uri="{FF2B5EF4-FFF2-40B4-BE49-F238E27FC236}">
                <a16:creationId xmlns:a16="http://schemas.microsoft.com/office/drawing/2014/main" id="{42B12AF6-62B8-4329-A9FE-274A8B2D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Complete a trusted action with controls and evidence</a:t>
            </a:r>
          </a:p>
        </p:txBody>
      </p:sp>
      <p:sp>
        <p:nvSpPr>
          <p:cNvPr id="20" name="evolution-4-frame">
            <a:extLst xmlns:a="http://schemas.openxmlformats.org/drawingml/2006/main">
              <a:ext uri="{FF2B5EF4-FFF2-40B4-BE49-F238E27FC236}">
                <a16:creationId xmlns:a16="http://schemas.microsoft.com/office/drawing/2014/main" id="{EA1B963A-816C-4617-8A87-413BB66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evolution-4-text">
            <a:extLst xmlns:a="http://schemas.openxmlformats.org/drawingml/2006/main">
              <a:ext uri="{FF2B5EF4-FFF2-40B4-BE49-F238E27FC236}">
                <a16:creationId xmlns:a16="http://schemas.microsoft.com/office/drawing/2014/main" id="{BEC9C5F7-E5DC-4CF7-8DE0-D4EADC18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evolution-title-4">
            <a:extLst xmlns:a="http://schemas.openxmlformats.org/drawingml/2006/main">
              <a:ext uri="{FF2B5EF4-FFF2-40B4-BE49-F238E27FC236}">
                <a16:creationId xmlns:a16="http://schemas.microsoft.com/office/drawing/2014/main" id="{224522CD-C0C6-4036-B56D-63DDD0BF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 trusted execution</a:t>
            </a:r>
          </a:p>
        </p:txBody>
      </p:sp>
      <p:sp>
        <p:nvSpPr>
          <p:cNvPr id="23" name="evolution-body-4">
            <a:extLst xmlns:a="http://schemas.openxmlformats.org/drawingml/2006/main">
              <a:ext uri="{FF2B5EF4-FFF2-40B4-BE49-F238E27FC236}">
                <a16:creationId xmlns:a16="http://schemas.microsoft.com/office/drawing/2014/main" id="{87385ED3-6A29-4431-BE1C-80A75CD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Apply the same model when AI agents act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BD2B289-D972-4114-BD2A-AEA1653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42D3646-8F64-46A8-84AB-44605CB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 remain foundational as the scope expands around them.</a:t>
            </a:r>
          </a:p>
        </p:txBody>
      </p:sp>
    </p:spTree>
    <p:extLst>
      <p:ext uri="{BB962C8B-B14F-4D97-AF65-F5344CB8AC3E}">
        <p14:creationId xmlns:p14="http://schemas.microsoft.com/office/powerpoint/2010/main" val="2010079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865e0dc3b4c5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97DE4E-21E2-483E-9DC2-35FF8DD8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28B2EF8-2704-48A7-A673-5BF7870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4503C8B-B92F-4A6D-B9C3-D06E5E8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91B693CB-9DA0-438D-84D1-E0C6C0DA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8C3102-CB17-41EA-8499-3FADB9C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Differentiation is moving above trust infrastructure</a:t>
            </a:r>
          </a:p>
        </p:txBody>
      </p:sp>
      <p:sp>
        <p:nvSpPr>
          <p:cNvPr id="7" name="market-thesis-label">
            <a:extLst xmlns:a="http://schemas.openxmlformats.org/drawingml/2006/main">
              <a:ext uri="{FF2B5EF4-FFF2-40B4-BE49-F238E27FC236}">
                <a16:creationId xmlns:a16="http://schemas.microsoft.com/office/drawing/2014/main" id="{16340805-5EC2-484A-A171-0F19AA7A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STRATEGIC MARKET THESIS</a:t>
            </a:r>
          </a:p>
        </p:txBody>
      </p:sp>
      <p:sp>
        <p:nvSpPr>
          <p:cNvPr id="8" name="market-thesis">
            <a:extLst xmlns:a="http://schemas.openxmlformats.org/drawingml/2006/main">
              <a:ext uri="{FF2B5EF4-FFF2-40B4-BE49-F238E27FC236}">
                <a16:creationId xmlns:a16="http://schemas.microsoft.com/office/drawing/2014/main" id="{9C58C9F6-0C43-461A-857C-D480391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Shared identity, signature, seal, timestamp, PKI, and sovereign cloud services strengthen the foundation.</a:t>
            </a:r>
          </a:p>
        </p:txBody>
      </p:sp>
      <p:sp>
        <p:nvSpPr>
          <p:cNvPr id="9" name="market-implication">
            <a:extLst xmlns:a="http://schemas.openxmlformats.org/drawingml/2006/main">
              <a:ext uri="{FF2B5EF4-FFF2-40B4-BE49-F238E27FC236}">
                <a16:creationId xmlns:a16="http://schemas.microsoft.com/office/drawing/2014/main" id="{EB9FD4FE-4586-424F-8FDB-EC582B75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Circularo differentiates by connecting that foundation to authority, workflow, policy, evidence, integrations, and operating control.</a:t>
            </a:r>
          </a:p>
        </p:txBody>
      </p:sp>
      <p:sp>
        <p:nvSpPr>
          <p:cNvPr id="10" name="foundation-layer">
            <a:extLst xmlns:a="http://schemas.openxmlformats.org/drawingml/2006/main">
              <a:ext uri="{FF2B5EF4-FFF2-40B4-BE49-F238E27FC236}">
                <a16:creationId xmlns:a16="http://schemas.microsoft.com/office/drawing/2014/main" id="{748C6ED3-94DA-4FA6-9D2D-8195C68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4953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BF8F3E9D-E2D5-4A5D-A940-997F82E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 INFRASTRUCTURE</a:t>
            </a:r>
          </a:p>
        </p:txBody>
      </p:sp>
      <p:sp>
        <p:nvSpPr>
          <p:cNvPr id="12" name="foundation-items">
            <a:extLst xmlns:a="http://schemas.openxmlformats.org/drawingml/2006/main">
              <a:ext uri="{FF2B5EF4-FFF2-40B4-BE49-F238E27FC236}">
                <a16:creationId xmlns:a16="http://schemas.microsoft.com/office/drawing/2014/main" id="{28136B05-757E-4545-A83E-05247153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PKI · Signatures · Seals · Timestamps · Sovereign cloud</a:t>
            </a:r>
          </a:p>
        </p:txBody>
      </p:sp>
      <p:sp>
        <p:nvSpPr>
          <p:cNvPr id="13" name="orchestration-layer">
            <a:extLst xmlns:a="http://schemas.openxmlformats.org/drawingml/2006/main">
              <a:ext uri="{FF2B5EF4-FFF2-40B4-BE49-F238E27FC236}">
                <a16:creationId xmlns:a16="http://schemas.microsoft.com/office/drawing/2014/main" id="{74DF2759-90DA-4474-A1B0-87B0DDE2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715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rchestration-label">
            <a:extLst xmlns:a="http://schemas.openxmlformats.org/drawingml/2006/main">
              <a:ext uri="{FF2B5EF4-FFF2-40B4-BE49-F238E27FC236}">
                <a16:creationId xmlns:a16="http://schemas.microsoft.com/office/drawing/2014/main" id="{D37966E1-1957-46D4-88F8-D929660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TRUST ORCHESTRATION</a:t>
            </a:r>
          </a:p>
        </p:txBody>
      </p:sp>
      <p:sp>
        <p:nvSpPr>
          <p:cNvPr id="15" name="orchestration-items">
            <a:extLst xmlns:a="http://schemas.openxmlformats.org/drawingml/2006/main">
              <a:ext uri="{FF2B5EF4-FFF2-40B4-BE49-F238E27FC236}">
                <a16:creationId xmlns:a16="http://schemas.microsoft.com/office/drawing/2014/main" id="{9F787E39-0927-4FB8-9E50-A6F4896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 · Workflow · Policy · Approval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 · Compliance · Integration · Deployment control</a:t>
            </a:r>
          </a:p>
        </p:txBody>
      </p:sp>
      <p:sp>
        <p:nvSpPr>
          <p:cNvPr id="16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7DA4AF17-A07B-42C7-A2DC-07C4AA8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8A24F4F7-2205-403B-B396-8F09439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connects shared trust infrastructure with real business processes and outcomes.</a:t>
            </a:r>
          </a:p>
        </p:txBody>
      </p:sp>
    </p:spTree>
    <p:extLst>
      <p:ext uri="{BB962C8B-B14F-4D97-AF65-F5344CB8AC3E}">
        <p14:creationId xmlns:p14="http://schemas.microsoft.com/office/powerpoint/2010/main" val="1850867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d0a82f12e45e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EC04E3-C758-496A-9A58-C471020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9288067-4F6B-490B-BD29-921BF84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B2F9A89-6A21-4312-9FA5-67D41C69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9320F445-4B07-4B3F-ADC0-3374084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B5BB3-AA37-4DE6-83D0-AC91EF35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 and trusted execution serve different roles</a:t>
            </a:r>
          </a:p>
        </p:txBody>
      </p:sp>
      <p:sp>
        <p:nvSpPr>
          <p:cNvPr id="7" name="orchestration-panel">
            <a:extLst xmlns:a="http://schemas.openxmlformats.org/drawingml/2006/main">
              <a:ext uri="{FF2B5EF4-FFF2-40B4-BE49-F238E27FC236}">
                <a16:creationId xmlns:a16="http://schemas.microsoft.com/office/drawing/2014/main" id="{9E866A6D-0752-4133-8001-C919949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orchestration-number">
            <a:extLst xmlns:a="http://schemas.openxmlformats.org/drawingml/2006/main">
              <a:ext uri="{FF2B5EF4-FFF2-40B4-BE49-F238E27FC236}">
                <a16:creationId xmlns:a16="http://schemas.microsoft.com/office/drawing/2014/main" id="{37831BFD-4B56-41B9-9D24-0EEA7D81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 · PLATFORM CAPABILITY</a:t>
            </a:r>
          </a:p>
        </p:txBody>
      </p:sp>
      <p:sp>
        <p:nvSpPr>
          <p:cNvPr id="9" name="orchestration-name">
            <a:extLst xmlns:a="http://schemas.openxmlformats.org/drawingml/2006/main">
              <a:ext uri="{FF2B5EF4-FFF2-40B4-BE49-F238E27FC236}">
                <a16:creationId xmlns:a16="http://schemas.microsoft.com/office/drawing/2014/main" id="{AF1AA333-5C05-43A4-A4F5-899088AE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</a:t>
            </a:r>
          </a:p>
        </p:txBody>
      </p:sp>
      <p:sp>
        <p:nvSpPr>
          <p:cNvPr id="10" name="orchestration-definition">
            <a:extLst xmlns:a="http://schemas.openxmlformats.org/drawingml/2006/main">
              <a:ext uri="{FF2B5EF4-FFF2-40B4-BE49-F238E27FC236}">
                <a16:creationId xmlns:a16="http://schemas.microsoft.com/office/drawing/2014/main" id="{DAB482DE-68E7-4F17-B31B-B86719F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Connects actors, content, authority, workflow, trust services, and evidence across the business process.</a:t>
            </a:r>
          </a:p>
        </p:txBody>
      </p:sp>
      <p:sp>
        <p:nvSpPr>
          <p:cNvPr id="11" name="execution-panel">
            <a:extLst xmlns:a="http://schemas.openxmlformats.org/drawingml/2006/main">
              <a:ext uri="{FF2B5EF4-FFF2-40B4-BE49-F238E27FC236}">
                <a16:creationId xmlns:a16="http://schemas.microsoft.com/office/drawing/2014/main" id="{52D7C24F-7FF1-4807-A5E7-B9F7CEC0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54102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ecution-number">
            <a:extLst xmlns:a="http://schemas.openxmlformats.org/drawingml/2006/main">
              <a:ext uri="{FF2B5EF4-FFF2-40B4-BE49-F238E27FC236}">
                <a16:creationId xmlns:a16="http://schemas.microsoft.com/office/drawing/2014/main" id="{6A66D5FB-76B4-4B67-9EE7-A5359EC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 · BUSINESS OUTCOME</a:t>
            </a:r>
          </a:p>
        </p:txBody>
      </p:sp>
      <p:sp>
        <p:nvSpPr>
          <p:cNvPr id="13" name="execution-name">
            <a:extLst xmlns:a="http://schemas.openxmlformats.org/drawingml/2006/main">
              <a:ext uri="{FF2B5EF4-FFF2-40B4-BE49-F238E27FC236}">
                <a16:creationId xmlns:a16="http://schemas.microsoft.com/office/drawing/2014/main" id="{0FBCD788-F1D6-491F-95B7-2D347963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</p:txBody>
      </p:sp>
      <p:sp>
        <p:nvSpPr>
          <p:cNvPr id="14" name="execution-definition">
            <a:extLst xmlns:a="http://schemas.openxmlformats.org/drawingml/2006/main">
              <a:ext uri="{FF2B5EF4-FFF2-40B4-BE49-F238E27FC236}">
                <a16:creationId xmlns:a16="http://schemas.microsoft.com/office/drawing/2014/main" id="{1C3534E2-998E-43B1-9D01-42D9698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5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Produces a trusted and verifiable action with the appropriate controls, assurance, and retained evidence.</a:t>
            </a:r>
          </a:p>
        </p:txBody>
      </p:sp>
      <p:sp>
        <p:nvSpPr>
          <p:cNvPr id="1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279E1BE7-EFCF-4E30-B38E-325BE02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F0823A4D-4D8A-4EE6-A0C8-88533C5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orchestrates trust so the organization can complete a trusted action.</a:t>
            </a:r>
          </a:p>
        </p:txBody>
      </p:sp>
    </p:spTree>
    <p:extLst>
      <p:ext uri="{BB962C8B-B14F-4D97-AF65-F5344CB8AC3E}">
        <p14:creationId xmlns:p14="http://schemas.microsoft.com/office/powerpoint/2010/main" val="964759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95e310c42446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E17D01-8D6B-49B9-B712-9030206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9B410CB-EF21-4649-B892-3E34BC7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CB826F0-73BD-4D33-A188-F88C72C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D38DE5FF-96D7-4BD2-94DE-F01F117A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9BBC5-70FB-45B1-92F4-6F1E890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full trust chain begins before signing</a:t>
            </a:r>
          </a:p>
        </p:txBody>
      </p:sp>
      <p:sp>
        <p:nvSpPr>
          <p:cNvPr id="7" name="chain-spine">
            <a:extLst xmlns:a="http://schemas.openxmlformats.org/drawingml/2006/main">
              <a:ext uri="{FF2B5EF4-FFF2-40B4-BE49-F238E27FC236}">
                <a16:creationId xmlns:a16="http://schemas.microsoft.com/office/drawing/2014/main" id="{7AA21158-7901-4BD7-AB3E-DE56196D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10248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in-1-frame">
            <a:extLst xmlns:a="http://schemas.openxmlformats.org/drawingml/2006/main">
              <a:ext uri="{FF2B5EF4-FFF2-40B4-BE49-F238E27FC236}">
                <a16:creationId xmlns:a16="http://schemas.microsoft.com/office/drawing/2014/main" id="{D264344F-7582-4FEF-A02D-EB18312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43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chain-1-text">
            <a:extLst xmlns:a="http://schemas.openxmlformats.org/drawingml/2006/main">
              <a:ext uri="{FF2B5EF4-FFF2-40B4-BE49-F238E27FC236}">
                <a16:creationId xmlns:a16="http://schemas.microsoft.com/office/drawing/2014/main" id="{DBDFF5EA-9F9F-4D33-972B-35CD8063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38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chain-title-1">
            <a:extLst xmlns:a="http://schemas.openxmlformats.org/drawingml/2006/main">
              <a:ext uri="{FF2B5EF4-FFF2-40B4-BE49-F238E27FC236}">
                <a16:creationId xmlns:a16="http://schemas.microsoft.com/office/drawing/2014/main" id="{B01BBE44-B183-4145-80AF-6256131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Prepare</a:t>
            </a:r>
          </a:p>
        </p:txBody>
      </p:sp>
      <p:sp>
        <p:nvSpPr>
          <p:cNvPr id="11" name="chain-items-1">
            <a:extLst xmlns:a="http://schemas.openxmlformats.org/drawingml/2006/main">
              <a:ext uri="{FF2B5EF4-FFF2-40B4-BE49-F238E27FC236}">
                <a16:creationId xmlns:a16="http://schemas.microsoft.com/office/drawing/2014/main" id="{53F69510-7CB9-4FB4-810B-74BCC45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Create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Collaborate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2" name="chain-2-frame">
            <a:extLst xmlns:a="http://schemas.openxmlformats.org/drawingml/2006/main">
              <a:ext uri="{FF2B5EF4-FFF2-40B4-BE49-F238E27FC236}">
                <a16:creationId xmlns:a16="http://schemas.microsoft.com/office/drawing/2014/main" id="{FD2C5DC3-A987-4F9E-BBF6-E24F0AC3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43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chain-2-text">
            <a:extLst xmlns:a="http://schemas.openxmlformats.org/drawingml/2006/main">
              <a:ext uri="{FF2B5EF4-FFF2-40B4-BE49-F238E27FC236}">
                <a16:creationId xmlns:a16="http://schemas.microsoft.com/office/drawing/2014/main" id="{239B09A1-D1E1-470D-A7C5-6EE0F34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38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chain-title-2">
            <a:extLst xmlns:a="http://schemas.openxmlformats.org/drawingml/2006/main">
              <a:ext uri="{FF2B5EF4-FFF2-40B4-BE49-F238E27FC236}">
                <a16:creationId xmlns:a16="http://schemas.microsoft.com/office/drawing/2014/main" id="{D7139F5A-38B9-469B-8BF4-CD549F6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</a:t>
            </a:r>
          </a:p>
        </p:txBody>
      </p:sp>
      <p:sp>
        <p:nvSpPr>
          <p:cNvPr id="15" name="chain-items-2">
            <a:extLst xmlns:a="http://schemas.openxmlformats.org/drawingml/2006/main">
              <a:ext uri="{FF2B5EF4-FFF2-40B4-BE49-F238E27FC236}">
                <a16:creationId xmlns:a16="http://schemas.microsoft.com/office/drawing/2014/main" id="{740AF333-5159-40C1-A04B-97784E90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291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Identify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Authorize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6" name="chain-3-frame">
            <a:extLst xmlns:a="http://schemas.openxmlformats.org/drawingml/2006/main">
              <a:ext uri="{FF2B5EF4-FFF2-40B4-BE49-F238E27FC236}">
                <a16:creationId xmlns:a16="http://schemas.microsoft.com/office/drawing/2014/main" id="{0DE1EBAD-FB0B-4113-9AD4-61DF9ED8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43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chain-3-text">
            <a:extLst xmlns:a="http://schemas.openxmlformats.org/drawingml/2006/main">
              <a:ext uri="{FF2B5EF4-FFF2-40B4-BE49-F238E27FC236}">
                <a16:creationId xmlns:a16="http://schemas.microsoft.com/office/drawing/2014/main" id="{5417A632-437F-4743-8819-105629F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38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chain-title-3">
            <a:extLst xmlns:a="http://schemas.openxmlformats.org/drawingml/2006/main">
              <a:ext uri="{FF2B5EF4-FFF2-40B4-BE49-F238E27FC236}">
                <a16:creationId xmlns:a16="http://schemas.microsoft.com/office/drawing/2014/main" id="{86543EFD-6EFA-4F8C-9583-6495CA1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Assure</a:t>
            </a:r>
          </a:p>
        </p:txBody>
      </p:sp>
      <p:sp>
        <p:nvSpPr>
          <p:cNvPr id="19" name="chain-items-3">
            <a:extLst xmlns:a="http://schemas.openxmlformats.org/drawingml/2006/main">
              <a:ext uri="{FF2B5EF4-FFF2-40B4-BE49-F238E27FC236}">
                <a16:creationId xmlns:a16="http://schemas.microsoft.com/office/drawing/2014/main" id="{CD8F222E-8B33-40E3-94E2-A3E7F961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Sign or seal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Timestamp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0" name="chain-4-frame">
            <a:extLst xmlns:a="http://schemas.openxmlformats.org/drawingml/2006/main">
              <a:ext uri="{FF2B5EF4-FFF2-40B4-BE49-F238E27FC236}">
                <a16:creationId xmlns:a16="http://schemas.microsoft.com/office/drawing/2014/main" id="{AE02DD60-54D0-402D-A5E2-210C75D2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43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chain-4-text">
            <a:extLst xmlns:a="http://schemas.openxmlformats.org/drawingml/2006/main">
              <a:ext uri="{FF2B5EF4-FFF2-40B4-BE49-F238E27FC236}">
                <a16:creationId xmlns:a16="http://schemas.microsoft.com/office/drawing/2014/main" id="{8170A268-68A5-42B9-A2B7-4785D0C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38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chain-title-4">
            <a:extLst xmlns:a="http://schemas.openxmlformats.org/drawingml/2006/main">
              <a:ext uri="{FF2B5EF4-FFF2-40B4-BE49-F238E27FC236}">
                <a16:creationId xmlns:a16="http://schemas.microsoft.com/office/drawing/2014/main" id="{A4BED44B-1ABB-4B5B-A8D8-7B9E42F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3" name="chain-items-4">
            <a:extLst xmlns:a="http://schemas.openxmlformats.org/drawingml/2006/main">
              <a:ext uri="{FF2B5EF4-FFF2-40B4-BE49-F238E27FC236}">
                <a16:creationId xmlns:a16="http://schemas.microsoft.com/office/drawing/2014/main" id="{4D22E6A8-4B09-4F18-A2D8-FE531D6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Evidence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Audit</a:t>
            </a:r>
          </a:p>
          <a:p xmlns:a="http://schemas.openxmlformats.org/drawingml/2006/main">
            <a:pPr algn="ctr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6C81406A-3BBA-4A96-9772-DAE1E750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9CA8F29-B8D7-4220-BC49-13915CA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Signing remains essential, but it represents one event inside a broader trust chain.</a:t>
            </a:r>
          </a:p>
        </p:txBody>
      </p:sp>
    </p:spTree>
    <p:extLst>
      <p:ext uri="{BB962C8B-B14F-4D97-AF65-F5344CB8AC3E}">
        <p14:creationId xmlns:p14="http://schemas.microsoft.com/office/powerpoint/2010/main" val="897349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1cf5ed772451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25FEA8-C5DA-4FA8-A28E-29EFDC7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A32F8BA-1CFF-4C8F-B5F1-CE6F9F4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E0FA0C6-FF11-4039-AFC1-67EFF4D6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C48CC1DC-AA5B-41B8-9FA8-2ECC318A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E33CD4-AD3B-4019-9EEE-F13075B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connects the full business process</a:t>
            </a:r>
          </a:p>
        </p:txBody>
      </p:sp>
      <p:sp>
        <p:nvSpPr>
          <p:cNvPr id="7" name="scope-rule-1">
            <a:extLst xmlns:a="http://schemas.openxmlformats.org/drawingml/2006/main">
              <a:ext uri="{FF2B5EF4-FFF2-40B4-BE49-F238E27FC236}">
                <a16:creationId xmlns:a16="http://schemas.microsoft.com/office/drawing/2014/main" id="{590B34DC-280C-4BF3-BA4E-BEF6FF9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number-1">
            <a:extLst xmlns:a="http://schemas.openxmlformats.org/drawingml/2006/main">
              <a:ext uri="{FF2B5EF4-FFF2-40B4-BE49-F238E27FC236}">
                <a16:creationId xmlns:a16="http://schemas.microsoft.com/office/drawing/2014/main" id="{706F7B47-7501-4460-A6C8-AB76DE8B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D0637081-0544-4763-8251-323F2FA3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 and collaboration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2F779161-5C8E-4169-8DAB-7273C0E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Create, review, prepare, and integrate important business content</a:t>
            </a:r>
          </a:p>
        </p:txBody>
      </p:sp>
      <p:sp>
        <p:nvSpPr>
          <p:cNvPr id="11" name="scope-rule-2">
            <a:extLst xmlns:a="http://schemas.openxmlformats.org/drawingml/2006/main">
              <a:ext uri="{FF2B5EF4-FFF2-40B4-BE49-F238E27FC236}">
                <a16:creationId xmlns:a16="http://schemas.microsoft.com/office/drawing/2014/main" id="{7F9A969B-C920-429E-A6A6-0B4EA9E5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ope-number-2">
            <a:extLst xmlns:a="http://schemas.openxmlformats.org/drawingml/2006/main">
              <a:ext uri="{FF2B5EF4-FFF2-40B4-BE49-F238E27FC236}">
                <a16:creationId xmlns:a16="http://schemas.microsoft.com/office/drawing/2014/main" id="{FCFA6B07-F96E-428D-90A5-7956089E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00C8BE6E-5077-4E9E-B071-0028165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 and workflow</a:t>
            </a:r>
          </a:p>
        </p:txBody>
      </p:sp>
      <p:sp>
        <p:nvSpPr>
          <p:cNvPr id="14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2A36182E-2863-4C3C-8208-6D08DF2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Coordinate roles, permissions, policy, review, and approval</a:t>
            </a:r>
          </a:p>
        </p:txBody>
      </p:sp>
      <p:sp>
        <p:nvSpPr>
          <p:cNvPr id="15" name="scope-rule-3">
            <a:extLst xmlns:a="http://schemas.openxmlformats.org/drawingml/2006/main">
              <a:ext uri="{FF2B5EF4-FFF2-40B4-BE49-F238E27FC236}">
                <a16:creationId xmlns:a16="http://schemas.microsoft.com/office/drawing/2014/main" id="{3CAFBFA8-7A2A-4A72-860C-D0D992B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pe-number-3">
            <a:extLst xmlns:a="http://schemas.openxmlformats.org/drawingml/2006/main">
              <a:ext uri="{FF2B5EF4-FFF2-40B4-BE49-F238E27FC236}">
                <a16:creationId xmlns:a16="http://schemas.microsoft.com/office/drawing/2014/main" id="{D388EEDE-7103-48D1-9313-7E94086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scope-title-3">
            <a:extLst xmlns:a="http://schemas.openxmlformats.org/drawingml/2006/main">
              <a:ext uri="{FF2B5EF4-FFF2-40B4-BE49-F238E27FC236}">
                <a16:creationId xmlns:a16="http://schemas.microsoft.com/office/drawing/2014/main" id="{118AF44D-C253-4D85-B13F-E61CC0F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18" name="scope-body-3">
            <a:extLst xmlns:a="http://schemas.openxmlformats.org/drawingml/2006/main">
              <a:ext uri="{FF2B5EF4-FFF2-40B4-BE49-F238E27FC236}">
                <a16:creationId xmlns:a16="http://schemas.microsoft.com/office/drawing/2014/main" id="{DE49974F-37B1-433A-9CBE-8B0535B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Invoke identity, signatures, seals, timestamps, and external services</a:t>
            </a:r>
          </a:p>
        </p:txBody>
      </p:sp>
      <p:sp>
        <p:nvSpPr>
          <p:cNvPr id="19" name="scope-rule-4">
            <a:extLst xmlns:a="http://schemas.openxmlformats.org/drawingml/2006/main">
              <a:ext uri="{FF2B5EF4-FFF2-40B4-BE49-F238E27FC236}">
                <a16:creationId xmlns:a16="http://schemas.microsoft.com/office/drawing/2014/main" id="{A73F76E2-D7D6-44C3-A4F6-7281D44C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ope-number-4">
            <a:extLst xmlns:a="http://schemas.openxmlformats.org/drawingml/2006/main">
              <a:ext uri="{FF2B5EF4-FFF2-40B4-BE49-F238E27FC236}">
                <a16:creationId xmlns:a16="http://schemas.microsoft.com/office/drawing/2014/main" id="{6F97FFD0-604E-4185-BF60-0AFED838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scope-title-4">
            <a:extLst xmlns:a="http://schemas.openxmlformats.org/drawingml/2006/main">
              <a:ext uri="{FF2B5EF4-FFF2-40B4-BE49-F238E27FC236}">
                <a16:creationId xmlns:a16="http://schemas.microsoft.com/office/drawing/2014/main" id="{21B23CDF-6C4C-467A-8E37-5CBA12C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 and records</a:t>
            </a:r>
          </a:p>
        </p:txBody>
      </p:sp>
      <p:sp>
        <p:nvSpPr>
          <p:cNvPr id="22" name="scope-body-4">
            <a:extLst xmlns:a="http://schemas.openxmlformats.org/drawingml/2006/main">
              <a:ext uri="{FF2B5EF4-FFF2-40B4-BE49-F238E27FC236}">
                <a16:creationId xmlns:a16="http://schemas.microsoft.com/office/drawing/2014/main" id="{3267AFD3-4AFD-4373-9D8A-E11DEFE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Retain the authoritative version, decisions, events, and audit context</a:t>
            </a:r>
          </a:p>
        </p:txBody>
      </p:sp>
      <p:sp>
        <p:nvSpPr>
          <p:cNvPr id="23" name="scope-rule-5">
            <a:extLst xmlns:a="http://schemas.openxmlformats.org/drawingml/2006/main">
              <a:ext uri="{FF2B5EF4-FFF2-40B4-BE49-F238E27FC236}">
                <a16:creationId xmlns:a16="http://schemas.microsoft.com/office/drawing/2014/main" id="{A6919950-0F37-40F8-B796-8010166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ope-number-5">
            <a:extLst xmlns:a="http://schemas.openxmlformats.org/drawingml/2006/main">
              <a:ext uri="{FF2B5EF4-FFF2-40B4-BE49-F238E27FC236}">
                <a16:creationId xmlns:a16="http://schemas.microsoft.com/office/drawing/2014/main" id="{11404774-D10D-4514-AD1A-03337A9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5" name="scope-title-5">
            <a:extLst xmlns:a="http://schemas.openxmlformats.org/drawingml/2006/main">
              <a:ext uri="{FF2B5EF4-FFF2-40B4-BE49-F238E27FC236}">
                <a16:creationId xmlns:a16="http://schemas.microsoft.com/office/drawing/2014/main" id="{80CEA1C8-4E68-4C38-92A1-66FB3A0A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Unified Trust API</a:t>
            </a:r>
          </a:p>
        </p:txBody>
      </p:sp>
      <p:sp>
        <p:nvSpPr>
          <p:cNvPr id="26" name="scope-body-5">
            <a:extLst xmlns:a="http://schemas.openxmlformats.org/drawingml/2006/main">
              <a:ext uri="{FF2B5EF4-FFF2-40B4-BE49-F238E27FC236}">
                <a16:creationId xmlns:a16="http://schemas.microsoft.com/office/drawing/2014/main" id="{647A4468-447B-44A1-9FB3-44DDF126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Extend the trust model into services, applications, portals, and AI agents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D4E1F63-332B-4A77-AF4C-92E0E7D9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F9CA743C-E34E-4E9B-AA1B-9B19D59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platform links trust events into one controlled and verifiable business outcome.</a:t>
            </a:r>
          </a:p>
        </p:txBody>
      </p:sp>
    </p:spTree>
    <p:extLst>
      <p:ext uri="{BB962C8B-B14F-4D97-AF65-F5344CB8AC3E}">
        <p14:creationId xmlns:p14="http://schemas.microsoft.com/office/powerpoint/2010/main" val="1896660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7001ec4b54f2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12287B-4F36-4003-918B-E646B98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8256A04-F353-4CD7-B45C-BF21F0E5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8F38465-ED83-4840-BD3B-34A020C9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B1B8F687-8930-4D98-92EF-91FAECDC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91AFCE-C021-49AC-A9FC-E4B70138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platform supports three delivery models</a:t>
            </a:r>
          </a:p>
        </p:txBody>
      </p:sp>
      <p:sp>
        <p:nvSpPr>
          <p:cNvPr id="7" name="model-number-1">
            <a:extLst xmlns:a="http://schemas.openxmlformats.org/drawingml/2006/main">
              <a:ext uri="{FF2B5EF4-FFF2-40B4-BE49-F238E27FC236}">
                <a16:creationId xmlns:a16="http://schemas.microsoft.com/office/drawing/2014/main" id="{E476F409-7063-4971-A4F1-7241328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8" name="model-title-1">
            <a:extLst xmlns:a="http://schemas.openxmlformats.org/drawingml/2006/main">
              <a:ext uri="{FF2B5EF4-FFF2-40B4-BE49-F238E27FC236}">
                <a16:creationId xmlns:a16="http://schemas.microsoft.com/office/drawing/2014/main" id="{4389BA8A-FB45-4329-8776-828C2A9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9" name="model-body-1">
            <a:extLst xmlns:a="http://schemas.openxmlformats.org/drawingml/2006/main">
              <a:ext uri="{FF2B5EF4-FFF2-40B4-BE49-F238E27FC236}">
                <a16:creationId xmlns:a16="http://schemas.microsoft.com/office/drawing/2014/main" id="{F8619056-19A3-44D4-ACC9-DBD605A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Managed Circularo cloud services for organizations that want to consume the platform as SaaS</a:t>
            </a:r>
          </a:p>
        </p:txBody>
      </p:sp>
      <p:sp>
        <p:nvSpPr>
          <p:cNvPr id="10" name="model-number-2">
            <a:extLst xmlns:a="http://schemas.openxmlformats.org/drawingml/2006/main">
              <a:ext uri="{FF2B5EF4-FFF2-40B4-BE49-F238E27FC236}">
                <a16:creationId xmlns:a16="http://schemas.microsoft.com/office/drawing/2014/main" id="{2063022B-575C-4230-A3A9-8329CE30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1" name="model-title-2">
            <a:extLst xmlns:a="http://schemas.openxmlformats.org/drawingml/2006/main">
              <a:ext uri="{FF2B5EF4-FFF2-40B4-BE49-F238E27FC236}">
                <a16:creationId xmlns:a16="http://schemas.microsoft.com/office/drawing/2014/main" id="{9A464520-F58D-42A3-897F-CBEB81C1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Sovereign</a:t>
            </a:r>
          </a:p>
        </p:txBody>
      </p:sp>
      <p:sp>
        <p:nvSpPr>
          <p:cNvPr id="12" name="model-body-2">
            <a:extLst xmlns:a="http://schemas.openxmlformats.org/drawingml/2006/main">
              <a:ext uri="{FF2B5EF4-FFF2-40B4-BE49-F238E27FC236}">
                <a16:creationId xmlns:a16="http://schemas.microsoft.com/office/drawing/2014/main" id="{801BCEE0-1945-4EE8-8B42-1770981E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Dedicated or customer-controlled infrastructure for sovereignty, isolation, residency, and deployment control</a:t>
            </a:r>
          </a:p>
        </p:txBody>
      </p:sp>
      <p:sp>
        <p:nvSpPr>
          <p:cNvPr id="13" name="model-number-3">
            <a:extLst xmlns:a="http://schemas.openxmlformats.org/drawingml/2006/main">
              <a:ext uri="{FF2B5EF4-FFF2-40B4-BE49-F238E27FC236}">
                <a16:creationId xmlns:a16="http://schemas.microsoft.com/office/drawing/2014/main" id="{86756F46-AC09-4CAD-AC16-6712585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4" name="model-title-3">
            <a:extLst xmlns:a="http://schemas.openxmlformats.org/drawingml/2006/main">
              <a:ext uri="{FF2B5EF4-FFF2-40B4-BE49-F238E27FC236}">
                <a16:creationId xmlns:a16="http://schemas.microsoft.com/office/drawing/2014/main" id="{68B0452A-05E0-4FF5-A79F-C0727DE3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Shared Services</a:t>
            </a:r>
          </a:p>
        </p:txBody>
      </p:sp>
      <p:sp>
        <p:nvSpPr>
          <p:cNvPr id="15" name="model-body-3">
            <a:extLst xmlns:a="http://schemas.openxmlformats.org/drawingml/2006/main">
              <a:ext uri="{FF2B5EF4-FFF2-40B4-BE49-F238E27FC236}">
                <a16:creationId xmlns:a16="http://schemas.microsoft.com/office/drawing/2014/main" id="{33762F0F-D4E9-4BF5-BB3F-EA005BD7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governed common platform operated centrally for multiple organizations or institutions</a:t>
            </a:r>
          </a:p>
        </p:txBody>
      </p:sp>
      <p:sp>
        <p:nvSpPr>
          <p:cNvPr id="16" name="common-platform">
            <a:extLst xmlns:a="http://schemas.openxmlformats.org/drawingml/2006/main">
              <a:ext uri="{FF2B5EF4-FFF2-40B4-BE49-F238E27FC236}">
                <a16:creationId xmlns:a16="http://schemas.microsoft.com/office/drawing/2014/main" id="{681980D8-54BC-435A-BDA8-EF0C808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mon-platform-text">
            <a:extLst xmlns:a="http://schemas.openxmlformats.org/drawingml/2006/main">
              <a:ext uri="{FF2B5EF4-FFF2-40B4-BE49-F238E27FC236}">
                <a16:creationId xmlns:a16="http://schemas.microsoft.com/office/drawing/2014/main" id="{1D3D749C-62B4-4051-BD6B-7FDB6E21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TRUST ORCHESTRATION PLATFORM · COMMON GOVERNANCE · COMMON EVIDENCE MODEL</a:t>
            </a:r>
          </a:p>
        </p:txBody>
      </p:sp>
    </p:spTree>
    <p:extLst>
      <p:ext uri="{BB962C8B-B14F-4D97-AF65-F5344CB8AC3E}">
        <p14:creationId xmlns:p14="http://schemas.microsoft.com/office/powerpoint/2010/main" val="581277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5ff447869460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A93AE7-A515-4B0A-BA00-B233A59D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FDAA413-DE0A-4BFA-B293-82400B84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6E16F95-F16B-41BF-B51A-1386CE9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192018B8-AF1F-4EA0-A0F8-F404517B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29E87F-0565-4EAE-A9AD-23AB119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Agentic systems change who can initiate action</a:t>
            </a:r>
          </a:p>
        </p:txBody>
      </p:sp>
      <p:sp>
        <p:nvSpPr>
          <p:cNvPr id="7" name="agentic-spine">
            <a:extLst xmlns:a="http://schemas.openxmlformats.org/drawingml/2006/main">
              <a:ext uri="{FF2B5EF4-FFF2-40B4-BE49-F238E27FC236}">
                <a16:creationId xmlns:a16="http://schemas.microsoft.com/office/drawing/2014/main" id="{8F7D564A-3DD5-43B6-9FFF-5A497907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tic-1-frame">
            <a:extLst xmlns:a="http://schemas.openxmlformats.org/drawingml/2006/main">
              <a:ext uri="{FF2B5EF4-FFF2-40B4-BE49-F238E27FC236}">
                <a16:creationId xmlns:a16="http://schemas.microsoft.com/office/drawing/2014/main" id="{A2686755-E4A4-428C-AD99-3C113AB9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9" name="agentic-1-text">
            <a:extLst xmlns:a="http://schemas.openxmlformats.org/drawingml/2006/main">
              <a:ext uri="{FF2B5EF4-FFF2-40B4-BE49-F238E27FC236}">
                <a16:creationId xmlns:a16="http://schemas.microsoft.com/office/drawing/2014/main" id="{146041E0-EE17-457A-998E-5DE5B9B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agentic-title-1">
            <a:extLst xmlns:a="http://schemas.openxmlformats.org/drawingml/2006/main">
              <a:ext uri="{FF2B5EF4-FFF2-40B4-BE49-F238E27FC236}">
                <a16:creationId xmlns:a16="http://schemas.microsoft.com/office/drawing/2014/main" id="{34920C9B-AA34-49C0-A67C-1ED9A8A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1" name="agentic-body-1">
            <a:extLst xmlns:a="http://schemas.openxmlformats.org/drawingml/2006/main">
              <a:ext uri="{FF2B5EF4-FFF2-40B4-BE49-F238E27FC236}">
                <a16:creationId xmlns:a16="http://schemas.microsoft.com/office/drawing/2014/main" id="{C7E50F18-E22A-452B-A50C-338A632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People move information online</a:t>
            </a:r>
          </a:p>
        </p:txBody>
      </p:sp>
      <p:sp>
        <p:nvSpPr>
          <p:cNvPr id="12" name="agentic-2-frame">
            <a:extLst xmlns:a="http://schemas.openxmlformats.org/drawingml/2006/main">
              <a:ext uri="{FF2B5EF4-FFF2-40B4-BE49-F238E27FC236}">
                <a16:creationId xmlns:a16="http://schemas.microsoft.com/office/drawing/2014/main" id="{C2251973-AB23-41AB-BC18-A975292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3" name="agentic-2-text">
            <a:extLst xmlns:a="http://schemas.openxmlformats.org/drawingml/2006/main">
              <a:ext uri="{FF2B5EF4-FFF2-40B4-BE49-F238E27FC236}">
                <a16:creationId xmlns:a16="http://schemas.microsoft.com/office/drawing/2014/main" id="{E7F7C928-412B-4892-9D2A-C762405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agentic-title-2">
            <a:extLst xmlns:a="http://schemas.openxmlformats.org/drawingml/2006/main">
              <a:ext uri="{FF2B5EF4-FFF2-40B4-BE49-F238E27FC236}">
                <a16:creationId xmlns:a16="http://schemas.microsoft.com/office/drawing/2014/main" id="{B4C5215F-0A36-4586-A180-A7B5346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5" name="agentic-body-2">
            <a:extLst xmlns:a="http://schemas.openxmlformats.org/drawingml/2006/main">
              <a:ext uri="{FF2B5EF4-FFF2-40B4-BE49-F238E27FC236}">
                <a16:creationId xmlns:a16="http://schemas.microsoft.com/office/drawing/2014/main" id="{E1344BA4-EA79-45BA-BD0F-C344F11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Systems execute repeatable rules</a:t>
            </a:r>
          </a:p>
        </p:txBody>
      </p:sp>
      <p:sp>
        <p:nvSpPr>
          <p:cNvPr id="16" name="agentic-3-frame">
            <a:extLst xmlns:a="http://schemas.openxmlformats.org/drawingml/2006/main">
              <a:ext uri="{FF2B5EF4-FFF2-40B4-BE49-F238E27FC236}">
                <a16:creationId xmlns:a16="http://schemas.microsoft.com/office/drawing/2014/main" id="{7EC44F57-17AB-47E1-A269-EB59E17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7" name="agentic-3-text">
            <a:extLst xmlns:a="http://schemas.openxmlformats.org/drawingml/2006/main">
              <a:ext uri="{FF2B5EF4-FFF2-40B4-BE49-F238E27FC236}">
                <a16:creationId xmlns:a16="http://schemas.microsoft.com/office/drawing/2014/main" id="{D67F6BEF-ACA4-4EC9-8B88-32F83E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19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agentic-title-3">
            <a:extLst xmlns:a="http://schemas.openxmlformats.org/drawingml/2006/main">
              <a:ext uri="{FF2B5EF4-FFF2-40B4-BE49-F238E27FC236}">
                <a16:creationId xmlns:a16="http://schemas.microsoft.com/office/drawing/2014/main" id="{A87A8BCA-9799-461B-BF5F-4DD57CE9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assisted</a:t>
            </a:r>
          </a:p>
        </p:txBody>
      </p:sp>
      <p:sp>
        <p:nvSpPr>
          <p:cNvPr id="19" name="agentic-body-3">
            <a:extLst xmlns:a="http://schemas.openxmlformats.org/drawingml/2006/main">
              <a:ext uri="{FF2B5EF4-FFF2-40B4-BE49-F238E27FC236}">
                <a16:creationId xmlns:a16="http://schemas.microsoft.com/office/drawing/2014/main" id="{4E1B05D3-B789-4811-9BEE-66EA0A4C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Systems interpret and recommend</a:t>
            </a:r>
          </a:p>
        </p:txBody>
      </p:sp>
      <p:sp>
        <p:nvSpPr>
          <p:cNvPr id="20" name="agentic-4-frame">
            <a:extLst xmlns:a="http://schemas.openxmlformats.org/drawingml/2006/main">
              <a:ext uri="{FF2B5EF4-FFF2-40B4-BE49-F238E27FC236}">
                <a16:creationId xmlns:a16="http://schemas.microsoft.com/office/drawing/2014/main" id="{FB89E944-DC3C-4996-8290-8B23DFF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242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agentic-4-text">
            <a:extLst xmlns:a="http://schemas.openxmlformats.org/drawingml/2006/main">
              <a:ext uri="{FF2B5EF4-FFF2-40B4-BE49-F238E27FC236}">
                <a16:creationId xmlns:a16="http://schemas.microsoft.com/office/drawing/2014/main" id="{2C58F13C-BF7D-451E-B08C-4D89EF7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19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agentic-title-4">
            <a:extLst xmlns:a="http://schemas.openxmlformats.org/drawingml/2006/main">
              <a:ext uri="{FF2B5EF4-FFF2-40B4-BE49-F238E27FC236}">
                <a16:creationId xmlns:a16="http://schemas.microsoft.com/office/drawing/2014/main" id="{388B4A3A-1BD7-4E7C-9687-05FFB9D7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23" name="agentic-body-4">
            <a:extLst xmlns:a="http://schemas.openxmlformats.org/drawingml/2006/main">
              <a:ext uri="{FF2B5EF4-FFF2-40B4-BE49-F238E27FC236}">
                <a16:creationId xmlns:a16="http://schemas.microsoft.com/office/drawing/2014/main" id="{B641917F-CB36-46D3-BF89-44E5822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Software initiates trusted actions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ED83FEE-CCFD-4465-8387-4F5E0A46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BDD7B9A-0766-4ECD-9F39-46FD5AE8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Greater autonomy requires stronger institutional control.</a:t>
            </a:r>
          </a:p>
        </p:txBody>
      </p:sp>
    </p:spTree>
    <p:extLst>
      <p:ext uri="{BB962C8B-B14F-4D97-AF65-F5344CB8AC3E}">
        <p14:creationId xmlns:p14="http://schemas.microsoft.com/office/powerpoint/2010/main" val="1801402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536ac4c25406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6E44E9-CDA3-4712-89C0-08E3741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136102D-6912-4063-8CAC-B5C470C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DFF5A5A-497F-4E84-BCB5-4A2C093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9724BB80-61B6-4116-A4CF-D4AB6FC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C1C8FA-3A27-4B3E-833C-00652F62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Intelligence and authority answer different questions</a:t>
            </a:r>
          </a:p>
        </p:txBody>
      </p:sp>
      <p:sp>
        <p:nvSpPr>
          <p:cNvPr id="7" name="intelligence-area">
            <a:extLst xmlns:a="http://schemas.openxmlformats.org/drawingml/2006/main">
              <a:ext uri="{FF2B5EF4-FFF2-40B4-BE49-F238E27FC236}">
                <a16:creationId xmlns:a16="http://schemas.microsoft.com/office/drawing/2014/main" id="{350C07E7-D516-4724-8FD7-07A5B446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lligence-label">
            <a:extLst xmlns:a="http://schemas.openxmlformats.org/drawingml/2006/main">
              <a:ext uri="{FF2B5EF4-FFF2-40B4-BE49-F238E27FC236}">
                <a16:creationId xmlns:a16="http://schemas.microsoft.com/office/drawing/2014/main" id="{66A11966-69D0-4CC1-8722-91E99F43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INTELLIGENCE</a:t>
            </a:r>
          </a:p>
        </p:txBody>
      </p:sp>
      <p:sp>
        <p:nvSpPr>
          <p:cNvPr id="9" name="intelligence-statement">
            <a:extLst xmlns:a="http://schemas.openxmlformats.org/drawingml/2006/main">
              <a:ext uri="{FF2B5EF4-FFF2-40B4-BE49-F238E27FC236}">
                <a16:creationId xmlns:a16="http://schemas.microsoft.com/office/drawing/2014/main" id="{64AE89B5-23E5-41D7-A963-D35E7530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An AI agent may determine what should happen.</a:t>
            </a:r>
          </a:p>
        </p:txBody>
      </p:sp>
      <p:sp>
        <p:nvSpPr>
          <p:cNvPr id="10" name="authority-statement">
            <a:extLst xmlns:a="http://schemas.openxmlformats.org/drawingml/2006/main">
              <a:ext uri="{FF2B5EF4-FFF2-40B4-BE49-F238E27FC236}">
                <a16:creationId xmlns:a16="http://schemas.microsoft.com/office/drawing/2014/main" id="{D5354603-9104-4F39-9EAE-D69039D8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Institutional authority determines whether it may execute.</a:t>
            </a:r>
          </a:p>
        </p:txBody>
      </p:sp>
      <p:sp>
        <p:nvSpPr>
          <p:cNvPr id="11" name="question-label-1">
            <a:extLst xmlns:a="http://schemas.openxmlformats.org/drawingml/2006/main">
              <a:ext uri="{FF2B5EF4-FFF2-40B4-BE49-F238E27FC236}">
                <a16:creationId xmlns:a16="http://schemas.microsoft.com/office/drawing/2014/main" id="{054B9DC9-403D-4992-91EF-1A23AEF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</a:t>
            </a:r>
          </a:p>
        </p:txBody>
      </p:sp>
      <p:sp>
        <p:nvSpPr>
          <p:cNvPr id="12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A17C41DB-20DA-4D1A-BA19-806A65F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or what is acting?</a:t>
            </a:r>
          </a:p>
        </p:txBody>
      </p:sp>
      <p:sp>
        <p:nvSpPr>
          <p:cNvPr id="13" name="question-line-1">
            <a:extLst xmlns:a="http://schemas.openxmlformats.org/drawingml/2006/main">
              <a:ext uri="{FF2B5EF4-FFF2-40B4-BE49-F238E27FC236}">
                <a16:creationId xmlns:a16="http://schemas.microsoft.com/office/drawing/2014/main" id="{A01FC40D-2079-433B-B9B0-9E92621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098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estion-label-2">
            <a:extLst xmlns:a="http://schemas.openxmlformats.org/drawingml/2006/main">
              <a:ext uri="{FF2B5EF4-FFF2-40B4-BE49-F238E27FC236}">
                <a16:creationId xmlns:a16="http://schemas.microsoft.com/office/drawing/2014/main" id="{E60AD94C-01FD-4D30-AB5E-8A91B1E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7A7E0FD1-1D9A-43DB-86BC-E77282D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 whose behalf does it act?</a:t>
            </a:r>
          </a:p>
        </p:txBody>
      </p:sp>
      <p:sp>
        <p:nvSpPr>
          <p:cNvPr id="16" name="question-line-2">
            <a:extLst xmlns:a="http://schemas.openxmlformats.org/drawingml/2006/main">
              <a:ext uri="{FF2B5EF4-FFF2-40B4-BE49-F238E27FC236}">
                <a16:creationId xmlns:a16="http://schemas.microsoft.com/office/drawing/2014/main" id="{5EF828BD-E40F-40E0-9F43-C9FD4BBC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uestion-label-3">
            <a:extLst xmlns:a="http://schemas.openxmlformats.org/drawingml/2006/main">
              <a:ext uri="{FF2B5EF4-FFF2-40B4-BE49-F238E27FC236}">
                <a16:creationId xmlns:a16="http://schemas.microsoft.com/office/drawing/2014/main" id="{34ADEED3-5F22-46B4-A22A-A5521808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14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question-text-3">
            <a:extLst xmlns:a="http://schemas.openxmlformats.org/drawingml/2006/main">
              <a:ext uri="{FF2B5EF4-FFF2-40B4-BE49-F238E27FC236}">
                <a16:creationId xmlns:a16="http://schemas.microsoft.com/office/drawing/2014/main" id="{F612DA06-FBCB-48EF-A5A3-E3420F2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may it do, and under which conditions?</a:t>
            </a:r>
          </a:p>
        </p:txBody>
      </p:sp>
      <p:sp>
        <p:nvSpPr>
          <p:cNvPr id="19" name="question-line-3">
            <a:extLst xmlns:a="http://schemas.openxmlformats.org/drawingml/2006/main">
              <a:ext uri="{FF2B5EF4-FFF2-40B4-BE49-F238E27FC236}">
                <a16:creationId xmlns:a16="http://schemas.microsoft.com/office/drawing/2014/main" id="{505F0C51-191C-4D9A-A458-7260542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766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uestion-label-4">
            <a:extLst xmlns:a="http://schemas.openxmlformats.org/drawingml/2006/main">
              <a:ext uri="{FF2B5EF4-FFF2-40B4-BE49-F238E27FC236}">
                <a16:creationId xmlns:a16="http://schemas.microsoft.com/office/drawing/2014/main" id="{551AC25D-4B51-4E7F-8765-DA64A2F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1" name="question-text-4">
            <a:extLst xmlns:a="http://schemas.openxmlformats.org/drawingml/2006/main">
              <a:ext uri="{FF2B5EF4-FFF2-40B4-BE49-F238E27FC236}">
                <a16:creationId xmlns:a16="http://schemas.microsoft.com/office/drawing/2014/main" id="{E1358D09-4752-45E9-94EA-51398554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When does a person or institution decide?</a:t>
            </a:r>
          </a:p>
        </p:txBody>
      </p:sp>
      <p:sp>
        <p:nvSpPr>
          <p:cNvPr id="22" name="question-line-4">
            <a:extLst xmlns:a="http://schemas.openxmlformats.org/drawingml/2006/main">
              <a:ext uri="{FF2B5EF4-FFF2-40B4-BE49-F238E27FC236}">
                <a16:creationId xmlns:a16="http://schemas.microsoft.com/office/drawing/2014/main" id="{4C10E432-5D02-4BA9-97CA-6DFAA1D6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100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uestion-label-5">
            <a:extLst xmlns:a="http://schemas.openxmlformats.org/drawingml/2006/main">
              <a:ext uri="{FF2B5EF4-FFF2-40B4-BE49-F238E27FC236}">
                <a16:creationId xmlns:a16="http://schemas.microsoft.com/office/drawing/2014/main" id="{6A858129-40CD-4CA6-9F4B-0594B37E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ASSURANCE</a:t>
            </a:r>
          </a:p>
        </p:txBody>
      </p:sp>
      <p:sp>
        <p:nvSpPr>
          <p:cNvPr id="24" name="question-text-5">
            <a:extLst xmlns:a="http://schemas.openxmlformats.org/drawingml/2006/main">
              <a:ext uri="{FF2B5EF4-FFF2-40B4-BE49-F238E27FC236}">
                <a16:creationId xmlns:a16="http://schemas.microsoft.com/office/drawing/2014/main" id="{8DAE7C0C-CB1E-4ADD-BD0E-E006713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trust services match the action?</a:t>
            </a:r>
          </a:p>
        </p:txBody>
      </p:sp>
      <p:sp>
        <p:nvSpPr>
          <p:cNvPr id="25" name="question-line-5">
            <a:extLst xmlns:a="http://schemas.openxmlformats.org/drawingml/2006/main">
              <a:ext uri="{FF2B5EF4-FFF2-40B4-BE49-F238E27FC236}">
                <a16:creationId xmlns:a16="http://schemas.microsoft.com/office/drawing/2014/main" id="{8CBC1415-0AEE-4A29-A291-7836CA7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434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uestion-label-6">
            <a:extLst xmlns:a="http://schemas.openxmlformats.org/drawingml/2006/main">
              <a:ext uri="{FF2B5EF4-FFF2-40B4-BE49-F238E27FC236}">
                <a16:creationId xmlns:a16="http://schemas.microsoft.com/office/drawing/2014/main" id="{0112E2C9-1C2E-46A5-A7C3-9713E358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7" name="question-text-6">
            <a:extLst xmlns:a="http://schemas.openxmlformats.org/drawingml/2006/main">
              <a:ext uri="{FF2B5EF4-FFF2-40B4-BE49-F238E27FC236}">
                <a16:creationId xmlns:a16="http://schemas.microsoft.com/office/drawing/2014/main" id="{02980457-57A0-4DEE-A43F-E404EA92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executed, and what must remain provable?</a:t>
            </a:r>
          </a:p>
        </p:txBody>
      </p:sp>
      <p:sp>
        <p:nvSpPr>
          <p:cNvPr id="28" name="question-line-6">
            <a:extLst xmlns:a="http://schemas.openxmlformats.org/drawingml/2006/main">
              <a:ext uri="{FF2B5EF4-FFF2-40B4-BE49-F238E27FC236}">
                <a16:creationId xmlns:a16="http://schemas.microsoft.com/office/drawing/2014/main" id="{BDD2075D-901B-466B-B610-B6BB2605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76850"/>
            <a:ext cx="594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5C19BF6-7A9D-47CB-A573-4F9A198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582B48D4-9373-47DD-8E40-E25E8AFA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Intelligence can recommend an action. Authority determines whether it may execute.</a:t>
            </a:r>
          </a:p>
        </p:txBody>
      </p:sp>
    </p:spTree>
    <p:extLst>
      <p:ext uri="{BB962C8B-B14F-4D97-AF65-F5344CB8AC3E}">
        <p14:creationId xmlns:p14="http://schemas.microsoft.com/office/powerpoint/2010/main" val="1327922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a509eb8e343f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70A39A-4C9F-49C1-AAEA-22D9CC1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00EBE8B-5E43-4733-B2AA-092F6DDB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09414B2-A92B-440E-A2B5-2801E48F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4CD96283-308F-461C-B164-F7A0324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E8E9A-E55C-4C17-943B-2C0C13E2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governs the execution boundary</a:t>
            </a:r>
          </a:p>
        </p:txBody>
      </p:sp>
      <p:sp>
        <p:nvSpPr>
          <p:cNvPr id="7" name="boundary-actor-1">
            <a:extLst xmlns:a="http://schemas.openxmlformats.org/drawingml/2006/main">
              <a:ext uri="{FF2B5EF4-FFF2-40B4-BE49-F238E27FC236}">
                <a16:creationId xmlns:a16="http://schemas.microsoft.com/office/drawing/2014/main" id="{92AF7F58-3EF3-4DC8-B900-67F0BFB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boundary-actor-label-1">
            <a:extLst xmlns:a="http://schemas.openxmlformats.org/drawingml/2006/main">
              <a:ext uri="{FF2B5EF4-FFF2-40B4-BE49-F238E27FC236}">
                <a16:creationId xmlns:a16="http://schemas.microsoft.com/office/drawing/2014/main" id="{B064707D-AD07-4D8D-B4D0-C614503A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boundary-drop-1">
            <a:extLst xmlns:a="http://schemas.openxmlformats.org/drawingml/2006/main">
              <a:ext uri="{FF2B5EF4-FFF2-40B4-BE49-F238E27FC236}">
                <a16:creationId xmlns:a16="http://schemas.microsoft.com/office/drawing/2014/main" id="{A155E583-4C57-4DE5-AB32-BAB887A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24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undary-actor-2">
            <a:extLst xmlns:a="http://schemas.openxmlformats.org/drawingml/2006/main">
              <a:ext uri="{FF2B5EF4-FFF2-40B4-BE49-F238E27FC236}">
                <a16:creationId xmlns:a16="http://schemas.microsoft.com/office/drawing/2014/main" id="{F8179081-BC32-40C2-80A6-2277FCAD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boundary-actor-label-2">
            <a:extLst xmlns:a="http://schemas.openxmlformats.org/drawingml/2006/main">
              <a:ext uri="{FF2B5EF4-FFF2-40B4-BE49-F238E27FC236}">
                <a16:creationId xmlns:a16="http://schemas.microsoft.com/office/drawing/2014/main" id="{A7A8B09C-01E6-4E91-82F6-6EB75D2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2" name="boundary-drop-2">
            <a:extLst xmlns:a="http://schemas.openxmlformats.org/drawingml/2006/main">
              <a:ext uri="{FF2B5EF4-FFF2-40B4-BE49-F238E27FC236}">
                <a16:creationId xmlns:a16="http://schemas.microsoft.com/office/drawing/2014/main" id="{60A95386-790C-419B-AAA5-CF9D670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24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undary-actor-3">
            <a:extLst xmlns:a="http://schemas.openxmlformats.org/drawingml/2006/main">
              <a:ext uri="{FF2B5EF4-FFF2-40B4-BE49-F238E27FC236}">
                <a16:creationId xmlns:a16="http://schemas.microsoft.com/office/drawing/2014/main" id="{D7B914E4-C932-4AD6-8B6B-95E239F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boundary-actor-label-3">
            <a:extLst xmlns:a="http://schemas.openxmlformats.org/drawingml/2006/main">
              <a:ext uri="{FF2B5EF4-FFF2-40B4-BE49-F238E27FC236}">
                <a16:creationId xmlns:a16="http://schemas.microsoft.com/office/drawing/2014/main" id="{E758B365-D458-40D7-84F1-31F4DFC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5" name="boundary-drop-3">
            <a:extLst xmlns:a="http://schemas.openxmlformats.org/drawingml/2006/main">
              <a:ext uri="{FF2B5EF4-FFF2-40B4-BE49-F238E27FC236}">
                <a16:creationId xmlns:a16="http://schemas.microsoft.com/office/drawing/2014/main" id="{F7EC6B8B-BDF3-41B2-87EF-A2237C4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undary-actor-4">
            <a:extLst xmlns:a="http://schemas.openxmlformats.org/drawingml/2006/main">
              <a:ext uri="{FF2B5EF4-FFF2-40B4-BE49-F238E27FC236}">
                <a16:creationId xmlns:a16="http://schemas.microsoft.com/office/drawing/2014/main" id="{F40CDFC2-1C53-4BA8-B984-6069209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boundary-actor-label-4">
            <a:extLst xmlns:a="http://schemas.openxmlformats.org/drawingml/2006/main">
              <a:ext uri="{FF2B5EF4-FFF2-40B4-BE49-F238E27FC236}">
                <a16:creationId xmlns:a16="http://schemas.microsoft.com/office/drawing/2014/main" id="{A418A966-DB9F-4B60-9209-604CCC1D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8" name="boundary-drop-4">
            <a:extLst xmlns:a="http://schemas.openxmlformats.org/drawingml/2006/main">
              <a:ext uri="{FF2B5EF4-FFF2-40B4-BE49-F238E27FC236}">
                <a16:creationId xmlns:a16="http://schemas.microsoft.com/office/drawing/2014/main" id="{46D02803-BFB1-439A-8B74-48BD83B3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24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ecution-layer">
            <a:extLst xmlns:a="http://schemas.openxmlformats.org/drawingml/2006/main">
              <a:ext uri="{FF2B5EF4-FFF2-40B4-BE49-F238E27FC236}">
                <a16:creationId xmlns:a16="http://schemas.microsoft.com/office/drawing/2014/main" id="{C563999C-412B-4848-A77B-033B4123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78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ecution-layer-title">
            <a:extLst xmlns:a="http://schemas.openxmlformats.org/drawingml/2006/main">
              <a:ext uri="{FF2B5EF4-FFF2-40B4-BE49-F238E27FC236}">
                <a16:creationId xmlns:a16="http://schemas.microsoft.com/office/drawing/2014/main" id="{552F5B8E-0E41-46E7-AB67-236567C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TRUSTED EXECUTION LAYER</a:t>
            </a:r>
          </a:p>
        </p:txBody>
      </p:sp>
      <p:sp>
        <p:nvSpPr>
          <p:cNvPr id="21" name="execution-layer-controls">
            <a:extLst xmlns:a="http://schemas.openxmlformats.org/drawingml/2006/main">
              <a:ext uri="{FF2B5EF4-FFF2-40B4-BE49-F238E27FC236}">
                <a16:creationId xmlns:a16="http://schemas.microsoft.com/office/drawing/2014/main" id="{41AF1EFA-1268-49A9-9C22-5AB15B5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APPROVAL · ASSURANCE · TRUST SERVICES · EVIDENCE · AUDIT</a:t>
            </a:r>
          </a:p>
        </p:txBody>
      </p:sp>
      <p:sp>
        <p:nvSpPr>
          <p:cNvPr id="22" name="boundary-output-drop">
            <a:extLst xmlns:a="http://schemas.openxmlformats.org/drawingml/2006/main">
              <a:ext uri="{FF2B5EF4-FFF2-40B4-BE49-F238E27FC236}">
                <a16:creationId xmlns:a16="http://schemas.microsoft.com/office/drawing/2014/main" id="{2A30AF43-DF31-4695-BDB1-B42AB31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624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usted-action">
            <a:extLst xmlns:a="http://schemas.openxmlformats.org/drawingml/2006/main">
              <a:ext uri="{FF2B5EF4-FFF2-40B4-BE49-F238E27FC236}">
                <a16:creationId xmlns:a16="http://schemas.microsoft.com/office/drawing/2014/main" id="{B570B057-A302-48A6-8C14-9014F2C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8155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4" name="trusted-action-label">
            <a:extLst xmlns:a="http://schemas.openxmlformats.org/drawingml/2006/main">
              <a:ext uri="{FF2B5EF4-FFF2-40B4-BE49-F238E27FC236}">
                <a16:creationId xmlns:a16="http://schemas.microsoft.com/office/drawing/2014/main" id="{2F2F11A5-E179-48D0-9A26-E45D9108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149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BUSINESS ACTION</a:t>
            </a:r>
          </a:p>
        </p:txBody>
      </p:sp>
      <p:sp>
        <p:nvSpPr>
          <p:cNvPr id="25" name="trusted-record">
            <a:extLst xmlns:a="http://schemas.openxmlformats.org/drawingml/2006/main">
              <a:ext uri="{FF2B5EF4-FFF2-40B4-BE49-F238E27FC236}">
                <a16:creationId xmlns:a16="http://schemas.microsoft.com/office/drawing/2014/main" id="{0A376BF2-088B-47F0-9027-1E1D370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8155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6" name="trusted-record-label">
            <a:extLst xmlns:a="http://schemas.openxmlformats.org/drawingml/2006/main">
              <a:ext uri="{FF2B5EF4-FFF2-40B4-BE49-F238E27FC236}">
                <a16:creationId xmlns:a16="http://schemas.microsoft.com/office/drawing/2014/main" id="{61CB82E4-ECB0-4987-9D9C-F17297C0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 AND EVIDENCE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08F1DA9-9264-479C-8AC9-05CF426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1C9CCEC6-BD99-4FCF-83BB-9C3BBD65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governs permitted action, what actually executes, and the evidence retained afterwards.</a:t>
            </a:r>
          </a:p>
        </p:txBody>
      </p:sp>
    </p:spTree>
    <p:extLst>
      <p:ext uri="{BB962C8B-B14F-4D97-AF65-F5344CB8AC3E}">
        <p14:creationId xmlns:p14="http://schemas.microsoft.com/office/powerpoint/2010/main" val="1306324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31c1ae31e4bc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4D8FC6-5849-4FB3-AFC9-F66DE31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D8D5987-D6DF-4700-BB4B-A59BB61C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B413360-D963-49EE-A796-72748AB6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68A25FF2-1328-45F8-8E30-E9FC5F85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E63D1-4627-45D5-B8C9-274397D9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AI agents can act within explicit mandates</a:t>
            </a:r>
          </a:p>
        </p:txBody>
      </p:sp>
      <p:sp>
        <p:nvSpPr>
          <p:cNvPr id="7" name="mandate-1-frame">
            <a:extLst xmlns:a="http://schemas.openxmlformats.org/drawingml/2006/main">
              <a:ext uri="{FF2B5EF4-FFF2-40B4-BE49-F238E27FC236}">
                <a16:creationId xmlns:a16="http://schemas.microsoft.com/office/drawing/2014/main" id="{EE5C8C4C-460A-4E68-8022-4F524416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mandate-1-text">
            <a:extLst xmlns:a="http://schemas.openxmlformats.org/drawingml/2006/main">
              <a:ext uri="{FF2B5EF4-FFF2-40B4-BE49-F238E27FC236}">
                <a16:creationId xmlns:a16="http://schemas.microsoft.com/office/drawing/2014/main" id="{5DBFAE96-DDD4-4991-B827-A13B02C9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mandate-title-1">
            <a:extLst xmlns:a="http://schemas.openxmlformats.org/drawingml/2006/main">
              <a:ext uri="{FF2B5EF4-FFF2-40B4-BE49-F238E27FC236}">
                <a16:creationId xmlns:a16="http://schemas.microsoft.com/office/drawing/2014/main" id="{7C558B7B-E30C-4FFE-A0DB-10D0668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Prepare</a:t>
            </a:r>
          </a:p>
        </p:txBody>
      </p:sp>
      <p:sp>
        <p:nvSpPr>
          <p:cNvPr id="10" name="mandate-body-1">
            <a:extLst xmlns:a="http://schemas.openxmlformats.org/drawingml/2006/main">
              <a:ext uri="{FF2B5EF4-FFF2-40B4-BE49-F238E27FC236}">
                <a16:creationId xmlns:a16="http://schemas.microsoft.com/office/drawing/2014/main" id="{3B1D7D2F-FB7E-4A34-A246-FCD5049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Draft, classify, recommend</a:t>
            </a:r>
          </a:p>
        </p:txBody>
      </p:sp>
      <p:sp>
        <p:nvSpPr>
          <p:cNvPr id="11" name="mandate-gate-1">
            <a:extLst xmlns:a="http://schemas.openxmlformats.org/drawingml/2006/main">
              <a:ext uri="{FF2B5EF4-FFF2-40B4-BE49-F238E27FC236}">
                <a16:creationId xmlns:a16="http://schemas.microsoft.com/office/drawing/2014/main" id="{B53F3674-1E09-489F-A326-E0E67CCF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914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2" name="mandate-gate-label-1">
            <a:extLst xmlns:a="http://schemas.openxmlformats.org/drawingml/2006/main">
              <a:ext uri="{FF2B5EF4-FFF2-40B4-BE49-F238E27FC236}">
                <a16:creationId xmlns:a16="http://schemas.microsoft.com/office/drawing/2014/main" id="{ECB7FE2C-8838-416B-A07B-7A30A22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Inside policy</a:t>
            </a:r>
          </a:p>
        </p:txBody>
      </p:sp>
      <p:sp>
        <p:nvSpPr>
          <p:cNvPr id="13" name="mandate-divider-1">
            <a:extLst xmlns:a="http://schemas.openxmlformats.org/drawingml/2006/main">
              <a:ext uri="{FF2B5EF4-FFF2-40B4-BE49-F238E27FC236}">
                <a16:creationId xmlns:a16="http://schemas.microsoft.com/office/drawing/2014/main" id="{26740B2F-7CF9-40E8-A929-D8EB67F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ndate-2-frame">
            <a:extLst xmlns:a="http://schemas.openxmlformats.org/drawingml/2006/main">
              <a:ext uri="{FF2B5EF4-FFF2-40B4-BE49-F238E27FC236}">
                <a16:creationId xmlns:a16="http://schemas.microsoft.com/office/drawing/2014/main" id="{CAC2114D-8EDA-4E24-98E1-596E7AF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mandate-2-text">
            <a:extLst xmlns:a="http://schemas.openxmlformats.org/drawingml/2006/main">
              <a:ext uri="{FF2B5EF4-FFF2-40B4-BE49-F238E27FC236}">
                <a16:creationId xmlns:a16="http://schemas.microsoft.com/office/drawing/2014/main" id="{10FD3620-9DCA-40D7-8BDD-818CA8C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6" name="mandate-title-2">
            <a:extLst xmlns:a="http://schemas.openxmlformats.org/drawingml/2006/main">
              <a:ext uri="{FF2B5EF4-FFF2-40B4-BE49-F238E27FC236}">
                <a16:creationId xmlns:a16="http://schemas.microsoft.com/office/drawing/2014/main" id="{CC01F681-D63A-4609-8191-D0F1B37E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Initiate</a:t>
            </a:r>
          </a:p>
        </p:txBody>
      </p:sp>
      <p:sp>
        <p:nvSpPr>
          <p:cNvPr id="17" name="mandate-body-2">
            <a:extLst xmlns:a="http://schemas.openxmlformats.org/drawingml/2006/main">
              <a:ext uri="{FF2B5EF4-FFF2-40B4-BE49-F238E27FC236}">
                <a16:creationId xmlns:a16="http://schemas.microsoft.com/office/drawing/2014/main" id="{46C9E815-BBCE-4AD0-8059-D7CAF6B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290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Start a workflow or request approval</a:t>
            </a:r>
          </a:p>
        </p:txBody>
      </p:sp>
      <p:sp>
        <p:nvSpPr>
          <p:cNvPr id="18" name="mandate-gate-2">
            <a:extLst xmlns:a="http://schemas.openxmlformats.org/drawingml/2006/main">
              <a:ext uri="{FF2B5EF4-FFF2-40B4-BE49-F238E27FC236}">
                <a16:creationId xmlns:a16="http://schemas.microsoft.com/office/drawing/2014/main" id="{6EFABCC7-87AC-4797-B733-BFBFC1C7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2914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9" name="mandate-gate-label-2">
            <a:extLst xmlns:a="http://schemas.openxmlformats.org/drawingml/2006/main">
              <a:ext uri="{FF2B5EF4-FFF2-40B4-BE49-F238E27FC236}">
                <a16:creationId xmlns:a16="http://schemas.microsoft.com/office/drawing/2014/main" id="{A83DB7D9-4391-46E8-A1C7-6C4580D4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Delegated mandate</a:t>
            </a:r>
          </a:p>
        </p:txBody>
      </p:sp>
      <p:sp>
        <p:nvSpPr>
          <p:cNvPr id="20" name="mandate-divider-2">
            <a:extLst xmlns:a="http://schemas.openxmlformats.org/drawingml/2006/main">
              <a:ext uri="{FF2B5EF4-FFF2-40B4-BE49-F238E27FC236}">
                <a16:creationId xmlns:a16="http://schemas.microsoft.com/office/drawing/2014/main" id="{483F5019-65DC-45B0-97E2-7FE93196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ndate-3-frame">
            <a:extLst xmlns:a="http://schemas.openxmlformats.org/drawingml/2006/main">
              <a:ext uri="{FF2B5EF4-FFF2-40B4-BE49-F238E27FC236}">
                <a16:creationId xmlns:a16="http://schemas.microsoft.com/office/drawing/2014/main" id="{E838BA88-92C7-4C8D-B7F0-52ECD392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mandate-3-text">
            <a:extLst xmlns:a="http://schemas.openxmlformats.org/drawingml/2006/main">
              <a:ext uri="{FF2B5EF4-FFF2-40B4-BE49-F238E27FC236}">
                <a16:creationId xmlns:a16="http://schemas.microsoft.com/office/drawing/2014/main" id="{5DE4161E-61D6-4189-B0DC-A129F9F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23" name="mandate-title-3">
            <a:extLst xmlns:a="http://schemas.openxmlformats.org/drawingml/2006/main">
              <a:ext uri="{FF2B5EF4-FFF2-40B4-BE49-F238E27FC236}">
                <a16:creationId xmlns:a16="http://schemas.microsoft.com/office/drawing/2014/main" id="{909DB69F-267D-4EEF-9F86-90B0CC0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4" name="mandate-body-3">
            <a:extLst xmlns:a="http://schemas.openxmlformats.org/drawingml/2006/main">
              <a:ext uri="{FF2B5EF4-FFF2-40B4-BE49-F238E27FC236}">
                <a16:creationId xmlns:a16="http://schemas.microsoft.com/office/drawing/2014/main" id="{55A34D8C-1C7A-466B-84FD-316C977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958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Invoke a permitted service and commit an action</a:t>
            </a:r>
          </a:p>
        </p:txBody>
      </p:sp>
      <p:sp>
        <p:nvSpPr>
          <p:cNvPr id="25" name="mandate-gate-3">
            <a:extLst xmlns:a="http://schemas.openxmlformats.org/drawingml/2006/main">
              <a:ext uri="{FF2B5EF4-FFF2-40B4-BE49-F238E27FC236}">
                <a16:creationId xmlns:a16="http://schemas.microsoft.com/office/drawing/2014/main" id="{0715F9A5-7D42-47A7-BAA9-6BBE597C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914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26" name="mandate-gate-label-3">
            <a:extLst xmlns:a="http://schemas.openxmlformats.org/drawingml/2006/main">
              <a:ext uri="{FF2B5EF4-FFF2-40B4-BE49-F238E27FC236}">
                <a16:creationId xmlns:a16="http://schemas.microsoft.com/office/drawing/2014/main" id="{C76E2030-8D00-4CB7-8371-14848D8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 and evidence gate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2A2CB21-611D-4675-8FC2-5CCCA59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E9414186-FCF6-4979-BE66-E6FCB44B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mandate can limit value, jurisdiction, business unit, trust service, and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1430203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5deb54fa641a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9E8DE0-D9FE-44EA-A1D5-93B8C2D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0455590-F479-4AA9-82A8-CFCB32E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C5E9F13-481A-4173-8F21-10356D83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7B4D979E-89DC-4D2B-A1DE-154F1A1F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EBA22-EEBC-47CA-BD8E-C95EC93C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create governed AI context</a:t>
            </a:r>
          </a:p>
        </p:txBody>
      </p:sp>
      <p:sp>
        <p:nvSpPr>
          <p:cNvPr id="7" name="evidence-loop-spine">
            <a:extLst xmlns:a="http://schemas.openxmlformats.org/drawingml/2006/main">
              <a:ext uri="{FF2B5EF4-FFF2-40B4-BE49-F238E27FC236}">
                <a16:creationId xmlns:a16="http://schemas.microsoft.com/office/drawing/2014/main" id="{9FB651D7-CAF0-4B12-BD26-2BF52AE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node-1-frame">
            <a:extLst xmlns:a="http://schemas.openxmlformats.org/drawingml/2006/main">
              <a:ext uri="{FF2B5EF4-FFF2-40B4-BE49-F238E27FC236}">
                <a16:creationId xmlns:a16="http://schemas.microsoft.com/office/drawing/2014/main" id="{AC1CF8E3-0005-4C9F-B209-824BC92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evidence-node-1-text">
            <a:extLst xmlns:a="http://schemas.openxmlformats.org/drawingml/2006/main">
              <a:ext uri="{FF2B5EF4-FFF2-40B4-BE49-F238E27FC236}">
                <a16:creationId xmlns:a16="http://schemas.microsoft.com/office/drawing/2014/main" id="{66729F43-19A0-4CB1-B71A-1D88754D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98BC844B-71E0-4CA7-92B6-77E3A77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</a:t>
            </a:r>
          </a:p>
        </p:txBody>
      </p:sp>
      <p:sp>
        <p:nvSpPr>
          <p:cNvPr id="11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E934AF18-7146-4369-9430-B92A0362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controlled action completes</a:t>
            </a:r>
          </a:p>
        </p:txBody>
      </p:sp>
      <p:sp>
        <p:nvSpPr>
          <p:cNvPr id="12" name="evidence-node-2-frame">
            <a:extLst xmlns:a="http://schemas.openxmlformats.org/drawingml/2006/main">
              <a:ext uri="{FF2B5EF4-FFF2-40B4-BE49-F238E27FC236}">
                <a16:creationId xmlns:a16="http://schemas.microsoft.com/office/drawing/2014/main" id="{85824A9B-3834-4584-8CA3-EEF1417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765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evidence-node-2-text">
            <a:extLst xmlns:a="http://schemas.openxmlformats.org/drawingml/2006/main">
              <a:ext uri="{FF2B5EF4-FFF2-40B4-BE49-F238E27FC236}">
                <a16:creationId xmlns:a16="http://schemas.microsoft.com/office/drawing/2014/main" id="{49470D8F-5B16-46D5-BCAB-796CFD2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A7037194-10F6-4810-958B-989CF43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evidence</a:t>
            </a:r>
          </a:p>
        </p:txBody>
      </p:sp>
      <p:sp>
        <p:nvSpPr>
          <p:cNvPr id="15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9FBCEE64-F658-497D-99D3-49F89907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Events and decisions remain attributable</a:t>
            </a:r>
          </a:p>
        </p:txBody>
      </p:sp>
      <p:sp>
        <p:nvSpPr>
          <p:cNvPr id="16" name="evidence-node-3-frame">
            <a:extLst xmlns:a="http://schemas.openxmlformats.org/drawingml/2006/main">
              <a:ext uri="{FF2B5EF4-FFF2-40B4-BE49-F238E27FC236}">
                <a16:creationId xmlns:a16="http://schemas.microsoft.com/office/drawing/2014/main" id="{828BB93A-718F-4E40-9D94-16F71C8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765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evidence-node-3-text">
            <a:extLst xmlns:a="http://schemas.openxmlformats.org/drawingml/2006/main">
              <a:ext uri="{FF2B5EF4-FFF2-40B4-BE49-F238E27FC236}">
                <a16:creationId xmlns:a16="http://schemas.microsoft.com/office/drawing/2014/main" id="{026D7186-E7AB-4B7D-B929-E655F85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239F2C65-D37A-464A-9B8A-6DC90EC0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9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9D9D824C-2643-437E-B24F-30C613C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Evidence becomes durable memory</a:t>
            </a:r>
          </a:p>
        </p:txBody>
      </p:sp>
      <p:sp>
        <p:nvSpPr>
          <p:cNvPr id="20" name="evidence-node-4-frame">
            <a:extLst xmlns:a="http://schemas.openxmlformats.org/drawingml/2006/main">
              <a:ext uri="{FF2B5EF4-FFF2-40B4-BE49-F238E27FC236}">
                <a16:creationId xmlns:a16="http://schemas.microsoft.com/office/drawing/2014/main" id="{1E73860F-55D6-4538-9121-FA7063B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evidence-node-4-text">
            <a:extLst xmlns:a="http://schemas.openxmlformats.org/drawingml/2006/main">
              <a:ext uri="{FF2B5EF4-FFF2-40B4-BE49-F238E27FC236}">
                <a16:creationId xmlns:a16="http://schemas.microsoft.com/office/drawing/2014/main" id="{A3B4C955-764A-4777-9182-A2D12CC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evidence-title-4">
            <a:extLst xmlns:a="http://schemas.openxmlformats.org/drawingml/2006/main">
              <a:ext uri="{FF2B5EF4-FFF2-40B4-BE49-F238E27FC236}">
                <a16:creationId xmlns:a16="http://schemas.microsoft.com/office/drawing/2014/main" id="{2EAF3351-69F5-4087-B99F-A6C43442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AI context</a:t>
            </a:r>
          </a:p>
        </p:txBody>
      </p:sp>
      <p:sp>
        <p:nvSpPr>
          <p:cNvPr id="23" name="evidence-body-4">
            <a:extLst xmlns:a="http://schemas.openxmlformats.org/drawingml/2006/main">
              <a:ext uri="{FF2B5EF4-FFF2-40B4-BE49-F238E27FC236}">
                <a16:creationId xmlns:a16="http://schemas.microsoft.com/office/drawing/2014/main" id="{19194E67-E1E3-46C3-AA20-BB25A3F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AI retrieves verified, permissioned context</a:t>
            </a:r>
          </a:p>
        </p:txBody>
      </p:sp>
      <p:sp>
        <p:nvSpPr>
          <p:cNvPr id="24" name="evidence-node-5-frame">
            <a:extLst xmlns:a="http://schemas.openxmlformats.org/drawingml/2006/main">
              <a:ext uri="{FF2B5EF4-FFF2-40B4-BE49-F238E27FC236}">
                <a16:creationId xmlns:a16="http://schemas.microsoft.com/office/drawing/2014/main" id="{B7CA4D0F-741C-4620-9EFF-41604CA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765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evidence-node-5-text">
            <a:extLst xmlns:a="http://schemas.openxmlformats.org/drawingml/2006/main">
              <a:ext uri="{FF2B5EF4-FFF2-40B4-BE49-F238E27FC236}">
                <a16:creationId xmlns:a16="http://schemas.microsoft.com/office/drawing/2014/main" id="{9D892CD7-4B18-4E56-9AFA-642E349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6" name="evidence-title-5">
            <a:extLst xmlns:a="http://schemas.openxmlformats.org/drawingml/2006/main">
              <a:ext uri="{FF2B5EF4-FFF2-40B4-BE49-F238E27FC236}">
                <a16:creationId xmlns:a16="http://schemas.microsoft.com/office/drawing/2014/main" id="{03BDE67C-4146-4C4F-B968-C83D2F8D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Governed action</a:t>
            </a:r>
          </a:p>
        </p:txBody>
      </p:sp>
      <p:sp>
        <p:nvSpPr>
          <p:cNvPr id="27" name="evidence-body-5">
            <a:extLst xmlns:a="http://schemas.openxmlformats.org/drawingml/2006/main">
              <a:ext uri="{FF2B5EF4-FFF2-40B4-BE49-F238E27FC236}">
                <a16:creationId xmlns:a16="http://schemas.microsoft.com/office/drawing/2014/main" id="{03BE7432-2306-4859-B691-8D9AC8D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95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AI prepares or initiates a permitted action</a:t>
            </a:r>
          </a:p>
        </p:txBody>
      </p:sp>
      <p:sp>
        <p:nvSpPr>
          <p:cNvPr id="2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E9570417-38D2-4AEB-84D9-C2D0D419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7B8D1827-C6BB-44D5-B55F-A548AAB2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Governed action returns to the execution boundary, creating a reinforcing trust cycle.</a:t>
            </a:r>
          </a:p>
        </p:txBody>
      </p:sp>
    </p:spTree>
    <p:extLst>
      <p:ext uri="{BB962C8B-B14F-4D97-AF65-F5344CB8AC3E}">
        <p14:creationId xmlns:p14="http://schemas.microsoft.com/office/powerpoint/2010/main" val="4820592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990dd9fea411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FA03B4-F19D-4598-9DCD-88AF0F8A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C630F7A-8527-443F-80DD-12ADC644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522AD6E-B176-449C-A270-651C03E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51C0F4A0-1BD3-4A54-9FE9-4D56FDAE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89D4FF-BBF4-413A-ADF9-070BA287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connects business actors to trust infrastructure</a:t>
            </a:r>
          </a:p>
        </p:txBody>
      </p:sp>
      <p:sp>
        <p:nvSpPr>
          <p:cNvPr id="7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726808FD-CD41-4020-9E18-94A0939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0782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AA29F5CF-E647-4F0E-823D-1F2E6AC7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BUSINESS AND AGENTIC LAYER</a:t>
            </a:r>
          </a:p>
        </p:txBody>
      </p:sp>
      <p:sp>
        <p:nvSpPr>
          <p:cNvPr id="9" name="business-layer-items">
            <a:extLst xmlns:a="http://schemas.openxmlformats.org/drawingml/2006/main">
              <a:ext uri="{FF2B5EF4-FFF2-40B4-BE49-F238E27FC236}">
                <a16:creationId xmlns:a16="http://schemas.microsoft.com/office/drawing/2014/main" id="{9C895A04-B41D-4DA2-A323-1CD0A79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 · Organizations · Government services · Enterprise applications · Portals · AI agents</a:t>
            </a:r>
          </a:p>
        </p:txBody>
      </p:sp>
      <p:sp>
        <p:nvSpPr>
          <p:cNvPr id="10" name="circularo-layer">
            <a:extLst xmlns:a="http://schemas.openxmlformats.org/drawingml/2006/main">
              <a:ext uri="{FF2B5EF4-FFF2-40B4-BE49-F238E27FC236}">
                <a16:creationId xmlns:a16="http://schemas.microsoft.com/office/drawing/2014/main" id="{10E15B5E-8914-4A10-9BD2-8DAAA726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0782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ircularo-layer-label">
            <a:extLst xmlns:a="http://schemas.openxmlformats.org/drawingml/2006/main">
              <a:ext uri="{FF2B5EF4-FFF2-40B4-BE49-F238E27FC236}">
                <a16:creationId xmlns:a16="http://schemas.microsoft.com/office/drawing/2014/main" id="{534D9250-E7CD-40B9-B705-B11190E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TRUST ORCHESTRATION AND TRUSTED EXECUTION</a:t>
            </a:r>
          </a:p>
        </p:txBody>
      </p:sp>
      <p:sp>
        <p:nvSpPr>
          <p:cNvPr id="12" name="circularo-layer-items">
            <a:extLst xmlns:a="http://schemas.openxmlformats.org/drawingml/2006/main">
              <a:ext uri="{FF2B5EF4-FFF2-40B4-BE49-F238E27FC236}">
                <a16:creationId xmlns:a16="http://schemas.microsoft.com/office/drawing/2014/main" id="{BB90AEF7-0531-44CB-8596-155F530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11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 · Collaboration · Identity · Authority · Policy · Workflow · Approval</a:t>
            </a:r>
          </a:p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Assurance · Signing · Sealing · Evidence · Audit · Archive · Unified Trust API</a:t>
            </a:r>
          </a:p>
        </p:txBody>
      </p:sp>
      <p:sp>
        <p:nvSpPr>
          <p:cNvPr id="13" name="infrastructure-layer">
            <a:extLst xmlns:a="http://schemas.openxmlformats.org/drawingml/2006/main">
              <a:ext uri="{FF2B5EF4-FFF2-40B4-BE49-F238E27FC236}">
                <a16:creationId xmlns:a16="http://schemas.microsoft.com/office/drawing/2014/main" id="{368B0EB0-A90C-4566-A0D3-E32DEACC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0782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infrastructure-layer-label">
            <a:extLst xmlns:a="http://schemas.openxmlformats.org/drawingml/2006/main">
              <a:ext uri="{FF2B5EF4-FFF2-40B4-BE49-F238E27FC236}">
                <a16:creationId xmlns:a16="http://schemas.microsoft.com/office/drawing/2014/main" id="{DCBA2472-D409-4AB7-9F8F-537D68B8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 AND INFRASTRUCTURE LAYER</a:t>
            </a:r>
          </a:p>
        </p:txBody>
      </p:sp>
      <p:sp>
        <p:nvSpPr>
          <p:cNvPr id="15" name="infrastructure-layer-items">
            <a:extLst xmlns:a="http://schemas.openxmlformats.org/drawingml/2006/main">
              <a:ext uri="{FF2B5EF4-FFF2-40B4-BE49-F238E27FC236}">
                <a16:creationId xmlns:a16="http://schemas.microsoft.com/office/drawing/2014/main" id="{7CB38E9E-3679-4780-BF99-DF19B34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62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National identity · PKI · Signature and seal services · Timestamp authorities · Sovereign cloud · External providers</a:t>
            </a:r>
          </a:p>
        </p:txBody>
      </p:sp>
      <p:sp>
        <p:nvSpPr>
          <p:cNvPr id="16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4D5DABE-7D16-49D2-A4A9-876C686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7D9EBAED-8670-4412-9FEF-FA7E2C62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provides a consistent control environment above customer-specific trust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059150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c0c55387a4ca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E2824E-B76D-4A80-8BDF-B2C60A4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D52A82A-9F21-4942-8418-60FFC5A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B58296B-AB24-4470-A4A6-D5D7CCF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ECE55C5E-D980-43BA-B620-40BBE8D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2838F2-9290-4584-819F-3AD5F204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single positioning system keeps the story coherent</a:t>
            </a:r>
          </a:p>
        </p:txBody>
      </p:sp>
      <p:sp>
        <p:nvSpPr>
          <p:cNvPr id="7" name="position-label-1">
            <a:extLst xmlns:a="http://schemas.openxmlformats.org/drawingml/2006/main">
              <a:ext uri="{FF2B5EF4-FFF2-40B4-BE49-F238E27FC236}">
                <a16:creationId xmlns:a16="http://schemas.microsoft.com/office/drawing/2014/main" id="{7F3BBD3F-4FE0-4791-8B81-F5B64FBB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COMPANY</a:t>
            </a:r>
          </a:p>
        </p:txBody>
      </p:sp>
      <p:sp>
        <p:nvSpPr>
          <p:cNvPr id="8" name="position-body-1">
            <a:extLst xmlns:a="http://schemas.openxmlformats.org/drawingml/2006/main">
              <a:ext uri="{FF2B5EF4-FFF2-40B4-BE49-F238E27FC236}">
                <a16:creationId xmlns:a16="http://schemas.microsoft.com/office/drawing/2014/main" id="{6E28042D-45B0-4767-8108-554F94E7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24075"/>
            <a:ext cx="899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is a Digital Trust and Trusted Execution platform for enterprises, governments, and digital services.</a:t>
            </a:r>
          </a:p>
        </p:txBody>
      </p:sp>
      <p:sp>
        <p:nvSpPr>
          <p:cNvPr id="9" name="position-line-1">
            <a:extLst xmlns:a="http://schemas.openxmlformats.org/drawingml/2006/main">
              <a:ext uri="{FF2B5EF4-FFF2-40B4-BE49-F238E27FC236}">
                <a16:creationId xmlns:a16="http://schemas.microsoft.com/office/drawing/2014/main" id="{17C4975B-CBF6-4839-99F1-D47BFDF3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sition-label-2">
            <a:extLst xmlns:a="http://schemas.openxmlformats.org/drawingml/2006/main">
              <a:ext uri="{FF2B5EF4-FFF2-40B4-BE49-F238E27FC236}">
                <a16:creationId xmlns:a16="http://schemas.microsoft.com/office/drawing/2014/main" id="{81BB5E22-4C3F-40D1-AAED-AC84A58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</a:t>
            </a:r>
          </a:p>
        </p:txBody>
      </p:sp>
      <p:sp>
        <p:nvSpPr>
          <p:cNvPr id="11" name="position-body-2">
            <a:extLst xmlns:a="http://schemas.openxmlformats.org/drawingml/2006/main">
              <a:ext uri="{FF2B5EF4-FFF2-40B4-BE49-F238E27FC236}">
                <a16:creationId xmlns:a16="http://schemas.microsoft.com/office/drawing/2014/main" id="{CB76D955-706E-407F-BA42-F14D8D0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81325"/>
            <a:ext cx="899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provides a Trust Orchestration Platform that connects content, authority, trust services, evidence, and records across business processes.</a:t>
            </a:r>
          </a:p>
        </p:txBody>
      </p:sp>
      <p:sp>
        <p:nvSpPr>
          <p:cNvPr id="12" name="position-line-2">
            <a:extLst xmlns:a="http://schemas.openxmlformats.org/drawingml/2006/main">
              <a:ext uri="{FF2B5EF4-FFF2-40B4-BE49-F238E27FC236}">
                <a16:creationId xmlns:a16="http://schemas.microsoft.com/office/drawing/2014/main" id="{B01D5288-48C3-4E91-BC96-FCAC8DD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sition-label-3">
            <a:extLst xmlns:a="http://schemas.openxmlformats.org/drawingml/2006/main">
              <a:ext uri="{FF2B5EF4-FFF2-40B4-BE49-F238E27FC236}">
                <a16:creationId xmlns:a16="http://schemas.microsoft.com/office/drawing/2014/main" id="{18F4E749-B45E-4C2B-AF19-93244902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4" name="position-body-3">
            <a:extLst xmlns:a="http://schemas.openxmlformats.org/drawingml/2006/main">
              <a:ext uri="{FF2B5EF4-FFF2-40B4-BE49-F238E27FC236}">
                <a16:creationId xmlns:a16="http://schemas.microsoft.com/office/drawing/2014/main" id="{850B6CB0-C899-48DA-8D69-920D8100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38575"/>
            <a:ext cx="899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orchestrates the trust events required to deliver trusted, compliant, and verifiable business outcomes.</a:t>
            </a:r>
          </a:p>
        </p:txBody>
      </p:sp>
      <p:sp>
        <p:nvSpPr>
          <p:cNvPr id="15" name="position-line-3">
            <a:extLst xmlns:a="http://schemas.openxmlformats.org/drawingml/2006/main">
              <a:ext uri="{FF2B5EF4-FFF2-40B4-BE49-F238E27FC236}">
                <a16:creationId xmlns:a16="http://schemas.microsoft.com/office/drawing/2014/main" id="{ED7277C4-EBCE-4808-AC53-12AFBAE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osition-label-4">
            <a:extLst xmlns:a="http://schemas.openxmlformats.org/drawingml/2006/main">
              <a:ext uri="{FF2B5EF4-FFF2-40B4-BE49-F238E27FC236}">
                <a16:creationId xmlns:a16="http://schemas.microsoft.com/office/drawing/2014/main" id="{35C5D04A-FEB7-4C6A-8A7A-80F314EE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ERA</a:t>
            </a:r>
          </a:p>
        </p:txBody>
      </p:sp>
      <p:sp>
        <p:nvSpPr>
          <p:cNvPr id="17" name="position-body-4">
            <a:extLst xmlns:a="http://schemas.openxmlformats.org/drawingml/2006/main">
              <a:ext uri="{FF2B5EF4-FFF2-40B4-BE49-F238E27FC236}">
                <a16:creationId xmlns:a16="http://schemas.microsoft.com/office/drawing/2014/main" id="{F5D0D536-D846-4869-8648-A416E01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95825"/>
            <a:ext cx="899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provides the execution layer through which people, applications, and AI agents can perform trusted actions with verifiable authority and evidence.</a:t>
            </a:r>
          </a:p>
        </p:txBody>
      </p:sp>
      <p:sp>
        <p:nvSpPr>
          <p:cNvPr id="1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52B310DF-E20B-4E2C-9EE6-7BA7E7F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32AA23DC-2495-4D25-969E-BA56D55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Internal working language. External adaptation requires approved claims and current capability evidence.</a:t>
            </a:r>
          </a:p>
        </p:txBody>
      </p:sp>
    </p:spTree>
    <p:extLst>
      <p:ext uri="{BB962C8B-B14F-4D97-AF65-F5344CB8AC3E}">
        <p14:creationId xmlns:p14="http://schemas.microsoft.com/office/powerpoint/2010/main" val="787837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663a7428d44a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2E8F2C-4AE3-4AFA-B054-742692F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7F8373A-17E9-4DB9-B31E-024E72F7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AFE9B80-0661-423F-A781-8D021A13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STRATEGIC EVOLUTION</a:t>
            </a:r>
          </a:p>
        </p:txBody>
      </p:sp>
      <p:sp>
        <p:nvSpPr>
          <p:cNvPr id="5" name="internal-strategy-mark">
            <a:extLst xmlns:a="http://schemas.openxmlformats.org/drawingml/2006/main">
              <a:ext uri="{FF2B5EF4-FFF2-40B4-BE49-F238E27FC236}">
                <a16:creationId xmlns:a16="http://schemas.microsoft.com/office/drawing/2014/main" id="{43CB2F91-87D5-40B5-B74C-2F27A11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 · WORKING NARRATIVE</a:t>
            </a:r>
          </a:p>
        </p:txBody>
      </p:sp>
      <p:sp>
        <p:nvSpPr>
          <p:cNvPr id="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2D1F2E43-F16C-44FF-A2C5-284E2305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STRATEGIC POSITION WE CARRY FORWARD</a:t>
            </a:r>
          </a:p>
        </p:txBody>
      </p:sp>
      <p:sp>
        <p:nvSpPr>
          <p:cNvPr id="7" name="closing-line-1">
            <a:extLst xmlns:a="http://schemas.openxmlformats.org/drawingml/2006/main">
              <a:ext uri="{FF2B5EF4-FFF2-40B4-BE49-F238E27FC236}">
                <a16:creationId xmlns:a16="http://schemas.microsoft.com/office/drawing/2014/main" id="{7CAFD513-6555-4783-AF30-AA88E0E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orchestrates trust.</a:t>
            </a:r>
          </a:p>
        </p:txBody>
      </p:sp>
      <p:sp>
        <p:nvSpPr>
          <p:cNvPr id="8" name="closing-line-2">
            <a:extLst xmlns:a="http://schemas.openxmlformats.org/drawingml/2006/main">
              <a:ext uri="{FF2B5EF4-FFF2-40B4-BE49-F238E27FC236}">
                <a16:creationId xmlns:a16="http://schemas.microsoft.com/office/drawing/2014/main" id="{849DBCC3-1F18-4575-8FED-3F9B1B9D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is the outcome.</a:t>
            </a:r>
          </a:p>
        </p:txBody>
      </p:sp>
      <p:sp>
        <p:nvSpPr>
          <p:cNvPr id="9" name="closing-line-3">
            <a:extLst xmlns:a="http://schemas.openxmlformats.org/drawingml/2006/main">
              <a:ext uri="{FF2B5EF4-FFF2-40B4-BE49-F238E27FC236}">
                <a16:creationId xmlns:a16="http://schemas.microsoft.com/office/drawing/2014/main" id="{22ED2548-6C60-4B53-AB25-47AB7E8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Agentic Trusted Execution extends the trust boundary to AI agents.</a:t>
            </a:r>
          </a:p>
        </p:txBody>
      </p:sp>
      <p:sp>
        <p:nvSpPr>
          <p:cNvPr id="10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A16D7808-020C-42C0-A52A-4BE9223B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guardrail-label">
            <a:extLst xmlns:a="http://schemas.openxmlformats.org/drawingml/2006/main">
              <a:ext uri="{FF2B5EF4-FFF2-40B4-BE49-F238E27FC236}">
                <a16:creationId xmlns:a16="http://schemas.microsoft.com/office/drawing/2014/main" id="{E8424A08-CD4B-4D8E-862E-08BA444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ALIGNMENT RULE</a:t>
            </a:r>
          </a:p>
        </p:txBody>
      </p:sp>
      <p:sp>
        <p:nvSpPr>
          <p:cNvPr id="12" name="closing-guardrail">
            <a:extLst xmlns:a="http://schemas.openxmlformats.org/drawingml/2006/main">
              <a:ext uri="{FF2B5EF4-FFF2-40B4-BE49-F238E27FC236}">
                <a16:creationId xmlns:a16="http://schemas.microsoft.com/office/drawing/2014/main" id="{80B91E69-4284-48FD-A0DE-FE70D47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current capability, work in development, and strategic direction before any external use.</a:t>
            </a:r>
          </a:p>
        </p:txBody>
      </p:sp>
    </p:spTree>
    <p:extLst>
      <p:ext uri="{BB962C8B-B14F-4D97-AF65-F5344CB8AC3E}">
        <p14:creationId xmlns:p14="http://schemas.microsoft.com/office/powerpoint/2010/main" val="1870723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2026-09-04T05:37:35.2100000Z</dcterms:created>
  <dcterms:modified xsi:type="dcterms:W3CDTF">2026-09-04T05:37:35.2100000Z</dcterms:modified>
</coreProperties>
</file>