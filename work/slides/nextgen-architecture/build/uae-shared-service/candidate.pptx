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1f7afea94a7466a" /><Relationship Type="http://schemas.openxmlformats.org/officeDocument/2006/relationships/extended-properties" Target="/docProps/app.xml" Id="R2fa4d55585ee4854" /><Relationship Type="http://schemas.openxmlformats.org/officeDocument/2006/relationships/officeDocument" Target="/ppt/presentation.xml" Id="Rfbf0d15cd513466f" /></Relationships>
</file>

<file path=ppt/presentation.xml><?xml version="1.0" encoding="utf-8"?>
<p:presentation xmlns:p="http://schemas.openxmlformats.org/presentationml/2006/main">
  <p:sldMasterIdLst>
    <p:sldMasterId xmlns:r="http://schemas.openxmlformats.org/officeDocument/2006/relationships" id="2147483648" r:id="R4173d933ed0d4c3f"/>
  </p:sldMasterIdLst>
  <p:notesMasterIdLst>
    <p:notesMasterId xmlns:r="http://schemas.openxmlformats.org/officeDocument/2006/relationships" r:id="Rcdb8b2019b0b4f73"/>
  </p:notesMasterIdLst>
  <p:sldIdLst>
    <p:sldId xmlns:r="http://schemas.openxmlformats.org/officeDocument/2006/relationships" id="256" r:id="Rfb5b52c5d12a428c"/>
    <p:sldId xmlns:r="http://schemas.openxmlformats.org/officeDocument/2006/relationships" id="257" r:id="Re85ea61eed1746a5"/>
    <p:sldId xmlns:r="http://schemas.openxmlformats.org/officeDocument/2006/relationships" id="258" r:id="R4e67d7d35a5347cc"/>
    <p:sldId xmlns:r="http://schemas.openxmlformats.org/officeDocument/2006/relationships" id="259" r:id="R7670380a5e2f4dcf"/>
    <p:sldId xmlns:r="http://schemas.openxmlformats.org/officeDocument/2006/relationships" id="260" r:id="R3dae0dabd0844a4e"/>
    <p:sldId xmlns:r="http://schemas.openxmlformats.org/officeDocument/2006/relationships" id="261" r:id="R4195d7659bc44b5d"/>
    <p:sldId xmlns:r="http://schemas.openxmlformats.org/officeDocument/2006/relationships" id="262" r:id="R450753b385e44e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e4cab538d14089" /><Relationship Type="http://schemas.openxmlformats.org/officeDocument/2006/relationships/slideMaster" Target="/ppt/slideMasters/slideMaster1.xml" Id="R4173d933ed0d4c3f" /><Relationship Type="http://schemas.openxmlformats.org/officeDocument/2006/relationships/notesMaster" Target="/ppt/notesMasters/notesMaster1.xml" Id="Rcdb8b2019b0b4f73" /><Relationship Type="http://schemas.openxmlformats.org/officeDocument/2006/relationships/presProps" Target="/ppt/presProps.xml" Id="R5e4ed9a8e7404a5a" /><Relationship Type="http://schemas.openxmlformats.org/officeDocument/2006/relationships/tableStyles" Target="/ppt/tableStyles.xml" Id="R25040eb1996c4549" /><Relationship Type="http://schemas.openxmlformats.org/officeDocument/2006/relationships/slide" Target="/ppt/slides/slide1.xml" Id="Rfb5b52c5d12a428c" /><Relationship Type="http://schemas.openxmlformats.org/officeDocument/2006/relationships/slide" Target="/ppt/slides/slide2.xml" Id="Re85ea61eed1746a5" /><Relationship Type="http://schemas.openxmlformats.org/officeDocument/2006/relationships/slide" Target="/ppt/slides/slide3.xml" Id="R4e67d7d35a5347cc" /><Relationship Type="http://schemas.openxmlformats.org/officeDocument/2006/relationships/slide" Target="/ppt/slides/slide4.xml" Id="R7670380a5e2f4dcf" /><Relationship Type="http://schemas.openxmlformats.org/officeDocument/2006/relationships/slide" Target="/ppt/slides/slide5.xml" Id="R3dae0dabd0844a4e" /><Relationship Type="http://schemas.openxmlformats.org/officeDocument/2006/relationships/slide" Target="/ppt/slides/slide6.xml" Id="R4195d7659bc44b5d" /><Relationship Type="http://schemas.openxmlformats.org/officeDocument/2006/relationships/slide" Target="/ppt/slides/slide7.xml" Id="R450753b385e44e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2a36cc66a84e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f55d8992f649f8" /><Relationship Type="http://schemas.openxmlformats.org/officeDocument/2006/relationships/notesMaster" Target="/ppt/notesMasters/notesMaster1.xml" Id="R5a9f37ef2cd14f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e48181388445d1" /><Relationship Type="http://schemas.openxmlformats.org/officeDocument/2006/relationships/notesMaster" Target="/ppt/notesMasters/notesMaster1.xml" Id="Rd4f4b284e49049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634529ecc34e87" /><Relationship Type="http://schemas.openxmlformats.org/officeDocument/2006/relationships/notesMaster" Target="/ppt/notesMasters/notesMaster1.xml" Id="Rad543904f19f438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04d6bf1b98d49f0" /><Relationship Type="http://schemas.openxmlformats.org/officeDocument/2006/relationships/notesMaster" Target="/ppt/notesMasters/notesMaster1.xml" Id="R5efda542463446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ae624dabdd44f6" /><Relationship Type="http://schemas.openxmlformats.org/officeDocument/2006/relationships/notesMaster" Target="/ppt/notesMasters/notesMaster1.xml" Id="R8283614354da4c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5c6bdd409741e5" /><Relationship Type="http://schemas.openxmlformats.org/officeDocument/2006/relationships/notesMaster" Target="/ppt/notesMasters/notesMaster1.xml" Id="Rf93fde9a6c1a41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063719dba04c4a" /><Relationship Type="http://schemas.openxmlformats.org/officeDocument/2006/relationships/notesMaster" Target="/ppt/notesMasters/notesMaster1.xml" Id="Rc3ae64c8f611453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This is a reference architecture for the proposed shared-government-service expansion. Its control categories describe the common institutional framework to agree across entities; they do not assert that every specific control mechanism is already deployed.</a:t>
            </a:r>
          </a:p>
          <a:p xmlns:a="http://schemas.openxmlformats.org/drawingml/2006/main">
            <a:r>
              <a:t>- The unified trust API and agent execution are company-confirmed available capabilities. The six connected capability families come from the supplied narrative: Cloud, Identity, Collaboration, Sign &amp; Seal, DMS / Trusted Vault and AI.</a:t>
            </a:r>
          </a:p>
          <a:p xmlns:a="http://schemas.openxmlformats.org/drawingml/2006/main">
            <a:r>
              <a:t>- Existing government foundations should be reused. UAE PASS supplies national identity and digital signing capabilities. Digital Dubai publicly describes Digital Sign as powered by Circularo and integrated with UAE PASS. GovSign is an existing TDRA document approval and signing service.</a:t>
            </a:r>
          </a:p>
          <a:p xmlns:a="http://schemas.openxmlformats.org/drawingml/2006/main">
            <a:r>
              <a:t>- The public Digital Dubai service name is Digital Sign; the user also refers to it as DigiSign. No deployment counts or current government agent rollout are asserted.</a:t>
            </a:r>
          </a:p>
          <a:p xmlns:a="http://schemas.openxmlformats.org/drawingml/2006/main">
            <a:r>
              <a:t>- Internal presentation brief: /Users/josefneumann/Projects/ai-workspace/sales-system/work/ideas/Trusted Execution for the Agentic Era.md. Working narrative supplied by the user; not a governed, approved product specification.</a:t>
            </a:r>
          </a:p>
          <a:p xmlns:a="http://schemas.openxmlformats.org/drawingml/2006/main">
            <a:r>
              <a:t>- Company confirmation from the user, 30 September 2026: the unified trust API and agent execution are available. Concrete example: an agent can digitally seal a document with organizational identity on behalf of an employee. The user did not specify production-versus-pilot maturity or the implementation of individual delegation, policy and approval controls.</a:t>
            </a:r>
          </a:p>
          <a:p xmlns:a="http://schemas.openxmlformats.org/drawingml/2006/main">
            <a:r>
              <a:t>- Digital Dubai Partners Portal: Digital Sign — https://partnersportal.digitaldubai.ae/Services/Details/cbe90258-5c5e-40b7-9103-9e5af992369d</a:t>
            </a:r>
          </a:p>
          <a:p xmlns:a="http://schemas.openxmlformats.org/drawingml/2006/main">
            <a:r>
              <a:t>- TDRA Unveils GovSign Initiative at GITEX 2023 — https://tdra.gov.ae/en/media/press-release/2023/tdra-unveils-govsign-initiative-at-gitex-2023</a:t>
            </a:r>
          </a:p>
          <a:p xmlns:a="http://schemas.openxmlformats.org/drawingml/2006/main">
            <a:r>
              <a:t>- TDRA: UAE Pass — https://tdra.gov.ae/en/About/initiatives/mgov/uae-pass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The staircase is a conceptual evolution, not a quantitative maturity score, rollout schedule or claim that every government entity has deployed each stage.</a:t>
            </a:r>
          </a:p>
          <a:p xmlns:a="http://schemas.openxmlformats.org/drawingml/2006/main">
            <a:r>
              <a:t>- The final stage uses the specific company-confirmed API capability: organizational digital sealing on behalf of an employee. The proposed expansion concerns shared government adoption and consistent institutional controls.</a:t>
            </a:r>
          </a:p>
          <a:p xmlns:a="http://schemas.openxmlformats.org/drawingml/2006/main">
            <a:r>
              <a:t>- Context: Digital Dubai has publicly described integrated government service delivery and Agentic AI projects. Its AI Integration Matrix emphasizes coordinated and interoperable AI adoption. These sources support strategic alignment, not endorsement of this proposal.</a:t>
            </a:r>
          </a:p>
          <a:p xmlns:a="http://schemas.openxmlformats.org/drawingml/2006/main">
            <a:r>
              <a:t>- Internal presentation brief: /Users/josefneumann/Projects/ai-workspace/sales-system/work/ideas/Trusted Execution for the Agentic Era.md. Working narrative supplied by the user; not a governed, approved product specification.</a:t>
            </a:r>
          </a:p>
          <a:p xmlns:a="http://schemas.openxmlformats.org/drawingml/2006/main">
            <a:r>
              <a:t>- Company confirmation from the user, 30 September 2026: the unified trust API and agent execution are available. Concrete example: an agent can digitally seal a document with organizational identity on behalf of an employee. The user did not specify production-versus-pilot maturity or the implementation of individual delegation, policy and approval controls.</a:t>
            </a:r>
          </a:p>
          <a:p xmlns:a="http://schemas.openxmlformats.org/drawingml/2006/main">
            <a:r>
              <a:t>- Digital Dubai unified government platform and Agentic AI projects, 1 April 2026 — https://www.digitaldubai.ae/newsroom/news/hamdan-bin-mohammed-directs-dubai-government-entities-to-integrate-all-individual-and-business-services-into-a-unified-digital-platform-within-one-year</a:t>
            </a:r>
          </a:p>
          <a:p xmlns:a="http://schemas.openxmlformats.org/drawingml/2006/main">
            <a:r>
              <a:t>- Digital Dubai AI Integration Matrix Framework, 28 April 2026 — https://www.digitaldubai.ae/newsroom/digital-dubai-launches-ai-integration-matrix-framework-to-accelerate-ai-adoption-across-government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These are proposed shared-service design requirements, taken from the supplied narrative on actor, authority, policy, approval, execution, evidence and audit. They are not claims about individual control implementations or current government deployment.</a:t>
            </a:r>
          </a:p>
          <a:p xmlns:a="http://schemas.openxmlformats.org/drawingml/2006/main">
            <a:r>
              <a:t>- The institutional boundary concerns what an agent may do and what executes. An agent may prepare an action without being authorized to approve it. The required authorization and human oversight depend on the action and the entity’s policy.</a:t>
            </a:r>
          </a:p>
          <a:p xmlns:a="http://schemas.openxmlformats.org/drawingml/2006/main">
            <a:r>
              <a:t>- The actual delegated-authority checks, approval triggers, identity bindings, evidence format and exception process should be agreed for the shared government service.</a:t>
            </a:r>
          </a:p>
          <a:p xmlns:a="http://schemas.openxmlformats.org/drawingml/2006/main">
            <a:r>
              <a:t>- Internal presentation brief: /Users/josefneumann/Projects/ai-workspace/sales-system/work/ideas/Trusted Execution for the Agentic Era.md. Working narrative supplied by the user; not a governed, approved product specification.</a:t>
            </a:r>
          </a:p>
          <a:p xmlns:a="http://schemas.openxmlformats.org/drawingml/2006/main">
            <a:r>
              <a:t>- Company confirmation from the user, 30 September 2026: the unified trust API and agent execution are available. Concrete example: an agent can digitally seal a document with organizational identity on behalf of an employee. The user did not specify production-versus-pilot maturity or the implementation of individual delegation, policy and approval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The unified trust API is company-confirmed available. This is the executive service catalogue proposed for shared government expansion, distilled from the supplied narrative. It is not an endpoint inventory or a promise of every listed control being enabled in an existing deployment.</a:t>
            </a:r>
          </a:p>
          <a:p xmlns:a="http://schemas.openxmlformats.org/drawingml/2006/main">
            <a:r>
              <a:t>- The service families connect core trust functions end to end. Specific identity assurance, delegated-authority enforcement, policy, approvals, trust service configuration and retention rules remain part of the agreed government service scope.</a:t>
            </a:r>
          </a:p>
          <a:p xmlns:a="http://schemas.openxmlformats.org/drawingml/2006/main">
            <a:r>
              <a:t>- This proposal builds on existing national identity and signing infrastructure and existing government systems. A shared interface should reduce duplicate integration effort while each entity retains its appropriate decision authority. This is the intended operating benefit, not a measured result.</a:t>
            </a:r>
          </a:p>
          <a:p xmlns:a="http://schemas.openxmlformats.org/drawingml/2006/main">
            <a:r>
              <a:t>- Internal presentation brief: /Users/josefneumann/Projects/ai-workspace/sales-system/work/ideas/Trusted Execution for the Agentic Era.md. Working narrative supplied by the user; not a governed, approved product specification.</a:t>
            </a:r>
          </a:p>
          <a:p xmlns:a="http://schemas.openxmlformats.org/drawingml/2006/main">
            <a:r>
              <a:t>- Company confirmation from the user, 30 September 2026: the unified trust API and agent execution are available. Concrete example: an agent can digitally seal a document with organizational identity on behalf of an employee. The user did not specify production-versus-pilot maturity or the implementation of individual delegation, policy and approval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Direct company confirmation from the user: "Digitally seal documents with organization identity on behalf of employee." This is the specific available-today example requested for the presentation.</a:t>
            </a:r>
          </a:p>
          <a:p xmlns:a="http://schemas.openxmlformats.org/drawingml/2006/main">
            <a:r>
              <a:t>- The diagram explains the actors and capability, not the exact production API call sequence. Employee context describes on whose behalf the action is performed. Organizational sealing uses the organization’s identity; it is not a claim that the agent reproduces the employee’s personal signature.</a:t>
            </a:r>
          </a:p>
          <a:p xmlns:a="http://schemas.openxmlformats.org/drawingml/2006/main">
            <a:r>
              <a:t>- Production or pilot maturity and the exact implemented controls were not specified. No deployment count, existing government agent deployment, autonomous approval capability or per-action human approval behavior is asserted.</a:t>
            </a:r>
          </a:p>
          <a:p xmlns:a="http://schemas.openxmlformats.org/drawingml/2006/main">
            <a:r>
              <a:t>- The lower band identifies shared-service design decisions to be agreed with the government stakeholders. It should not be read as a statement that those controls are currently absent or already fully deployed.</a:t>
            </a:r>
          </a:p>
          <a:p xmlns:a="http://schemas.openxmlformats.org/drawingml/2006/main">
            <a:r>
              <a:t>- Artwork: Circularo skill assets/icons/circularo/person.svg, folder-check.svg, and assets/icons/sovereign/sovereign-ai.svg. The original AI paths are preserved with an expanded viewport to avoid clipping.</a:t>
            </a:r>
          </a:p>
          <a:p xmlns:a="http://schemas.openxmlformats.org/drawingml/2006/main">
            <a:r>
              <a:t>- Internal presentation brief: /Users/josefneumann/Projects/ai-workspace/sales-system/work/ideas/Trusted Execution for the Agentic Era.md. Working narrative supplied by the user; not a governed, approved product specification.</a:t>
            </a:r>
          </a:p>
          <a:p xmlns:a="http://schemas.openxmlformats.org/drawingml/2006/main">
            <a:r>
              <a:t>- Company confirmation from the user, 30 September 2026: the unified trust API and agent execution are available. Concrete example: an agent can digitally seal a document with organizational identity on behalf of an employee. The user did not specify production-versus-pilot maturity or the implementation of individual delegation, policy and approval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The supplied narrative describes the progression from trusted records to searchable evidence, institutional knowledge, trusted AI context and governed action. This slide presents that intended operating model.</a:t>
            </a:r>
          </a:p>
          <a:p xmlns:a="http://schemas.openxmlformats.org/drawingml/2006/main">
            <a:r>
              <a:t>- The record can combine authoritative content, identities, roles, approvals, signatures, seals, timestamps, audit events, retention metadata and supporting evidence. Permissions and provenance must remain connected when records are used as AI context.</a:t>
            </a:r>
          </a:p>
          <a:p xmlns:a="http://schemas.openxmlformats.org/drawingml/2006/main">
            <a:r>
              <a:t>- Trusted context is not a guarantee that an AI model’s response will be correct. The institution’s controls still determine which consequential actions may execute. Each action can contribute new evidence to the record.</a:t>
            </a:r>
          </a:p>
          <a:p xmlns:a="http://schemas.openxmlformats.org/drawingml/2006/main">
            <a:r>
              <a:t>- Internal presentation brief: /Users/josefneumann/Projects/ai-workspace/sales-system/work/ideas/Trusted Execution for the Agentic Era.md. Working narrative supplied by the user; not a governed, approved product specification.</a:t>
            </a:r>
          </a:p>
          <a:p xmlns:a="http://schemas.openxmlformats.org/drawingml/2006/main">
            <a:r>
              <a:t>- Company confirmation from the user, 30 September 2026: the unified trust API and agent execution are available. Concrete example: an agent can digitally seal a document with organizational identity on behalf of an employee. The user did not specify production-versus-pilot maturity or the implementation of individual delegation, policy and approval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Meeting objective supplied by the user: DDA and TDRA, expansion of existing services toward a shared government service. This is a proposed next step for discussion, not an agreed programme or delivery commitment.</a:t>
            </a:r>
          </a:p>
          <a:p xmlns:a="http://schemas.openxmlformats.org/drawingml/2006/main">
            <a:r>
              <a:t>- Digital Dubai’s public service catalogue identifies Digital Sign as powered by Circularo, with national identity integration and government document workflows. TDRA publicly describes GovSign for federal government approvals and signatures. The user permits naming both services without deployment counts.</a:t>
            </a:r>
          </a:p>
          <a:p xmlns:a="http://schemas.openxmlformats.org/drawingml/2006/main">
            <a:r>
              <a:t>- The proposal should respect Dubai and federal entity scopes. Shared service ownership, authority boundaries, hosting, onboarding, support and evidence requirements need agreement. No joint governance mandate or centralized ownership has been assumed.</a:t>
            </a:r>
          </a:p>
          <a:p xmlns:a="http://schemas.openxmlformats.org/drawingml/2006/main">
            <a:r>
              <a:t>- The first shared journey can reuse the available organizational-sealing API capability. The expansion work concerns government service design, consistent controls, integration and adoption rather than claiming a new product must first be built.</a:t>
            </a:r>
          </a:p>
          <a:p xmlns:a="http://schemas.openxmlformats.org/drawingml/2006/main">
            <a:r>
              <a:t>- Digital Dubai’s AI Integration Matrix provides contextual support for coordinated, interoperable adoption across government; it is not an endorsement of this specific proposal.</a:t>
            </a:r>
          </a:p>
          <a:p xmlns:a="http://schemas.openxmlformats.org/drawingml/2006/main">
            <a:r>
              <a:t>- Internal presentation brief: /Users/josefneumann/Projects/ai-workspace/sales-system/work/ideas/Trusted Execution for the Agentic Era.md. Working narrative supplied by the user; not a governed, approved product specification.</a:t>
            </a:r>
          </a:p>
          <a:p xmlns:a="http://schemas.openxmlformats.org/drawingml/2006/main">
            <a:r>
              <a:t>- Company confirmation from the user, 30 September 2026: the unified trust API and agent execution are available. Concrete example: an agent can digitally seal a document with organizational identity on behalf of an employee. The user did not specify production-versus-pilot maturity or the implementation of individual delegation, policy and approval controls.</a:t>
            </a:r>
          </a:p>
          <a:p xmlns:a="http://schemas.openxmlformats.org/drawingml/2006/main">
            <a:r>
              <a:t>- Digital Dubai Partners Portal: Digital Sign — https://partnersportal.digitaldubai.ae/Services/Details/cbe90258-5c5e-40b7-9103-9e5af992369d</a:t>
            </a:r>
          </a:p>
          <a:p xmlns:a="http://schemas.openxmlformats.org/drawingml/2006/main">
            <a:r>
              <a:t>- TDRA Unveils GovSign Initiative at GITEX 2023 — https://tdra.gov.ae/en/media/press-release/2023/tdra-unveils-govsign-initiative-at-gitex-2023</a:t>
            </a:r>
          </a:p>
          <a:p xmlns:a="http://schemas.openxmlformats.org/drawingml/2006/main">
            <a:r>
              <a:t>- Digital Dubai AI Integration Matrix Framework, 28 April 2026 — https://www.digitaldubai.ae/newsroom/digital-dubai-launches-ai-integration-matrix-framework-to-accelerate-ai-adoption-across-government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bb61f369bf4ad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bff33c409834ae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f9a502726a5494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cdcca9dc6a84b1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354395941e049c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91a068f782549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66DF0BE6-826A-4F64-85B3-9821C9C86E52}"/>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33484EC-1A8C-4A7D-B384-1980C36F656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8B0BA818-2CE0-4463-B593-2E69895BF2E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17B09C4A-DEFF-4BF2-A973-06AECF08FD9F}"/>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1E8A360B-BF5A-4CCA-817E-947A7996B66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DAA6C3D-F9DF-450A-AB07-612152DC5EF9}"/>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A4F067D-4FE1-458A-AB6F-54D4B90022F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EC5ACFA4-997B-414D-8C83-BAAA99E29E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035D7B48-B0E8-4C04-B7DA-3E07C52C38DF}"/>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63F8B30-3115-4840-B01B-01D0E0CF02B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455996E5-7155-471F-9626-09855ABB5AF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D0C98427-D73E-44BD-BB7E-0ABFF8212ED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009C0AF4-48EE-48B0-A025-615451DFA931}"/>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1459205-D501-454C-BB83-E7D6308B75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EE82A984-9667-4541-B460-CD7606985E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da3c67ed0b4e30" /><Relationship Type="http://schemas.openxmlformats.org/officeDocument/2006/relationships/slideLayout" Target="/ppt/slideLayouts/slideLayout1.xml" Id="R342dcb11c8504428" /><Relationship Type="http://schemas.openxmlformats.org/officeDocument/2006/relationships/slideLayout" Target="/ppt/slideLayouts/slideLayout2.xml" Id="Ra518feb090594320" /><Relationship Type="http://schemas.openxmlformats.org/officeDocument/2006/relationships/slideLayout" Target="/ppt/slideLayouts/slideLayout3.xml" Id="R37e3e4b043f947e5" /><Relationship Type="http://schemas.openxmlformats.org/officeDocument/2006/relationships/slideLayout" Target="/ppt/slideLayouts/slideLayout4.xml" Id="R3572a80552cb4d47" /><Relationship Type="http://schemas.openxmlformats.org/officeDocument/2006/relationships/slideLayout" Target="/ppt/slideLayouts/slideLayout5.xml" Id="Rb90a73cdbf82498a" /><Relationship Type="http://schemas.openxmlformats.org/officeDocument/2006/relationships/slideLayout" Target="/ppt/slideLayouts/slideLayout6.xml" Id="Rbe11769be89242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2dcb11c8504428"/>
    <p:sldLayoutId xmlns:r="http://schemas.openxmlformats.org/officeDocument/2006/relationships" id="2147483650" r:id="Ra518feb090594320"/>
    <p:sldLayoutId xmlns:r="http://schemas.openxmlformats.org/officeDocument/2006/relationships" id="2147483651" r:id="R37e3e4b043f947e5"/>
    <p:sldLayoutId xmlns:r="http://schemas.openxmlformats.org/officeDocument/2006/relationships" id="2147483652" r:id="R3572a80552cb4d47"/>
    <p:sldLayoutId xmlns:r="http://schemas.openxmlformats.org/officeDocument/2006/relationships" id="2147483653" r:id="Rb90a73cdbf82498a"/>
    <p:sldLayoutId xmlns:r="http://schemas.openxmlformats.org/officeDocument/2006/relationships" id="2147483654" r:id="Rbe11769be89242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d29e64f00b24cc1" /><Relationship Type="http://schemas.openxmlformats.org/officeDocument/2006/relationships/image" Target="/ppt/media/image.png" Id="R243e9888de6f462c" /><Relationship Type="http://schemas.openxmlformats.org/officeDocument/2006/relationships/notesSlide" Target="/ppt/notesSlides/notesSlide1.xml" Id="Rbf7e79dac1414f1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796f06ac72b4935" /><Relationship Type="http://schemas.openxmlformats.org/officeDocument/2006/relationships/image" Target="/ppt/media/image2.png" Id="R2ea52185e5be426c" /><Relationship Type="http://schemas.openxmlformats.org/officeDocument/2006/relationships/notesSlide" Target="/ppt/notesSlides/notesSlide2.xml" Id="R07e07e01e7704ce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c831ef6407d4072" /><Relationship Type="http://schemas.openxmlformats.org/officeDocument/2006/relationships/image" Target="/ppt/media/image3.png" Id="Rc4d47cec4be34a60" /><Relationship Type="http://schemas.openxmlformats.org/officeDocument/2006/relationships/notesSlide" Target="/ppt/notesSlides/notesSlide3.xml" Id="R3f0be10f780043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46c5c6aac2844a7" /><Relationship Type="http://schemas.openxmlformats.org/officeDocument/2006/relationships/image" Target="/ppt/media/image4.png" Id="Re08b356214d14914" /><Relationship Type="http://schemas.openxmlformats.org/officeDocument/2006/relationships/notesSlide" Target="/ppt/notesSlides/notesSlide4.xml" Id="Rc80826b338894eb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a835c5bebce4cad" /><Relationship Type="http://schemas.openxmlformats.org/officeDocument/2006/relationships/image" Target="/ppt/media/image5.png" Id="R3b4e1e3b2e3e44a8" /><Relationship Type="http://schemas.openxmlformats.org/officeDocument/2006/relationships/image" Target="/ppt/media/image6.png" Id="R36ad694fa70e4d7d" /><Relationship Type="http://schemas.openxmlformats.org/officeDocument/2006/relationships/image" Target="/ppt/media/image7.png" Id="R81564e3fad6544c9" /><Relationship Type="http://schemas.openxmlformats.org/officeDocument/2006/relationships/image" Target="/ppt/media/image8.png" Id="R16c833b2c3e8464a" /><Relationship Type="http://schemas.openxmlformats.org/officeDocument/2006/relationships/notesSlide" Target="/ppt/notesSlides/notesSlide5.xml" Id="Re9112f5714cf467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2c2009110d14d3f" /><Relationship Type="http://schemas.openxmlformats.org/officeDocument/2006/relationships/image" Target="/ppt/media/image9.png" Id="R42c19bd3fccb408a" /><Relationship Type="http://schemas.openxmlformats.org/officeDocument/2006/relationships/notesSlide" Target="/ppt/notesSlides/notesSlide6.xml" Id="Rf2d7be506b04400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720915b50974563" /><Relationship Type="http://schemas.openxmlformats.org/officeDocument/2006/relationships/image" Target="/ppt/media/image10.png" Id="R97d3cd1550294c21" /><Relationship Type="http://schemas.openxmlformats.org/officeDocument/2006/relationships/notesSlide" Target="/ppt/notesSlides/notesSlide7.xml" Id="R1cdd2c112e3b4b7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4" name=""/>
          <p:cNvCxnSpPr>
            <a:stCxn xmlns:a="http://schemas.openxmlformats.org/drawingml/2006/main" id="10" idx="2"/>
            <a:endCxn xmlns:a="http://schemas.openxmlformats.org/drawingml/2006/main" id="12" idx="0"/>
          </p:cNvCxnSpPr>
          <p:nvPr/>
        </p:nvCxnSpPr>
        <p:spPr>
          <a:xfrm xmlns:a="http://schemas.openxmlformats.org/drawingml/2006/main">
            <a:off x="6096000" y="3276600"/>
            <a:ext cx="0" cy="304800"/>
          </a:xfrm>
          <a:prstGeom xmlns:a="http://schemas.openxmlformats.org/drawingml/2006/main" prst="straightConnector1">
            <a:avLst/>
          </a:prstGeom>
          <a:ln xmlns:a="http://schemas.openxmlformats.org/drawingml/2006/main" w="19050">
            <a:solidFill>
              <a:srgbClr val="7000FF"/>
            </a:solidFill>
            <a:tailEnd type="triangle" w="sm" len="sm"/>
          </a:ln>
        </p:spPr>
      </p:cxn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243e9888de6f462c"/>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2F552C73-9A1F-47AB-8F19-241C2F8E714C}"/>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01</a:t>
            </a:r>
          </a:p>
        </p:txBody>
      </p:sp>
      <p:sp>
        <p:nvSpPr>
          <p:cNvPr id="3" name="copy-1">
            <a:extLst xmlns:a="http://schemas.openxmlformats.org/drawingml/2006/main">
              <a:ext uri="{FF2B5EF4-FFF2-40B4-BE49-F238E27FC236}">
                <a16:creationId xmlns:a16="http://schemas.microsoft.com/office/drawing/2014/main" id="{EC0DEC1C-0F97-48D6-B42C-2852CEEE1AB8}"/>
              </a:ext>
            </a:extLst>
          </p:cNvPr>
          <p:cNvSpPr>
            <a:spLocks xmlns:a="http://schemas.openxmlformats.org/drawingml/2006/main" noGrp="1"/>
          </p:cNvSpPr>
          <p:nvPr/>
        </p:nvSpPr>
        <p:spPr>
          <a:xfrm xmlns:a="http://schemas.openxmlformats.org/drawingml/2006/main">
            <a:off x="990600" y="295275"/>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7000FF"/>
                </a:solidFill>
                <a:latin typeface="Mulish"/>
                <a:ea typeface="Mulish"/>
                <a:cs typeface="Mulish"/>
              </a:defRPr>
            </a:pPr>
            <a:r>
              <a:rPr sz="1350" b="1">
                <a:solidFill>
                  <a:srgbClr val="7000FF"/>
                </a:solidFill>
                <a:latin typeface="Mulish"/>
                <a:ea typeface="Mulish"/>
                <a:cs typeface="Mulish"/>
              </a:rPr>
              <a:t>TRUSTED EXECUTION FOR THE AGENTIC ERA</a:t>
            </a:r>
          </a:p>
        </p:txBody>
      </p:sp>
      <p:sp>
        <p:nvSpPr>
          <p:cNvPr id="4" name="copy-2">
            <a:extLst xmlns:a="http://schemas.openxmlformats.org/drawingml/2006/main">
              <a:ext uri="{FF2B5EF4-FFF2-40B4-BE49-F238E27FC236}">
                <a16:creationId xmlns:a16="http://schemas.microsoft.com/office/drawing/2014/main" id="{6482E367-42ED-4654-82E1-92AE57C8310F}"/>
              </a:ext>
            </a:extLst>
          </p:cNvPr>
          <p:cNvSpPr>
            <a:spLocks xmlns:a="http://schemas.openxmlformats.org/drawingml/2006/main" noGrp="1"/>
          </p:cNvSpPr>
          <p:nvPr/>
        </p:nvSpPr>
        <p:spPr>
          <a:xfrm xmlns:a="http://schemas.openxmlformats.org/drawingml/2006/main">
            <a:off x="457200" y="91440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D0090"/>
                </a:solidFill>
                <a:latin typeface="Spartan"/>
                <a:ea typeface="Spartan"/>
                <a:cs typeface="Spartan"/>
              </a:defRPr>
            </a:pPr>
            <a:r>
              <a:rPr sz="3600" b="1">
                <a:solidFill>
                  <a:srgbClr val="1D0090"/>
                </a:solidFill>
                <a:latin typeface="Spartan"/>
                <a:ea typeface="Spartan"/>
                <a:cs typeface="Spartan"/>
              </a:rPr>
              <a:t>One trust layer for government</a:t>
            </a:r>
          </a:p>
        </p:txBody>
      </p:sp>
      <p:sp>
        <p:nvSpPr>
          <p:cNvPr id="5" name="copy-3">
            <a:extLst xmlns:a="http://schemas.openxmlformats.org/drawingml/2006/main">
              <a:ext uri="{FF2B5EF4-FFF2-40B4-BE49-F238E27FC236}">
                <a16:creationId xmlns:a16="http://schemas.microsoft.com/office/drawing/2014/main" id="{81CAC103-BB42-4FD5-98CF-D2C976066CB2}"/>
              </a:ext>
            </a:extLst>
          </p:cNvPr>
          <p:cNvSpPr>
            <a:spLocks xmlns:a="http://schemas.openxmlformats.org/drawingml/2006/main" noGrp="1"/>
          </p:cNvSpPr>
          <p:nvPr/>
        </p:nvSpPr>
        <p:spPr>
          <a:xfrm xmlns:a="http://schemas.openxmlformats.org/drawingml/2006/main">
            <a:off x="457200" y="1666875"/>
            <a:ext cx="11277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Reference architecture for expanding existing DDA and TDRA services</a:t>
            </a:r>
          </a:p>
        </p:txBody>
      </p:sp>
      <p:sp>
        <p:nvSpPr>
          <p:cNvPr id="6" name="copy-4">
            <a:extLst xmlns:a="http://schemas.openxmlformats.org/drawingml/2006/main">
              <a:ext uri="{FF2B5EF4-FFF2-40B4-BE49-F238E27FC236}">
                <a16:creationId xmlns:a16="http://schemas.microsoft.com/office/drawing/2014/main" id="{DD5CDD3E-2296-4327-BBB0-E7D33376F758}"/>
              </a:ext>
            </a:extLst>
          </p:cNvPr>
          <p:cNvSpPr>
            <a:spLocks xmlns:a="http://schemas.openxmlformats.org/drawingml/2006/main" noGrp="1"/>
          </p:cNvSpPr>
          <p:nvPr/>
        </p:nvSpPr>
        <p:spPr>
          <a:xfrm xmlns:a="http://schemas.openxmlformats.org/drawingml/2006/main">
            <a:off x="457200" y="2257425"/>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D0090"/>
                </a:solidFill>
                <a:latin typeface="Mulish"/>
                <a:ea typeface="Mulish"/>
                <a:cs typeface="Mulish"/>
              </a:defRPr>
            </a:pPr>
            <a:r>
              <a:rPr sz="1725" b="1">
                <a:solidFill>
                  <a:srgbClr val="1D0090"/>
                </a:solidFill>
                <a:latin typeface="Mulish"/>
                <a:ea typeface="Mulish"/>
                <a:cs typeface="Mulish"/>
              </a:rPr>
              <a:t>People &amp; organisations</a:t>
            </a:r>
          </a:p>
        </p:txBody>
      </p:sp>
      <p:sp>
        <p:nvSpPr>
          <p:cNvPr id="7" name="copy-5">
            <a:extLst xmlns:a="http://schemas.openxmlformats.org/drawingml/2006/main">
              <a:ext uri="{FF2B5EF4-FFF2-40B4-BE49-F238E27FC236}">
                <a16:creationId xmlns:a16="http://schemas.microsoft.com/office/drawing/2014/main" id="{206EC329-9CB6-4066-8ED9-3C9943EFF26B}"/>
              </a:ext>
            </a:extLst>
          </p:cNvPr>
          <p:cNvSpPr>
            <a:spLocks xmlns:a="http://schemas.openxmlformats.org/drawingml/2006/main" noGrp="1"/>
          </p:cNvSpPr>
          <p:nvPr/>
        </p:nvSpPr>
        <p:spPr>
          <a:xfrm xmlns:a="http://schemas.openxmlformats.org/drawingml/2006/main">
            <a:off x="3333750" y="2257425"/>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D0090"/>
                </a:solidFill>
                <a:latin typeface="Mulish"/>
                <a:ea typeface="Mulish"/>
                <a:cs typeface="Mulish"/>
              </a:defRPr>
            </a:pPr>
            <a:r>
              <a:rPr sz="1725" b="1">
                <a:solidFill>
                  <a:srgbClr val="1D0090"/>
                </a:solidFill>
                <a:latin typeface="Mulish"/>
                <a:ea typeface="Mulish"/>
                <a:cs typeface="Mulish"/>
              </a:rPr>
              <a:t>Government systems</a:t>
            </a:r>
          </a:p>
        </p:txBody>
      </p:sp>
      <p:sp>
        <p:nvSpPr>
          <p:cNvPr id="8" name="copy-6">
            <a:extLst xmlns:a="http://schemas.openxmlformats.org/drawingml/2006/main">
              <a:ext uri="{FF2B5EF4-FFF2-40B4-BE49-F238E27FC236}">
                <a16:creationId xmlns:a16="http://schemas.microsoft.com/office/drawing/2014/main" id="{9C440661-D0F4-4EE8-9D21-1C0421B38409}"/>
              </a:ext>
            </a:extLst>
          </p:cNvPr>
          <p:cNvSpPr>
            <a:spLocks xmlns:a="http://schemas.openxmlformats.org/drawingml/2006/main" noGrp="1"/>
          </p:cNvSpPr>
          <p:nvPr/>
        </p:nvSpPr>
        <p:spPr>
          <a:xfrm xmlns:a="http://schemas.openxmlformats.org/drawingml/2006/main">
            <a:off x="6210300" y="2257425"/>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D0090"/>
                </a:solidFill>
                <a:latin typeface="Mulish"/>
                <a:ea typeface="Mulish"/>
                <a:cs typeface="Mulish"/>
              </a:defRPr>
            </a:pPr>
            <a:r>
              <a:rPr sz="1725" b="1">
                <a:solidFill>
                  <a:srgbClr val="1D0090"/>
                </a:solidFill>
                <a:latin typeface="Mulish"/>
                <a:ea typeface="Mulish"/>
                <a:cs typeface="Mulish"/>
              </a:rPr>
              <a:t>AI agents</a:t>
            </a:r>
          </a:p>
        </p:txBody>
      </p:sp>
      <p:sp>
        <p:nvSpPr>
          <p:cNvPr id="9" name="copy-7">
            <a:extLst xmlns:a="http://schemas.openxmlformats.org/drawingml/2006/main">
              <a:ext uri="{FF2B5EF4-FFF2-40B4-BE49-F238E27FC236}">
                <a16:creationId xmlns:a16="http://schemas.microsoft.com/office/drawing/2014/main" id="{D2ADDADD-3B59-4487-90F0-8F3246BFC1F6}"/>
              </a:ext>
            </a:extLst>
          </p:cNvPr>
          <p:cNvSpPr>
            <a:spLocks xmlns:a="http://schemas.openxmlformats.org/drawingml/2006/main" noGrp="1"/>
          </p:cNvSpPr>
          <p:nvPr/>
        </p:nvSpPr>
        <p:spPr>
          <a:xfrm xmlns:a="http://schemas.openxmlformats.org/drawingml/2006/main">
            <a:off x="9086850" y="2257425"/>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D0090"/>
                </a:solidFill>
                <a:latin typeface="Mulish"/>
                <a:ea typeface="Mulish"/>
                <a:cs typeface="Mulish"/>
              </a:defRPr>
            </a:pPr>
            <a:r>
              <a:rPr sz="1725" b="1">
                <a:solidFill>
                  <a:srgbClr val="1D0090"/>
                </a:solidFill>
                <a:latin typeface="Mulish"/>
                <a:ea typeface="Mulish"/>
                <a:cs typeface="Mulish"/>
              </a:rPr>
              <a:t>Ecosystem partners</a:t>
            </a:r>
          </a:p>
        </p:txBody>
      </p:sp>
      <p:sp>
        <p:nvSpPr>
          <p:cNvPr id="10" name="unified-trust-api">
            <a:extLst xmlns:a="http://schemas.openxmlformats.org/drawingml/2006/main">
              <a:ext uri="{FF2B5EF4-FFF2-40B4-BE49-F238E27FC236}">
                <a16:creationId xmlns:a16="http://schemas.microsoft.com/office/drawing/2014/main" id="{E157EABA-1AA5-4629-8673-9747423A4085}"/>
              </a:ext>
            </a:extLst>
          </p:cNvPr>
          <p:cNvSpPr>
            <a:spLocks xmlns:a="http://schemas.openxmlformats.org/drawingml/2006/main" noGrp="1"/>
          </p:cNvSpPr>
          <p:nvPr/>
        </p:nvSpPr>
        <p:spPr>
          <a:xfrm xmlns:a="http://schemas.openxmlformats.org/drawingml/2006/main">
            <a:off x="457200" y="2781300"/>
            <a:ext cx="11277600" cy="495300"/>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11" name="copy-8">
            <a:extLst xmlns:a="http://schemas.openxmlformats.org/drawingml/2006/main">
              <a:ext uri="{FF2B5EF4-FFF2-40B4-BE49-F238E27FC236}">
                <a16:creationId xmlns:a16="http://schemas.microsoft.com/office/drawing/2014/main" id="{FB9B5161-9797-4232-835A-0DBFA6E04FC2}"/>
              </a:ext>
            </a:extLst>
          </p:cNvPr>
          <p:cNvSpPr>
            <a:spLocks xmlns:a="http://schemas.openxmlformats.org/drawingml/2006/main" noGrp="1"/>
          </p:cNvSpPr>
          <p:nvPr/>
        </p:nvSpPr>
        <p:spPr>
          <a:xfrm xmlns:a="http://schemas.openxmlformats.org/drawingml/2006/main">
            <a:off x="609600" y="2905125"/>
            <a:ext cx="10972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Mulish"/>
                <a:ea typeface="Mulish"/>
                <a:cs typeface="Mulish"/>
              </a:defRPr>
            </a:pPr>
            <a:r>
              <a:rPr sz="1800" b="1">
                <a:solidFill>
                  <a:srgbClr val="FFFFFF"/>
                </a:solidFill>
                <a:latin typeface="Mulish"/>
                <a:ea typeface="Mulish"/>
                <a:cs typeface="Mulish"/>
              </a:rPr>
              <a:t>UNIFIED TRUST API</a:t>
            </a:r>
          </a:p>
        </p:txBody>
      </p:sp>
      <p:sp>
        <p:nvSpPr>
          <p:cNvPr id="12" name="trusted-execution-layer">
            <a:extLst xmlns:a="http://schemas.openxmlformats.org/drawingml/2006/main">
              <a:ext uri="{FF2B5EF4-FFF2-40B4-BE49-F238E27FC236}">
                <a16:creationId xmlns:a16="http://schemas.microsoft.com/office/drawing/2014/main" id="{AFDA08C1-3777-43B8-BD04-0E4FDFABF0D6}"/>
              </a:ext>
            </a:extLst>
          </p:cNvPr>
          <p:cNvSpPr>
            <a:spLocks xmlns:a="http://schemas.openxmlformats.org/drawingml/2006/main" noGrp="1"/>
          </p:cNvSpPr>
          <p:nvPr/>
        </p:nvSpPr>
        <p:spPr>
          <a:xfrm xmlns:a="http://schemas.openxmlformats.org/drawingml/2006/main">
            <a:off x="457200" y="3581400"/>
            <a:ext cx="11277600" cy="1181100"/>
          </a:xfrm>
          <a:prstGeom xmlns:a="http://schemas.openxmlformats.org/drawingml/2006/main" prst="rect">
            <a:avLst/>
          </a:prstGeom>
          <a:solidFill xmlns:a="http://schemas.openxmlformats.org/drawingml/2006/main">
            <a:srgbClr val="1D0090"/>
          </a:solidFill>
          <a:ln xmlns:a="http://schemas.openxmlformats.org/drawingml/2006/main" w="0">
            <a:noFill/>
            <a:prstDash val="solid"/>
          </a:ln>
        </p:spPr>
      </p:sp>
      <p:sp>
        <p:nvSpPr>
          <p:cNvPr id="13" name="copy-9">
            <a:extLst xmlns:a="http://schemas.openxmlformats.org/drawingml/2006/main">
              <a:ext uri="{FF2B5EF4-FFF2-40B4-BE49-F238E27FC236}">
                <a16:creationId xmlns:a16="http://schemas.microsoft.com/office/drawing/2014/main" id="{D0454B95-51C8-4CFF-9092-95BFEB78A638}"/>
              </a:ext>
            </a:extLst>
          </p:cNvPr>
          <p:cNvSpPr>
            <a:spLocks xmlns:a="http://schemas.openxmlformats.org/drawingml/2006/main" noGrp="1"/>
          </p:cNvSpPr>
          <p:nvPr/>
        </p:nvSpPr>
        <p:spPr>
          <a:xfrm xmlns:a="http://schemas.openxmlformats.org/drawingml/2006/main">
            <a:off x="609600" y="3714750"/>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Mulish"/>
                <a:ea typeface="Mulish"/>
                <a:cs typeface="Mulish"/>
              </a:defRPr>
            </a:pPr>
            <a:r>
              <a:rPr sz="1800" b="1">
                <a:solidFill>
                  <a:srgbClr val="FFFFFF"/>
                </a:solidFill>
                <a:latin typeface="Mulish"/>
                <a:ea typeface="Mulish"/>
                <a:cs typeface="Mulish"/>
              </a:rPr>
              <a:t>TRUSTED EXECUTION LAYER</a:t>
            </a:r>
          </a:p>
        </p:txBody>
      </p:sp>
      <p:sp>
        <p:nvSpPr>
          <p:cNvPr id="14" name="copy-10">
            <a:extLst xmlns:a="http://schemas.openxmlformats.org/drawingml/2006/main">
              <a:ext uri="{FF2B5EF4-FFF2-40B4-BE49-F238E27FC236}">
                <a16:creationId xmlns:a16="http://schemas.microsoft.com/office/drawing/2014/main" id="{2467810F-6213-4F1F-BECE-B24634521778}"/>
              </a:ext>
            </a:extLst>
          </p:cNvPr>
          <p:cNvSpPr>
            <a:spLocks xmlns:a="http://schemas.openxmlformats.org/drawingml/2006/main" noGrp="1"/>
          </p:cNvSpPr>
          <p:nvPr/>
        </p:nvSpPr>
        <p:spPr>
          <a:xfrm xmlns:a="http://schemas.openxmlformats.org/drawingml/2006/main">
            <a:off x="609600" y="4257675"/>
            <a:ext cx="34575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FFFFFF"/>
                </a:solidFill>
                <a:latin typeface="Mulish"/>
                <a:ea typeface="Mulish"/>
                <a:cs typeface="Mulish"/>
              </a:defRPr>
            </a:pPr>
            <a:r>
              <a:rPr sz="1875" b="1">
                <a:solidFill>
                  <a:srgbClr val="FFFFFF"/>
                </a:solidFill>
                <a:latin typeface="Mulish"/>
                <a:ea typeface="Mulish"/>
                <a:cs typeface="Mulish"/>
              </a:rPr>
              <a:t>Actor &amp; authority</a:t>
            </a:r>
          </a:p>
        </p:txBody>
      </p:sp>
      <p:sp>
        <p:nvSpPr>
          <p:cNvPr id="15" name="divider">
            <a:extLst xmlns:a="http://schemas.openxmlformats.org/drawingml/2006/main">
              <a:ext uri="{FF2B5EF4-FFF2-40B4-BE49-F238E27FC236}">
                <a16:creationId xmlns:a16="http://schemas.microsoft.com/office/drawing/2014/main" id="{3238B7F7-0771-423E-9427-DF3D8DD70B94}"/>
              </a:ext>
            </a:extLst>
          </p:cNvPr>
          <p:cNvSpPr>
            <a:spLocks xmlns:a="http://schemas.openxmlformats.org/drawingml/2006/main" noGrp="1"/>
          </p:cNvSpPr>
          <p:nvPr/>
        </p:nvSpPr>
        <p:spPr>
          <a:xfrm xmlns:a="http://schemas.openxmlformats.org/drawingml/2006/main">
            <a:off x="4219575" y="4181475"/>
            <a:ext cx="9525" cy="371475"/>
          </a:xfrm>
          <a:prstGeom xmlns:a="http://schemas.openxmlformats.org/drawingml/2006/main" prst="rect">
            <a:avLst/>
          </a:prstGeom>
          <a:solidFill xmlns:a="http://schemas.openxmlformats.org/drawingml/2006/main">
            <a:srgbClr val="F5EDFF"/>
          </a:solidFill>
          <a:ln xmlns:a="http://schemas.openxmlformats.org/drawingml/2006/main" w="0">
            <a:noFill/>
            <a:prstDash val="solid"/>
          </a:ln>
        </p:spPr>
      </p:sp>
      <p:sp>
        <p:nvSpPr>
          <p:cNvPr id="16" name="copy-11">
            <a:extLst xmlns:a="http://schemas.openxmlformats.org/drawingml/2006/main">
              <a:ext uri="{FF2B5EF4-FFF2-40B4-BE49-F238E27FC236}">
                <a16:creationId xmlns:a16="http://schemas.microsoft.com/office/drawing/2014/main" id="{4787A85A-F5EE-4D9C-9237-8B40422C2141}"/>
              </a:ext>
            </a:extLst>
          </p:cNvPr>
          <p:cNvSpPr>
            <a:spLocks xmlns:a="http://schemas.openxmlformats.org/drawingml/2006/main" noGrp="1"/>
          </p:cNvSpPr>
          <p:nvPr/>
        </p:nvSpPr>
        <p:spPr>
          <a:xfrm xmlns:a="http://schemas.openxmlformats.org/drawingml/2006/main">
            <a:off x="4371975" y="4257675"/>
            <a:ext cx="34575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FFFFFF"/>
                </a:solidFill>
                <a:latin typeface="Mulish"/>
                <a:ea typeface="Mulish"/>
                <a:cs typeface="Mulish"/>
              </a:defRPr>
            </a:pPr>
            <a:r>
              <a:rPr sz="1875" b="1">
                <a:solidFill>
                  <a:srgbClr val="FFFFFF"/>
                </a:solidFill>
                <a:latin typeface="Mulish"/>
                <a:ea typeface="Mulish"/>
                <a:cs typeface="Mulish"/>
              </a:rPr>
              <a:t>Policy &amp; approval</a:t>
            </a:r>
          </a:p>
        </p:txBody>
      </p:sp>
      <p:sp>
        <p:nvSpPr>
          <p:cNvPr id="17" name="divider">
            <a:extLst xmlns:a="http://schemas.openxmlformats.org/drawingml/2006/main">
              <a:ext uri="{FF2B5EF4-FFF2-40B4-BE49-F238E27FC236}">
                <a16:creationId xmlns:a16="http://schemas.microsoft.com/office/drawing/2014/main" id="{1584D621-0CBC-4323-8C98-23626DACF8CE}"/>
              </a:ext>
            </a:extLst>
          </p:cNvPr>
          <p:cNvSpPr>
            <a:spLocks xmlns:a="http://schemas.openxmlformats.org/drawingml/2006/main" noGrp="1"/>
          </p:cNvSpPr>
          <p:nvPr/>
        </p:nvSpPr>
        <p:spPr>
          <a:xfrm xmlns:a="http://schemas.openxmlformats.org/drawingml/2006/main">
            <a:off x="7981950" y="4181475"/>
            <a:ext cx="9525" cy="371475"/>
          </a:xfrm>
          <a:prstGeom xmlns:a="http://schemas.openxmlformats.org/drawingml/2006/main" prst="rect">
            <a:avLst/>
          </a:prstGeom>
          <a:solidFill xmlns:a="http://schemas.openxmlformats.org/drawingml/2006/main">
            <a:srgbClr val="F5EDFF"/>
          </a:solidFill>
          <a:ln xmlns:a="http://schemas.openxmlformats.org/drawingml/2006/main" w="0">
            <a:noFill/>
            <a:prstDash val="solid"/>
          </a:ln>
        </p:spPr>
      </p:sp>
      <p:sp>
        <p:nvSpPr>
          <p:cNvPr id="18" name="copy-12">
            <a:extLst xmlns:a="http://schemas.openxmlformats.org/drawingml/2006/main">
              <a:ext uri="{FF2B5EF4-FFF2-40B4-BE49-F238E27FC236}">
                <a16:creationId xmlns:a16="http://schemas.microsoft.com/office/drawing/2014/main" id="{4FAA8575-E3F4-42AD-A965-8E4449C4B06B}"/>
              </a:ext>
            </a:extLst>
          </p:cNvPr>
          <p:cNvSpPr>
            <a:spLocks xmlns:a="http://schemas.openxmlformats.org/drawingml/2006/main" noGrp="1"/>
          </p:cNvSpPr>
          <p:nvPr/>
        </p:nvSpPr>
        <p:spPr>
          <a:xfrm xmlns:a="http://schemas.openxmlformats.org/drawingml/2006/main">
            <a:off x="8134350" y="4257675"/>
            <a:ext cx="34575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FFFFFF"/>
                </a:solidFill>
                <a:latin typeface="Mulish"/>
                <a:ea typeface="Mulish"/>
                <a:cs typeface="Mulish"/>
              </a:defRPr>
            </a:pPr>
            <a:r>
              <a:rPr sz="1875" b="1">
                <a:solidFill>
                  <a:srgbClr val="FFFFFF"/>
                </a:solidFill>
                <a:latin typeface="Mulish"/>
                <a:ea typeface="Mulish"/>
                <a:cs typeface="Mulish"/>
              </a:rPr>
              <a:t>Execution &amp; evidence</a:t>
            </a:r>
          </a:p>
        </p:txBody>
      </p:sp>
      <p:sp>
        <p:nvSpPr>
          <p:cNvPr id="20" name="copy-13">
            <a:extLst xmlns:a="http://schemas.openxmlformats.org/drawingml/2006/main">
              <a:ext uri="{FF2B5EF4-FFF2-40B4-BE49-F238E27FC236}">
                <a16:creationId xmlns:a16="http://schemas.microsoft.com/office/drawing/2014/main" id="{3B24EB9B-AD8A-444A-AA91-DB3E6AEF52A4}"/>
              </a:ext>
            </a:extLst>
          </p:cNvPr>
          <p:cNvSpPr>
            <a:spLocks xmlns:a="http://schemas.openxmlformats.org/drawingml/2006/main" noGrp="1"/>
          </p:cNvSpPr>
          <p:nvPr/>
        </p:nvSpPr>
        <p:spPr>
          <a:xfrm xmlns:a="http://schemas.openxmlformats.org/drawingml/2006/main">
            <a:off x="457200" y="5067300"/>
            <a:ext cx="11277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667085"/>
                </a:solidFill>
                <a:latin typeface="Mulish"/>
                <a:ea typeface="Mulish"/>
                <a:cs typeface="Mulish"/>
              </a:defRPr>
            </a:pPr>
            <a:r>
              <a:rPr sz="1600" b="1">
                <a:solidFill>
                  <a:srgbClr val="667085"/>
                </a:solidFill>
                <a:latin typeface="Mulish"/>
                <a:ea typeface="Mulish"/>
                <a:cs typeface="Mulish"/>
              </a:rPr>
              <a:t>CONNECTED CORE SERVICES</a:t>
            </a:r>
          </a:p>
        </p:txBody>
      </p:sp>
      <p:sp>
        <p:nvSpPr>
          <p:cNvPr id="21" name="copy-14">
            <a:extLst xmlns:a="http://schemas.openxmlformats.org/drawingml/2006/main">
              <a:ext uri="{FF2B5EF4-FFF2-40B4-BE49-F238E27FC236}">
                <a16:creationId xmlns:a16="http://schemas.microsoft.com/office/drawing/2014/main" id="{8F9A664A-8C88-48DC-A30C-A292E56C4D70}"/>
              </a:ext>
            </a:extLst>
          </p:cNvPr>
          <p:cNvSpPr>
            <a:spLocks xmlns:a="http://schemas.openxmlformats.org/drawingml/2006/main" noGrp="1"/>
          </p:cNvSpPr>
          <p:nvPr/>
        </p:nvSpPr>
        <p:spPr>
          <a:xfrm xmlns:a="http://schemas.openxmlformats.org/drawingml/2006/main">
            <a:off x="533400" y="5467350"/>
            <a:ext cx="1724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D0090"/>
                </a:solidFill>
                <a:latin typeface="Mulish"/>
                <a:ea typeface="Mulish"/>
                <a:cs typeface="Mulish"/>
              </a:defRPr>
            </a:pPr>
            <a:r>
              <a:rPr sz="1725" b="1">
                <a:solidFill>
                  <a:srgbClr val="1D0090"/>
                </a:solidFill>
                <a:latin typeface="Mulish"/>
                <a:ea typeface="Mulish"/>
                <a:cs typeface="Mulish"/>
              </a:rPr>
              <a:t>Cloud</a:t>
            </a:r>
          </a:p>
        </p:txBody>
      </p:sp>
      <p:sp>
        <p:nvSpPr>
          <p:cNvPr id="22" name="divider">
            <a:extLst xmlns:a="http://schemas.openxmlformats.org/drawingml/2006/main">
              <a:ext uri="{FF2B5EF4-FFF2-40B4-BE49-F238E27FC236}">
                <a16:creationId xmlns:a16="http://schemas.microsoft.com/office/drawing/2014/main" id="{15FD411E-54BF-422E-BB88-355150CBB529}"/>
              </a:ext>
            </a:extLst>
          </p:cNvPr>
          <p:cNvSpPr>
            <a:spLocks xmlns:a="http://schemas.openxmlformats.org/drawingml/2006/main" noGrp="1"/>
          </p:cNvSpPr>
          <p:nvPr/>
        </p:nvSpPr>
        <p:spPr>
          <a:xfrm xmlns:a="http://schemas.openxmlformats.org/drawingml/2006/main">
            <a:off x="2336800" y="5476875"/>
            <a:ext cx="9525" cy="304800"/>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23" name="copy-15">
            <a:extLst xmlns:a="http://schemas.openxmlformats.org/drawingml/2006/main">
              <a:ext uri="{FF2B5EF4-FFF2-40B4-BE49-F238E27FC236}">
                <a16:creationId xmlns:a16="http://schemas.microsoft.com/office/drawing/2014/main" id="{2FA793A7-63C7-4108-B0ED-1D5175454379}"/>
              </a:ext>
            </a:extLst>
          </p:cNvPr>
          <p:cNvSpPr>
            <a:spLocks xmlns:a="http://schemas.openxmlformats.org/drawingml/2006/main" noGrp="1"/>
          </p:cNvSpPr>
          <p:nvPr/>
        </p:nvSpPr>
        <p:spPr>
          <a:xfrm xmlns:a="http://schemas.openxmlformats.org/drawingml/2006/main">
            <a:off x="2413000" y="5467350"/>
            <a:ext cx="1724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D0090"/>
                </a:solidFill>
                <a:latin typeface="Mulish"/>
                <a:ea typeface="Mulish"/>
                <a:cs typeface="Mulish"/>
              </a:defRPr>
            </a:pPr>
            <a:r>
              <a:rPr sz="1725" b="1">
                <a:solidFill>
                  <a:srgbClr val="1D0090"/>
                </a:solidFill>
                <a:latin typeface="Mulish"/>
                <a:ea typeface="Mulish"/>
                <a:cs typeface="Mulish"/>
              </a:rPr>
              <a:t>Identity</a:t>
            </a:r>
          </a:p>
        </p:txBody>
      </p:sp>
      <p:sp>
        <p:nvSpPr>
          <p:cNvPr id="24" name="divider">
            <a:extLst xmlns:a="http://schemas.openxmlformats.org/drawingml/2006/main">
              <a:ext uri="{FF2B5EF4-FFF2-40B4-BE49-F238E27FC236}">
                <a16:creationId xmlns:a16="http://schemas.microsoft.com/office/drawing/2014/main" id="{F57925BD-913A-4FEA-AA3F-4A5BED4C6163}"/>
              </a:ext>
            </a:extLst>
          </p:cNvPr>
          <p:cNvSpPr>
            <a:spLocks xmlns:a="http://schemas.openxmlformats.org/drawingml/2006/main" noGrp="1"/>
          </p:cNvSpPr>
          <p:nvPr/>
        </p:nvSpPr>
        <p:spPr>
          <a:xfrm xmlns:a="http://schemas.openxmlformats.org/drawingml/2006/main">
            <a:off x="4216400" y="5476875"/>
            <a:ext cx="9525" cy="304800"/>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25" name="copy-16">
            <a:extLst xmlns:a="http://schemas.openxmlformats.org/drawingml/2006/main">
              <a:ext uri="{FF2B5EF4-FFF2-40B4-BE49-F238E27FC236}">
                <a16:creationId xmlns:a16="http://schemas.microsoft.com/office/drawing/2014/main" id="{09E1AC05-0236-4011-95E0-746B6C2609AF}"/>
              </a:ext>
            </a:extLst>
          </p:cNvPr>
          <p:cNvSpPr>
            <a:spLocks xmlns:a="http://schemas.openxmlformats.org/drawingml/2006/main" noGrp="1"/>
          </p:cNvSpPr>
          <p:nvPr/>
        </p:nvSpPr>
        <p:spPr>
          <a:xfrm xmlns:a="http://schemas.openxmlformats.org/drawingml/2006/main">
            <a:off x="4292600" y="5467350"/>
            <a:ext cx="1724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D0090"/>
                </a:solidFill>
                <a:latin typeface="Mulish"/>
                <a:ea typeface="Mulish"/>
                <a:cs typeface="Mulish"/>
              </a:defRPr>
            </a:pPr>
            <a:r>
              <a:rPr sz="1725" b="1">
                <a:solidFill>
                  <a:srgbClr val="1D0090"/>
                </a:solidFill>
                <a:latin typeface="Mulish"/>
                <a:ea typeface="Mulish"/>
                <a:cs typeface="Mulish"/>
              </a:rPr>
              <a:t>Collaboration</a:t>
            </a:r>
          </a:p>
        </p:txBody>
      </p:sp>
      <p:sp>
        <p:nvSpPr>
          <p:cNvPr id="26" name="divider">
            <a:extLst xmlns:a="http://schemas.openxmlformats.org/drawingml/2006/main">
              <a:ext uri="{FF2B5EF4-FFF2-40B4-BE49-F238E27FC236}">
                <a16:creationId xmlns:a16="http://schemas.microsoft.com/office/drawing/2014/main" id="{AE516F17-0B25-44C7-A1F4-4DC8B9B69AD0}"/>
              </a:ext>
            </a:extLst>
          </p:cNvPr>
          <p:cNvSpPr>
            <a:spLocks xmlns:a="http://schemas.openxmlformats.org/drawingml/2006/main" noGrp="1"/>
          </p:cNvSpPr>
          <p:nvPr/>
        </p:nvSpPr>
        <p:spPr>
          <a:xfrm xmlns:a="http://schemas.openxmlformats.org/drawingml/2006/main">
            <a:off x="6096000" y="5476875"/>
            <a:ext cx="9525" cy="304800"/>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27" name="copy-17">
            <a:extLst xmlns:a="http://schemas.openxmlformats.org/drawingml/2006/main">
              <a:ext uri="{FF2B5EF4-FFF2-40B4-BE49-F238E27FC236}">
                <a16:creationId xmlns:a16="http://schemas.microsoft.com/office/drawing/2014/main" id="{7EADBCE3-96D5-4857-8D5E-B480F7162553}"/>
              </a:ext>
            </a:extLst>
          </p:cNvPr>
          <p:cNvSpPr>
            <a:spLocks xmlns:a="http://schemas.openxmlformats.org/drawingml/2006/main" noGrp="1"/>
          </p:cNvSpPr>
          <p:nvPr/>
        </p:nvSpPr>
        <p:spPr>
          <a:xfrm xmlns:a="http://schemas.openxmlformats.org/drawingml/2006/main">
            <a:off x="6172200" y="5467350"/>
            <a:ext cx="1724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D0090"/>
                </a:solidFill>
                <a:latin typeface="Mulish"/>
                <a:ea typeface="Mulish"/>
                <a:cs typeface="Mulish"/>
              </a:defRPr>
            </a:pPr>
            <a:r>
              <a:rPr sz="1725" b="1">
                <a:solidFill>
                  <a:srgbClr val="1D0090"/>
                </a:solidFill>
                <a:latin typeface="Mulish"/>
                <a:ea typeface="Mulish"/>
                <a:cs typeface="Mulish"/>
              </a:rPr>
              <a:t>Sign &amp; seal</a:t>
            </a:r>
          </a:p>
        </p:txBody>
      </p:sp>
      <p:sp>
        <p:nvSpPr>
          <p:cNvPr id="28" name="divider">
            <a:extLst xmlns:a="http://schemas.openxmlformats.org/drawingml/2006/main">
              <a:ext uri="{FF2B5EF4-FFF2-40B4-BE49-F238E27FC236}">
                <a16:creationId xmlns:a16="http://schemas.microsoft.com/office/drawing/2014/main" id="{37182B0E-ABE4-4660-AB3A-398F98E9EED1}"/>
              </a:ext>
            </a:extLst>
          </p:cNvPr>
          <p:cNvSpPr>
            <a:spLocks xmlns:a="http://schemas.openxmlformats.org/drawingml/2006/main" noGrp="1"/>
          </p:cNvSpPr>
          <p:nvPr/>
        </p:nvSpPr>
        <p:spPr>
          <a:xfrm xmlns:a="http://schemas.openxmlformats.org/drawingml/2006/main">
            <a:off x="7975600" y="5476875"/>
            <a:ext cx="9525" cy="304800"/>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29" name="copy-18">
            <a:extLst xmlns:a="http://schemas.openxmlformats.org/drawingml/2006/main">
              <a:ext uri="{FF2B5EF4-FFF2-40B4-BE49-F238E27FC236}">
                <a16:creationId xmlns:a16="http://schemas.microsoft.com/office/drawing/2014/main" id="{42952AC4-7E6C-4A8D-8CE7-437D90254A04}"/>
              </a:ext>
            </a:extLst>
          </p:cNvPr>
          <p:cNvSpPr>
            <a:spLocks xmlns:a="http://schemas.openxmlformats.org/drawingml/2006/main" noGrp="1"/>
          </p:cNvSpPr>
          <p:nvPr/>
        </p:nvSpPr>
        <p:spPr>
          <a:xfrm xmlns:a="http://schemas.openxmlformats.org/drawingml/2006/main">
            <a:off x="8051800" y="5467350"/>
            <a:ext cx="1724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D0090"/>
                </a:solidFill>
                <a:latin typeface="Mulish"/>
                <a:ea typeface="Mulish"/>
                <a:cs typeface="Mulish"/>
              </a:defRPr>
            </a:pPr>
            <a:r>
              <a:rPr sz="1725" b="1">
                <a:solidFill>
                  <a:srgbClr val="1D0090"/>
                </a:solidFill>
                <a:latin typeface="Mulish"/>
                <a:ea typeface="Mulish"/>
                <a:cs typeface="Mulish"/>
              </a:rPr>
              <a:t>Trusted vault</a:t>
            </a:r>
          </a:p>
        </p:txBody>
      </p:sp>
      <p:sp>
        <p:nvSpPr>
          <p:cNvPr id="30" name="divider">
            <a:extLst xmlns:a="http://schemas.openxmlformats.org/drawingml/2006/main">
              <a:ext uri="{FF2B5EF4-FFF2-40B4-BE49-F238E27FC236}">
                <a16:creationId xmlns:a16="http://schemas.microsoft.com/office/drawing/2014/main" id="{BA3E329A-D477-4C0F-8055-B9DF0D90D832}"/>
              </a:ext>
            </a:extLst>
          </p:cNvPr>
          <p:cNvSpPr>
            <a:spLocks xmlns:a="http://schemas.openxmlformats.org/drawingml/2006/main" noGrp="1"/>
          </p:cNvSpPr>
          <p:nvPr/>
        </p:nvSpPr>
        <p:spPr>
          <a:xfrm xmlns:a="http://schemas.openxmlformats.org/drawingml/2006/main">
            <a:off x="9855200" y="5476875"/>
            <a:ext cx="9525" cy="304800"/>
          </a:xfrm>
          <a:prstGeom xmlns:a="http://schemas.openxmlformats.org/drawingml/2006/main" prst="rect">
            <a:avLst/>
          </a:prstGeom>
          <a:solidFill xmlns:a="http://schemas.openxmlformats.org/drawingml/2006/main">
            <a:srgbClr val="D0D5DD"/>
          </a:solidFill>
          <a:ln xmlns:a="http://schemas.openxmlformats.org/drawingml/2006/main" w="0">
            <a:noFill/>
            <a:prstDash val="solid"/>
          </a:ln>
        </p:spPr>
      </p:sp>
      <p:sp>
        <p:nvSpPr>
          <p:cNvPr id="31" name="copy-19">
            <a:extLst xmlns:a="http://schemas.openxmlformats.org/drawingml/2006/main">
              <a:ext uri="{FF2B5EF4-FFF2-40B4-BE49-F238E27FC236}">
                <a16:creationId xmlns:a16="http://schemas.microsoft.com/office/drawing/2014/main" id="{B9A0EFAB-7D32-437F-BBBF-88962F3FE409}"/>
              </a:ext>
            </a:extLst>
          </p:cNvPr>
          <p:cNvSpPr>
            <a:spLocks xmlns:a="http://schemas.openxmlformats.org/drawingml/2006/main" noGrp="1"/>
          </p:cNvSpPr>
          <p:nvPr/>
        </p:nvSpPr>
        <p:spPr>
          <a:xfrm xmlns:a="http://schemas.openxmlformats.org/drawingml/2006/main">
            <a:off x="9931400" y="5467350"/>
            <a:ext cx="1724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D0090"/>
                </a:solidFill>
                <a:latin typeface="Mulish"/>
                <a:ea typeface="Mulish"/>
                <a:cs typeface="Mulish"/>
              </a:defRPr>
            </a:pPr>
            <a:r>
              <a:rPr sz="1725" b="1">
                <a:solidFill>
                  <a:srgbClr val="1D0090"/>
                </a:solidFill>
                <a:latin typeface="Mulish"/>
                <a:ea typeface="Mulish"/>
                <a:cs typeface="Mulish"/>
              </a:rPr>
              <a:t>AI</a:t>
            </a:r>
          </a:p>
        </p:txBody>
      </p:sp>
      <p:sp>
        <p:nvSpPr>
          <p:cNvPr id="32" name="existing-government-foundation">
            <a:extLst xmlns:a="http://schemas.openxmlformats.org/drawingml/2006/main">
              <a:ext uri="{FF2B5EF4-FFF2-40B4-BE49-F238E27FC236}">
                <a16:creationId xmlns:a16="http://schemas.microsoft.com/office/drawing/2014/main" id="{01AEA6D2-E3C0-4365-B539-7ABA8F56ED27}"/>
              </a:ext>
            </a:extLst>
          </p:cNvPr>
          <p:cNvSpPr>
            <a:spLocks xmlns:a="http://schemas.openxmlformats.org/drawingml/2006/main" noGrp="1"/>
          </p:cNvSpPr>
          <p:nvPr/>
        </p:nvSpPr>
        <p:spPr>
          <a:xfrm xmlns:a="http://schemas.openxmlformats.org/drawingml/2006/main">
            <a:off x="457200" y="6010275"/>
            <a:ext cx="11277600" cy="428625"/>
          </a:xfrm>
          <a:prstGeom xmlns:a="http://schemas.openxmlformats.org/drawingml/2006/main" prst="rect">
            <a:avLst/>
          </a:prstGeom>
          <a:solidFill xmlns:a="http://schemas.openxmlformats.org/drawingml/2006/main">
            <a:srgbClr val="F5EDFF"/>
          </a:solidFill>
          <a:ln xmlns:a="http://schemas.openxmlformats.org/drawingml/2006/main" w="0">
            <a:noFill/>
            <a:prstDash val="solid"/>
          </a:ln>
        </p:spPr>
      </p:sp>
      <p:sp>
        <p:nvSpPr>
          <p:cNvPr id="33" name="copy-20">
            <a:extLst xmlns:a="http://schemas.openxmlformats.org/drawingml/2006/main">
              <a:ext uri="{FF2B5EF4-FFF2-40B4-BE49-F238E27FC236}">
                <a16:creationId xmlns:a16="http://schemas.microsoft.com/office/drawing/2014/main" id="{E40241DC-1D37-4049-93CB-72AD2BA35BF2}"/>
              </a:ext>
            </a:extLst>
          </p:cNvPr>
          <p:cNvSpPr>
            <a:spLocks xmlns:a="http://schemas.openxmlformats.org/drawingml/2006/main" noGrp="1"/>
          </p:cNvSpPr>
          <p:nvPr/>
        </p:nvSpPr>
        <p:spPr>
          <a:xfrm xmlns:a="http://schemas.openxmlformats.org/drawingml/2006/main">
            <a:off x="609600" y="6115050"/>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D0090"/>
                </a:solidFill>
                <a:latin typeface="Mulish"/>
                <a:ea typeface="Mulish"/>
                <a:cs typeface="Mulish"/>
              </a:defRPr>
            </a:pPr>
            <a:r>
              <a:rPr sz="1650" b="0">
                <a:solidFill>
                  <a:srgbClr val="1D0090"/>
                </a:solidFill>
                <a:latin typeface="Mulish"/>
                <a:ea typeface="Mulish"/>
                <a:cs typeface="Mulish"/>
              </a:rPr>
              <a:t>Built on UAE PASS, GovSign, Digital Dubai Digital Sign and existing government systems</a:t>
            </a:r>
          </a:p>
        </p:txBody>
      </p:sp>
    </p:spTree>
    <p:extLst>
      <p:ext uri="{BB962C8B-B14F-4D97-AF65-F5344CB8AC3E}">
        <p14:creationId xmlns:p14="http://schemas.microsoft.com/office/powerpoint/2010/main" val="2277218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available-capability-band">
            <a:extLst xmlns:a="http://schemas.openxmlformats.org/drawingml/2006/main">
              <a:ext uri="{FF2B5EF4-FFF2-40B4-BE49-F238E27FC236}">
                <a16:creationId xmlns:a16="http://schemas.microsoft.com/office/drawing/2014/main" id="{29ABEA53-C38E-4CE7-A17E-5343F6B61D60}"/>
              </a:ext>
            </a:extLst>
          </p:cNvPr>
          <p:cNvSpPr>
            <a:spLocks xmlns:a="http://schemas.openxmlformats.org/drawingml/2006/main" noGrp="1"/>
          </p:cNvSpPr>
          <p:nvPr/>
        </p:nvSpPr>
        <p:spPr>
          <a:xfrm xmlns:a="http://schemas.openxmlformats.org/drawingml/2006/main">
            <a:off x="0" y="5600700"/>
            <a:ext cx="12192000" cy="1257300"/>
          </a:xfrm>
          <a:prstGeom xmlns:a="http://schemas.openxmlformats.org/drawingml/2006/main" prst="rect">
            <a:avLst/>
          </a:prstGeom>
          <a:solidFill xmlns:a="http://schemas.openxmlformats.org/drawingml/2006/main">
            <a:srgbClr val="1D0090"/>
          </a:solidFill>
          <a:ln xmlns:a="http://schemas.openxmlformats.org/drawingml/2006/main" w="0">
            <a:no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2ea52185e5be426c"/>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3" name="page-number">
            <a:extLst xmlns:a="http://schemas.openxmlformats.org/drawingml/2006/main">
              <a:ext uri="{FF2B5EF4-FFF2-40B4-BE49-F238E27FC236}">
                <a16:creationId xmlns:a16="http://schemas.microsoft.com/office/drawing/2014/main" id="{99AA37AD-3ED5-4723-B391-7F69874BA451}"/>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FFFFFF"/>
                </a:solidFill>
                <a:latin typeface="Mulish"/>
                <a:ea typeface="Mulish"/>
                <a:cs typeface="Mulish"/>
              </a:rPr>
              <a:t>02</a:t>
            </a:r>
          </a:p>
        </p:txBody>
      </p:sp>
      <p:sp>
        <p:nvSpPr>
          <p:cNvPr id="4" name="copy-21">
            <a:extLst xmlns:a="http://schemas.openxmlformats.org/drawingml/2006/main">
              <a:ext uri="{FF2B5EF4-FFF2-40B4-BE49-F238E27FC236}">
                <a16:creationId xmlns:a16="http://schemas.microsoft.com/office/drawing/2014/main" id="{625AAE01-DA3D-44E9-BD28-D04388F4E942}"/>
              </a:ext>
            </a:extLst>
          </p:cNvPr>
          <p:cNvSpPr>
            <a:spLocks xmlns:a="http://schemas.openxmlformats.org/drawingml/2006/main" noGrp="1"/>
          </p:cNvSpPr>
          <p:nvPr/>
        </p:nvSpPr>
        <p:spPr>
          <a:xfrm xmlns:a="http://schemas.openxmlformats.org/drawingml/2006/main">
            <a:off x="990600" y="295275"/>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7000FF"/>
                </a:solidFill>
                <a:latin typeface="Mulish"/>
                <a:ea typeface="Mulish"/>
                <a:cs typeface="Mulish"/>
              </a:defRPr>
            </a:pPr>
            <a:r>
              <a:rPr sz="1350" b="1">
                <a:solidFill>
                  <a:srgbClr val="7000FF"/>
                </a:solidFill>
                <a:latin typeface="Mulish"/>
                <a:ea typeface="Mulish"/>
                <a:cs typeface="Mulish"/>
              </a:rPr>
              <a:t>EXPANDING EXISTING GOVERNMENT SERVICES</a:t>
            </a:r>
          </a:p>
        </p:txBody>
      </p:sp>
      <p:sp>
        <p:nvSpPr>
          <p:cNvPr id="5" name="copy-22">
            <a:extLst xmlns:a="http://schemas.openxmlformats.org/drawingml/2006/main">
              <a:ext uri="{FF2B5EF4-FFF2-40B4-BE49-F238E27FC236}">
                <a16:creationId xmlns:a16="http://schemas.microsoft.com/office/drawing/2014/main" id="{485B22B2-BF6A-4599-BC07-123B7818496B}"/>
              </a:ext>
            </a:extLst>
          </p:cNvPr>
          <p:cNvSpPr>
            <a:spLocks xmlns:a="http://schemas.openxmlformats.org/drawingml/2006/main" noGrp="1"/>
          </p:cNvSpPr>
          <p:nvPr/>
        </p:nvSpPr>
        <p:spPr>
          <a:xfrm xmlns:a="http://schemas.openxmlformats.org/drawingml/2006/main">
            <a:off x="457200" y="914400"/>
            <a:ext cx="112776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D0090"/>
                </a:solidFill>
                <a:latin typeface="Spartan"/>
                <a:ea typeface="Spartan"/>
                <a:cs typeface="Spartan"/>
              </a:defRPr>
            </a:pPr>
            <a:r>
              <a:rPr sz="3600" b="1">
                <a:solidFill>
                  <a:srgbClr val="1D0090"/>
                </a:solidFill>
                <a:latin typeface="Spartan"/>
                <a:ea typeface="Spartan"/>
                <a:cs typeface="Spartan"/>
              </a:rPr>
              <a:t>Towards Agentic AI</a:t>
            </a:r>
          </a:p>
          <a:p xmlns:a="http://schemas.openxmlformats.org/drawingml/2006/main">
            <a:pPr algn="l">
              <a:defRPr sz="3600" b="1">
                <a:solidFill>
                  <a:srgbClr val="1D0090"/>
                </a:solidFill>
                <a:latin typeface="Spartan"/>
                <a:ea typeface="Spartan"/>
                <a:cs typeface="Spartan"/>
              </a:defRPr>
            </a:pPr>
            <a:r>
              <a:rPr sz="3600" b="1">
                <a:solidFill>
                  <a:srgbClr val="1D0090"/>
                </a:solidFill>
                <a:latin typeface="Spartan"/>
                <a:ea typeface="Spartan"/>
                <a:cs typeface="Spartan"/>
              </a:rPr>
              <a:t>Trusted Execution</a:t>
            </a:r>
          </a:p>
        </p:txBody>
      </p:sp>
      <p:sp>
        <p:nvSpPr>
          <p:cNvPr id="6" name="copy-23">
            <a:extLst xmlns:a="http://schemas.openxmlformats.org/drawingml/2006/main">
              <a:ext uri="{FF2B5EF4-FFF2-40B4-BE49-F238E27FC236}">
                <a16:creationId xmlns:a16="http://schemas.microsoft.com/office/drawing/2014/main" id="{9EE3CAAF-61C4-4854-9651-B2D927382B6E}"/>
              </a:ext>
            </a:extLst>
          </p:cNvPr>
          <p:cNvSpPr>
            <a:spLocks xmlns:a="http://schemas.openxmlformats.org/drawingml/2006/main" noGrp="1"/>
          </p:cNvSpPr>
          <p:nvPr/>
        </p:nvSpPr>
        <p:spPr>
          <a:xfrm xmlns:a="http://schemas.openxmlformats.org/drawingml/2006/main">
            <a:off x="457200" y="2105025"/>
            <a:ext cx="11277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Extend established digital trust into agent-initiated government action</a:t>
            </a:r>
          </a:p>
        </p:txBody>
      </p:sp>
      <p:sp>
        <p:nvSpPr>
          <p:cNvPr id="7" name="copy-24">
            <a:extLst xmlns:a="http://schemas.openxmlformats.org/drawingml/2006/main">
              <a:ext uri="{FF2B5EF4-FFF2-40B4-BE49-F238E27FC236}">
                <a16:creationId xmlns:a16="http://schemas.microsoft.com/office/drawing/2014/main" id="{AA0EB187-AFB6-4DD7-B190-59537DB83899}"/>
              </a:ext>
            </a:extLst>
          </p:cNvPr>
          <p:cNvSpPr>
            <a:spLocks xmlns:a="http://schemas.openxmlformats.org/drawingml/2006/main" noGrp="1"/>
          </p:cNvSpPr>
          <p:nvPr/>
        </p:nvSpPr>
        <p:spPr>
          <a:xfrm xmlns:a="http://schemas.openxmlformats.org/drawingml/2006/main">
            <a:off x="457200" y="2705100"/>
            <a:ext cx="6477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667085"/>
                </a:solidFill>
                <a:latin typeface="Mulish"/>
                <a:ea typeface="Mulish"/>
                <a:cs typeface="Mulish"/>
              </a:defRPr>
            </a:pPr>
            <a:r>
              <a:rPr sz="1600" b="1">
                <a:solidFill>
                  <a:srgbClr val="667085"/>
                </a:solidFill>
                <a:latin typeface="Mulish"/>
                <a:ea typeface="Mulish"/>
                <a:cs typeface="Mulish"/>
              </a:rPr>
              <a:t>EXISTING TRUST FOUNDATION</a:t>
            </a:r>
          </a:p>
        </p:txBody>
      </p:sp>
      <p:sp>
        <p:nvSpPr>
          <p:cNvPr id="8" name="trust-evolution-stage-0">
            <a:extLst xmlns:a="http://schemas.openxmlformats.org/drawingml/2006/main">
              <a:ext uri="{FF2B5EF4-FFF2-40B4-BE49-F238E27FC236}">
                <a16:creationId xmlns:a16="http://schemas.microsoft.com/office/drawing/2014/main" id="{6B82A64E-C532-4202-B6FC-95A2C7C199F9}"/>
              </a:ext>
            </a:extLst>
          </p:cNvPr>
          <p:cNvSpPr>
            <a:spLocks xmlns:a="http://schemas.openxmlformats.org/drawingml/2006/main" noGrp="1"/>
          </p:cNvSpPr>
          <p:nvPr/>
        </p:nvSpPr>
        <p:spPr>
          <a:xfrm xmlns:a="http://schemas.openxmlformats.org/drawingml/2006/main">
            <a:off x="457200" y="3562350"/>
            <a:ext cx="2133600" cy="1714500"/>
          </a:xfrm>
          <a:prstGeom xmlns:a="http://schemas.openxmlformats.org/drawingml/2006/main" prst="rect">
            <a:avLst/>
          </a:prstGeom>
          <a:solidFill xmlns:a="http://schemas.openxmlformats.org/drawingml/2006/main">
            <a:srgbClr val="F5EDFF"/>
          </a:solidFill>
          <a:ln xmlns:a="http://schemas.openxmlformats.org/drawingml/2006/main" w="0">
            <a:noFill/>
            <a:prstDash val="solid"/>
          </a:ln>
        </p:spPr>
      </p:sp>
      <p:sp>
        <p:nvSpPr>
          <p:cNvPr id="9" name="copy-25">
            <a:extLst xmlns:a="http://schemas.openxmlformats.org/drawingml/2006/main">
              <a:ext uri="{FF2B5EF4-FFF2-40B4-BE49-F238E27FC236}">
                <a16:creationId xmlns:a16="http://schemas.microsoft.com/office/drawing/2014/main" id="{AADE0790-B64C-421A-B448-A30240F6953C}"/>
              </a:ext>
            </a:extLst>
          </p:cNvPr>
          <p:cNvSpPr>
            <a:spLocks xmlns:a="http://schemas.openxmlformats.org/drawingml/2006/main" noGrp="1"/>
          </p:cNvSpPr>
          <p:nvPr/>
        </p:nvSpPr>
        <p:spPr>
          <a:xfrm xmlns:a="http://schemas.openxmlformats.org/drawingml/2006/main">
            <a:off x="590550" y="3714750"/>
            <a:ext cx="1924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D0090"/>
                </a:solidFill>
                <a:latin typeface="Mulish"/>
                <a:ea typeface="Mulish"/>
                <a:cs typeface="Mulish"/>
              </a:defRPr>
            </a:pPr>
            <a:r>
              <a:rPr sz="1800" b="1">
                <a:solidFill>
                  <a:srgbClr val="1D0090"/>
                </a:solidFill>
                <a:latin typeface="Mulish"/>
                <a:ea typeface="Mulish"/>
                <a:cs typeface="Mulish"/>
              </a:rPr>
              <a:t>Digital</a:t>
            </a:r>
          </a:p>
          <a:p xmlns:a="http://schemas.openxmlformats.org/drawingml/2006/main">
            <a:pPr algn="l">
              <a:defRPr sz="1800" b="1">
                <a:solidFill>
                  <a:srgbClr val="1D0090"/>
                </a:solidFill>
                <a:latin typeface="Mulish"/>
                <a:ea typeface="Mulish"/>
                <a:cs typeface="Mulish"/>
              </a:defRPr>
            </a:pPr>
            <a:r>
              <a:rPr sz="1800" b="1">
                <a:solidFill>
                  <a:srgbClr val="1D0090"/>
                </a:solidFill>
                <a:latin typeface="Mulish"/>
                <a:ea typeface="Mulish"/>
                <a:cs typeface="Mulish"/>
              </a:rPr>
              <a:t>signatures</a:t>
            </a:r>
          </a:p>
        </p:txBody>
      </p:sp>
      <p:sp>
        <p:nvSpPr>
          <p:cNvPr id="10" name="copy-26">
            <a:extLst xmlns:a="http://schemas.openxmlformats.org/drawingml/2006/main">
              <a:ext uri="{FF2B5EF4-FFF2-40B4-BE49-F238E27FC236}">
                <a16:creationId xmlns:a16="http://schemas.microsoft.com/office/drawing/2014/main" id="{F0B11D2A-399F-43CD-939A-3B15CF017B1E}"/>
              </a:ext>
            </a:extLst>
          </p:cNvPr>
          <p:cNvSpPr>
            <a:spLocks xmlns:a="http://schemas.openxmlformats.org/drawingml/2006/main" noGrp="1"/>
          </p:cNvSpPr>
          <p:nvPr/>
        </p:nvSpPr>
        <p:spPr>
          <a:xfrm xmlns:a="http://schemas.openxmlformats.org/drawingml/2006/main">
            <a:off x="590550" y="4438650"/>
            <a:ext cx="19240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Identity, signing</a:t>
            </a:r>
          </a:p>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and timestamps</a:t>
            </a:r>
          </a:p>
        </p:txBody>
      </p:sp>
      <p:sp>
        <p:nvSpPr>
          <p:cNvPr id="11" name="trust-evolution-stage-1">
            <a:extLst xmlns:a="http://schemas.openxmlformats.org/drawingml/2006/main">
              <a:ext uri="{FF2B5EF4-FFF2-40B4-BE49-F238E27FC236}">
                <a16:creationId xmlns:a16="http://schemas.microsoft.com/office/drawing/2014/main" id="{FB3DF3C1-EE0C-49D0-9828-EB721F7C3692}"/>
              </a:ext>
            </a:extLst>
          </p:cNvPr>
          <p:cNvSpPr>
            <a:spLocks xmlns:a="http://schemas.openxmlformats.org/drawingml/2006/main" noGrp="1"/>
          </p:cNvSpPr>
          <p:nvPr/>
        </p:nvSpPr>
        <p:spPr>
          <a:xfrm xmlns:a="http://schemas.openxmlformats.org/drawingml/2006/main">
            <a:off x="2743200" y="3314700"/>
            <a:ext cx="2133600" cy="1962150"/>
          </a:xfrm>
          <a:prstGeom xmlns:a="http://schemas.openxmlformats.org/drawingml/2006/main" prst="rect">
            <a:avLst/>
          </a:prstGeom>
          <a:solidFill xmlns:a="http://schemas.openxmlformats.org/drawingml/2006/main">
            <a:srgbClr val="F5EDFF"/>
          </a:solidFill>
          <a:ln xmlns:a="http://schemas.openxmlformats.org/drawingml/2006/main" w="0">
            <a:noFill/>
            <a:prstDash val="solid"/>
          </a:ln>
        </p:spPr>
      </p:sp>
      <p:sp>
        <p:nvSpPr>
          <p:cNvPr id="12" name="copy-27">
            <a:extLst xmlns:a="http://schemas.openxmlformats.org/drawingml/2006/main">
              <a:ext uri="{FF2B5EF4-FFF2-40B4-BE49-F238E27FC236}">
                <a16:creationId xmlns:a16="http://schemas.microsoft.com/office/drawing/2014/main" id="{B36FDB6F-F48B-4CA8-98C7-DF4E90B88949}"/>
              </a:ext>
            </a:extLst>
          </p:cNvPr>
          <p:cNvSpPr>
            <a:spLocks xmlns:a="http://schemas.openxmlformats.org/drawingml/2006/main" noGrp="1"/>
          </p:cNvSpPr>
          <p:nvPr/>
        </p:nvSpPr>
        <p:spPr>
          <a:xfrm xmlns:a="http://schemas.openxmlformats.org/drawingml/2006/main">
            <a:off x="2876550" y="3467100"/>
            <a:ext cx="1924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D0090"/>
                </a:solidFill>
                <a:latin typeface="Mulish"/>
                <a:ea typeface="Mulish"/>
                <a:cs typeface="Mulish"/>
              </a:defRPr>
            </a:pPr>
            <a:r>
              <a:rPr sz="1800" b="1">
                <a:solidFill>
                  <a:srgbClr val="1D0090"/>
                </a:solidFill>
                <a:latin typeface="Mulish"/>
                <a:ea typeface="Mulish"/>
                <a:cs typeface="Mulish"/>
              </a:rPr>
              <a:t>Trusted</a:t>
            </a:r>
          </a:p>
          <a:p xmlns:a="http://schemas.openxmlformats.org/drawingml/2006/main">
            <a:pPr algn="l">
              <a:defRPr sz="1800" b="1">
                <a:solidFill>
                  <a:srgbClr val="1D0090"/>
                </a:solidFill>
                <a:latin typeface="Mulish"/>
                <a:ea typeface="Mulish"/>
                <a:cs typeface="Mulish"/>
              </a:defRPr>
            </a:pPr>
            <a:r>
              <a:rPr sz="1800" b="1">
                <a:solidFill>
                  <a:srgbClr val="1D0090"/>
                </a:solidFill>
                <a:latin typeface="Mulish"/>
                <a:ea typeface="Mulish"/>
                <a:cs typeface="Mulish"/>
              </a:rPr>
              <a:t>collaboration</a:t>
            </a:r>
          </a:p>
        </p:txBody>
      </p:sp>
      <p:sp>
        <p:nvSpPr>
          <p:cNvPr id="13" name="copy-28">
            <a:extLst xmlns:a="http://schemas.openxmlformats.org/drawingml/2006/main">
              <a:ext uri="{FF2B5EF4-FFF2-40B4-BE49-F238E27FC236}">
                <a16:creationId xmlns:a16="http://schemas.microsoft.com/office/drawing/2014/main" id="{DB194762-659E-40C0-A3C5-58D2CB1A790F}"/>
              </a:ext>
            </a:extLst>
          </p:cNvPr>
          <p:cNvSpPr>
            <a:spLocks xmlns:a="http://schemas.openxmlformats.org/drawingml/2006/main" noGrp="1"/>
          </p:cNvSpPr>
          <p:nvPr/>
        </p:nvSpPr>
        <p:spPr>
          <a:xfrm xmlns:a="http://schemas.openxmlformats.org/drawingml/2006/main">
            <a:off x="2876550" y="4191000"/>
            <a:ext cx="19240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Approvals and</a:t>
            </a:r>
          </a:p>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multi-party</a:t>
            </a:r>
          </a:p>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workflows</a:t>
            </a:r>
          </a:p>
        </p:txBody>
      </p:sp>
      <p:sp>
        <p:nvSpPr>
          <p:cNvPr id="14" name="trust-evolution-stage-2">
            <a:extLst xmlns:a="http://schemas.openxmlformats.org/drawingml/2006/main">
              <a:ext uri="{FF2B5EF4-FFF2-40B4-BE49-F238E27FC236}">
                <a16:creationId xmlns:a16="http://schemas.microsoft.com/office/drawing/2014/main" id="{FF3B1F23-7A99-4C00-9C16-74B4C18F23A9}"/>
              </a:ext>
            </a:extLst>
          </p:cNvPr>
          <p:cNvSpPr>
            <a:spLocks xmlns:a="http://schemas.openxmlformats.org/drawingml/2006/main" noGrp="1"/>
          </p:cNvSpPr>
          <p:nvPr/>
        </p:nvSpPr>
        <p:spPr>
          <a:xfrm xmlns:a="http://schemas.openxmlformats.org/drawingml/2006/main">
            <a:off x="5029200" y="3067050"/>
            <a:ext cx="2133600" cy="2209800"/>
          </a:xfrm>
          <a:prstGeom xmlns:a="http://schemas.openxmlformats.org/drawingml/2006/main" prst="rect">
            <a:avLst/>
          </a:prstGeom>
          <a:solidFill xmlns:a="http://schemas.openxmlformats.org/drawingml/2006/main">
            <a:srgbClr val="F5EDFF"/>
          </a:solidFill>
          <a:ln xmlns:a="http://schemas.openxmlformats.org/drawingml/2006/main" w="0">
            <a:noFill/>
            <a:prstDash val="solid"/>
          </a:ln>
        </p:spPr>
      </p:sp>
      <p:sp>
        <p:nvSpPr>
          <p:cNvPr id="15" name="copy-29">
            <a:extLst xmlns:a="http://schemas.openxmlformats.org/drawingml/2006/main">
              <a:ext uri="{FF2B5EF4-FFF2-40B4-BE49-F238E27FC236}">
                <a16:creationId xmlns:a16="http://schemas.microsoft.com/office/drawing/2014/main" id="{24E9A78B-9F80-4913-A212-D3A1CA92F30D}"/>
              </a:ext>
            </a:extLst>
          </p:cNvPr>
          <p:cNvSpPr>
            <a:spLocks xmlns:a="http://schemas.openxmlformats.org/drawingml/2006/main" noGrp="1"/>
          </p:cNvSpPr>
          <p:nvPr/>
        </p:nvSpPr>
        <p:spPr>
          <a:xfrm xmlns:a="http://schemas.openxmlformats.org/drawingml/2006/main">
            <a:off x="5162550" y="3219450"/>
            <a:ext cx="1924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D0090"/>
                </a:solidFill>
                <a:latin typeface="Mulish"/>
                <a:ea typeface="Mulish"/>
                <a:cs typeface="Mulish"/>
              </a:defRPr>
            </a:pPr>
            <a:r>
              <a:rPr sz="1800" b="1">
                <a:solidFill>
                  <a:srgbClr val="1D0090"/>
                </a:solidFill>
                <a:latin typeface="Mulish"/>
                <a:ea typeface="Mulish"/>
                <a:cs typeface="Mulish"/>
              </a:rPr>
              <a:t>Sovereign trust</a:t>
            </a:r>
          </a:p>
          <a:p xmlns:a="http://schemas.openxmlformats.org/drawingml/2006/main">
            <a:pPr algn="l">
              <a:defRPr sz="1800" b="1">
                <a:solidFill>
                  <a:srgbClr val="1D0090"/>
                </a:solidFill>
                <a:latin typeface="Mulish"/>
                <a:ea typeface="Mulish"/>
                <a:cs typeface="Mulish"/>
              </a:defRPr>
            </a:pPr>
            <a:r>
              <a:rPr sz="1800" b="1">
                <a:solidFill>
                  <a:srgbClr val="1D0090"/>
                </a:solidFill>
                <a:latin typeface="Mulish"/>
                <a:ea typeface="Mulish"/>
                <a:cs typeface="Mulish"/>
              </a:rPr>
              <a:t>infrastructure</a:t>
            </a:r>
          </a:p>
        </p:txBody>
      </p:sp>
      <p:sp>
        <p:nvSpPr>
          <p:cNvPr id="16" name="copy-30">
            <a:extLst xmlns:a="http://schemas.openxmlformats.org/drawingml/2006/main">
              <a:ext uri="{FF2B5EF4-FFF2-40B4-BE49-F238E27FC236}">
                <a16:creationId xmlns:a16="http://schemas.microsoft.com/office/drawing/2014/main" id="{17A7CC64-7099-4AC8-890D-F29E011E4791}"/>
              </a:ext>
            </a:extLst>
          </p:cNvPr>
          <p:cNvSpPr>
            <a:spLocks xmlns:a="http://schemas.openxmlformats.org/drawingml/2006/main" noGrp="1"/>
          </p:cNvSpPr>
          <p:nvPr/>
        </p:nvSpPr>
        <p:spPr>
          <a:xfrm xmlns:a="http://schemas.openxmlformats.org/drawingml/2006/main">
            <a:off x="5162550" y="3943350"/>
            <a:ext cx="19240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Shared services,</a:t>
            </a:r>
          </a:p>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identity integration</a:t>
            </a:r>
          </a:p>
          <a:p xmlns:a="http://schemas.openxmlformats.org/drawingml/2006/main">
            <a:pPr algn="l">
              <a:defRPr sz="1600" b="0">
                <a:solidFill>
                  <a:srgbClr val="3D3D3D"/>
                </a:solidFill>
                <a:latin typeface="Mulish"/>
                <a:ea typeface="Mulish"/>
                <a:cs typeface="Mulish"/>
              </a:defRPr>
            </a:pPr>
            <a:r>
              <a:rPr sz="1600" b="0">
                <a:solidFill>
                  <a:srgbClr val="3D3D3D"/>
                </a:solidFill>
                <a:latin typeface="Mulish"/>
                <a:ea typeface="Mulish"/>
                <a:cs typeface="Mulish"/>
              </a:rPr>
              <a:t>and evidence</a:t>
            </a:r>
          </a:p>
        </p:txBody>
      </p:sp>
      <p:sp>
        <p:nvSpPr>
          <p:cNvPr id="17" name="trust-evolution-stage-3">
            <a:extLst xmlns:a="http://schemas.openxmlformats.org/drawingml/2006/main">
              <a:ext uri="{FF2B5EF4-FFF2-40B4-BE49-F238E27FC236}">
                <a16:creationId xmlns:a16="http://schemas.microsoft.com/office/drawing/2014/main" id="{9CA19891-44EC-40A3-ABA2-AB2084BDC4A6}"/>
              </a:ext>
            </a:extLst>
          </p:cNvPr>
          <p:cNvSpPr>
            <a:spLocks xmlns:a="http://schemas.openxmlformats.org/drawingml/2006/main" noGrp="1"/>
          </p:cNvSpPr>
          <p:nvPr/>
        </p:nvSpPr>
        <p:spPr>
          <a:xfrm xmlns:a="http://schemas.openxmlformats.org/drawingml/2006/main">
            <a:off x="7315200" y="2819400"/>
            <a:ext cx="2133600" cy="2457450"/>
          </a:xfrm>
          <a:prstGeom xmlns:a="http://schemas.openxmlformats.org/drawingml/2006/main" prst="rect">
            <a:avLst/>
          </a:prstGeom>
          <a:solidFill xmlns:a="http://schemas.openxmlformats.org/drawingml/2006/main">
            <a:srgbClr val="7000FF"/>
          </a:solidFill>
          <a:ln xmlns:a="http://schemas.openxmlformats.org/drawingml/2006/main" w="0">
            <a:noFill/>
            <a:prstDash val="solid"/>
          </a:ln>
        </p:spPr>
      </p:sp>
      <p:sp>
        <p:nvSpPr>
          <p:cNvPr id="18" name="copy-31">
            <a:extLst xmlns:a="http://schemas.openxmlformats.org/drawingml/2006/main">
              <a:ext uri="{FF2B5EF4-FFF2-40B4-BE49-F238E27FC236}">
                <a16:creationId xmlns:a16="http://schemas.microsoft.com/office/drawing/2014/main" id="{F6DC5AB3-D16D-4E62-A6BF-5EB70C9D2965}"/>
              </a:ext>
            </a:extLst>
          </p:cNvPr>
          <p:cNvSpPr>
            <a:spLocks xmlns:a="http://schemas.openxmlformats.org/drawingml/2006/main" noGrp="1"/>
          </p:cNvSpPr>
          <p:nvPr/>
        </p:nvSpPr>
        <p:spPr>
          <a:xfrm xmlns:a="http://schemas.openxmlformats.org/drawingml/2006/main">
            <a:off x="7448550" y="2971800"/>
            <a:ext cx="1924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FFFFFF"/>
                </a:solidFill>
                <a:latin typeface="Mulish"/>
                <a:ea typeface="Mulish"/>
                <a:cs typeface="Mulish"/>
              </a:defRPr>
            </a:pPr>
            <a:r>
              <a:rPr sz="1800" b="1">
                <a:solidFill>
                  <a:srgbClr val="FFFFFF"/>
                </a:solidFill>
                <a:latin typeface="Mulish"/>
                <a:ea typeface="Mulish"/>
                <a:cs typeface="Mulish"/>
              </a:rPr>
              <a:t>Trusted</a:t>
            </a:r>
          </a:p>
          <a:p xmlns:a="http://schemas.openxmlformats.org/drawingml/2006/main">
            <a:pPr algn="l">
              <a:defRPr sz="1800" b="1">
                <a:solidFill>
                  <a:srgbClr val="FFFFFF"/>
                </a:solidFill>
                <a:latin typeface="Mulish"/>
                <a:ea typeface="Mulish"/>
                <a:cs typeface="Mulish"/>
              </a:defRPr>
            </a:pPr>
            <a:r>
              <a:rPr sz="1800" b="1">
                <a:solidFill>
                  <a:srgbClr val="FFFFFF"/>
                </a:solidFill>
                <a:latin typeface="Mulish"/>
                <a:ea typeface="Mulish"/>
                <a:cs typeface="Mulish"/>
              </a:rPr>
              <a:t>execution</a:t>
            </a:r>
          </a:p>
        </p:txBody>
      </p:sp>
      <p:sp>
        <p:nvSpPr>
          <p:cNvPr id="19" name="copy-32">
            <a:extLst xmlns:a="http://schemas.openxmlformats.org/drawingml/2006/main">
              <a:ext uri="{FF2B5EF4-FFF2-40B4-BE49-F238E27FC236}">
                <a16:creationId xmlns:a16="http://schemas.microsoft.com/office/drawing/2014/main" id="{C159FD67-9800-4ADA-BF97-D88CA6D9ABAA}"/>
              </a:ext>
            </a:extLst>
          </p:cNvPr>
          <p:cNvSpPr>
            <a:spLocks xmlns:a="http://schemas.openxmlformats.org/drawingml/2006/main" noGrp="1"/>
          </p:cNvSpPr>
          <p:nvPr/>
        </p:nvSpPr>
        <p:spPr>
          <a:xfrm xmlns:a="http://schemas.openxmlformats.org/drawingml/2006/main">
            <a:off x="7448550" y="3695700"/>
            <a:ext cx="19240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FFFFFF"/>
                </a:solidFill>
                <a:latin typeface="Mulish"/>
                <a:ea typeface="Mulish"/>
                <a:cs typeface="Mulish"/>
              </a:defRPr>
            </a:pPr>
            <a:r>
              <a:rPr sz="1600" b="0">
                <a:solidFill>
                  <a:srgbClr val="FFFFFF"/>
                </a:solidFill>
                <a:latin typeface="Mulish"/>
                <a:ea typeface="Mulish"/>
                <a:cs typeface="Mulish"/>
              </a:rPr>
              <a:t>Governed actions</a:t>
            </a:r>
          </a:p>
          <a:p xmlns:a="http://schemas.openxmlformats.org/drawingml/2006/main">
            <a:pPr algn="l">
              <a:defRPr sz="1600" b="0">
                <a:solidFill>
                  <a:srgbClr val="FFFFFF"/>
                </a:solidFill>
                <a:latin typeface="Mulish"/>
                <a:ea typeface="Mulish"/>
                <a:cs typeface="Mulish"/>
              </a:defRPr>
            </a:pPr>
            <a:r>
              <a:rPr sz="1600" b="0">
                <a:solidFill>
                  <a:srgbClr val="FFFFFF"/>
                </a:solidFill>
                <a:latin typeface="Mulish"/>
                <a:ea typeface="Mulish"/>
                <a:cs typeface="Mulish"/>
              </a:rPr>
              <a:t>through connected</a:t>
            </a:r>
          </a:p>
          <a:p xmlns:a="http://schemas.openxmlformats.org/drawingml/2006/main">
            <a:pPr algn="l">
              <a:defRPr sz="1600" b="0">
                <a:solidFill>
                  <a:srgbClr val="FFFFFF"/>
                </a:solidFill>
                <a:latin typeface="Mulish"/>
                <a:ea typeface="Mulish"/>
                <a:cs typeface="Mulish"/>
              </a:defRPr>
            </a:pPr>
            <a:r>
              <a:rPr sz="1600" b="0">
                <a:solidFill>
                  <a:srgbClr val="FFFFFF"/>
                </a:solidFill>
                <a:latin typeface="Mulish"/>
                <a:ea typeface="Mulish"/>
                <a:cs typeface="Mulish"/>
              </a:rPr>
              <a:t>trust services</a:t>
            </a:r>
          </a:p>
        </p:txBody>
      </p:sp>
      <p:sp>
        <p:nvSpPr>
          <p:cNvPr id="20" name="copy-33">
            <a:extLst xmlns:a="http://schemas.openxmlformats.org/drawingml/2006/main">
              <a:ext uri="{FF2B5EF4-FFF2-40B4-BE49-F238E27FC236}">
                <a16:creationId xmlns:a16="http://schemas.microsoft.com/office/drawing/2014/main" id="{D7F2F2AA-FFDF-4054-BB0C-EB5DF7742A37}"/>
              </a:ext>
            </a:extLst>
          </p:cNvPr>
          <p:cNvSpPr>
            <a:spLocks xmlns:a="http://schemas.openxmlformats.org/drawingml/2006/main" noGrp="1"/>
          </p:cNvSpPr>
          <p:nvPr/>
        </p:nvSpPr>
        <p:spPr>
          <a:xfrm xmlns:a="http://schemas.openxmlformats.org/drawingml/2006/main">
            <a:off x="7448550" y="4953000"/>
            <a:ext cx="1924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FFFFFF"/>
                </a:solidFill>
                <a:latin typeface="Mulish"/>
                <a:ea typeface="Mulish"/>
                <a:cs typeface="Mulish"/>
              </a:defRPr>
            </a:pPr>
            <a:r>
              <a:rPr sz="1600" b="1">
                <a:solidFill>
                  <a:srgbClr val="FFFFFF"/>
                </a:solidFill>
                <a:latin typeface="Mulish"/>
                <a:ea typeface="Mulish"/>
                <a:cs typeface="Mulish"/>
              </a:rPr>
              <a:t>API ENABLED</a:t>
            </a:r>
          </a:p>
        </p:txBody>
      </p:sp>
      <p:sp>
        <p:nvSpPr>
          <p:cNvPr id="21" name="trust-evolution-stage-4">
            <a:extLst xmlns:a="http://schemas.openxmlformats.org/drawingml/2006/main">
              <a:ext uri="{FF2B5EF4-FFF2-40B4-BE49-F238E27FC236}">
                <a16:creationId xmlns:a16="http://schemas.microsoft.com/office/drawing/2014/main" id="{204BCBD5-1F4F-4710-874F-601D6FFD574F}"/>
              </a:ext>
            </a:extLst>
          </p:cNvPr>
          <p:cNvSpPr>
            <a:spLocks xmlns:a="http://schemas.openxmlformats.org/drawingml/2006/main" noGrp="1"/>
          </p:cNvSpPr>
          <p:nvPr/>
        </p:nvSpPr>
        <p:spPr>
          <a:xfrm xmlns:a="http://schemas.openxmlformats.org/drawingml/2006/main">
            <a:off x="9601200" y="2571750"/>
            <a:ext cx="2133600" cy="2705100"/>
          </a:xfrm>
          <a:prstGeom xmlns:a="http://schemas.openxmlformats.org/drawingml/2006/main" prst="rect">
            <a:avLst/>
          </a:prstGeom>
          <a:solidFill xmlns:a="http://schemas.openxmlformats.org/drawingml/2006/main">
            <a:srgbClr val="1D0090"/>
          </a:solidFill>
          <a:ln xmlns:a="http://schemas.openxmlformats.org/drawingml/2006/main" w="0">
            <a:noFill/>
            <a:prstDash val="solid"/>
          </a:ln>
        </p:spPr>
      </p:sp>
      <p:sp>
        <p:nvSpPr>
          <p:cNvPr id="22" name="copy-34">
            <a:extLst xmlns:a="http://schemas.openxmlformats.org/drawingml/2006/main">
              <a:ext uri="{FF2B5EF4-FFF2-40B4-BE49-F238E27FC236}">
                <a16:creationId xmlns:a16="http://schemas.microsoft.com/office/drawing/2014/main" id="{C7F8B873-6437-4C1F-B795-F96F21A99202}"/>
              </a:ext>
            </a:extLst>
          </p:cNvPr>
          <p:cNvSpPr>
            <a:spLocks xmlns:a="http://schemas.openxmlformats.org/drawingml/2006/main" noGrp="1"/>
          </p:cNvSpPr>
          <p:nvPr/>
        </p:nvSpPr>
        <p:spPr>
          <a:xfrm xmlns:a="http://schemas.openxmlformats.org/drawingml/2006/main">
            <a:off x="9734550" y="2724150"/>
            <a:ext cx="1924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FFFFFF"/>
                </a:solidFill>
                <a:latin typeface="Mulish"/>
                <a:ea typeface="Mulish"/>
                <a:cs typeface="Mulish"/>
              </a:defRPr>
            </a:pPr>
            <a:r>
              <a:rPr sz="1800" b="1">
                <a:solidFill>
                  <a:srgbClr val="FFFFFF"/>
                </a:solidFill>
                <a:latin typeface="Mulish"/>
                <a:ea typeface="Mulish"/>
                <a:cs typeface="Mulish"/>
              </a:rPr>
              <a:t>Agentic trusted</a:t>
            </a:r>
          </a:p>
          <a:p xmlns:a="http://schemas.openxmlformats.org/drawingml/2006/main">
            <a:pPr algn="l">
              <a:defRPr sz="1800" b="1">
                <a:solidFill>
                  <a:srgbClr val="FFFFFF"/>
                </a:solidFill>
                <a:latin typeface="Mulish"/>
                <a:ea typeface="Mulish"/>
                <a:cs typeface="Mulish"/>
              </a:defRPr>
            </a:pPr>
            <a:r>
              <a:rPr sz="1800" b="1">
                <a:solidFill>
                  <a:srgbClr val="FFFFFF"/>
                </a:solidFill>
                <a:latin typeface="Mulish"/>
                <a:ea typeface="Mulish"/>
                <a:cs typeface="Mulish"/>
              </a:rPr>
              <a:t>execution</a:t>
            </a:r>
          </a:p>
        </p:txBody>
      </p:sp>
      <p:sp>
        <p:nvSpPr>
          <p:cNvPr id="23" name="copy-35">
            <a:extLst xmlns:a="http://schemas.openxmlformats.org/drawingml/2006/main">
              <a:ext uri="{FF2B5EF4-FFF2-40B4-BE49-F238E27FC236}">
                <a16:creationId xmlns:a16="http://schemas.microsoft.com/office/drawing/2014/main" id="{52682FD5-537E-46D3-B487-DECFDCF0151A}"/>
              </a:ext>
            </a:extLst>
          </p:cNvPr>
          <p:cNvSpPr>
            <a:spLocks xmlns:a="http://schemas.openxmlformats.org/drawingml/2006/main" noGrp="1"/>
          </p:cNvSpPr>
          <p:nvPr/>
        </p:nvSpPr>
        <p:spPr>
          <a:xfrm xmlns:a="http://schemas.openxmlformats.org/drawingml/2006/main">
            <a:off x="9734550" y="3448050"/>
            <a:ext cx="19240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FFFFFF"/>
                </a:solidFill>
                <a:latin typeface="Mulish"/>
                <a:ea typeface="Mulish"/>
                <a:cs typeface="Mulish"/>
              </a:defRPr>
            </a:pPr>
            <a:r>
              <a:rPr sz="1600" b="0">
                <a:solidFill>
                  <a:srgbClr val="FFFFFF"/>
                </a:solidFill>
                <a:latin typeface="Mulish"/>
                <a:ea typeface="Mulish"/>
                <a:cs typeface="Mulish"/>
              </a:rPr>
              <a:t>Agents invoke</a:t>
            </a:r>
          </a:p>
          <a:p xmlns:a="http://schemas.openxmlformats.org/drawingml/2006/main">
            <a:pPr algn="l">
              <a:defRPr sz="1600" b="0">
                <a:solidFill>
                  <a:srgbClr val="FFFFFF"/>
                </a:solidFill>
                <a:latin typeface="Mulish"/>
                <a:ea typeface="Mulish"/>
                <a:cs typeface="Mulish"/>
              </a:defRPr>
            </a:pPr>
            <a:r>
              <a:rPr sz="1600" b="0">
                <a:solidFill>
                  <a:srgbClr val="FFFFFF"/>
                </a:solidFill>
                <a:latin typeface="Mulish"/>
                <a:ea typeface="Mulish"/>
                <a:cs typeface="Mulish"/>
              </a:rPr>
              <a:t>trust services for</a:t>
            </a:r>
          </a:p>
          <a:p xmlns:a="http://schemas.openxmlformats.org/drawingml/2006/main">
            <a:pPr algn="l">
              <a:defRPr sz="1600" b="0">
                <a:solidFill>
                  <a:srgbClr val="FFFFFF"/>
                </a:solidFill>
                <a:latin typeface="Mulish"/>
                <a:ea typeface="Mulish"/>
                <a:cs typeface="Mulish"/>
              </a:defRPr>
            </a:pPr>
            <a:r>
              <a:rPr sz="1600" b="0">
                <a:solidFill>
                  <a:srgbClr val="FFFFFF"/>
                </a:solidFill>
                <a:latin typeface="Mulish"/>
                <a:ea typeface="Mulish"/>
                <a:cs typeface="Mulish"/>
              </a:rPr>
              <a:t>an employee</a:t>
            </a:r>
          </a:p>
        </p:txBody>
      </p:sp>
      <p:sp>
        <p:nvSpPr>
          <p:cNvPr id="24" name="copy-36">
            <a:extLst xmlns:a="http://schemas.openxmlformats.org/drawingml/2006/main">
              <a:ext uri="{FF2B5EF4-FFF2-40B4-BE49-F238E27FC236}">
                <a16:creationId xmlns:a16="http://schemas.microsoft.com/office/drawing/2014/main" id="{05AA6B92-3213-46F9-8BD9-27DE97BCBF3C}"/>
              </a:ext>
            </a:extLst>
          </p:cNvPr>
          <p:cNvSpPr>
            <a:spLocks xmlns:a="http://schemas.openxmlformats.org/drawingml/2006/main" noGrp="1"/>
          </p:cNvSpPr>
          <p:nvPr/>
        </p:nvSpPr>
        <p:spPr>
          <a:xfrm xmlns:a="http://schemas.openxmlformats.org/drawingml/2006/main">
            <a:off x="9734550" y="4953000"/>
            <a:ext cx="1924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FFFFFF"/>
                </a:solidFill>
                <a:latin typeface="Mulish"/>
                <a:ea typeface="Mulish"/>
                <a:cs typeface="Mulish"/>
              </a:defRPr>
            </a:pPr>
            <a:r>
              <a:rPr sz="1600" b="1">
                <a:solidFill>
                  <a:srgbClr val="FFFFFF"/>
                </a:solidFill>
                <a:latin typeface="Mulish"/>
                <a:ea typeface="Mulish"/>
                <a:cs typeface="Mulish"/>
              </a:rPr>
              <a:t>API ENABLED</a:t>
            </a:r>
          </a:p>
        </p:txBody>
      </p:sp>
      <p:sp>
        <p:nvSpPr>
          <p:cNvPr id="25" name="copy-37">
            <a:extLst xmlns:a="http://schemas.openxmlformats.org/drawingml/2006/main">
              <a:ext uri="{FF2B5EF4-FFF2-40B4-BE49-F238E27FC236}">
                <a16:creationId xmlns:a16="http://schemas.microsoft.com/office/drawing/2014/main" id="{215D893A-EC8B-4D5E-8421-DBEFB8E79DF9}"/>
              </a:ext>
            </a:extLst>
          </p:cNvPr>
          <p:cNvSpPr>
            <a:spLocks xmlns:a="http://schemas.openxmlformats.org/drawingml/2006/main" noGrp="1"/>
          </p:cNvSpPr>
          <p:nvPr/>
        </p:nvSpPr>
        <p:spPr>
          <a:xfrm xmlns:a="http://schemas.openxmlformats.org/drawingml/2006/main">
            <a:off x="457200" y="5772150"/>
            <a:ext cx="112776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FFFFFF"/>
                </a:solidFill>
                <a:latin typeface="Mulish"/>
                <a:ea typeface="Mulish"/>
                <a:cs typeface="Mulish"/>
              </a:defRPr>
            </a:pPr>
            <a:r>
              <a:rPr sz="1600" b="1">
                <a:solidFill>
                  <a:srgbClr val="FFFFFF"/>
                </a:solidFill>
                <a:latin typeface="Mulish"/>
                <a:ea typeface="Mulish"/>
                <a:cs typeface="Mulish"/>
              </a:rPr>
              <a:t>AVAILABLE TODAY</a:t>
            </a:r>
          </a:p>
        </p:txBody>
      </p:sp>
      <p:sp>
        <p:nvSpPr>
          <p:cNvPr id="26" name="copy-38">
            <a:extLst xmlns:a="http://schemas.openxmlformats.org/drawingml/2006/main">
              <a:ext uri="{FF2B5EF4-FFF2-40B4-BE49-F238E27FC236}">
                <a16:creationId xmlns:a16="http://schemas.microsoft.com/office/drawing/2014/main" id="{D7AD63D2-FFA5-4A13-8C1B-D67197300F8E}"/>
              </a:ext>
            </a:extLst>
          </p:cNvPr>
          <p:cNvSpPr>
            <a:spLocks xmlns:a="http://schemas.openxmlformats.org/drawingml/2006/main" noGrp="1"/>
          </p:cNvSpPr>
          <p:nvPr/>
        </p:nvSpPr>
        <p:spPr>
          <a:xfrm xmlns:a="http://schemas.openxmlformats.org/drawingml/2006/main">
            <a:off x="457200" y="6124575"/>
            <a:ext cx="1076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FFFFFF"/>
                </a:solidFill>
                <a:latin typeface="Mulish"/>
                <a:ea typeface="Mulish"/>
                <a:cs typeface="Mulish"/>
              </a:defRPr>
            </a:pPr>
            <a:r>
              <a:rPr sz="1800" b="0">
                <a:solidFill>
                  <a:srgbClr val="FFFFFF"/>
                </a:solidFill>
                <a:latin typeface="Mulish"/>
                <a:ea typeface="Mulish"/>
                <a:cs typeface="Mulish"/>
              </a:rPr>
              <a:t>An agent can digitally seal a document with organisational identity</a:t>
            </a:r>
          </a:p>
          <a:p xmlns:a="http://schemas.openxmlformats.org/drawingml/2006/main">
            <a:pPr algn="l">
              <a:defRPr sz="1800" b="0">
                <a:solidFill>
                  <a:srgbClr val="FFFFFF"/>
                </a:solidFill>
                <a:latin typeface="Mulish"/>
                <a:ea typeface="Mulish"/>
                <a:cs typeface="Mulish"/>
              </a:defRPr>
            </a:pPr>
            <a:r>
              <a:rPr sz="1800" b="0">
                <a:solidFill>
                  <a:srgbClr val="FFFFFF"/>
                </a:solidFill>
                <a:latin typeface="Mulish"/>
                <a:ea typeface="Mulish"/>
                <a:cs typeface="Mulish"/>
              </a:rPr>
              <a:t>on behalf of an employee</a:t>
            </a:r>
          </a:p>
        </p:txBody>
      </p:sp>
    </p:spTree>
    <p:extLst>
      <p:ext uri="{BB962C8B-B14F-4D97-AF65-F5344CB8AC3E}">
        <p14:creationId xmlns:p14="http://schemas.microsoft.com/office/powerpoint/2010/main" val="3324476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c4d47cec4be34a60"/>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E5107E60-AAC4-4A55-A6F2-60C1579A8420}"/>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03</a:t>
            </a:r>
          </a:p>
        </p:txBody>
      </p:sp>
      <p:sp>
        <p:nvSpPr>
          <p:cNvPr id="3" name="copy-39">
            <a:extLst xmlns:a="http://schemas.openxmlformats.org/drawingml/2006/main">
              <a:ext uri="{FF2B5EF4-FFF2-40B4-BE49-F238E27FC236}">
                <a16:creationId xmlns:a16="http://schemas.microsoft.com/office/drawing/2014/main" id="{2FD9F046-4D40-487A-858C-27F8D7137EBA}"/>
              </a:ext>
            </a:extLst>
          </p:cNvPr>
          <p:cNvSpPr>
            <a:spLocks xmlns:a="http://schemas.openxmlformats.org/drawingml/2006/main" noGrp="1"/>
          </p:cNvSpPr>
          <p:nvPr/>
        </p:nvSpPr>
        <p:spPr>
          <a:xfrm xmlns:a="http://schemas.openxmlformats.org/drawingml/2006/main">
            <a:off x="990600" y="295275"/>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7000FF"/>
                </a:solidFill>
                <a:latin typeface="Mulish"/>
                <a:ea typeface="Mulish"/>
                <a:cs typeface="Mulish"/>
              </a:defRPr>
            </a:pPr>
            <a:r>
              <a:rPr sz="1350" b="1">
                <a:solidFill>
                  <a:srgbClr val="7000FF"/>
                </a:solidFill>
                <a:latin typeface="Mulish"/>
                <a:ea typeface="Mulish"/>
                <a:cs typeface="Mulish"/>
              </a:rPr>
              <a:t>SHARED-SERVICE CONTROL FRAMEWORK</a:t>
            </a:r>
          </a:p>
        </p:txBody>
      </p:sp>
      <p:sp>
        <p:nvSpPr>
          <p:cNvPr id="4" name="copy-40">
            <a:extLst xmlns:a="http://schemas.openxmlformats.org/drawingml/2006/main">
              <a:ext uri="{FF2B5EF4-FFF2-40B4-BE49-F238E27FC236}">
                <a16:creationId xmlns:a16="http://schemas.microsoft.com/office/drawing/2014/main" id="{B416D01D-E3B3-448A-85DA-2DC5B5D00749}"/>
              </a:ext>
            </a:extLst>
          </p:cNvPr>
          <p:cNvSpPr>
            <a:spLocks xmlns:a="http://schemas.openxmlformats.org/drawingml/2006/main" noGrp="1"/>
          </p:cNvSpPr>
          <p:nvPr/>
        </p:nvSpPr>
        <p:spPr>
          <a:xfrm xmlns:a="http://schemas.openxmlformats.org/drawingml/2006/main">
            <a:off x="457200" y="914400"/>
            <a:ext cx="112776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D0090"/>
                </a:solidFill>
                <a:latin typeface="Spartan"/>
                <a:ea typeface="Spartan"/>
                <a:cs typeface="Spartan"/>
              </a:defRPr>
            </a:pPr>
            <a:r>
              <a:rPr sz="3600" b="1">
                <a:solidFill>
                  <a:srgbClr val="1D0090"/>
                </a:solidFill>
                <a:latin typeface="Spartan"/>
                <a:ea typeface="Spartan"/>
                <a:cs typeface="Spartan"/>
              </a:rPr>
              <a:t>Agent actions within</a:t>
            </a:r>
          </a:p>
          <a:p xmlns:a="http://schemas.openxmlformats.org/drawingml/2006/main">
            <a:pPr algn="l">
              <a:defRPr sz="3600" b="1">
                <a:solidFill>
                  <a:srgbClr val="1D0090"/>
                </a:solidFill>
                <a:latin typeface="Spartan"/>
                <a:ea typeface="Spartan"/>
                <a:cs typeface="Spartan"/>
              </a:defRPr>
            </a:pPr>
            <a:r>
              <a:rPr sz="3600" b="1">
                <a:solidFill>
                  <a:srgbClr val="1D0090"/>
                </a:solidFill>
                <a:latin typeface="Spartan"/>
                <a:ea typeface="Spartan"/>
                <a:cs typeface="Spartan"/>
              </a:rPr>
              <a:t>institutional control</a:t>
            </a:r>
          </a:p>
        </p:txBody>
      </p:sp>
      <p:sp>
        <p:nvSpPr>
          <p:cNvPr id="5" name="copy-41">
            <a:extLst xmlns:a="http://schemas.openxmlformats.org/drawingml/2006/main">
              <a:ext uri="{FF2B5EF4-FFF2-40B4-BE49-F238E27FC236}">
                <a16:creationId xmlns:a16="http://schemas.microsoft.com/office/drawing/2014/main" id="{CF575945-A067-4BB5-869E-25416A524B6A}"/>
              </a:ext>
            </a:extLst>
          </p:cNvPr>
          <p:cNvSpPr>
            <a:spLocks xmlns:a="http://schemas.openxmlformats.org/drawingml/2006/main" noGrp="1"/>
          </p:cNvSpPr>
          <p:nvPr/>
        </p:nvSpPr>
        <p:spPr>
          <a:xfrm xmlns:a="http://schemas.openxmlformats.org/drawingml/2006/main">
            <a:off x="457200" y="2124075"/>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Controls to agree and apply consistently across government entities</a:t>
            </a:r>
          </a:p>
        </p:txBody>
      </p:sp>
      <p:sp>
        <p:nvSpPr>
          <p:cNvPr id="6" name="copy-42">
            <a:extLst xmlns:a="http://schemas.openxmlformats.org/drawingml/2006/main">
              <a:ext uri="{FF2B5EF4-FFF2-40B4-BE49-F238E27FC236}">
                <a16:creationId xmlns:a16="http://schemas.microsoft.com/office/drawing/2014/main" id="{2826C0CF-C0F1-4C71-8E5F-0F5DD0BC2243}"/>
              </a:ext>
            </a:extLst>
          </p:cNvPr>
          <p:cNvSpPr>
            <a:spLocks xmlns:a="http://schemas.openxmlformats.org/drawingml/2006/main" noGrp="1"/>
          </p:cNvSpPr>
          <p:nvPr/>
        </p:nvSpPr>
        <p:spPr>
          <a:xfrm xmlns:a="http://schemas.openxmlformats.org/drawingml/2006/main">
            <a:off x="457200" y="2724150"/>
            <a:ext cx="350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7000FF"/>
                </a:solidFill>
                <a:latin typeface="Mulish"/>
                <a:ea typeface="Mulish"/>
                <a:cs typeface="Mulish"/>
              </a:defRPr>
            </a:pPr>
            <a:r>
              <a:rPr sz="1725" b="1">
                <a:solidFill>
                  <a:srgbClr val="7000FF"/>
                </a:solidFill>
                <a:latin typeface="Mulish"/>
                <a:ea typeface="Mulish"/>
                <a:cs typeface="Mulish"/>
              </a:rPr>
              <a:t>01</a:t>
            </a:r>
          </a:p>
        </p:txBody>
      </p:sp>
      <p:sp>
        <p:nvSpPr>
          <p:cNvPr id="7" name="copy-43">
            <a:extLst xmlns:a="http://schemas.openxmlformats.org/drawingml/2006/main">
              <a:ext uri="{FF2B5EF4-FFF2-40B4-BE49-F238E27FC236}">
                <a16:creationId xmlns:a16="http://schemas.microsoft.com/office/drawing/2014/main" id="{8F1032F2-4D63-4E30-8133-88D06F4971FF}"/>
              </a:ext>
            </a:extLst>
          </p:cNvPr>
          <p:cNvSpPr>
            <a:spLocks xmlns:a="http://schemas.openxmlformats.org/drawingml/2006/main" noGrp="1"/>
          </p:cNvSpPr>
          <p:nvPr/>
        </p:nvSpPr>
        <p:spPr>
          <a:xfrm xmlns:a="http://schemas.openxmlformats.org/drawingml/2006/main">
            <a:off x="457200" y="3162300"/>
            <a:ext cx="35052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D0090"/>
                </a:solidFill>
                <a:latin typeface="Spartan"/>
                <a:ea typeface="Spartan"/>
                <a:cs typeface="Spartan"/>
              </a:defRPr>
            </a:pPr>
            <a:r>
              <a:rPr sz="2100" b="1">
                <a:solidFill>
                  <a:srgbClr val="1D0090"/>
                </a:solidFill>
                <a:latin typeface="Spartan"/>
                <a:ea typeface="Spartan"/>
                <a:cs typeface="Spartan"/>
              </a:rPr>
              <a:t>Identity</a:t>
            </a:r>
          </a:p>
          <a:p xmlns:a="http://schemas.openxmlformats.org/drawingml/2006/main">
            <a:pPr algn="l">
              <a:defRPr sz="2100" b="1">
                <a:solidFill>
                  <a:srgbClr val="1D0090"/>
                </a:solidFill>
                <a:latin typeface="Spartan"/>
                <a:ea typeface="Spartan"/>
                <a:cs typeface="Spartan"/>
              </a:defRPr>
            </a:pPr>
            <a:r>
              <a:rPr sz="2100" b="1">
                <a:solidFill>
                  <a:srgbClr val="1D0090"/>
                </a:solidFill>
                <a:latin typeface="Spartan"/>
                <a:ea typeface="Spartan"/>
                <a:cs typeface="Spartan"/>
              </a:rPr>
              <a:t>&amp; context</a:t>
            </a:r>
          </a:p>
        </p:txBody>
      </p:sp>
      <p:sp>
        <p:nvSpPr>
          <p:cNvPr id="8" name="copy-44">
            <a:extLst xmlns:a="http://schemas.openxmlformats.org/drawingml/2006/main">
              <a:ext uri="{FF2B5EF4-FFF2-40B4-BE49-F238E27FC236}">
                <a16:creationId xmlns:a16="http://schemas.microsoft.com/office/drawing/2014/main" id="{4CE60BD1-FFD0-402E-858F-20FE371F2820}"/>
              </a:ext>
            </a:extLst>
          </p:cNvPr>
          <p:cNvSpPr>
            <a:spLocks xmlns:a="http://schemas.openxmlformats.org/drawingml/2006/main" noGrp="1"/>
          </p:cNvSpPr>
          <p:nvPr/>
        </p:nvSpPr>
        <p:spPr>
          <a:xfrm xmlns:a="http://schemas.openxmlformats.org/drawingml/2006/main">
            <a:off x="457200" y="4048125"/>
            <a:ext cx="3505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Which employee and</a:t>
            </a:r>
          </a:p>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agent are involved?</a:t>
            </a:r>
          </a:p>
        </p:txBody>
      </p:sp>
      <p:sp>
        <p:nvSpPr>
          <p:cNvPr id="9" name="copy-45">
            <a:extLst xmlns:a="http://schemas.openxmlformats.org/drawingml/2006/main">
              <a:ext uri="{FF2B5EF4-FFF2-40B4-BE49-F238E27FC236}">
                <a16:creationId xmlns:a16="http://schemas.microsoft.com/office/drawing/2014/main" id="{78E928F8-64DF-4673-9EA9-5A860860143F}"/>
              </a:ext>
            </a:extLst>
          </p:cNvPr>
          <p:cNvSpPr>
            <a:spLocks xmlns:a="http://schemas.openxmlformats.org/drawingml/2006/main" noGrp="1"/>
          </p:cNvSpPr>
          <p:nvPr/>
        </p:nvSpPr>
        <p:spPr>
          <a:xfrm xmlns:a="http://schemas.openxmlformats.org/drawingml/2006/main">
            <a:off x="457200" y="4810125"/>
            <a:ext cx="350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Connect the action to its</a:t>
            </a:r>
          </a:p>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initiator and institutional role.</a:t>
            </a:r>
          </a:p>
        </p:txBody>
      </p:sp>
      <p:sp>
        <p:nvSpPr>
          <p:cNvPr id="10" name="divider">
            <a:extLst xmlns:a="http://schemas.openxmlformats.org/drawingml/2006/main">
              <a:ext uri="{FF2B5EF4-FFF2-40B4-BE49-F238E27FC236}">
                <a16:creationId xmlns:a16="http://schemas.microsoft.com/office/drawing/2014/main" id="{26727B20-99D1-4F22-AE76-8211B0D474E0}"/>
              </a:ext>
            </a:extLst>
          </p:cNvPr>
          <p:cNvSpPr>
            <a:spLocks xmlns:a="http://schemas.openxmlformats.org/drawingml/2006/main" noGrp="1"/>
          </p:cNvSpPr>
          <p:nvPr/>
        </p:nvSpPr>
        <p:spPr>
          <a:xfrm xmlns:a="http://schemas.openxmlformats.org/drawingml/2006/main">
            <a:off x="4038600" y="2790825"/>
            <a:ext cx="9525" cy="2371725"/>
          </a:xfrm>
          <a:prstGeom xmlns:a="http://schemas.openxmlformats.org/drawingml/2006/main" prst="rect">
            <a:avLst/>
          </a:prstGeom>
          <a:solidFill xmlns:a="http://schemas.openxmlformats.org/drawingml/2006/main">
            <a:srgbClr val="E4E7EC"/>
          </a:solidFill>
          <a:ln xmlns:a="http://schemas.openxmlformats.org/drawingml/2006/main" w="0">
            <a:noFill/>
            <a:prstDash val="solid"/>
          </a:ln>
        </p:spPr>
      </p:sp>
      <p:sp>
        <p:nvSpPr>
          <p:cNvPr id="11" name="copy-46">
            <a:extLst xmlns:a="http://schemas.openxmlformats.org/drawingml/2006/main">
              <a:ext uri="{FF2B5EF4-FFF2-40B4-BE49-F238E27FC236}">
                <a16:creationId xmlns:a16="http://schemas.microsoft.com/office/drawing/2014/main" id="{1905C608-8279-4197-9410-8F44A65BC9B7}"/>
              </a:ext>
            </a:extLst>
          </p:cNvPr>
          <p:cNvSpPr>
            <a:spLocks xmlns:a="http://schemas.openxmlformats.org/drawingml/2006/main" noGrp="1"/>
          </p:cNvSpPr>
          <p:nvPr/>
        </p:nvSpPr>
        <p:spPr>
          <a:xfrm xmlns:a="http://schemas.openxmlformats.org/drawingml/2006/main">
            <a:off x="4267200" y="2724150"/>
            <a:ext cx="350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7000FF"/>
                </a:solidFill>
                <a:latin typeface="Mulish"/>
                <a:ea typeface="Mulish"/>
                <a:cs typeface="Mulish"/>
              </a:defRPr>
            </a:pPr>
            <a:r>
              <a:rPr sz="1725" b="1">
                <a:solidFill>
                  <a:srgbClr val="7000FF"/>
                </a:solidFill>
                <a:latin typeface="Mulish"/>
                <a:ea typeface="Mulish"/>
                <a:cs typeface="Mulish"/>
              </a:rPr>
              <a:t>02</a:t>
            </a:r>
          </a:p>
        </p:txBody>
      </p:sp>
      <p:sp>
        <p:nvSpPr>
          <p:cNvPr id="12" name="copy-47">
            <a:extLst xmlns:a="http://schemas.openxmlformats.org/drawingml/2006/main">
              <a:ext uri="{FF2B5EF4-FFF2-40B4-BE49-F238E27FC236}">
                <a16:creationId xmlns:a16="http://schemas.microsoft.com/office/drawing/2014/main" id="{B9783FFF-BFEF-4179-BCBD-55D6657C707B}"/>
              </a:ext>
            </a:extLst>
          </p:cNvPr>
          <p:cNvSpPr>
            <a:spLocks xmlns:a="http://schemas.openxmlformats.org/drawingml/2006/main" noGrp="1"/>
          </p:cNvSpPr>
          <p:nvPr/>
        </p:nvSpPr>
        <p:spPr>
          <a:xfrm xmlns:a="http://schemas.openxmlformats.org/drawingml/2006/main">
            <a:off x="4267200" y="3162300"/>
            <a:ext cx="35052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D0090"/>
                </a:solidFill>
                <a:latin typeface="Spartan"/>
                <a:ea typeface="Spartan"/>
                <a:cs typeface="Spartan"/>
              </a:defRPr>
            </a:pPr>
            <a:r>
              <a:rPr sz="2100" b="1">
                <a:solidFill>
                  <a:srgbClr val="1D0090"/>
                </a:solidFill>
                <a:latin typeface="Spartan"/>
                <a:ea typeface="Spartan"/>
                <a:cs typeface="Spartan"/>
              </a:rPr>
              <a:t>Authority</a:t>
            </a:r>
          </a:p>
          <a:p xmlns:a="http://schemas.openxmlformats.org/drawingml/2006/main">
            <a:pPr algn="l">
              <a:defRPr sz="2100" b="1">
                <a:solidFill>
                  <a:srgbClr val="1D0090"/>
                </a:solidFill>
                <a:latin typeface="Spartan"/>
                <a:ea typeface="Spartan"/>
                <a:cs typeface="Spartan"/>
              </a:defRPr>
            </a:pPr>
            <a:r>
              <a:rPr sz="2100" b="1">
                <a:solidFill>
                  <a:srgbClr val="1D0090"/>
                </a:solidFill>
                <a:latin typeface="Spartan"/>
                <a:ea typeface="Spartan"/>
                <a:cs typeface="Spartan"/>
              </a:rPr>
              <a:t>&amp; policy</a:t>
            </a:r>
          </a:p>
        </p:txBody>
      </p:sp>
      <p:sp>
        <p:nvSpPr>
          <p:cNvPr id="13" name="copy-48">
            <a:extLst xmlns:a="http://schemas.openxmlformats.org/drawingml/2006/main">
              <a:ext uri="{FF2B5EF4-FFF2-40B4-BE49-F238E27FC236}">
                <a16:creationId xmlns:a16="http://schemas.microsoft.com/office/drawing/2014/main" id="{47EC870A-2368-41BB-9534-DCDF2FC870C9}"/>
              </a:ext>
            </a:extLst>
          </p:cNvPr>
          <p:cNvSpPr>
            <a:spLocks xmlns:a="http://schemas.openxmlformats.org/drawingml/2006/main" noGrp="1"/>
          </p:cNvSpPr>
          <p:nvPr/>
        </p:nvSpPr>
        <p:spPr>
          <a:xfrm xmlns:a="http://schemas.openxmlformats.org/drawingml/2006/main">
            <a:off x="4267200" y="4048125"/>
            <a:ext cx="3505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What is the agent</a:t>
            </a:r>
          </a:p>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permitted to do?</a:t>
            </a:r>
          </a:p>
        </p:txBody>
      </p:sp>
      <p:sp>
        <p:nvSpPr>
          <p:cNvPr id="14" name="copy-49">
            <a:extLst xmlns:a="http://schemas.openxmlformats.org/drawingml/2006/main">
              <a:ext uri="{FF2B5EF4-FFF2-40B4-BE49-F238E27FC236}">
                <a16:creationId xmlns:a16="http://schemas.microsoft.com/office/drawing/2014/main" id="{0252E4AA-4039-419A-BAA8-D703A15EAA4E}"/>
              </a:ext>
            </a:extLst>
          </p:cNvPr>
          <p:cNvSpPr>
            <a:spLocks xmlns:a="http://schemas.openxmlformats.org/drawingml/2006/main" noGrp="1"/>
          </p:cNvSpPr>
          <p:nvPr/>
        </p:nvSpPr>
        <p:spPr>
          <a:xfrm xmlns:a="http://schemas.openxmlformats.org/drawingml/2006/main">
            <a:off x="4267200" y="4810125"/>
            <a:ext cx="350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Make the delegated scope</a:t>
            </a:r>
          </a:p>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and applicable limits explicit.</a:t>
            </a:r>
          </a:p>
        </p:txBody>
      </p:sp>
      <p:sp>
        <p:nvSpPr>
          <p:cNvPr id="15" name="divider">
            <a:extLst xmlns:a="http://schemas.openxmlformats.org/drawingml/2006/main">
              <a:ext uri="{FF2B5EF4-FFF2-40B4-BE49-F238E27FC236}">
                <a16:creationId xmlns:a16="http://schemas.microsoft.com/office/drawing/2014/main" id="{A5FD6FFA-0347-4C56-BC7C-B11CCFC86817}"/>
              </a:ext>
            </a:extLst>
          </p:cNvPr>
          <p:cNvSpPr>
            <a:spLocks xmlns:a="http://schemas.openxmlformats.org/drawingml/2006/main" noGrp="1"/>
          </p:cNvSpPr>
          <p:nvPr/>
        </p:nvSpPr>
        <p:spPr>
          <a:xfrm xmlns:a="http://schemas.openxmlformats.org/drawingml/2006/main">
            <a:off x="7848600" y="2790825"/>
            <a:ext cx="9525" cy="2371725"/>
          </a:xfrm>
          <a:prstGeom xmlns:a="http://schemas.openxmlformats.org/drawingml/2006/main" prst="rect">
            <a:avLst/>
          </a:prstGeom>
          <a:solidFill xmlns:a="http://schemas.openxmlformats.org/drawingml/2006/main">
            <a:srgbClr val="E4E7EC"/>
          </a:solidFill>
          <a:ln xmlns:a="http://schemas.openxmlformats.org/drawingml/2006/main" w="0">
            <a:noFill/>
            <a:prstDash val="solid"/>
          </a:ln>
        </p:spPr>
      </p:sp>
      <p:sp>
        <p:nvSpPr>
          <p:cNvPr id="16" name="copy-50">
            <a:extLst xmlns:a="http://schemas.openxmlformats.org/drawingml/2006/main">
              <a:ext uri="{FF2B5EF4-FFF2-40B4-BE49-F238E27FC236}">
                <a16:creationId xmlns:a16="http://schemas.microsoft.com/office/drawing/2014/main" id="{4111320B-1C1D-4C70-BE97-0E0BFAADB569}"/>
              </a:ext>
            </a:extLst>
          </p:cNvPr>
          <p:cNvSpPr>
            <a:spLocks xmlns:a="http://schemas.openxmlformats.org/drawingml/2006/main" noGrp="1"/>
          </p:cNvSpPr>
          <p:nvPr/>
        </p:nvSpPr>
        <p:spPr>
          <a:xfrm xmlns:a="http://schemas.openxmlformats.org/drawingml/2006/main">
            <a:off x="8077200" y="2724150"/>
            <a:ext cx="350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7000FF"/>
                </a:solidFill>
                <a:latin typeface="Mulish"/>
                <a:ea typeface="Mulish"/>
                <a:cs typeface="Mulish"/>
              </a:defRPr>
            </a:pPr>
            <a:r>
              <a:rPr sz="1725" b="1">
                <a:solidFill>
                  <a:srgbClr val="7000FF"/>
                </a:solidFill>
                <a:latin typeface="Mulish"/>
                <a:ea typeface="Mulish"/>
                <a:cs typeface="Mulish"/>
              </a:rPr>
              <a:t>03</a:t>
            </a:r>
          </a:p>
        </p:txBody>
      </p:sp>
      <p:sp>
        <p:nvSpPr>
          <p:cNvPr id="17" name="copy-51">
            <a:extLst xmlns:a="http://schemas.openxmlformats.org/drawingml/2006/main">
              <a:ext uri="{FF2B5EF4-FFF2-40B4-BE49-F238E27FC236}">
                <a16:creationId xmlns:a16="http://schemas.microsoft.com/office/drawing/2014/main" id="{E9C5C0A1-27B2-4BCA-8366-8DF3B3D26F36}"/>
              </a:ext>
            </a:extLst>
          </p:cNvPr>
          <p:cNvSpPr>
            <a:spLocks xmlns:a="http://schemas.openxmlformats.org/drawingml/2006/main" noGrp="1"/>
          </p:cNvSpPr>
          <p:nvPr/>
        </p:nvSpPr>
        <p:spPr>
          <a:xfrm xmlns:a="http://schemas.openxmlformats.org/drawingml/2006/main">
            <a:off x="8077200" y="3162300"/>
            <a:ext cx="35052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D0090"/>
                </a:solidFill>
                <a:latin typeface="Spartan"/>
                <a:ea typeface="Spartan"/>
                <a:cs typeface="Spartan"/>
              </a:defRPr>
            </a:pPr>
            <a:r>
              <a:rPr sz="2100" b="1">
                <a:solidFill>
                  <a:srgbClr val="1D0090"/>
                </a:solidFill>
                <a:latin typeface="Spartan"/>
                <a:ea typeface="Spartan"/>
                <a:cs typeface="Spartan"/>
              </a:rPr>
              <a:t>Approval</a:t>
            </a:r>
          </a:p>
          <a:p xmlns:a="http://schemas.openxmlformats.org/drawingml/2006/main">
            <a:pPr algn="l">
              <a:defRPr sz="2100" b="1">
                <a:solidFill>
                  <a:srgbClr val="1D0090"/>
                </a:solidFill>
                <a:latin typeface="Spartan"/>
                <a:ea typeface="Spartan"/>
                <a:cs typeface="Spartan"/>
              </a:defRPr>
            </a:pPr>
            <a:r>
              <a:rPr sz="2100" b="1">
                <a:solidFill>
                  <a:srgbClr val="1D0090"/>
                </a:solidFill>
                <a:latin typeface="Spartan"/>
                <a:ea typeface="Spartan"/>
                <a:cs typeface="Spartan"/>
              </a:rPr>
              <a:t>&amp; oversight</a:t>
            </a:r>
          </a:p>
        </p:txBody>
      </p:sp>
      <p:sp>
        <p:nvSpPr>
          <p:cNvPr id="18" name="copy-52">
            <a:extLst xmlns:a="http://schemas.openxmlformats.org/drawingml/2006/main">
              <a:ext uri="{FF2B5EF4-FFF2-40B4-BE49-F238E27FC236}">
                <a16:creationId xmlns:a16="http://schemas.microsoft.com/office/drawing/2014/main" id="{9888F357-06BB-4161-8FD6-61B62B86E324}"/>
              </a:ext>
            </a:extLst>
          </p:cNvPr>
          <p:cNvSpPr>
            <a:spLocks xmlns:a="http://schemas.openxmlformats.org/drawingml/2006/main" noGrp="1"/>
          </p:cNvSpPr>
          <p:nvPr/>
        </p:nvSpPr>
        <p:spPr>
          <a:xfrm xmlns:a="http://schemas.openxmlformats.org/drawingml/2006/main">
            <a:off x="8077200" y="4048125"/>
            <a:ext cx="3505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When must a person</a:t>
            </a:r>
          </a:p>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authorise the action?</a:t>
            </a:r>
          </a:p>
        </p:txBody>
      </p:sp>
      <p:sp>
        <p:nvSpPr>
          <p:cNvPr id="19" name="copy-53">
            <a:extLst xmlns:a="http://schemas.openxmlformats.org/drawingml/2006/main">
              <a:ext uri="{FF2B5EF4-FFF2-40B4-BE49-F238E27FC236}">
                <a16:creationId xmlns:a16="http://schemas.microsoft.com/office/drawing/2014/main" id="{1C8349D6-19D4-48E3-B048-85C54F48A243}"/>
              </a:ext>
            </a:extLst>
          </p:cNvPr>
          <p:cNvSpPr>
            <a:spLocks xmlns:a="http://schemas.openxmlformats.org/drawingml/2006/main" noGrp="1"/>
          </p:cNvSpPr>
          <p:nvPr/>
        </p:nvSpPr>
        <p:spPr>
          <a:xfrm xmlns:a="http://schemas.openxmlformats.org/drawingml/2006/main">
            <a:off x="8077200" y="4810125"/>
            <a:ext cx="350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Define approval requirements</a:t>
            </a:r>
          </a:p>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for consequential actions.</a:t>
            </a:r>
          </a:p>
        </p:txBody>
      </p:sp>
      <p:sp>
        <p:nvSpPr>
          <p:cNvPr id="20" name="evidence-through-execution">
            <a:extLst xmlns:a="http://schemas.openxmlformats.org/drawingml/2006/main">
              <a:ext uri="{FF2B5EF4-FFF2-40B4-BE49-F238E27FC236}">
                <a16:creationId xmlns:a16="http://schemas.microsoft.com/office/drawing/2014/main" id="{D945235B-666F-44BD-8444-3EE309DE1DD9}"/>
              </a:ext>
            </a:extLst>
          </p:cNvPr>
          <p:cNvSpPr>
            <a:spLocks xmlns:a="http://schemas.openxmlformats.org/drawingml/2006/main" noGrp="1"/>
          </p:cNvSpPr>
          <p:nvPr/>
        </p:nvSpPr>
        <p:spPr>
          <a:xfrm xmlns:a="http://schemas.openxmlformats.org/drawingml/2006/main">
            <a:off x="457200" y="5657850"/>
            <a:ext cx="11277600" cy="771525"/>
          </a:xfrm>
          <a:prstGeom xmlns:a="http://schemas.openxmlformats.org/drawingml/2006/main" prst="rect">
            <a:avLst/>
          </a:prstGeom>
          <a:solidFill xmlns:a="http://schemas.openxmlformats.org/drawingml/2006/main">
            <a:srgbClr val="1D0090"/>
          </a:solidFill>
          <a:ln xmlns:a="http://schemas.openxmlformats.org/drawingml/2006/main" w="0">
            <a:noFill/>
            <a:prstDash val="solid"/>
          </a:ln>
        </p:spPr>
      </p:sp>
      <p:sp>
        <p:nvSpPr>
          <p:cNvPr id="21" name="copy-54">
            <a:extLst xmlns:a="http://schemas.openxmlformats.org/drawingml/2006/main">
              <a:ext uri="{FF2B5EF4-FFF2-40B4-BE49-F238E27FC236}">
                <a16:creationId xmlns:a16="http://schemas.microsoft.com/office/drawing/2014/main" id="{13F1497F-296E-4E72-843F-E73B79B9F145}"/>
              </a:ext>
            </a:extLst>
          </p:cNvPr>
          <p:cNvSpPr>
            <a:spLocks xmlns:a="http://schemas.openxmlformats.org/drawingml/2006/main" noGrp="1"/>
          </p:cNvSpPr>
          <p:nvPr/>
        </p:nvSpPr>
        <p:spPr>
          <a:xfrm xmlns:a="http://schemas.openxmlformats.org/drawingml/2006/main">
            <a:off x="609600" y="5781675"/>
            <a:ext cx="10972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FFFFFF"/>
                </a:solidFill>
                <a:latin typeface="Mulish"/>
                <a:ea typeface="Mulish"/>
                <a:cs typeface="Mulish"/>
              </a:defRPr>
            </a:pPr>
            <a:r>
              <a:rPr sz="1875" b="1">
                <a:solidFill>
                  <a:srgbClr val="FFFFFF"/>
                </a:solidFill>
                <a:latin typeface="Mulish"/>
                <a:ea typeface="Mulish"/>
                <a:cs typeface="Mulish"/>
              </a:rPr>
              <a:t>Accountability continues after execution</a:t>
            </a:r>
          </a:p>
        </p:txBody>
      </p:sp>
      <p:sp>
        <p:nvSpPr>
          <p:cNvPr id="22" name="copy-55">
            <a:extLst xmlns:a="http://schemas.openxmlformats.org/drawingml/2006/main">
              <a:ext uri="{FF2B5EF4-FFF2-40B4-BE49-F238E27FC236}">
                <a16:creationId xmlns:a16="http://schemas.microsoft.com/office/drawing/2014/main" id="{3191299D-BD84-47BB-8DDE-A7A03271ACC2}"/>
              </a:ext>
            </a:extLst>
          </p:cNvPr>
          <p:cNvSpPr>
            <a:spLocks xmlns:a="http://schemas.openxmlformats.org/drawingml/2006/main" noGrp="1"/>
          </p:cNvSpPr>
          <p:nvPr/>
        </p:nvSpPr>
        <p:spPr>
          <a:xfrm xmlns:a="http://schemas.openxmlformats.org/drawingml/2006/main">
            <a:off x="609600" y="6134100"/>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Retain what was requested, permitted and executed, with attributable evidence</a:t>
            </a:r>
          </a:p>
        </p:txBody>
      </p:sp>
    </p:spTree>
    <p:extLst>
      <p:ext uri="{BB962C8B-B14F-4D97-AF65-F5344CB8AC3E}">
        <p14:creationId xmlns:p14="http://schemas.microsoft.com/office/powerpoint/2010/main" val="1787397096"/>
      </p:ext>
    </p:extLst>
  </p:cSld>
</p:sld>
</file>

<file path=ppt/slides/slide4.xml><?xml version="1.0" encoding="utf-8"?>
<p:sld xmlns:p="http://schemas.openxmlformats.org/presentationml/2006/main">
  <p:cSld>
    <p:bg>
      <p:bgPr>
        <a:solidFill xmlns:a="http://schemas.openxmlformats.org/drawingml/2006/main">
          <a:srgbClr val="1D0090"/>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e08b356214d14914"/>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55143251-C204-4EF6-9B71-9166A34EAF88}"/>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Mulish"/>
                <a:ea typeface="Mulish"/>
                <a:cs typeface="Mulish"/>
              </a:defRPr>
            </a:pPr>
            <a:r>
              <a:rPr sz="1050" b="1">
                <a:solidFill>
                  <a:srgbClr val="FFFFFF"/>
                </a:solidFill>
                <a:latin typeface="Mulish"/>
                <a:ea typeface="Mulish"/>
                <a:cs typeface="Mulish"/>
              </a:rPr>
              <a:t>04</a:t>
            </a:r>
          </a:p>
        </p:txBody>
      </p:sp>
      <p:sp>
        <p:nvSpPr>
          <p:cNvPr id="3" name="copy-56">
            <a:extLst xmlns:a="http://schemas.openxmlformats.org/drawingml/2006/main">
              <a:ext uri="{FF2B5EF4-FFF2-40B4-BE49-F238E27FC236}">
                <a16:creationId xmlns:a16="http://schemas.microsoft.com/office/drawing/2014/main" id="{55141400-6294-47DE-8EA3-F89DB6A79BBB}"/>
              </a:ext>
            </a:extLst>
          </p:cNvPr>
          <p:cNvSpPr>
            <a:spLocks xmlns:a="http://schemas.openxmlformats.org/drawingml/2006/main" noGrp="1"/>
          </p:cNvSpPr>
          <p:nvPr/>
        </p:nvSpPr>
        <p:spPr>
          <a:xfrm xmlns:a="http://schemas.openxmlformats.org/drawingml/2006/main">
            <a:off x="990600" y="295275"/>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F5EDFF"/>
                </a:solidFill>
                <a:latin typeface="Mulish"/>
                <a:ea typeface="Mulish"/>
                <a:cs typeface="Mulish"/>
              </a:defRPr>
            </a:pPr>
            <a:r>
              <a:rPr sz="1350" b="1">
                <a:solidFill>
                  <a:srgbClr val="F5EDFF"/>
                </a:solidFill>
                <a:latin typeface="Mulish"/>
                <a:ea typeface="Mulish"/>
                <a:cs typeface="Mulish"/>
              </a:rPr>
              <a:t>UNIFIED TRUST API</a:t>
            </a:r>
          </a:p>
        </p:txBody>
      </p:sp>
      <p:sp>
        <p:nvSpPr>
          <p:cNvPr id="4" name="copy-57">
            <a:extLst xmlns:a="http://schemas.openxmlformats.org/drawingml/2006/main">
              <a:ext uri="{FF2B5EF4-FFF2-40B4-BE49-F238E27FC236}">
                <a16:creationId xmlns:a16="http://schemas.microsoft.com/office/drawing/2014/main" id="{DBD1C7D5-A784-478B-8432-94D05A9EF882}"/>
              </a:ext>
            </a:extLst>
          </p:cNvPr>
          <p:cNvSpPr>
            <a:spLocks xmlns:a="http://schemas.openxmlformats.org/drawingml/2006/main" noGrp="1"/>
          </p:cNvSpPr>
          <p:nvPr/>
        </p:nvSpPr>
        <p:spPr>
          <a:xfrm xmlns:a="http://schemas.openxmlformats.org/drawingml/2006/main">
            <a:off x="457200" y="914400"/>
            <a:ext cx="112776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FFFFFF"/>
                </a:solidFill>
                <a:latin typeface="Spartan"/>
                <a:ea typeface="Spartan"/>
                <a:cs typeface="Spartan"/>
              </a:defRPr>
            </a:pPr>
            <a:r>
              <a:rPr sz="3600" b="1">
                <a:solidFill>
                  <a:srgbClr val="FFFFFF"/>
                </a:solidFill>
                <a:latin typeface="Spartan"/>
                <a:ea typeface="Spartan"/>
                <a:cs typeface="Spartan"/>
              </a:rPr>
              <a:t>One interface for</a:t>
            </a:r>
          </a:p>
          <a:p xmlns:a="http://schemas.openxmlformats.org/drawingml/2006/main">
            <a:pPr algn="l">
              <a:defRPr sz="3600" b="1">
                <a:solidFill>
                  <a:srgbClr val="FFFFFF"/>
                </a:solidFill>
                <a:latin typeface="Spartan"/>
                <a:ea typeface="Spartan"/>
                <a:cs typeface="Spartan"/>
              </a:defRPr>
            </a:pPr>
            <a:r>
              <a:rPr sz="3600" b="1">
                <a:solidFill>
                  <a:srgbClr val="FFFFFF"/>
                </a:solidFill>
                <a:latin typeface="Spartan"/>
                <a:ea typeface="Spartan"/>
                <a:cs typeface="Spartan"/>
              </a:rPr>
              <a:t>end-to-end trust services</a:t>
            </a:r>
          </a:p>
        </p:txBody>
      </p:sp>
      <p:sp>
        <p:nvSpPr>
          <p:cNvPr id="5" name="copy-58">
            <a:extLst xmlns:a="http://schemas.openxmlformats.org/drawingml/2006/main">
              <a:ext uri="{FF2B5EF4-FFF2-40B4-BE49-F238E27FC236}">
                <a16:creationId xmlns:a16="http://schemas.microsoft.com/office/drawing/2014/main" id="{81635627-6572-4B5C-AD5F-4BCC353EEDAC}"/>
              </a:ext>
            </a:extLst>
          </p:cNvPr>
          <p:cNvSpPr>
            <a:spLocks xmlns:a="http://schemas.openxmlformats.org/drawingml/2006/main" noGrp="1"/>
          </p:cNvSpPr>
          <p:nvPr/>
        </p:nvSpPr>
        <p:spPr>
          <a:xfrm xmlns:a="http://schemas.openxmlformats.org/drawingml/2006/main">
            <a:off x="457200" y="211455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FFFFFF"/>
                </a:solidFill>
                <a:latin typeface="Mulish"/>
                <a:ea typeface="Mulish"/>
                <a:cs typeface="Mulish"/>
              </a:defRPr>
            </a:pPr>
            <a:r>
              <a:rPr sz="1800" b="0">
                <a:solidFill>
                  <a:srgbClr val="FFFFFF"/>
                </a:solidFill>
                <a:latin typeface="Mulish"/>
                <a:ea typeface="Mulish"/>
                <a:cs typeface="Mulish"/>
              </a:rPr>
              <a:t>Government channels, enterprise systems and agents connect through a common API</a:t>
            </a:r>
          </a:p>
        </p:txBody>
      </p:sp>
      <p:sp>
        <p:nvSpPr>
          <p:cNvPr id="6" name="divider">
            <a:extLst xmlns:a="http://schemas.openxmlformats.org/drawingml/2006/main">
              <a:ext uri="{FF2B5EF4-FFF2-40B4-BE49-F238E27FC236}">
                <a16:creationId xmlns:a16="http://schemas.microsoft.com/office/drawing/2014/main" id="{73102F5D-E376-44D5-A6E2-EBE0C5B9C7A1}"/>
              </a:ext>
            </a:extLst>
          </p:cNvPr>
          <p:cNvSpPr>
            <a:spLocks xmlns:a="http://schemas.openxmlformats.org/drawingml/2006/main" noGrp="1"/>
          </p:cNvSpPr>
          <p:nvPr/>
        </p:nvSpPr>
        <p:spPr>
          <a:xfrm xmlns:a="http://schemas.openxmlformats.org/drawingml/2006/main">
            <a:off x="457200" y="2847975"/>
            <a:ext cx="3505200" cy="19050"/>
          </a:xfrm>
          <a:prstGeom xmlns:a="http://schemas.openxmlformats.org/drawingml/2006/main" prst="rect">
            <a:avLst/>
          </a:prstGeom>
          <a:solidFill xmlns:a="http://schemas.openxmlformats.org/drawingml/2006/main">
            <a:srgbClr val="F5EDFF"/>
          </a:solidFill>
          <a:ln xmlns:a="http://schemas.openxmlformats.org/drawingml/2006/main" w="0">
            <a:noFill/>
            <a:prstDash val="solid"/>
          </a:ln>
        </p:spPr>
      </p:sp>
      <p:sp>
        <p:nvSpPr>
          <p:cNvPr id="7" name="copy-59">
            <a:extLst xmlns:a="http://schemas.openxmlformats.org/drawingml/2006/main">
              <a:ext uri="{FF2B5EF4-FFF2-40B4-BE49-F238E27FC236}">
                <a16:creationId xmlns:a16="http://schemas.microsoft.com/office/drawing/2014/main" id="{F64BF045-9978-4AFE-8C83-F0D176730FD6}"/>
              </a:ext>
            </a:extLst>
          </p:cNvPr>
          <p:cNvSpPr>
            <a:spLocks xmlns:a="http://schemas.openxmlformats.org/drawingml/2006/main" noGrp="1"/>
          </p:cNvSpPr>
          <p:nvPr/>
        </p:nvSpPr>
        <p:spPr>
          <a:xfrm xmlns:a="http://schemas.openxmlformats.org/drawingml/2006/main">
            <a:off x="457200" y="3048000"/>
            <a:ext cx="350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FFFFFF"/>
                </a:solidFill>
                <a:latin typeface="Mulish"/>
                <a:ea typeface="Mulish"/>
                <a:cs typeface="Mulish"/>
              </a:defRPr>
            </a:pPr>
            <a:r>
              <a:rPr sz="1875" b="1">
                <a:solidFill>
                  <a:srgbClr val="FFFFFF"/>
                </a:solidFill>
                <a:latin typeface="Mulish"/>
                <a:ea typeface="Mulish"/>
                <a:cs typeface="Mulish"/>
              </a:rPr>
              <a:t>Identity &amp; authority</a:t>
            </a:r>
          </a:p>
        </p:txBody>
      </p:sp>
      <p:sp>
        <p:nvSpPr>
          <p:cNvPr id="8" name="copy-60">
            <a:extLst xmlns:a="http://schemas.openxmlformats.org/drawingml/2006/main">
              <a:ext uri="{FF2B5EF4-FFF2-40B4-BE49-F238E27FC236}">
                <a16:creationId xmlns:a16="http://schemas.microsoft.com/office/drawing/2014/main" id="{E167312E-27F7-4704-955C-6D64E6F3DBF6}"/>
              </a:ext>
            </a:extLst>
          </p:cNvPr>
          <p:cNvSpPr>
            <a:spLocks xmlns:a="http://schemas.openxmlformats.org/drawingml/2006/main" noGrp="1"/>
          </p:cNvSpPr>
          <p:nvPr/>
        </p:nvSpPr>
        <p:spPr>
          <a:xfrm xmlns:a="http://schemas.openxmlformats.org/drawingml/2006/main">
            <a:off x="457200" y="3581400"/>
            <a:ext cx="35052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FFFFFF"/>
                </a:solidFill>
                <a:latin typeface="Mulish"/>
                <a:ea typeface="Mulish"/>
                <a:cs typeface="Mulish"/>
              </a:defRPr>
            </a:pPr>
            <a:r>
              <a:rPr sz="1725" b="0">
                <a:solidFill>
                  <a:srgbClr val="FFFFFF"/>
                </a:solidFill>
                <a:latin typeface="Mulish"/>
                <a:ea typeface="Mulish"/>
                <a:cs typeface="Mulish"/>
              </a:rPr>
              <a:t>Actor context and the</a:t>
            </a:r>
          </a:p>
          <a:p xmlns:a="http://schemas.openxmlformats.org/drawingml/2006/main">
            <a:pPr algn="l">
              <a:defRPr sz="1725" b="0">
                <a:solidFill>
                  <a:srgbClr val="FFFFFF"/>
                </a:solidFill>
                <a:latin typeface="Mulish"/>
                <a:ea typeface="Mulish"/>
                <a:cs typeface="Mulish"/>
              </a:defRPr>
            </a:pPr>
            <a:r>
              <a:rPr sz="1725" b="0">
                <a:solidFill>
                  <a:srgbClr val="FFFFFF"/>
                </a:solidFill>
                <a:latin typeface="Mulish"/>
                <a:ea typeface="Mulish"/>
                <a:cs typeface="Mulish"/>
              </a:rPr>
              <a:t>authority required to act</a:t>
            </a:r>
          </a:p>
        </p:txBody>
      </p:sp>
      <p:sp>
        <p:nvSpPr>
          <p:cNvPr id="9" name="divider">
            <a:extLst xmlns:a="http://schemas.openxmlformats.org/drawingml/2006/main">
              <a:ext uri="{FF2B5EF4-FFF2-40B4-BE49-F238E27FC236}">
                <a16:creationId xmlns:a16="http://schemas.microsoft.com/office/drawing/2014/main" id="{AD32F1DA-68F9-4E12-848C-1E35B34BD119}"/>
              </a:ext>
            </a:extLst>
          </p:cNvPr>
          <p:cNvSpPr>
            <a:spLocks xmlns:a="http://schemas.openxmlformats.org/drawingml/2006/main" noGrp="1"/>
          </p:cNvSpPr>
          <p:nvPr/>
        </p:nvSpPr>
        <p:spPr>
          <a:xfrm xmlns:a="http://schemas.openxmlformats.org/drawingml/2006/main">
            <a:off x="4267200" y="2847975"/>
            <a:ext cx="3505200" cy="19050"/>
          </a:xfrm>
          <a:prstGeom xmlns:a="http://schemas.openxmlformats.org/drawingml/2006/main" prst="rect">
            <a:avLst/>
          </a:prstGeom>
          <a:solidFill xmlns:a="http://schemas.openxmlformats.org/drawingml/2006/main">
            <a:srgbClr val="F5EDFF"/>
          </a:solidFill>
          <a:ln xmlns:a="http://schemas.openxmlformats.org/drawingml/2006/main" w="0">
            <a:noFill/>
            <a:prstDash val="solid"/>
          </a:ln>
        </p:spPr>
      </p:sp>
      <p:sp>
        <p:nvSpPr>
          <p:cNvPr id="10" name="copy-61">
            <a:extLst xmlns:a="http://schemas.openxmlformats.org/drawingml/2006/main">
              <a:ext uri="{FF2B5EF4-FFF2-40B4-BE49-F238E27FC236}">
                <a16:creationId xmlns:a16="http://schemas.microsoft.com/office/drawing/2014/main" id="{C75E78EF-67C7-4B2D-B8CF-B641FBCE384E}"/>
              </a:ext>
            </a:extLst>
          </p:cNvPr>
          <p:cNvSpPr>
            <a:spLocks xmlns:a="http://schemas.openxmlformats.org/drawingml/2006/main" noGrp="1"/>
          </p:cNvSpPr>
          <p:nvPr/>
        </p:nvSpPr>
        <p:spPr>
          <a:xfrm xmlns:a="http://schemas.openxmlformats.org/drawingml/2006/main">
            <a:off x="4267200" y="3048000"/>
            <a:ext cx="350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FFFFFF"/>
                </a:solidFill>
                <a:latin typeface="Mulish"/>
                <a:ea typeface="Mulish"/>
                <a:cs typeface="Mulish"/>
              </a:defRPr>
            </a:pPr>
            <a:r>
              <a:rPr sz="1875" b="1">
                <a:solidFill>
                  <a:srgbClr val="FFFFFF"/>
                </a:solidFill>
                <a:latin typeface="Mulish"/>
                <a:ea typeface="Mulish"/>
                <a:cs typeface="Mulish"/>
              </a:rPr>
              <a:t>Collaboration &amp; approval</a:t>
            </a:r>
          </a:p>
        </p:txBody>
      </p:sp>
      <p:sp>
        <p:nvSpPr>
          <p:cNvPr id="11" name="copy-62">
            <a:extLst xmlns:a="http://schemas.openxmlformats.org/drawingml/2006/main">
              <a:ext uri="{FF2B5EF4-FFF2-40B4-BE49-F238E27FC236}">
                <a16:creationId xmlns:a16="http://schemas.microsoft.com/office/drawing/2014/main" id="{5D6A90B9-7015-4631-9AD1-579F9CFF1B93}"/>
              </a:ext>
            </a:extLst>
          </p:cNvPr>
          <p:cNvSpPr>
            <a:spLocks xmlns:a="http://schemas.openxmlformats.org/drawingml/2006/main" noGrp="1"/>
          </p:cNvSpPr>
          <p:nvPr/>
        </p:nvSpPr>
        <p:spPr>
          <a:xfrm xmlns:a="http://schemas.openxmlformats.org/drawingml/2006/main">
            <a:off x="4267200" y="3581400"/>
            <a:ext cx="35052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FFFFFF"/>
                </a:solidFill>
                <a:latin typeface="Mulish"/>
                <a:ea typeface="Mulish"/>
                <a:cs typeface="Mulish"/>
              </a:defRPr>
            </a:pPr>
            <a:r>
              <a:rPr sz="1725" b="0">
                <a:solidFill>
                  <a:srgbClr val="FFFFFF"/>
                </a:solidFill>
                <a:latin typeface="Mulish"/>
                <a:ea typeface="Mulish"/>
                <a:cs typeface="Mulish"/>
              </a:rPr>
              <a:t>Preparation, review and</a:t>
            </a:r>
          </a:p>
          <a:p xmlns:a="http://schemas.openxmlformats.org/drawingml/2006/main">
            <a:pPr algn="l">
              <a:defRPr sz="1725" b="0">
                <a:solidFill>
                  <a:srgbClr val="FFFFFF"/>
                </a:solidFill>
                <a:latin typeface="Mulish"/>
                <a:ea typeface="Mulish"/>
                <a:cs typeface="Mulish"/>
              </a:defRPr>
            </a:pPr>
            <a:r>
              <a:rPr sz="1725" b="0">
                <a:solidFill>
                  <a:srgbClr val="FFFFFF"/>
                </a:solidFill>
                <a:latin typeface="Mulish"/>
                <a:ea typeface="Mulish"/>
                <a:cs typeface="Mulish"/>
              </a:rPr>
              <a:t>authorisation workflows</a:t>
            </a:r>
          </a:p>
        </p:txBody>
      </p:sp>
      <p:sp>
        <p:nvSpPr>
          <p:cNvPr id="12" name="divider">
            <a:extLst xmlns:a="http://schemas.openxmlformats.org/drawingml/2006/main">
              <a:ext uri="{FF2B5EF4-FFF2-40B4-BE49-F238E27FC236}">
                <a16:creationId xmlns:a16="http://schemas.microsoft.com/office/drawing/2014/main" id="{F3FF7197-BF5B-4E10-B0BD-C62452DA77FC}"/>
              </a:ext>
            </a:extLst>
          </p:cNvPr>
          <p:cNvSpPr>
            <a:spLocks xmlns:a="http://schemas.openxmlformats.org/drawingml/2006/main" noGrp="1"/>
          </p:cNvSpPr>
          <p:nvPr/>
        </p:nvSpPr>
        <p:spPr>
          <a:xfrm xmlns:a="http://schemas.openxmlformats.org/drawingml/2006/main">
            <a:off x="8077200" y="2847975"/>
            <a:ext cx="3505200" cy="19050"/>
          </a:xfrm>
          <a:prstGeom xmlns:a="http://schemas.openxmlformats.org/drawingml/2006/main" prst="rect">
            <a:avLst/>
          </a:prstGeom>
          <a:solidFill xmlns:a="http://schemas.openxmlformats.org/drawingml/2006/main">
            <a:srgbClr val="F5EDFF"/>
          </a:solidFill>
          <a:ln xmlns:a="http://schemas.openxmlformats.org/drawingml/2006/main" w="0">
            <a:noFill/>
            <a:prstDash val="solid"/>
          </a:ln>
        </p:spPr>
      </p:sp>
      <p:sp>
        <p:nvSpPr>
          <p:cNvPr id="13" name="copy-63">
            <a:extLst xmlns:a="http://schemas.openxmlformats.org/drawingml/2006/main">
              <a:ext uri="{FF2B5EF4-FFF2-40B4-BE49-F238E27FC236}">
                <a16:creationId xmlns:a16="http://schemas.microsoft.com/office/drawing/2014/main" id="{93D471EE-03A0-45D3-B406-6707B1C60634}"/>
              </a:ext>
            </a:extLst>
          </p:cNvPr>
          <p:cNvSpPr>
            <a:spLocks xmlns:a="http://schemas.openxmlformats.org/drawingml/2006/main" noGrp="1"/>
          </p:cNvSpPr>
          <p:nvPr/>
        </p:nvSpPr>
        <p:spPr>
          <a:xfrm xmlns:a="http://schemas.openxmlformats.org/drawingml/2006/main">
            <a:off x="8077200" y="3048000"/>
            <a:ext cx="350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FFFFFF"/>
                </a:solidFill>
                <a:latin typeface="Mulish"/>
                <a:ea typeface="Mulish"/>
                <a:cs typeface="Mulish"/>
              </a:defRPr>
            </a:pPr>
            <a:r>
              <a:rPr sz="1875" b="1">
                <a:solidFill>
                  <a:srgbClr val="FFFFFF"/>
                </a:solidFill>
                <a:latin typeface="Mulish"/>
                <a:ea typeface="Mulish"/>
                <a:cs typeface="Mulish"/>
              </a:rPr>
              <a:t>Signatures &amp; seals</a:t>
            </a:r>
          </a:p>
        </p:txBody>
      </p:sp>
      <p:sp>
        <p:nvSpPr>
          <p:cNvPr id="14" name="copy-64">
            <a:extLst xmlns:a="http://schemas.openxmlformats.org/drawingml/2006/main">
              <a:ext uri="{FF2B5EF4-FFF2-40B4-BE49-F238E27FC236}">
                <a16:creationId xmlns:a16="http://schemas.microsoft.com/office/drawing/2014/main" id="{41DB9430-2E7B-48E7-A59F-42ED74902007}"/>
              </a:ext>
            </a:extLst>
          </p:cNvPr>
          <p:cNvSpPr>
            <a:spLocks xmlns:a="http://schemas.openxmlformats.org/drawingml/2006/main" noGrp="1"/>
          </p:cNvSpPr>
          <p:nvPr/>
        </p:nvSpPr>
        <p:spPr>
          <a:xfrm xmlns:a="http://schemas.openxmlformats.org/drawingml/2006/main">
            <a:off x="8077200" y="3581400"/>
            <a:ext cx="35052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FFFFFF"/>
                </a:solidFill>
                <a:latin typeface="Mulish"/>
                <a:ea typeface="Mulish"/>
                <a:cs typeface="Mulish"/>
              </a:defRPr>
            </a:pPr>
            <a:r>
              <a:rPr sz="1725" b="0">
                <a:solidFill>
                  <a:srgbClr val="FFFFFF"/>
                </a:solidFill>
                <a:latin typeface="Mulish"/>
                <a:ea typeface="Mulish"/>
                <a:cs typeface="Mulish"/>
              </a:rPr>
              <a:t>Personal signing and</a:t>
            </a:r>
          </a:p>
          <a:p xmlns:a="http://schemas.openxmlformats.org/drawingml/2006/main">
            <a:pPr algn="l">
              <a:defRPr sz="1725" b="0">
                <a:solidFill>
                  <a:srgbClr val="FFFFFF"/>
                </a:solidFill>
                <a:latin typeface="Mulish"/>
                <a:ea typeface="Mulish"/>
                <a:cs typeface="Mulish"/>
              </a:defRPr>
            </a:pPr>
            <a:r>
              <a:rPr sz="1725" b="0">
                <a:solidFill>
                  <a:srgbClr val="FFFFFF"/>
                </a:solidFill>
                <a:latin typeface="Mulish"/>
                <a:ea typeface="Mulish"/>
                <a:cs typeface="Mulish"/>
              </a:rPr>
              <a:t>organisational sealing</a:t>
            </a:r>
          </a:p>
        </p:txBody>
      </p:sp>
      <p:sp>
        <p:nvSpPr>
          <p:cNvPr id="15" name="divider">
            <a:extLst xmlns:a="http://schemas.openxmlformats.org/drawingml/2006/main">
              <a:ext uri="{FF2B5EF4-FFF2-40B4-BE49-F238E27FC236}">
                <a16:creationId xmlns:a16="http://schemas.microsoft.com/office/drawing/2014/main" id="{1B562C95-CD0A-4F95-90A0-348FB673D452}"/>
              </a:ext>
            </a:extLst>
          </p:cNvPr>
          <p:cNvSpPr>
            <a:spLocks xmlns:a="http://schemas.openxmlformats.org/drawingml/2006/main" noGrp="1"/>
          </p:cNvSpPr>
          <p:nvPr/>
        </p:nvSpPr>
        <p:spPr>
          <a:xfrm xmlns:a="http://schemas.openxmlformats.org/drawingml/2006/main">
            <a:off x="457200" y="4467225"/>
            <a:ext cx="3505200" cy="19050"/>
          </a:xfrm>
          <a:prstGeom xmlns:a="http://schemas.openxmlformats.org/drawingml/2006/main" prst="rect">
            <a:avLst/>
          </a:prstGeom>
          <a:solidFill xmlns:a="http://schemas.openxmlformats.org/drawingml/2006/main">
            <a:srgbClr val="F5EDFF"/>
          </a:solidFill>
          <a:ln xmlns:a="http://schemas.openxmlformats.org/drawingml/2006/main" w="0">
            <a:noFill/>
            <a:prstDash val="solid"/>
          </a:ln>
        </p:spPr>
      </p:sp>
      <p:sp>
        <p:nvSpPr>
          <p:cNvPr id="16" name="copy-65">
            <a:extLst xmlns:a="http://schemas.openxmlformats.org/drawingml/2006/main">
              <a:ext uri="{FF2B5EF4-FFF2-40B4-BE49-F238E27FC236}">
                <a16:creationId xmlns:a16="http://schemas.microsoft.com/office/drawing/2014/main" id="{708AD597-01CC-47E7-A4C0-803316FED19F}"/>
              </a:ext>
            </a:extLst>
          </p:cNvPr>
          <p:cNvSpPr>
            <a:spLocks xmlns:a="http://schemas.openxmlformats.org/drawingml/2006/main" noGrp="1"/>
          </p:cNvSpPr>
          <p:nvPr/>
        </p:nvSpPr>
        <p:spPr>
          <a:xfrm xmlns:a="http://schemas.openxmlformats.org/drawingml/2006/main">
            <a:off x="457200" y="4667250"/>
            <a:ext cx="350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FFFFFF"/>
                </a:solidFill>
                <a:latin typeface="Mulish"/>
                <a:ea typeface="Mulish"/>
                <a:cs typeface="Mulish"/>
              </a:defRPr>
            </a:pPr>
            <a:r>
              <a:rPr sz="1875" b="1">
                <a:solidFill>
                  <a:srgbClr val="FFFFFF"/>
                </a:solidFill>
                <a:latin typeface="Mulish"/>
                <a:ea typeface="Mulish"/>
                <a:cs typeface="Mulish"/>
              </a:rPr>
              <a:t>Time &amp; verification</a:t>
            </a:r>
          </a:p>
        </p:txBody>
      </p:sp>
      <p:sp>
        <p:nvSpPr>
          <p:cNvPr id="17" name="copy-66">
            <a:extLst xmlns:a="http://schemas.openxmlformats.org/drawingml/2006/main">
              <a:ext uri="{FF2B5EF4-FFF2-40B4-BE49-F238E27FC236}">
                <a16:creationId xmlns:a16="http://schemas.microsoft.com/office/drawing/2014/main" id="{11D8FAB1-85B2-4512-8B4D-8059097F50E0}"/>
              </a:ext>
            </a:extLst>
          </p:cNvPr>
          <p:cNvSpPr>
            <a:spLocks xmlns:a="http://schemas.openxmlformats.org/drawingml/2006/main" noGrp="1"/>
          </p:cNvSpPr>
          <p:nvPr/>
        </p:nvSpPr>
        <p:spPr>
          <a:xfrm xmlns:a="http://schemas.openxmlformats.org/drawingml/2006/main">
            <a:off x="457200" y="5200650"/>
            <a:ext cx="35052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FFFFFF"/>
                </a:solidFill>
                <a:latin typeface="Mulish"/>
                <a:ea typeface="Mulish"/>
                <a:cs typeface="Mulish"/>
              </a:defRPr>
            </a:pPr>
            <a:r>
              <a:rPr sz="1725" b="0">
                <a:solidFill>
                  <a:srgbClr val="FFFFFF"/>
                </a:solidFill>
                <a:latin typeface="Mulish"/>
                <a:ea typeface="Mulish"/>
                <a:cs typeface="Mulish"/>
              </a:rPr>
              <a:t>Timestamps and validation</a:t>
            </a:r>
          </a:p>
          <a:p xmlns:a="http://schemas.openxmlformats.org/drawingml/2006/main">
            <a:pPr algn="l">
              <a:defRPr sz="1725" b="0">
                <a:solidFill>
                  <a:srgbClr val="FFFFFF"/>
                </a:solidFill>
                <a:latin typeface="Mulish"/>
                <a:ea typeface="Mulish"/>
                <a:cs typeface="Mulish"/>
              </a:defRPr>
            </a:pPr>
            <a:r>
              <a:rPr sz="1725" b="0">
                <a:solidFill>
                  <a:srgbClr val="FFFFFF"/>
                </a:solidFill>
                <a:latin typeface="Mulish"/>
                <a:ea typeface="Mulish"/>
                <a:cs typeface="Mulish"/>
              </a:rPr>
              <a:t>of trusted digital outputs</a:t>
            </a:r>
          </a:p>
        </p:txBody>
      </p:sp>
      <p:sp>
        <p:nvSpPr>
          <p:cNvPr id="18" name="divider">
            <a:extLst xmlns:a="http://schemas.openxmlformats.org/drawingml/2006/main">
              <a:ext uri="{FF2B5EF4-FFF2-40B4-BE49-F238E27FC236}">
                <a16:creationId xmlns:a16="http://schemas.microsoft.com/office/drawing/2014/main" id="{96A51B3A-D858-404F-8C05-ADFB80E81FEC}"/>
              </a:ext>
            </a:extLst>
          </p:cNvPr>
          <p:cNvSpPr>
            <a:spLocks xmlns:a="http://schemas.openxmlformats.org/drawingml/2006/main" noGrp="1"/>
          </p:cNvSpPr>
          <p:nvPr/>
        </p:nvSpPr>
        <p:spPr>
          <a:xfrm xmlns:a="http://schemas.openxmlformats.org/drawingml/2006/main">
            <a:off x="4267200" y="4467225"/>
            <a:ext cx="3505200" cy="19050"/>
          </a:xfrm>
          <a:prstGeom xmlns:a="http://schemas.openxmlformats.org/drawingml/2006/main" prst="rect">
            <a:avLst/>
          </a:prstGeom>
          <a:solidFill xmlns:a="http://schemas.openxmlformats.org/drawingml/2006/main">
            <a:srgbClr val="F5EDFF"/>
          </a:solidFill>
          <a:ln xmlns:a="http://schemas.openxmlformats.org/drawingml/2006/main" w="0">
            <a:noFill/>
            <a:prstDash val="solid"/>
          </a:ln>
        </p:spPr>
      </p:sp>
      <p:sp>
        <p:nvSpPr>
          <p:cNvPr id="19" name="copy-67">
            <a:extLst xmlns:a="http://schemas.openxmlformats.org/drawingml/2006/main">
              <a:ext uri="{FF2B5EF4-FFF2-40B4-BE49-F238E27FC236}">
                <a16:creationId xmlns:a16="http://schemas.microsoft.com/office/drawing/2014/main" id="{C7F967EF-A35D-4988-874C-18C65DA11CAC}"/>
              </a:ext>
            </a:extLst>
          </p:cNvPr>
          <p:cNvSpPr>
            <a:spLocks xmlns:a="http://schemas.openxmlformats.org/drawingml/2006/main" noGrp="1"/>
          </p:cNvSpPr>
          <p:nvPr/>
        </p:nvSpPr>
        <p:spPr>
          <a:xfrm xmlns:a="http://schemas.openxmlformats.org/drawingml/2006/main">
            <a:off x="4267200" y="4667250"/>
            <a:ext cx="350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FFFFFF"/>
                </a:solidFill>
                <a:latin typeface="Mulish"/>
                <a:ea typeface="Mulish"/>
                <a:cs typeface="Mulish"/>
              </a:defRPr>
            </a:pPr>
            <a:r>
              <a:rPr sz="1875" b="1">
                <a:solidFill>
                  <a:srgbClr val="FFFFFF"/>
                </a:solidFill>
                <a:latin typeface="Mulish"/>
                <a:ea typeface="Mulish"/>
                <a:cs typeface="Mulish"/>
              </a:rPr>
              <a:t>Evidence &amp; audit</a:t>
            </a:r>
          </a:p>
        </p:txBody>
      </p:sp>
      <p:sp>
        <p:nvSpPr>
          <p:cNvPr id="20" name="copy-68">
            <a:extLst xmlns:a="http://schemas.openxmlformats.org/drawingml/2006/main">
              <a:ext uri="{FF2B5EF4-FFF2-40B4-BE49-F238E27FC236}">
                <a16:creationId xmlns:a16="http://schemas.microsoft.com/office/drawing/2014/main" id="{525593C3-2ACF-45A5-8E63-72C3C369A1BE}"/>
              </a:ext>
            </a:extLst>
          </p:cNvPr>
          <p:cNvSpPr>
            <a:spLocks xmlns:a="http://schemas.openxmlformats.org/drawingml/2006/main" noGrp="1"/>
          </p:cNvSpPr>
          <p:nvPr/>
        </p:nvSpPr>
        <p:spPr>
          <a:xfrm xmlns:a="http://schemas.openxmlformats.org/drawingml/2006/main">
            <a:off x="4267200" y="5200650"/>
            <a:ext cx="35052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FFFFFF"/>
                </a:solidFill>
                <a:latin typeface="Mulish"/>
                <a:ea typeface="Mulish"/>
                <a:cs typeface="Mulish"/>
              </a:defRPr>
            </a:pPr>
            <a:r>
              <a:rPr sz="1725" b="0">
                <a:solidFill>
                  <a:srgbClr val="FFFFFF"/>
                </a:solidFill>
                <a:latin typeface="Mulish"/>
                <a:ea typeface="Mulish"/>
                <a:cs typeface="Mulish"/>
              </a:rPr>
              <a:t>Traceable actions, decisions</a:t>
            </a:r>
          </a:p>
          <a:p xmlns:a="http://schemas.openxmlformats.org/drawingml/2006/main">
            <a:pPr algn="l">
              <a:defRPr sz="1725" b="0">
                <a:solidFill>
                  <a:srgbClr val="FFFFFF"/>
                </a:solidFill>
                <a:latin typeface="Mulish"/>
                <a:ea typeface="Mulish"/>
                <a:cs typeface="Mulish"/>
              </a:defRPr>
            </a:pPr>
            <a:r>
              <a:rPr sz="1725" b="0">
                <a:solidFill>
                  <a:srgbClr val="FFFFFF"/>
                </a:solidFill>
                <a:latin typeface="Mulish"/>
                <a:ea typeface="Mulish"/>
                <a:cs typeface="Mulish"/>
              </a:rPr>
              <a:t>and supporting evidence</a:t>
            </a:r>
          </a:p>
        </p:txBody>
      </p:sp>
      <p:sp>
        <p:nvSpPr>
          <p:cNvPr id="21" name="divider">
            <a:extLst xmlns:a="http://schemas.openxmlformats.org/drawingml/2006/main">
              <a:ext uri="{FF2B5EF4-FFF2-40B4-BE49-F238E27FC236}">
                <a16:creationId xmlns:a16="http://schemas.microsoft.com/office/drawing/2014/main" id="{70987B55-6BCB-4921-808C-7FB86951D8CA}"/>
              </a:ext>
            </a:extLst>
          </p:cNvPr>
          <p:cNvSpPr>
            <a:spLocks xmlns:a="http://schemas.openxmlformats.org/drawingml/2006/main" noGrp="1"/>
          </p:cNvSpPr>
          <p:nvPr/>
        </p:nvSpPr>
        <p:spPr>
          <a:xfrm xmlns:a="http://schemas.openxmlformats.org/drawingml/2006/main">
            <a:off x="8077200" y="4467225"/>
            <a:ext cx="3505200" cy="19050"/>
          </a:xfrm>
          <a:prstGeom xmlns:a="http://schemas.openxmlformats.org/drawingml/2006/main" prst="rect">
            <a:avLst/>
          </a:prstGeom>
          <a:solidFill xmlns:a="http://schemas.openxmlformats.org/drawingml/2006/main">
            <a:srgbClr val="F5EDFF"/>
          </a:solidFill>
          <a:ln xmlns:a="http://schemas.openxmlformats.org/drawingml/2006/main" w="0">
            <a:noFill/>
            <a:prstDash val="solid"/>
          </a:ln>
        </p:spPr>
      </p:sp>
      <p:sp>
        <p:nvSpPr>
          <p:cNvPr id="22" name="copy-69">
            <a:extLst xmlns:a="http://schemas.openxmlformats.org/drawingml/2006/main">
              <a:ext uri="{FF2B5EF4-FFF2-40B4-BE49-F238E27FC236}">
                <a16:creationId xmlns:a16="http://schemas.microsoft.com/office/drawing/2014/main" id="{EE1BDCE4-8F05-45AC-AEDD-0ED24BBDD5D7}"/>
              </a:ext>
            </a:extLst>
          </p:cNvPr>
          <p:cNvSpPr>
            <a:spLocks xmlns:a="http://schemas.openxmlformats.org/drawingml/2006/main" noGrp="1"/>
          </p:cNvSpPr>
          <p:nvPr/>
        </p:nvSpPr>
        <p:spPr>
          <a:xfrm xmlns:a="http://schemas.openxmlformats.org/drawingml/2006/main">
            <a:off x="8077200" y="4667250"/>
            <a:ext cx="350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FFFFFF"/>
                </a:solidFill>
                <a:latin typeface="Mulish"/>
                <a:ea typeface="Mulish"/>
                <a:cs typeface="Mulish"/>
              </a:defRPr>
            </a:pPr>
            <a:r>
              <a:rPr sz="1875" b="1">
                <a:solidFill>
                  <a:srgbClr val="FFFFFF"/>
                </a:solidFill>
                <a:latin typeface="Mulish"/>
                <a:ea typeface="Mulish"/>
                <a:cs typeface="Mulish"/>
              </a:rPr>
              <a:t>Records &amp; retrieval</a:t>
            </a:r>
          </a:p>
        </p:txBody>
      </p:sp>
      <p:sp>
        <p:nvSpPr>
          <p:cNvPr id="23" name="copy-70">
            <a:extLst xmlns:a="http://schemas.openxmlformats.org/drawingml/2006/main">
              <a:ext uri="{FF2B5EF4-FFF2-40B4-BE49-F238E27FC236}">
                <a16:creationId xmlns:a16="http://schemas.microsoft.com/office/drawing/2014/main" id="{67FB4347-B103-4E30-AA77-50B628D30973}"/>
              </a:ext>
            </a:extLst>
          </p:cNvPr>
          <p:cNvSpPr>
            <a:spLocks xmlns:a="http://schemas.openxmlformats.org/drawingml/2006/main" noGrp="1"/>
          </p:cNvSpPr>
          <p:nvPr/>
        </p:nvSpPr>
        <p:spPr>
          <a:xfrm xmlns:a="http://schemas.openxmlformats.org/drawingml/2006/main">
            <a:off x="8077200" y="5200650"/>
            <a:ext cx="35052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FFFFFF"/>
                </a:solidFill>
                <a:latin typeface="Mulish"/>
                <a:ea typeface="Mulish"/>
                <a:cs typeface="Mulish"/>
              </a:defRPr>
            </a:pPr>
            <a:r>
              <a:rPr sz="1725" b="0">
                <a:solidFill>
                  <a:srgbClr val="FFFFFF"/>
                </a:solidFill>
                <a:latin typeface="Mulish"/>
                <a:ea typeface="Mulish"/>
                <a:cs typeface="Mulish"/>
              </a:rPr>
              <a:t>Preservation and permissioned</a:t>
            </a:r>
          </a:p>
          <a:p xmlns:a="http://schemas.openxmlformats.org/drawingml/2006/main">
            <a:pPr algn="l">
              <a:defRPr sz="1725" b="0">
                <a:solidFill>
                  <a:srgbClr val="FFFFFF"/>
                </a:solidFill>
                <a:latin typeface="Mulish"/>
                <a:ea typeface="Mulish"/>
                <a:cs typeface="Mulish"/>
              </a:defRPr>
            </a:pPr>
            <a:r>
              <a:rPr sz="1725" b="0">
                <a:solidFill>
                  <a:srgbClr val="FFFFFF"/>
                </a:solidFill>
                <a:latin typeface="Mulish"/>
                <a:ea typeface="Mulish"/>
                <a:cs typeface="Mulish"/>
              </a:rPr>
              <a:t>access to trusted records</a:t>
            </a:r>
          </a:p>
        </p:txBody>
      </p:sp>
      <p:sp>
        <p:nvSpPr>
          <p:cNvPr id="24" name="copy-71">
            <a:extLst xmlns:a="http://schemas.openxmlformats.org/drawingml/2006/main">
              <a:ext uri="{FF2B5EF4-FFF2-40B4-BE49-F238E27FC236}">
                <a16:creationId xmlns:a16="http://schemas.microsoft.com/office/drawing/2014/main" id="{00779ABF-F910-4CD6-816E-6156EC5B241A}"/>
              </a:ext>
            </a:extLst>
          </p:cNvPr>
          <p:cNvSpPr>
            <a:spLocks xmlns:a="http://schemas.openxmlformats.org/drawingml/2006/main" noGrp="1"/>
          </p:cNvSpPr>
          <p:nvPr/>
        </p:nvSpPr>
        <p:spPr>
          <a:xfrm xmlns:a="http://schemas.openxmlformats.org/drawingml/2006/main">
            <a:off x="457200" y="6257925"/>
            <a:ext cx="1085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Shared-service aim: reusable integration, consistent controls and a continuous evidence chain</a:t>
            </a:r>
          </a:p>
        </p:txBody>
      </p:sp>
    </p:spTree>
    <p:extLst>
      <p:ext uri="{BB962C8B-B14F-4D97-AF65-F5344CB8AC3E}">
        <p14:creationId xmlns:p14="http://schemas.microsoft.com/office/powerpoint/2010/main" val="153811590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3" name=""/>
          <p:cNvCxnSpPr>
            <a:stCxn xmlns:a="http://schemas.openxmlformats.org/drawingml/2006/main" id="7" idx="3"/>
            <a:endCxn xmlns:a="http://schemas.openxmlformats.org/drawingml/2006/main" id="8" idx="1"/>
          </p:cNvCxnSpPr>
          <p:nvPr/>
        </p:nvCxnSpPr>
        <p:spPr>
          <a:xfrm xmlns:a="http://schemas.openxmlformats.org/drawingml/2006/main">
            <a:off x="7772400" y="3729038"/>
            <a:ext cx="609600" cy="0"/>
          </a:xfrm>
          <a:prstGeom xmlns:a="http://schemas.openxmlformats.org/drawingml/2006/main" prst="straightConnector1">
            <a:avLst/>
          </a:prstGeom>
          <a:ln xmlns:a="http://schemas.openxmlformats.org/drawingml/2006/main" w="19050">
            <a:solidFill>
              <a:srgbClr val="7000FF"/>
            </a:solidFill>
            <a:tailEnd type="triangle" w="sm" len="sm"/>
          </a:ln>
        </p:spPr>
      </p:cxnSp>
      <p:cxnSp>
        <p:nvCxnSpPr>
          <p:cNvPr id="24" name=""/>
          <p:cNvCxnSpPr>
            <a:stCxn xmlns:a="http://schemas.openxmlformats.org/drawingml/2006/main" id="6" idx="3"/>
            <a:endCxn xmlns:a="http://schemas.openxmlformats.org/drawingml/2006/main" id="7" idx="1"/>
          </p:cNvCxnSpPr>
          <p:nvPr/>
        </p:nvCxnSpPr>
        <p:spPr>
          <a:xfrm xmlns:a="http://schemas.openxmlformats.org/drawingml/2006/main">
            <a:off x="3810000" y="3729038"/>
            <a:ext cx="609600" cy="0"/>
          </a:xfrm>
          <a:prstGeom xmlns:a="http://schemas.openxmlformats.org/drawingml/2006/main" prst="straightConnector1">
            <a:avLst/>
          </a:prstGeom>
          <a:ln xmlns:a="http://schemas.openxmlformats.org/drawingml/2006/main" w="19050">
            <a:solidFill>
              <a:srgbClr val="7000FF"/>
            </a:solidFill>
            <a:tailEnd type="triangle" w="sm" len="sm"/>
          </a:ln>
        </p:spPr>
      </p:cxn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3b4e1e3b2e3e44a8"/>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55ABCC8E-350D-47F9-AE49-284BBFB8EB1B}"/>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05</a:t>
            </a:r>
          </a:p>
        </p:txBody>
      </p:sp>
      <p:sp>
        <p:nvSpPr>
          <p:cNvPr id="3" name="copy-72">
            <a:extLst xmlns:a="http://schemas.openxmlformats.org/drawingml/2006/main">
              <a:ext uri="{FF2B5EF4-FFF2-40B4-BE49-F238E27FC236}">
                <a16:creationId xmlns:a16="http://schemas.microsoft.com/office/drawing/2014/main" id="{759EA616-E04A-4DF9-A17C-757D6EC7D483}"/>
              </a:ext>
            </a:extLst>
          </p:cNvPr>
          <p:cNvSpPr>
            <a:spLocks xmlns:a="http://schemas.openxmlformats.org/drawingml/2006/main" noGrp="1"/>
          </p:cNvSpPr>
          <p:nvPr/>
        </p:nvSpPr>
        <p:spPr>
          <a:xfrm xmlns:a="http://schemas.openxmlformats.org/drawingml/2006/main">
            <a:off x="990600" y="295275"/>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7000FF"/>
                </a:solidFill>
                <a:latin typeface="Mulish"/>
                <a:ea typeface="Mulish"/>
                <a:cs typeface="Mulish"/>
              </a:defRPr>
            </a:pPr>
            <a:r>
              <a:rPr sz="1350" b="1">
                <a:solidFill>
                  <a:srgbClr val="7000FF"/>
                </a:solidFill>
                <a:latin typeface="Mulish"/>
                <a:ea typeface="Mulish"/>
                <a:cs typeface="Mulish"/>
              </a:rPr>
              <a:t>AVAILABLE TODAY  /  COMPANY-CONFIRMED CAPABILITY</a:t>
            </a:r>
          </a:p>
        </p:txBody>
      </p:sp>
      <p:sp>
        <p:nvSpPr>
          <p:cNvPr id="4" name="copy-73">
            <a:extLst xmlns:a="http://schemas.openxmlformats.org/drawingml/2006/main">
              <a:ext uri="{FF2B5EF4-FFF2-40B4-BE49-F238E27FC236}">
                <a16:creationId xmlns:a16="http://schemas.microsoft.com/office/drawing/2014/main" id="{0D2EBBFF-C2B5-47A2-B33C-B8091D63FC5D}"/>
              </a:ext>
            </a:extLst>
          </p:cNvPr>
          <p:cNvSpPr>
            <a:spLocks xmlns:a="http://schemas.openxmlformats.org/drawingml/2006/main" noGrp="1"/>
          </p:cNvSpPr>
          <p:nvPr/>
        </p:nvSpPr>
        <p:spPr>
          <a:xfrm xmlns:a="http://schemas.openxmlformats.org/drawingml/2006/main">
            <a:off x="457200" y="914400"/>
            <a:ext cx="112776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D0090"/>
                </a:solidFill>
                <a:latin typeface="Spartan"/>
                <a:ea typeface="Spartan"/>
                <a:cs typeface="Spartan"/>
              </a:defRPr>
            </a:pPr>
            <a:r>
              <a:rPr sz="3600" b="1">
                <a:solidFill>
                  <a:srgbClr val="1D0090"/>
                </a:solidFill>
                <a:latin typeface="Spartan"/>
                <a:ea typeface="Spartan"/>
                <a:cs typeface="Spartan"/>
              </a:rPr>
              <a:t>Agent-initiated</a:t>
            </a:r>
          </a:p>
          <a:p xmlns:a="http://schemas.openxmlformats.org/drawingml/2006/main">
            <a:pPr algn="l">
              <a:defRPr sz="3600" b="1">
                <a:solidFill>
                  <a:srgbClr val="1D0090"/>
                </a:solidFill>
                <a:latin typeface="Spartan"/>
                <a:ea typeface="Spartan"/>
                <a:cs typeface="Spartan"/>
              </a:defRPr>
            </a:pPr>
            <a:r>
              <a:rPr sz="3600" b="1">
                <a:solidFill>
                  <a:srgbClr val="1D0090"/>
                </a:solidFill>
                <a:latin typeface="Spartan"/>
                <a:ea typeface="Spartan"/>
                <a:cs typeface="Spartan"/>
              </a:rPr>
              <a:t>organisational sealing</a:t>
            </a:r>
          </a:p>
        </p:txBody>
      </p:sp>
      <p:sp>
        <p:nvSpPr>
          <p:cNvPr id="5" name="copy-74">
            <a:extLst xmlns:a="http://schemas.openxmlformats.org/drawingml/2006/main">
              <a:ext uri="{FF2B5EF4-FFF2-40B4-BE49-F238E27FC236}">
                <a16:creationId xmlns:a16="http://schemas.microsoft.com/office/drawing/2014/main" id="{B0C4FEA0-ACFF-45A3-A967-4DC301A6A48A}"/>
              </a:ext>
            </a:extLst>
          </p:cNvPr>
          <p:cNvSpPr>
            <a:spLocks xmlns:a="http://schemas.openxmlformats.org/drawingml/2006/main" noGrp="1"/>
          </p:cNvSpPr>
          <p:nvPr/>
        </p:nvSpPr>
        <p:spPr>
          <a:xfrm xmlns:a="http://schemas.openxmlformats.org/drawingml/2006/main">
            <a:off x="457200" y="2114550"/>
            <a:ext cx="11277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3D3D3D"/>
                </a:solidFill>
                <a:latin typeface="Mulish"/>
                <a:ea typeface="Mulish"/>
                <a:cs typeface="Mulish"/>
              </a:defRPr>
            </a:pPr>
            <a:r>
              <a:rPr sz="1800" b="0">
                <a:solidFill>
                  <a:srgbClr val="3D3D3D"/>
                </a:solidFill>
                <a:latin typeface="Mulish"/>
                <a:ea typeface="Mulish"/>
                <a:cs typeface="Mulish"/>
              </a:rPr>
              <a:t>An agent invokes Circularo’s API to seal a document on an employee’s behalf</a:t>
            </a:r>
          </a:p>
        </p:txBody>
      </p:sp>
      <p:sp>
        <p:nvSpPr>
          <p:cNvPr id="6" name="employee-context">
            <a:extLst xmlns:a="http://schemas.openxmlformats.org/drawingml/2006/main">
              <a:ext uri="{FF2B5EF4-FFF2-40B4-BE49-F238E27FC236}">
                <a16:creationId xmlns:a16="http://schemas.microsoft.com/office/drawing/2014/main" id="{60E38D1F-F6D6-4EBC-A869-44F3B3F05D9B}"/>
              </a:ext>
            </a:extLst>
          </p:cNvPr>
          <p:cNvSpPr>
            <a:spLocks xmlns:a="http://schemas.openxmlformats.org/drawingml/2006/main" noGrp="1"/>
          </p:cNvSpPr>
          <p:nvPr/>
        </p:nvSpPr>
        <p:spPr>
          <a:xfrm xmlns:a="http://schemas.openxmlformats.org/drawingml/2006/main">
            <a:off x="457200" y="2724150"/>
            <a:ext cx="3352800" cy="2009775"/>
          </a:xfrm>
          <a:prstGeom xmlns:a="http://schemas.openxmlformats.org/drawingml/2006/main" prst="rect">
            <a:avLst/>
          </a:prstGeom>
          <a:noFill xmlns:a="http://schemas.openxmlformats.org/drawingml/2006/main"/>
          <a:ln xmlns:a="http://schemas.openxmlformats.org/drawingml/2006/main" w="0">
            <a:noFill/>
            <a:prstDash val="solid"/>
          </a:ln>
        </p:spPr>
      </p:sp>
      <p:sp>
        <p:nvSpPr>
          <p:cNvPr id="7" name="agent-api-request">
            <a:extLst xmlns:a="http://schemas.openxmlformats.org/drawingml/2006/main">
              <a:ext uri="{FF2B5EF4-FFF2-40B4-BE49-F238E27FC236}">
                <a16:creationId xmlns:a16="http://schemas.microsoft.com/office/drawing/2014/main" id="{26F7DCAB-8C92-4B7D-AD5D-E02B9E232121}"/>
              </a:ext>
            </a:extLst>
          </p:cNvPr>
          <p:cNvSpPr>
            <a:spLocks xmlns:a="http://schemas.openxmlformats.org/drawingml/2006/main" noGrp="1"/>
          </p:cNvSpPr>
          <p:nvPr/>
        </p:nvSpPr>
        <p:spPr>
          <a:xfrm xmlns:a="http://schemas.openxmlformats.org/drawingml/2006/main">
            <a:off x="4419600" y="2724150"/>
            <a:ext cx="3352800" cy="2009775"/>
          </a:xfrm>
          <a:prstGeom xmlns:a="http://schemas.openxmlformats.org/drawingml/2006/main" prst="rect">
            <a:avLst/>
          </a:prstGeom>
          <a:noFill xmlns:a="http://schemas.openxmlformats.org/drawingml/2006/main"/>
          <a:ln xmlns:a="http://schemas.openxmlformats.org/drawingml/2006/main" w="0">
            <a:noFill/>
            <a:prstDash val="solid"/>
          </a:ln>
        </p:spPr>
      </p:sp>
      <p:sp>
        <p:nvSpPr>
          <p:cNvPr id="8" name="organisation-seal">
            <a:extLst xmlns:a="http://schemas.openxmlformats.org/drawingml/2006/main">
              <a:ext uri="{FF2B5EF4-FFF2-40B4-BE49-F238E27FC236}">
                <a16:creationId xmlns:a16="http://schemas.microsoft.com/office/drawing/2014/main" id="{C469DBAA-714A-4F37-8CB3-130F0984BD10}"/>
              </a:ext>
            </a:extLst>
          </p:cNvPr>
          <p:cNvSpPr>
            <a:spLocks xmlns:a="http://schemas.openxmlformats.org/drawingml/2006/main" noGrp="1"/>
          </p:cNvSpPr>
          <p:nvPr/>
        </p:nvSpPr>
        <p:spPr>
          <a:xfrm xmlns:a="http://schemas.openxmlformats.org/drawingml/2006/main">
            <a:off x="8382000" y="2724150"/>
            <a:ext cx="3352800" cy="2009775"/>
          </a:xfrm>
          <a:prstGeom xmlns:a="http://schemas.openxmlformats.org/drawingml/2006/main" prst="rect">
            <a:avLst/>
          </a:prstGeom>
          <a:noFill xmlns:a="http://schemas.openxmlformats.org/drawingml/2006/main"/>
          <a:ln xmlns:a="http://schemas.openxmlformats.org/drawingml/2006/main" w="0">
            <a:no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36ad694fa70e4d7d"/>
          <a:stretch xmlns:a="http://schemas.openxmlformats.org/drawingml/2006/main"/>
        </p:blipFill>
        <p:spPr>
          <a:xfrm xmlns:a="http://schemas.openxmlformats.org/drawingml/2006/main">
            <a:off x="457200" y="2733675"/>
            <a:ext cx="685800" cy="685800"/>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81564e3fad6544c9"/>
          <a:stretch xmlns:a="http://schemas.openxmlformats.org/drawingml/2006/main"/>
        </p:blipFill>
        <p:spPr>
          <a:xfrm xmlns:a="http://schemas.openxmlformats.org/drawingml/2006/main">
            <a:off x="4419600" y="2657475"/>
            <a:ext cx="838200" cy="866775"/>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16c833b2c3e8464a"/>
          <a:stretch xmlns:a="http://schemas.openxmlformats.org/drawingml/2006/main"/>
        </p:blipFill>
        <p:spPr>
          <a:xfrm xmlns:a="http://schemas.openxmlformats.org/drawingml/2006/main">
            <a:off x="8382000" y="2733675"/>
            <a:ext cx="685800" cy="685800"/>
          </a:xfrm>
          <a:prstGeom xmlns:a="http://schemas.openxmlformats.org/drawingml/2006/main" prst="rect">
            <a:avLst/>
          </a:prstGeom>
        </p:spPr>
      </p:pic>
      <p:sp>
        <p:nvSpPr>
          <p:cNvPr id="12" name="copy-75">
            <a:extLst xmlns:a="http://schemas.openxmlformats.org/drawingml/2006/main">
              <a:ext uri="{FF2B5EF4-FFF2-40B4-BE49-F238E27FC236}">
                <a16:creationId xmlns:a16="http://schemas.microsoft.com/office/drawing/2014/main" id="{8E1A9D06-E249-4268-932B-1C5558632EBA}"/>
              </a:ext>
            </a:extLst>
          </p:cNvPr>
          <p:cNvSpPr>
            <a:spLocks xmlns:a="http://schemas.openxmlformats.org/drawingml/2006/main" noGrp="1"/>
          </p:cNvSpPr>
          <p:nvPr/>
        </p:nvSpPr>
        <p:spPr>
          <a:xfrm xmlns:a="http://schemas.openxmlformats.org/drawingml/2006/main">
            <a:off x="457200" y="3705225"/>
            <a:ext cx="33528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Employee context</a:t>
            </a:r>
          </a:p>
        </p:txBody>
      </p:sp>
      <p:sp>
        <p:nvSpPr>
          <p:cNvPr id="13" name="copy-76">
            <a:extLst xmlns:a="http://schemas.openxmlformats.org/drawingml/2006/main">
              <a:ext uri="{FF2B5EF4-FFF2-40B4-BE49-F238E27FC236}">
                <a16:creationId xmlns:a16="http://schemas.microsoft.com/office/drawing/2014/main" id="{B0D9C370-B4DD-409B-AEF9-76C67AF6D053}"/>
              </a:ext>
            </a:extLst>
          </p:cNvPr>
          <p:cNvSpPr>
            <a:spLocks xmlns:a="http://schemas.openxmlformats.org/drawingml/2006/main" noGrp="1"/>
          </p:cNvSpPr>
          <p:nvPr/>
        </p:nvSpPr>
        <p:spPr>
          <a:xfrm xmlns:a="http://schemas.openxmlformats.org/drawingml/2006/main">
            <a:off x="457200" y="4276725"/>
            <a:ext cx="335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A document and the employee</a:t>
            </a:r>
          </a:p>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on whose behalf the action</a:t>
            </a:r>
          </a:p>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is performed</a:t>
            </a:r>
          </a:p>
        </p:txBody>
      </p:sp>
      <p:sp>
        <p:nvSpPr>
          <p:cNvPr id="14" name="copy-77">
            <a:extLst xmlns:a="http://schemas.openxmlformats.org/drawingml/2006/main">
              <a:ext uri="{FF2B5EF4-FFF2-40B4-BE49-F238E27FC236}">
                <a16:creationId xmlns:a16="http://schemas.microsoft.com/office/drawing/2014/main" id="{0F2F0A68-778F-435F-8BEA-33C1151A2F30}"/>
              </a:ext>
            </a:extLst>
          </p:cNvPr>
          <p:cNvSpPr>
            <a:spLocks xmlns:a="http://schemas.openxmlformats.org/drawingml/2006/main" noGrp="1"/>
          </p:cNvSpPr>
          <p:nvPr/>
        </p:nvSpPr>
        <p:spPr>
          <a:xfrm xmlns:a="http://schemas.openxmlformats.org/drawingml/2006/main">
            <a:off x="4419600" y="3705225"/>
            <a:ext cx="33528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Agent API request</a:t>
            </a:r>
          </a:p>
        </p:txBody>
      </p:sp>
      <p:sp>
        <p:nvSpPr>
          <p:cNvPr id="15" name="copy-78">
            <a:extLst xmlns:a="http://schemas.openxmlformats.org/drawingml/2006/main">
              <a:ext uri="{FF2B5EF4-FFF2-40B4-BE49-F238E27FC236}">
                <a16:creationId xmlns:a16="http://schemas.microsoft.com/office/drawing/2014/main" id="{5FF96821-0F98-452F-941E-B4DE647EF0CF}"/>
              </a:ext>
            </a:extLst>
          </p:cNvPr>
          <p:cNvSpPr>
            <a:spLocks xmlns:a="http://schemas.openxmlformats.org/drawingml/2006/main" noGrp="1"/>
          </p:cNvSpPr>
          <p:nvPr/>
        </p:nvSpPr>
        <p:spPr>
          <a:xfrm xmlns:a="http://schemas.openxmlformats.org/drawingml/2006/main">
            <a:off x="4419600" y="4276725"/>
            <a:ext cx="335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The agent requests the</a:t>
            </a:r>
          </a:p>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sealing action through the</a:t>
            </a:r>
          </a:p>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unified trust API</a:t>
            </a:r>
          </a:p>
        </p:txBody>
      </p:sp>
      <p:sp>
        <p:nvSpPr>
          <p:cNvPr id="16" name="copy-79">
            <a:extLst xmlns:a="http://schemas.openxmlformats.org/drawingml/2006/main">
              <a:ext uri="{FF2B5EF4-FFF2-40B4-BE49-F238E27FC236}">
                <a16:creationId xmlns:a16="http://schemas.microsoft.com/office/drawing/2014/main" id="{ADB2AD1D-D800-42BD-8FD0-8536E57BF914}"/>
              </a:ext>
            </a:extLst>
          </p:cNvPr>
          <p:cNvSpPr>
            <a:spLocks xmlns:a="http://schemas.openxmlformats.org/drawingml/2006/main" noGrp="1"/>
          </p:cNvSpPr>
          <p:nvPr/>
        </p:nvSpPr>
        <p:spPr>
          <a:xfrm xmlns:a="http://schemas.openxmlformats.org/drawingml/2006/main">
            <a:off x="8382000" y="3705225"/>
            <a:ext cx="33528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Organisation’s seal</a:t>
            </a:r>
          </a:p>
        </p:txBody>
      </p:sp>
      <p:sp>
        <p:nvSpPr>
          <p:cNvPr id="17" name="copy-80">
            <a:extLst xmlns:a="http://schemas.openxmlformats.org/drawingml/2006/main">
              <a:ext uri="{FF2B5EF4-FFF2-40B4-BE49-F238E27FC236}">
                <a16:creationId xmlns:a16="http://schemas.microsoft.com/office/drawing/2014/main" id="{D59CC810-8260-41D9-B086-E34F381E7E0C}"/>
              </a:ext>
            </a:extLst>
          </p:cNvPr>
          <p:cNvSpPr>
            <a:spLocks xmlns:a="http://schemas.openxmlformats.org/drawingml/2006/main" noGrp="1"/>
          </p:cNvSpPr>
          <p:nvPr/>
        </p:nvSpPr>
        <p:spPr>
          <a:xfrm xmlns:a="http://schemas.openxmlformats.org/drawingml/2006/main">
            <a:off x="8382000" y="4276725"/>
            <a:ext cx="335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Circularo applies the</a:t>
            </a:r>
          </a:p>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organisation’s digital identity</a:t>
            </a:r>
          </a:p>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to seal the document</a:t>
            </a:r>
          </a:p>
        </p:txBody>
      </p:sp>
      <p:sp>
        <p:nvSpPr>
          <p:cNvPr id="20" name="rollout-controls">
            <a:extLst xmlns:a="http://schemas.openxmlformats.org/drawingml/2006/main">
              <a:ext uri="{FF2B5EF4-FFF2-40B4-BE49-F238E27FC236}">
                <a16:creationId xmlns:a16="http://schemas.microsoft.com/office/drawing/2014/main" id="{E0CD18E2-5651-43ED-80F6-005EEB0448F4}"/>
              </a:ext>
            </a:extLst>
          </p:cNvPr>
          <p:cNvSpPr>
            <a:spLocks xmlns:a="http://schemas.openxmlformats.org/drawingml/2006/main" noGrp="1"/>
          </p:cNvSpPr>
          <p:nvPr/>
        </p:nvSpPr>
        <p:spPr>
          <a:xfrm xmlns:a="http://schemas.openxmlformats.org/drawingml/2006/main">
            <a:off x="457200" y="5610225"/>
            <a:ext cx="11277600" cy="847725"/>
          </a:xfrm>
          <a:prstGeom xmlns:a="http://schemas.openxmlformats.org/drawingml/2006/main" prst="rect">
            <a:avLst/>
          </a:prstGeom>
          <a:solidFill xmlns:a="http://schemas.openxmlformats.org/drawingml/2006/main">
            <a:srgbClr val="F5EDFF"/>
          </a:solidFill>
          <a:ln xmlns:a="http://schemas.openxmlformats.org/drawingml/2006/main" w="0">
            <a:noFill/>
            <a:prstDash val="solid"/>
          </a:ln>
        </p:spPr>
      </p:sp>
      <p:sp>
        <p:nvSpPr>
          <p:cNvPr id="21" name="copy-81">
            <a:extLst xmlns:a="http://schemas.openxmlformats.org/drawingml/2006/main">
              <a:ext uri="{FF2B5EF4-FFF2-40B4-BE49-F238E27FC236}">
                <a16:creationId xmlns:a16="http://schemas.microsoft.com/office/drawing/2014/main" id="{DF9FD3EB-6A5B-4A4D-BDE5-1A2A68F05849}"/>
              </a:ext>
            </a:extLst>
          </p:cNvPr>
          <p:cNvSpPr>
            <a:spLocks xmlns:a="http://schemas.openxmlformats.org/drawingml/2006/main" noGrp="1"/>
          </p:cNvSpPr>
          <p:nvPr/>
        </p:nvSpPr>
        <p:spPr>
          <a:xfrm xmlns:a="http://schemas.openxmlformats.org/drawingml/2006/main">
            <a:off x="609600" y="5734050"/>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7000FF"/>
                </a:solidFill>
                <a:latin typeface="Mulish"/>
                <a:ea typeface="Mulish"/>
                <a:cs typeface="Mulish"/>
              </a:defRPr>
            </a:pPr>
            <a:r>
              <a:rPr sz="1600" b="1">
                <a:solidFill>
                  <a:srgbClr val="7000FF"/>
                </a:solidFill>
                <a:latin typeface="Mulish"/>
                <a:ea typeface="Mulish"/>
                <a:cs typeface="Mulish"/>
              </a:rPr>
              <a:t>FOR SHARED GOVERNMENT ROLLOUT</a:t>
            </a:r>
          </a:p>
        </p:txBody>
      </p:sp>
      <p:sp>
        <p:nvSpPr>
          <p:cNvPr id="22" name="copy-82">
            <a:extLst xmlns:a="http://schemas.openxmlformats.org/drawingml/2006/main">
              <a:ext uri="{FF2B5EF4-FFF2-40B4-BE49-F238E27FC236}">
                <a16:creationId xmlns:a16="http://schemas.microsoft.com/office/drawing/2014/main" id="{1EE4ECD6-7B2E-4F60-BA03-A15A682B29D9}"/>
              </a:ext>
            </a:extLst>
          </p:cNvPr>
          <p:cNvSpPr>
            <a:spLocks xmlns:a="http://schemas.openxmlformats.org/drawingml/2006/main" noGrp="1"/>
          </p:cNvSpPr>
          <p:nvPr/>
        </p:nvSpPr>
        <p:spPr>
          <a:xfrm xmlns:a="http://schemas.openxmlformats.org/drawingml/2006/main">
            <a:off x="609600" y="6115050"/>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D0090"/>
                </a:solidFill>
                <a:latin typeface="Mulish"/>
                <a:ea typeface="Mulish"/>
                <a:cs typeface="Mulish"/>
              </a:defRPr>
            </a:pPr>
            <a:r>
              <a:rPr sz="1650" b="0">
                <a:solidFill>
                  <a:srgbClr val="1D0090"/>
                </a:solidFill>
                <a:latin typeface="Mulish"/>
                <a:ea typeface="Mulish"/>
                <a:cs typeface="Mulish"/>
              </a:rPr>
              <a:t>Agree delegation, approval triggers, evidence and retention requirements for each entity</a:t>
            </a:r>
          </a:p>
        </p:txBody>
      </p:sp>
    </p:spTree>
    <p:extLst>
      <p:ext uri="{BB962C8B-B14F-4D97-AF65-F5344CB8AC3E}">
        <p14:creationId xmlns:p14="http://schemas.microsoft.com/office/powerpoint/2010/main" val="43340424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p:cNvCxnSpPr>
            <a:stCxn xmlns:a="http://schemas.openxmlformats.org/drawingml/2006/main" id="7" idx="3"/>
            <a:endCxn xmlns:a="http://schemas.openxmlformats.org/drawingml/2006/main" id="8" idx="1"/>
          </p:cNvCxnSpPr>
          <p:nvPr/>
        </p:nvCxnSpPr>
        <p:spPr>
          <a:xfrm xmlns:a="http://schemas.openxmlformats.org/drawingml/2006/main">
            <a:off x="7772400" y="3962400"/>
            <a:ext cx="609600" cy="0"/>
          </a:xfrm>
          <a:prstGeom xmlns:a="http://schemas.openxmlformats.org/drawingml/2006/main" prst="straightConnector1">
            <a:avLst/>
          </a:prstGeom>
          <a:ln xmlns:a="http://schemas.openxmlformats.org/drawingml/2006/main" w="19050">
            <a:solidFill>
              <a:srgbClr val="7000FF"/>
            </a:solidFill>
            <a:tailEnd type="triangle" w="sm" len="sm"/>
          </a:ln>
        </p:spPr>
      </p:cxnSp>
      <p:cxnSp>
        <p:nvCxnSpPr>
          <p:cNvPr id="21" name=""/>
          <p:cNvCxnSpPr>
            <a:stCxn xmlns:a="http://schemas.openxmlformats.org/drawingml/2006/main" id="6" idx="3"/>
            <a:endCxn xmlns:a="http://schemas.openxmlformats.org/drawingml/2006/main" id="7" idx="1"/>
          </p:cNvCxnSpPr>
          <p:nvPr/>
        </p:nvCxnSpPr>
        <p:spPr>
          <a:xfrm xmlns:a="http://schemas.openxmlformats.org/drawingml/2006/main">
            <a:off x="3810000" y="3962400"/>
            <a:ext cx="609600" cy="0"/>
          </a:xfrm>
          <a:prstGeom xmlns:a="http://schemas.openxmlformats.org/drawingml/2006/main" prst="straightConnector1">
            <a:avLst/>
          </a:prstGeom>
          <a:ln xmlns:a="http://schemas.openxmlformats.org/drawingml/2006/main" w="19050">
            <a:solidFill>
              <a:srgbClr val="7000FF"/>
            </a:solidFill>
            <a:tailEnd type="triangle" w="sm" len="sm"/>
          </a:ln>
        </p:spPr>
      </p:cxn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42c19bd3fccb408a"/>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F85688AD-293C-48D8-8946-CE496CDCB44A}"/>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06</a:t>
            </a:r>
          </a:p>
        </p:txBody>
      </p:sp>
      <p:sp>
        <p:nvSpPr>
          <p:cNvPr id="3" name="copy-83">
            <a:extLst xmlns:a="http://schemas.openxmlformats.org/drawingml/2006/main">
              <a:ext uri="{FF2B5EF4-FFF2-40B4-BE49-F238E27FC236}">
                <a16:creationId xmlns:a16="http://schemas.microsoft.com/office/drawing/2014/main" id="{5AD0CB12-CCF8-48BE-B478-9439D38A1EA6}"/>
              </a:ext>
            </a:extLst>
          </p:cNvPr>
          <p:cNvSpPr>
            <a:spLocks xmlns:a="http://schemas.openxmlformats.org/drawingml/2006/main" noGrp="1"/>
          </p:cNvSpPr>
          <p:nvPr/>
        </p:nvSpPr>
        <p:spPr>
          <a:xfrm xmlns:a="http://schemas.openxmlformats.org/drawingml/2006/main">
            <a:off x="990600" y="295275"/>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7000FF"/>
                </a:solidFill>
                <a:latin typeface="Mulish"/>
                <a:ea typeface="Mulish"/>
                <a:cs typeface="Mulish"/>
              </a:defRPr>
            </a:pPr>
            <a:r>
              <a:rPr sz="1350" b="1">
                <a:solidFill>
                  <a:srgbClr val="7000FF"/>
                </a:solidFill>
                <a:latin typeface="Mulish"/>
                <a:ea typeface="Mulish"/>
                <a:cs typeface="Mulish"/>
              </a:rPr>
              <a:t>INSTITUTIONAL EVIDENCE AND TRUSTED AI CONTEXT</a:t>
            </a:r>
          </a:p>
        </p:txBody>
      </p:sp>
      <p:sp>
        <p:nvSpPr>
          <p:cNvPr id="4" name="copy-84">
            <a:extLst xmlns:a="http://schemas.openxmlformats.org/drawingml/2006/main">
              <a:ext uri="{FF2B5EF4-FFF2-40B4-BE49-F238E27FC236}">
                <a16:creationId xmlns:a16="http://schemas.microsoft.com/office/drawing/2014/main" id="{38B443B3-D944-4933-8B51-860D0E127781}"/>
              </a:ext>
            </a:extLst>
          </p:cNvPr>
          <p:cNvSpPr>
            <a:spLocks xmlns:a="http://schemas.openxmlformats.org/drawingml/2006/main" noGrp="1"/>
          </p:cNvSpPr>
          <p:nvPr/>
        </p:nvSpPr>
        <p:spPr>
          <a:xfrm xmlns:a="http://schemas.openxmlformats.org/drawingml/2006/main">
            <a:off x="457200" y="914400"/>
            <a:ext cx="112776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1D0090"/>
                </a:solidFill>
                <a:latin typeface="Spartan"/>
                <a:ea typeface="Spartan"/>
                <a:cs typeface="Spartan"/>
              </a:defRPr>
            </a:pPr>
            <a:r>
              <a:rPr sz="3600" b="1">
                <a:solidFill>
                  <a:srgbClr val="1D0090"/>
                </a:solidFill>
                <a:latin typeface="Spartan"/>
                <a:ea typeface="Spartan"/>
                <a:cs typeface="Spartan"/>
              </a:rPr>
              <a:t>Evidence becomes</a:t>
            </a:r>
          </a:p>
          <a:p xmlns:a="http://schemas.openxmlformats.org/drawingml/2006/main">
            <a:pPr algn="l">
              <a:defRPr sz="3600" b="1">
                <a:solidFill>
                  <a:srgbClr val="1D0090"/>
                </a:solidFill>
                <a:latin typeface="Spartan"/>
                <a:ea typeface="Spartan"/>
                <a:cs typeface="Spartan"/>
              </a:defRPr>
            </a:pPr>
            <a:r>
              <a:rPr sz="3600" b="1">
                <a:solidFill>
                  <a:srgbClr val="1D0090"/>
                </a:solidFill>
                <a:latin typeface="Spartan"/>
                <a:ea typeface="Spartan"/>
                <a:cs typeface="Spartan"/>
              </a:rPr>
              <a:t>institutional memory</a:t>
            </a:r>
          </a:p>
        </p:txBody>
      </p:sp>
      <p:sp>
        <p:nvSpPr>
          <p:cNvPr id="5" name="copy-85">
            <a:extLst xmlns:a="http://schemas.openxmlformats.org/drawingml/2006/main">
              <a:ext uri="{FF2B5EF4-FFF2-40B4-BE49-F238E27FC236}">
                <a16:creationId xmlns:a16="http://schemas.microsoft.com/office/drawing/2014/main" id="{6DFC90BF-66ED-43C3-A24C-391C92290954}"/>
              </a:ext>
            </a:extLst>
          </p:cNvPr>
          <p:cNvSpPr>
            <a:spLocks xmlns:a="http://schemas.openxmlformats.org/drawingml/2006/main" noGrp="1"/>
          </p:cNvSpPr>
          <p:nvPr/>
        </p:nvSpPr>
        <p:spPr>
          <a:xfrm xmlns:a="http://schemas.openxmlformats.org/drawingml/2006/main">
            <a:off x="457200" y="211455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Preserve provenance and permissions so AI can work with trusted context</a:t>
            </a:r>
          </a:p>
        </p:txBody>
      </p:sp>
      <p:sp>
        <p:nvSpPr>
          <p:cNvPr id="6" name="trusted-records">
            <a:extLst xmlns:a="http://schemas.openxmlformats.org/drawingml/2006/main">
              <a:ext uri="{FF2B5EF4-FFF2-40B4-BE49-F238E27FC236}">
                <a16:creationId xmlns:a16="http://schemas.microsoft.com/office/drawing/2014/main" id="{4E1CB907-3355-4723-879D-6F9631802061}"/>
              </a:ext>
            </a:extLst>
          </p:cNvPr>
          <p:cNvSpPr>
            <a:spLocks xmlns:a="http://schemas.openxmlformats.org/drawingml/2006/main" noGrp="1"/>
          </p:cNvSpPr>
          <p:nvPr/>
        </p:nvSpPr>
        <p:spPr>
          <a:xfrm xmlns:a="http://schemas.openxmlformats.org/drawingml/2006/main">
            <a:off x="457200" y="2876550"/>
            <a:ext cx="3352800" cy="2171700"/>
          </a:xfrm>
          <a:prstGeom xmlns:a="http://schemas.openxmlformats.org/drawingml/2006/main" prst="rect">
            <a:avLst/>
          </a:prstGeom>
          <a:solidFill xmlns:a="http://schemas.openxmlformats.org/drawingml/2006/main">
            <a:srgbClr val="F5EDFF"/>
          </a:solidFill>
          <a:ln xmlns:a="http://schemas.openxmlformats.org/drawingml/2006/main" w="0">
            <a:noFill/>
            <a:prstDash val="solid"/>
          </a:ln>
        </p:spPr>
      </p:sp>
      <p:sp>
        <p:nvSpPr>
          <p:cNvPr id="7" name="trusted-context">
            <a:extLst xmlns:a="http://schemas.openxmlformats.org/drawingml/2006/main">
              <a:ext uri="{FF2B5EF4-FFF2-40B4-BE49-F238E27FC236}">
                <a16:creationId xmlns:a16="http://schemas.microsoft.com/office/drawing/2014/main" id="{EC12ACBE-210E-40C4-BBDE-C1AE6849EE0F}"/>
              </a:ext>
            </a:extLst>
          </p:cNvPr>
          <p:cNvSpPr>
            <a:spLocks xmlns:a="http://schemas.openxmlformats.org/drawingml/2006/main" noGrp="1"/>
          </p:cNvSpPr>
          <p:nvPr/>
        </p:nvSpPr>
        <p:spPr>
          <a:xfrm xmlns:a="http://schemas.openxmlformats.org/drawingml/2006/main">
            <a:off x="4419600" y="2876550"/>
            <a:ext cx="3352800" cy="2171700"/>
          </a:xfrm>
          <a:prstGeom xmlns:a="http://schemas.openxmlformats.org/drawingml/2006/main" prst="rect">
            <a:avLst/>
          </a:prstGeom>
          <a:solidFill xmlns:a="http://schemas.openxmlformats.org/drawingml/2006/main">
            <a:srgbClr val="F5EDFF"/>
          </a:solidFill>
          <a:ln xmlns:a="http://schemas.openxmlformats.org/drawingml/2006/main" w="0">
            <a:noFill/>
            <a:prstDash val="solid"/>
          </a:ln>
        </p:spPr>
      </p:sp>
      <p:sp>
        <p:nvSpPr>
          <p:cNvPr id="8" name="governed-action">
            <a:extLst xmlns:a="http://schemas.openxmlformats.org/drawingml/2006/main">
              <a:ext uri="{FF2B5EF4-FFF2-40B4-BE49-F238E27FC236}">
                <a16:creationId xmlns:a16="http://schemas.microsoft.com/office/drawing/2014/main" id="{A38AD440-3EFA-4B39-8841-6AEA8F1D5CC9}"/>
              </a:ext>
            </a:extLst>
          </p:cNvPr>
          <p:cNvSpPr>
            <a:spLocks xmlns:a="http://schemas.openxmlformats.org/drawingml/2006/main" noGrp="1"/>
          </p:cNvSpPr>
          <p:nvPr/>
        </p:nvSpPr>
        <p:spPr>
          <a:xfrm xmlns:a="http://schemas.openxmlformats.org/drawingml/2006/main">
            <a:off x="8382000" y="2876550"/>
            <a:ext cx="3352800" cy="2171700"/>
          </a:xfrm>
          <a:prstGeom xmlns:a="http://schemas.openxmlformats.org/drawingml/2006/main" prst="rect">
            <a:avLst/>
          </a:prstGeom>
          <a:solidFill xmlns:a="http://schemas.openxmlformats.org/drawingml/2006/main">
            <a:srgbClr val="1D0090"/>
          </a:solidFill>
          <a:ln xmlns:a="http://schemas.openxmlformats.org/drawingml/2006/main" w="0">
            <a:noFill/>
            <a:prstDash val="solid"/>
          </a:ln>
        </p:spPr>
      </p:sp>
      <p:sp>
        <p:nvSpPr>
          <p:cNvPr id="9" name="copy-86">
            <a:extLst xmlns:a="http://schemas.openxmlformats.org/drawingml/2006/main">
              <a:ext uri="{FF2B5EF4-FFF2-40B4-BE49-F238E27FC236}">
                <a16:creationId xmlns:a16="http://schemas.microsoft.com/office/drawing/2014/main" id="{75FC31AD-74BE-48B6-B0B0-92FE59264E4F}"/>
              </a:ext>
            </a:extLst>
          </p:cNvPr>
          <p:cNvSpPr>
            <a:spLocks xmlns:a="http://schemas.openxmlformats.org/drawingml/2006/main" noGrp="1"/>
          </p:cNvSpPr>
          <p:nvPr/>
        </p:nvSpPr>
        <p:spPr>
          <a:xfrm xmlns:a="http://schemas.openxmlformats.org/drawingml/2006/main">
            <a:off x="609600" y="3057525"/>
            <a:ext cx="30480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D0090"/>
                </a:solidFill>
                <a:latin typeface="Spartan"/>
                <a:ea typeface="Spartan"/>
                <a:cs typeface="Spartan"/>
              </a:defRPr>
            </a:pPr>
            <a:r>
              <a:rPr sz="2100" b="1">
                <a:solidFill>
                  <a:srgbClr val="1D0090"/>
                </a:solidFill>
                <a:latin typeface="Spartan"/>
                <a:ea typeface="Spartan"/>
                <a:cs typeface="Spartan"/>
              </a:rPr>
              <a:t>Trusted</a:t>
            </a:r>
          </a:p>
          <a:p xmlns:a="http://schemas.openxmlformats.org/drawingml/2006/main">
            <a:pPr algn="l">
              <a:defRPr sz="2100" b="1">
                <a:solidFill>
                  <a:srgbClr val="1D0090"/>
                </a:solidFill>
                <a:latin typeface="Spartan"/>
                <a:ea typeface="Spartan"/>
                <a:cs typeface="Spartan"/>
              </a:defRPr>
            </a:pPr>
            <a:r>
              <a:rPr sz="2100" b="1">
                <a:solidFill>
                  <a:srgbClr val="1D0090"/>
                </a:solidFill>
                <a:latin typeface="Spartan"/>
                <a:ea typeface="Spartan"/>
                <a:cs typeface="Spartan"/>
              </a:rPr>
              <a:t>records</a:t>
            </a:r>
          </a:p>
        </p:txBody>
      </p:sp>
      <p:sp>
        <p:nvSpPr>
          <p:cNvPr id="10" name="copy-87">
            <a:extLst xmlns:a="http://schemas.openxmlformats.org/drawingml/2006/main">
              <a:ext uri="{FF2B5EF4-FFF2-40B4-BE49-F238E27FC236}">
                <a16:creationId xmlns:a16="http://schemas.microsoft.com/office/drawing/2014/main" id="{A784423B-AD5A-4092-90C5-904297626FEC}"/>
              </a:ext>
            </a:extLst>
          </p:cNvPr>
          <p:cNvSpPr>
            <a:spLocks xmlns:a="http://schemas.openxmlformats.org/drawingml/2006/main" noGrp="1"/>
          </p:cNvSpPr>
          <p:nvPr/>
        </p:nvSpPr>
        <p:spPr>
          <a:xfrm xmlns:a="http://schemas.openxmlformats.org/drawingml/2006/main">
            <a:off x="609600" y="4095750"/>
            <a:ext cx="304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D0090"/>
                </a:solidFill>
                <a:latin typeface="Mulish"/>
                <a:ea typeface="Mulish"/>
                <a:cs typeface="Mulish"/>
              </a:defRPr>
            </a:pPr>
            <a:r>
              <a:rPr sz="1600" b="0">
                <a:solidFill>
                  <a:srgbClr val="1D0090"/>
                </a:solidFill>
                <a:latin typeface="Mulish"/>
                <a:ea typeface="Mulish"/>
                <a:cs typeface="Mulish"/>
              </a:rPr>
              <a:t>Identity and provenance</a:t>
            </a:r>
          </a:p>
          <a:p xmlns:a="http://schemas.openxmlformats.org/drawingml/2006/main">
            <a:pPr algn="l">
              <a:defRPr sz="1600" b="0">
                <a:solidFill>
                  <a:srgbClr val="1D0090"/>
                </a:solidFill>
                <a:latin typeface="Mulish"/>
                <a:ea typeface="Mulish"/>
                <a:cs typeface="Mulish"/>
              </a:defRPr>
            </a:pPr>
            <a:r>
              <a:rPr sz="1600" b="0">
                <a:solidFill>
                  <a:srgbClr val="1D0090"/>
                </a:solidFill>
                <a:latin typeface="Mulish"/>
                <a:ea typeface="Mulish"/>
                <a:cs typeface="Mulish"/>
              </a:rPr>
              <a:t>Decisions, signatures and seals</a:t>
            </a:r>
          </a:p>
          <a:p xmlns:a="http://schemas.openxmlformats.org/drawingml/2006/main">
            <a:pPr algn="l">
              <a:defRPr sz="1600" b="0">
                <a:solidFill>
                  <a:srgbClr val="1D0090"/>
                </a:solidFill>
                <a:latin typeface="Mulish"/>
                <a:ea typeface="Mulish"/>
                <a:cs typeface="Mulish"/>
              </a:defRPr>
            </a:pPr>
            <a:r>
              <a:rPr sz="1600" b="0">
                <a:solidFill>
                  <a:srgbClr val="1D0090"/>
                </a:solidFill>
                <a:latin typeface="Mulish"/>
                <a:ea typeface="Mulish"/>
                <a:cs typeface="Mulish"/>
              </a:rPr>
              <a:t>Timestamps and evidence</a:t>
            </a:r>
          </a:p>
        </p:txBody>
      </p:sp>
      <p:sp>
        <p:nvSpPr>
          <p:cNvPr id="11" name="copy-88">
            <a:extLst xmlns:a="http://schemas.openxmlformats.org/drawingml/2006/main">
              <a:ext uri="{FF2B5EF4-FFF2-40B4-BE49-F238E27FC236}">
                <a16:creationId xmlns:a16="http://schemas.microsoft.com/office/drawing/2014/main" id="{11166B53-022B-436B-BA64-514876BEF3AA}"/>
              </a:ext>
            </a:extLst>
          </p:cNvPr>
          <p:cNvSpPr>
            <a:spLocks xmlns:a="http://schemas.openxmlformats.org/drawingml/2006/main" noGrp="1"/>
          </p:cNvSpPr>
          <p:nvPr/>
        </p:nvSpPr>
        <p:spPr>
          <a:xfrm xmlns:a="http://schemas.openxmlformats.org/drawingml/2006/main">
            <a:off x="4572000" y="3057525"/>
            <a:ext cx="30480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D0090"/>
                </a:solidFill>
                <a:latin typeface="Spartan"/>
                <a:ea typeface="Spartan"/>
                <a:cs typeface="Spartan"/>
              </a:defRPr>
            </a:pPr>
            <a:r>
              <a:rPr sz="2100" b="1">
                <a:solidFill>
                  <a:srgbClr val="1D0090"/>
                </a:solidFill>
                <a:latin typeface="Spartan"/>
                <a:ea typeface="Spartan"/>
                <a:cs typeface="Spartan"/>
              </a:rPr>
              <a:t>Trusted</a:t>
            </a:r>
          </a:p>
          <a:p xmlns:a="http://schemas.openxmlformats.org/drawingml/2006/main">
            <a:pPr algn="l">
              <a:defRPr sz="2100" b="1">
                <a:solidFill>
                  <a:srgbClr val="1D0090"/>
                </a:solidFill>
                <a:latin typeface="Spartan"/>
                <a:ea typeface="Spartan"/>
                <a:cs typeface="Spartan"/>
              </a:defRPr>
            </a:pPr>
            <a:r>
              <a:rPr sz="2100" b="1">
                <a:solidFill>
                  <a:srgbClr val="1D0090"/>
                </a:solidFill>
                <a:latin typeface="Spartan"/>
                <a:ea typeface="Spartan"/>
                <a:cs typeface="Spartan"/>
              </a:rPr>
              <a:t>AI context</a:t>
            </a:r>
          </a:p>
        </p:txBody>
      </p:sp>
      <p:sp>
        <p:nvSpPr>
          <p:cNvPr id="12" name="copy-89">
            <a:extLst xmlns:a="http://schemas.openxmlformats.org/drawingml/2006/main">
              <a:ext uri="{FF2B5EF4-FFF2-40B4-BE49-F238E27FC236}">
                <a16:creationId xmlns:a16="http://schemas.microsoft.com/office/drawing/2014/main" id="{C74F4A57-CCD6-47D8-BB1B-C88732985FFE}"/>
              </a:ext>
            </a:extLst>
          </p:cNvPr>
          <p:cNvSpPr>
            <a:spLocks xmlns:a="http://schemas.openxmlformats.org/drawingml/2006/main" noGrp="1"/>
          </p:cNvSpPr>
          <p:nvPr/>
        </p:nvSpPr>
        <p:spPr>
          <a:xfrm xmlns:a="http://schemas.openxmlformats.org/drawingml/2006/main">
            <a:off x="4572000" y="4095750"/>
            <a:ext cx="304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1D0090"/>
                </a:solidFill>
                <a:latin typeface="Mulish"/>
                <a:ea typeface="Mulish"/>
                <a:cs typeface="Mulish"/>
              </a:defRPr>
            </a:pPr>
            <a:r>
              <a:rPr sz="1600" b="0">
                <a:solidFill>
                  <a:srgbClr val="1D0090"/>
                </a:solidFill>
                <a:latin typeface="Mulish"/>
                <a:ea typeface="Mulish"/>
                <a:cs typeface="Mulish"/>
              </a:rPr>
              <a:t>Attributable information</a:t>
            </a:r>
          </a:p>
          <a:p xmlns:a="http://schemas.openxmlformats.org/drawingml/2006/main">
            <a:pPr algn="l">
              <a:defRPr sz="1600" b="0">
                <a:solidFill>
                  <a:srgbClr val="1D0090"/>
                </a:solidFill>
                <a:latin typeface="Mulish"/>
                <a:ea typeface="Mulish"/>
                <a:cs typeface="Mulish"/>
              </a:defRPr>
            </a:pPr>
            <a:r>
              <a:rPr sz="1600" b="0">
                <a:solidFill>
                  <a:srgbClr val="1D0090"/>
                </a:solidFill>
                <a:latin typeface="Mulish"/>
                <a:ea typeface="Mulish"/>
                <a:cs typeface="Mulish"/>
              </a:rPr>
              <a:t>Permission-controlled access</a:t>
            </a:r>
          </a:p>
          <a:p xmlns:a="http://schemas.openxmlformats.org/drawingml/2006/main">
            <a:pPr algn="l">
              <a:defRPr sz="1600" b="0">
                <a:solidFill>
                  <a:srgbClr val="1D0090"/>
                </a:solidFill>
                <a:latin typeface="Mulish"/>
                <a:ea typeface="Mulish"/>
                <a:cs typeface="Mulish"/>
              </a:defRPr>
            </a:pPr>
            <a:r>
              <a:rPr sz="1600" b="0">
                <a:solidFill>
                  <a:srgbClr val="1D0090"/>
                </a:solidFill>
                <a:latin typeface="Mulish"/>
                <a:ea typeface="Mulish"/>
                <a:cs typeface="Mulish"/>
              </a:rPr>
              <a:t>Historical decision context</a:t>
            </a:r>
          </a:p>
        </p:txBody>
      </p:sp>
      <p:sp>
        <p:nvSpPr>
          <p:cNvPr id="13" name="copy-90">
            <a:extLst xmlns:a="http://schemas.openxmlformats.org/drawingml/2006/main">
              <a:ext uri="{FF2B5EF4-FFF2-40B4-BE49-F238E27FC236}">
                <a16:creationId xmlns:a16="http://schemas.microsoft.com/office/drawing/2014/main" id="{830123DA-8C87-4D55-BF46-510DD5A3C4AA}"/>
              </a:ext>
            </a:extLst>
          </p:cNvPr>
          <p:cNvSpPr>
            <a:spLocks xmlns:a="http://schemas.openxmlformats.org/drawingml/2006/main" noGrp="1"/>
          </p:cNvSpPr>
          <p:nvPr/>
        </p:nvSpPr>
        <p:spPr>
          <a:xfrm xmlns:a="http://schemas.openxmlformats.org/drawingml/2006/main">
            <a:off x="8534400" y="3057525"/>
            <a:ext cx="30480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FFFFFF"/>
                </a:solidFill>
                <a:latin typeface="Spartan"/>
                <a:ea typeface="Spartan"/>
                <a:cs typeface="Spartan"/>
              </a:defRPr>
            </a:pPr>
            <a:r>
              <a:rPr sz="2100" b="1">
                <a:solidFill>
                  <a:srgbClr val="FFFFFF"/>
                </a:solidFill>
                <a:latin typeface="Spartan"/>
                <a:ea typeface="Spartan"/>
                <a:cs typeface="Spartan"/>
              </a:rPr>
              <a:t>Governed</a:t>
            </a:r>
          </a:p>
          <a:p xmlns:a="http://schemas.openxmlformats.org/drawingml/2006/main">
            <a:pPr algn="l">
              <a:defRPr sz="2100" b="1">
                <a:solidFill>
                  <a:srgbClr val="FFFFFF"/>
                </a:solidFill>
                <a:latin typeface="Spartan"/>
                <a:ea typeface="Spartan"/>
                <a:cs typeface="Spartan"/>
              </a:defRPr>
            </a:pPr>
            <a:r>
              <a:rPr sz="2100" b="1">
                <a:solidFill>
                  <a:srgbClr val="FFFFFF"/>
                </a:solidFill>
                <a:latin typeface="Spartan"/>
                <a:ea typeface="Spartan"/>
                <a:cs typeface="Spartan"/>
              </a:rPr>
              <a:t>action</a:t>
            </a:r>
          </a:p>
        </p:txBody>
      </p:sp>
      <p:sp>
        <p:nvSpPr>
          <p:cNvPr id="14" name="copy-91">
            <a:extLst xmlns:a="http://schemas.openxmlformats.org/drawingml/2006/main">
              <a:ext uri="{FF2B5EF4-FFF2-40B4-BE49-F238E27FC236}">
                <a16:creationId xmlns:a16="http://schemas.microsoft.com/office/drawing/2014/main" id="{3D1F0335-8343-4F0A-8045-DC39568A49FA}"/>
              </a:ext>
            </a:extLst>
          </p:cNvPr>
          <p:cNvSpPr>
            <a:spLocks xmlns:a="http://schemas.openxmlformats.org/drawingml/2006/main" noGrp="1"/>
          </p:cNvSpPr>
          <p:nvPr/>
        </p:nvSpPr>
        <p:spPr>
          <a:xfrm xmlns:a="http://schemas.openxmlformats.org/drawingml/2006/main">
            <a:off x="8534400" y="4095750"/>
            <a:ext cx="304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FFFFFF"/>
                </a:solidFill>
                <a:latin typeface="Mulish"/>
                <a:ea typeface="Mulish"/>
                <a:cs typeface="Mulish"/>
              </a:defRPr>
            </a:pPr>
            <a:r>
              <a:rPr sz="1600" b="0">
                <a:solidFill>
                  <a:srgbClr val="FFFFFF"/>
                </a:solidFill>
                <a:latin typeface="Mulish"/>
                <a:ea typeface="Mulish"/>
                <a:cs typeface="Mulish"/>
              </a:rPr>
              <a:t>Retrieve and understand</a:t>
            </a:r>
          </a:p>
          <a:p xmlns:a="http://schemas.openxmlformats.org/drawingml/2006/main">
            <a:pPr algn="l">
              <a:defRPr sz="1600" b="0">
                <a:solidFill>
                  <a:srgbClr val="FFFFFF"/>
                </a:solidFill>
                <a:latin typeface="Mulish"/>
                <a:ea typeface="Mulish"/>
                <a:cs typeface="Mulish"/>
              </a:defRPr>
            </a:pPr>
            <a:r>
              <a:rPr sz="1600" b="0">
                <a:solidFill>
                  <a:srgbClr val="FFFFFF"/>
                </a:solidFill>
                <a:latin typeface="Mulish"/>
                <a:ea typeface="Mulish"/>
                <a:cs typeface="Mulish"/>
              </a:rPr>
              <a:t>Advise with context</a:t>
            </a:r>
          </a:p>
          <a:p xmlns:a="http://schemas.openxmlformats.org/drawingml/2006/main">
            <a:pPr algn="l">
              <a:defRPr sz="1600" b="0">
                <a:solidFill>
                  <a:srgbClr val="FFFFFF"/>
                </a:solidFill>
                <a:latin typeface="Mulish"/>
                <a:ea typeface="Mulish"/>
                <a:cs typeface="Mulish"/>
              </a:defRPr>
            </a:pPr>
            <a:r>
              <a:rPr sz="1600" b="0">
                <a:solidFill>
                  <a:srgbClr val="FFFFFF"/>
                </a:solidFill>
                <a:latin typeface="Mulish"/>
                <a:ea typeface="Mulish"/>
                <a:cs typeface="Mulish"/>
              </a:rPr>
              <a:t>Invoke permitted actions</a:t>
            </a:r>
          </a:p>
        </p:txBody>
      </p:sp>
      <p:sp>
        <p:nvSpPr>
          <p:cNvPr id="17" name="copy-92">
            <a:extLst xmlns:a="http://schemas.openxmlformats.org/drawingml/2006/main">
              <a:ext uri="{FF2B5EF4-FFF2-40B4-BE49-F238E27FC236}">
                <a16:creationId xmlns:a16="http://schemas.microsoft.com/office/drawing/2014/main" id="{6534A368-4F81-4973-9006-D21D538520A4}"/>
              </a:ext>
            </a:extLst>
          </p:cNvPr>
          <p:cNvSpPr>
            <a:spLocks xmlns:a="http://schemas.openxmlformats.org/drawingml/2006/main" noGrp="1"/>
          </p:cNvSpPr>
          <p:nvPr/>
        </p:nvSpPr>
        <p:spPr>
          <a:xfrm xmlns:a="http://schemas.openxmlformats.org/drawingml/2006/main">
            <a:off x="457200" y="5514975"/>
            <a:ext cx="11277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7000FF"/>
                </a:solidFill>
                <a:latin typeface="Mulish"/>
                <a:ea typeface="Mulish"/>
                <a:cs typeface="Mulish"/>
              </a:defRPr>
            </a:pPr>
            <a:r>
              <a:rPr sz="1875" b="1">
                <a:solidFill>
                  <a:srgbClr val="7000FF"/>
                </a:solidFill>
                <a:latin typeface="Mulish"/>
                <a:ea typeface="Mulish"/>
                <a:cs typeface="Mulish"/>
              </a:rPr>
              <a:t>Each governed action can add new evidence to the institutional record</a:t>
            </a:r>
          </a:p>
        </p:txBody>
      </p:sp>
      <p:sp>
        <p:nvSpPr>
          <p:cNvPr id="18" name="divider">
            <a:extLst xmlns:a="http://schemas.openxmlformats.org/drawingml/2006/main">
              <a:ext uri="{FF2B5EF4-FFF2-40B4-BE49-F238E27FC236}">
                <a16:creationId xmlns:a16="http://schemas.microsoft.com/office/drawing/2014/main" id="{E0DE1320-D722-4746-8EE8-A63D68D5D9D5}"/>
              </a:ext>
            </a:extLst>
          </p:cNvPr>
          <p:cNvSpPr>
            <a:spLocks xmlns:a="http://schemas.openxmlformats.org/drawingml/2006/main" noGrp="1"/>
          </p:cNvSpPr>
          <p:nvPr/>
        </p:nvSpPr>
        <p:spPr>
          <a:xfrm xmlns:a="http://schemas.openxmlformats.org/drawingml/2006/main">
            <a:off x="457200" y="6029325"/>
            <a:ext cx="11277600" cy="9525"/>
          </a:xfrm>
          <a:prstGeom xmlns:a="http://schemas.openxmlformats.org/drawingml/2006/main" prst="rect">
            <a:avLst/>
          </a:prstGeom>
          <a:solidFill xmlns:a="http://schemas.openxmlformats.org/drawingml/2006/main">
            <a:srgbClr val="E4E7EC"/>
          </a:solidFill>
          <a:ln xmlns:a="http://schemas.openxmlformats.org/drawingml/2006/main" w="0">
            <a:noFill/>
            <a:prstDash val="solid"/>
          </a:ln>
        </p:spPr>
      </p:sp>
      <p:sp>
        <p:nvSpPr>
          <p:cNvPr id="19" name="copy-93">
            <a:extLst xmlns:a="http://schemas.openxmlformats.org/drawingml/2006/main">
              <a:ext uri="{FF2B5EF4-FFF2-40B4-BE49-F238E27FC236}">
                <a16:creationId xmlns:a16="http://schemas.microsoft.com/office/drawing/2014/main" id="{A585220A-C637-4AF4-B50E-4DE4F19164B0}"/>
              </a:ext>
            </a:extLst>
          </p:cNvPr>
          <p:cNvSpPr>
            <a:spLocks xmlns:a="http://schemas.openxmlformats.org/drawingml/2006/main" noGrp="1"/>
          </p:cNvSpPr>
          <p:nvPr/>
        </p:nvSpPr>
        <p:spPr>
          <a:xfrm xmlns:a="http://schemas.openxmlformats.org/drawingml/2006/main">
            <a:off x="457200" y="6238875"/>
            <a:ext cx="108299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Trusted context informs AI. Policy and authority continue to govern execution.</a:t>
            </a:r>
          </a:p>
        </p:txBody>
      </p:sp>
    </p:spTree>
    <p:extLst>
      <p:ext uri="{BB962C8B-B14F-4D97-AF65-F5344CB8AC3E}">
        <p14:creationId xmlns:p14="http://schemas.microsoft.com/office/powerpoint/2010/main" val="1869193049"/>
      </p:ext>
    </p:extLst>
  </p:cSld>
</p:sld>
</file>

<file path=ppt/slides/slide7.xml><?xml version="1.0" encoding="utf-8"?>
<p:sld xmlns:p="http://schemas.openxmlformats.org/presentationml/2006/main">
  <p:cSld>
    <p:bg>
      <p:bgPr>
        <a:solidFill xmlns:a="http://schemas.openxmlformats.org/drawingml/2006/main">
          <a:srgbClr val="1D0090"/>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7d3cd1550294c21"/>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AA4DE5F7-D100-4DF4-AD50-CB2E3E382C5D}"/>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Mulish"/>
                <a:ea typeface="Mulish"/>
                <a:cs typeface="Mulish"/>
              </a:defRPr>
            </a:pPr>
            <a:r>
              <a:rPr sz="1050" b="1">
                <a:solidFill>
                  <a:srgbClr val="FFFFFF"/>
                </a:solidFill>
                <a:latin typeface="Mulish"/>
                <a:ea typeface="Mulish"/>
                <a:cs typeface="Mulish"/>
              </a:rPr>
              <a:t>07</a:t>
            </a:r>
          </a:p>
        </p:txBody>
      </p:sp>
      <p:sp>
        <p:nvSpPr>
          <p:cNvPr id="3" name="copy-94">
            <a:extLst xmlns:a="http://schemas.openxmlformats.org/drawingml/2006/main">
              <a:ext uri="{FF2B5EF4-FFF2-40B4-BE49-F238E27FC236}">
                <a16:creationId xmlns:a16="http://schemas.microsoft.com/office/drawing/2014/main" id="{3DE9E473-07A3-4702-8A93-CA9AD253D8F6}"/>
              </a:ext>
            </a:extLst>
          </p:cNvPr>
          <p:cNvSpPr>
            <a:spLocks xmlns:a="http://schemas.openxmlformats.org/drawingml/2006/main" noGrp="1"/>
          </p:cNvSpPr>
          <p:nvPr/>
        </p:nvSpPr>
        <p:spPr>
          <a:xfrm xmlns:a="http://schemas.openxmlformats.org/drawingml/2006/main">
            <a:off x="990600" y="295275"/>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F5EDFF"/>
                </a:solidFill>
                <a:latin typeface="Mulish"/>
                <a:ea typeface="Mulish"/>
                <a:cs typeface="Mulish"/>
              </a:defRPr>
            </a:pPr>
            <a:r>
              <a:rPr sz="1350" b="1">
                <a:solidFill>
                  <a:srgbClr val="F5EDFF"/>
                </a:solidFill>
                <a:latin typeface="Mulish"/>
                <a:ea typeface="Mulish"/>
                <a:cs typeface="Mulish"/>
              </a:rPr>
              <a:t>PROPOSED SHARED GOVERNMENT SERVICE EXPANSION</a:t>
            </a:r>
          </a:p>
        </p:txBody>
      </p:sp>
      <p:sp>
        <p:nvSpPr>
          <p:cNvPr id="4" name="copy-95">
            <a:extLst xmlns:a="http://schemas.openxmlformats.org/drawingml/2006/main">
              <a:ext uri="{FF2B5EF4-FFF2-40B4-BE49-F238E27FC236}">
                <a16:creationId xmlns:a16="http://schemas.microsoft.com/office/drawing/2014/main" id="{7C48F6DC-6A1B-4D7C-A2C1-605D10F2DB7E}"/>
              </a:ext>
            </a:extLst>
          </p:cNvPr>
          <p:cNvSpPr>
            <a:spLocks xmlns:a="http://schemas.openxmlformats.org/drawingml/2006/main" noGrp="1"/>
          </p:cNvSpPr>
          <p:nvPr/>
        </p:nvSpPr>
        <p:spPr>
          <a:xfrm xmlns:a="http://schemas.openxmlformats.org/drawingml/2006/main">
            <a:off x="457200" y="914400"/>
            <a:ext cx="11277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1">
                <a:solidFill>
                  <a:srgbClr val="FFFFFF"/>
                </a:solidFill>
                <a:latin typeface="Spartan"/>
                <a:ea typeface="Spartan"/>
                <a:cs typeface="Spartan"/>
              </a:defRPr>
            </a:pPr>
            <a:r>
              <a:rPr sz="3600" b="1">
                <a:solidFill>
                  <a:srgbClr val="FFFFFF"/>
                </a:solidFill>
                <a:latin typeface="Spartan"/>
                <a:ea typeface="Spartan"/>
                <a:cs typeface="Spartan"/>
              </a:rPr>
              <a:t>Expand toward a shared</a:t>
            </a:r>
          </a:p>
          <a:p xmlns:a="http://schemas.openxmlformats.org/drawingml/2006/main">
            <a:pPr algn="l">
              <a:defRPr sz="3600" b="1">
                <a:solidFill>
                  <a:srgbClr val="FFFFFF"/>
                </a:solidFill>
                <a:latin typeface="Spartan"/>
                <a:ea typeface="Spartan"/>
                <a:cs typeface="Spartan"/>
              </a:defRPr>
            </a:pPr>
            <a:r>
              <a:rPr sz="3600" b="1">
                <a:solidFill>
                  <a:srgbClr val="FFFFFF"/>
                </a:solidFill>
                <a:latin typeface="Spartan"/>
                <a:ea typeface="Spartan"/>
                <a:cs typeface="Spartan"/>
              </a:rPr>
              <a:t>government trust service</a:t>
            </a:r>
          </a:p>
        </p:txBody>
      </p:sp>
      <p:sp>
        <p:nvSpPr>
          <p:cNvPr id="5" name="copy-96">
            <a:extLst xmlns:a="http://schemas.openxmlformats.org/drawingml/2006/main">
              <a:ext uri="{FF2B5EF4-FFF2-40B4-BE49-F238E27FC236}">
                <a16:creationId xmlns:a16="http://schemas.microsoft.com/office/drawing/2014/main" id="{AD90BE46-955F-4309-A9E8-B27BAE4FA109}"/>
              </a:ext>
            </a:extLst>
          </p:cNvPr>
          <p:cNvSpPr>
            <a:spLocks xmlns:a="http://schemas.openxmlformats.org/drawingml/2006/main" noGrp="1"/>
          </p:cNvSpPr>
          <p:nvPr/>
        </p:nvSpPr>
        <p:spPr>
          <a:xfrm xmlns:a="http://schemas.openxmlformats.org/drawingml/2006/main">
            <a:off x="457200" y="2133600"/>
            <a:ext cx="11277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Build on Digital Dubai Digital Sign, TDRA GovSign and UAE PASS</a:t>
            </a:r>
          </a:p>
        </p:txBody>
      </p:sp>
      <p:sp>
        <p:nvSpPr>
          <p:cNvPr id="6" name="copy-97">
            <a:extLst xmlns:a="http://schemas.openxmlformats.org/drawingml/2006/main">
              <a:ext uri="{FF2B5EF4-FFF2-40B4-BE49-F238E27FC236}">
                <a16:creationId xmlns:a16="http://schemas.microsoft.com/office/drawing/2014/main" id="{06FF89B9-9036-4FA8-A99B-E1B5249EAEDC}"/>
              </a:ext>
            </a:extLst>
          </p:cNvPr>
          <p:cNvSpPr>
            <a:spLocks xmlns:a="http://schemas.openxmlformats.org/drawingml/2006/main" noGrp="1"/>
          </p:cNvSpPr>
          <p:nvPr/>
        </p:nvSpPr>
        <p:spPr>
          <a:xfrm xmlns:a="http://schemas.openxmlformats.org/drawingml/2006/main">
            <a:off x="457200" y="2943225"/>
            <a:ext cx="35052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F5EDFF"/>
                </a:solidFill>
                <a:latin typeface="Mulish"/>
                <a:ea typeface="Mulish"/>
                <a:cs typeface="Mulish"/>
              </a:defRPr>
            </a:pPr>
            <a:r>
              <a:rPr sz="1800" b="1">
                <a:solidFill>
                  <a:srgbClr val="F5EDFF"/>
                </a:solidFill>
                <a:latin typeface="Mulish"/>
                <a:ea typeface="Mulish"/>
                <a:cs typeface="Mulish"/>
              </a:rPr>
              <a:t>01</a:t>
            </a:r>
          </a:p>
        </p:txBody>
      </p:sp>
      <p:sp>
        <p:nvSpPr>
          <p:cNvPr id="7" name="copy-98">
            <a:extLst xmlns:a="http://schemas.openxmlformats.org/drawingml/2006/main">
              <a:ext uri="{FF2B5EF4-FFF2-40B4-BE49-F238E27FC236}">
                <a16:creationId xmlns:a16="http://schemas.microsoft.com/office/drawing/2014/main" id="{C4F11D03-7855-4715-810D-8099140D01B9}"/>
              </a:ext>
            </a:extLst>
          </p:cNvPr>
          <p:cNvSpPr>
            <a:spLocks xmlns:a="http://schemas.openxmlformats.org/drawingml/2006/main" noGrp="1"/>
          </p:cNvSpPr>
          <p:nvPr/>
        </p:nvSpPr>
        <p:spPr>
          <a:xfrm xmlns:a="http://schemas.openxmlformats.org/drawingml/2006/main">
            <a:off x="457200" y="3457575"/>
            <a:ext cx="3505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FFFFFF"/>
                </a:solidFill>
                <a:latin typeface="Spartan"/>
                <a:ea typeface="Spartan"/>
                <a:cs typeface="Spartan"/>
              </a:defRPr>
            </a:pPr>
            <a:r>
              <a:rPr sz="2100" b="1">
                <a:solidFill>
                  <a:srgbClr val="FFFFFF"/>
                </a:solidFill>
                <a:latin typeface="Spartan"/>
                <a:ea typeface="Spartan"/>
                <a:cs typeface="Spartan"/>
              </a:rPr>
              <a:t>Agree the</a:t>
            </a:r>
          </a:p>
          <a:p xmlns:a="http://schemas.openxmlformats.org/drawingml/2006/main">
            <a:pPr algn="l">
              <a:defRPr sz="2100" b="1">
                <a:solidFill>
                  <a:srgbClr val="FFFFFF"/>
                </a:solidFill>
                <a:latin typeface="Spartan"/>
                <a:ea typeface="Spartan"/>
                <a:cs typeface="Spartan"/>
              </a:defRPr>
            </a:pPr>
            <a:r>
              <a:rPr sz="2100" b="1">
                <a:solidFill>
                  <a:srgbClr val="FFFFFF"/>
                </a:solidFill>
                <a:latin typeface="Spartan"/>
                <a:ea typeface="Spartan"/>
                <a:cs typeface="Spartan"/>
              </a:rPr>
              <a:t>service model</a:t>
            </a:r>
          </a:p>
        </p:txBody>
      </p:sp>
      <p:sp>
        <p:nvSpPr>
          <p:cNvPr id="8" name="copy-99">
            <a:extLst xmlns:a="http://schemas.openxmlformats.org/drawingml/2006/main">
              <a:ext uri="{FF2B5EF4-FFF2-40B4-BE49-F238E27FC236}">
                <a16:creationId xmlns:a16="http://schemas.microsoft.com/office/drawing/2014/main" id="{9ABDF8A0-E7BA-4169-B896-548E81C4D02D}"/>
              </a:ext>
            </a:extLst>
          </p:cNvPr>
          <p:cNvSpPr>
            <a:spLocks xmlns:a="http://schemas.openxmlformats.org/drawingml/2006/main" noGrp="1"/>
          </p:cNvSpPr>
          <p:nvPr/>
        </p:nvSpPr>
        <p:spPr>
          <a:xfrm xmlns:a="http://schemas.openxmlformats.org/drawingml/2006/main">
            <a:off x="457200" y="4457700"/>
            <a:ext cx="350520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Service ownership and scope</a:t>
            </a:r>
          </a:p>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Entity authority and boundaries</a:t>
            </a:r>
          </a:p>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Common controls and evidence</a:t>
            </a:r>
          </a:p>
        </p:txBody>
      </p:sp>
      <p:sp>
        <p:nvSpPr>
          <p:cNvPr id="9" name="copy-100">
            <a:extLst xmlns:a="http://schemas.openxmlformats.org/drawingml/2006/main">
              <a:ext uri="{FF2B5EF4-FFF2-40B4-BE49-F238E27FC236}">
                <a16:creationId xmlns:a16="http://schemas.microsoft.com/office/drawing/2014/main" id="{0EA2B69F-09FD-4A3C-9D11-372C582AE27F}"/>
              </a:ext>
            </a:extLst>
          </p:cNvPr>
          <p:cNvSpPr>
            <a:spLocks xmlns:a="http://schemas.openxmlformats.org/drawingml/2006/main" noGrp="1"/>
          </p:cNvSpPr>
          <p:nvPr/>
        </p:nvSpPr>
        <p:spPr>
          <a:xfrm xmlns:a="http://schemas.openxmlformats.org/drawingml/2006/main">
            <a:off x="4267200" y="2943225"/>
            <a:ext cx="35052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F5EDFF"/>
                </a:solidFill>
                <a:latin typeface="Mulish"/>
                <a:ea typeface="Mulish"/>
                <a:cs typeface="Mulish"/>
              </a:defRPr>
            </a:pPr>
            <a:r>
              <a:rPr sz="1800" b="1">
                <a:solidFill>
                  <a:srgbClr val="F5EDFF"/>
                </a:solidFill>
                <a:latin typeface="Mulish"/>
                <a:ea typeface="Mulish"/>
                <a:cs typeface="Mulish"/>
              </a:rPr>
              <a:t>02</a:t>
            </a:r>
          </a:p>
        </p:txBody>
      </p:sp>
      <p:sp>
        <p:nvSpPr>
          <p:cNvPr id="10" name="copy-101">
            <a:extLst xmlns:a="http://schemas.openxmlformats.org/drawingml/2006/main">
              <a:ext uri="{FF2B5EF4-FFF2-40B4-BE49-F238E27FC236}">
                <a16:creationId xmlns:a16="http://schemas.microsoft.com/office/drawing/2014/main" id="{7453C658-E57D-4247-BE68-DB5B390AF4CF}"/>
              </a:ext>
            </a:extLst>
          </p:cNvPr>
          <p:cNvSpPr>
            <a:spLocks xmlns:a="http://schemas.openxmlformats.org/drawingml/2006/main" noGrp="1"/>
          </p:cNvSpPr>
          <p:nvPr/>
        </p:nvSpPr>
        <p:spPr>
          <a:xfrm xmlns:a="http://schemas.openxmlformats.org/drawingml/2006/main">
            <a:off x="4267200" y="3457575"/>
            <a:ext cx="3505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FFFFFF"/>
                </a:solidFill>
                <a:latin typeface="Spartan"/>
                <a:ea typeface="Spartan"/>
                <a:cs typeface="Spartan"/>
              </a:defRPr>
            </a:pPr>
            <a:r>
              <a:rPr sz="2100" b="1">
                <a:solidFill>
                  <a:srgbClr val="FFFFFF"/>
                </a:solidFill>
                <a:latin typeface="Spartan"/>
                <a:ea typeface="Spartan"/>
                <a:cs typeface="Spartan"/>
              </a:rPr>
              <a:t>Validate a</a:t>
            </a:r>
          </a:p>
          <a:p xmlns:a="http://schemas.openxmlformats.org/drawingml/2006/main">
            <a:pPr algn="l">
              <a:defRPr sz="2100" b="1">
                <a:solidFill>
                  <a:srgbClr val="FFFFFF"/>
                </a:solidFill>
                <a:latin typeface="Spartan"/>
                <a:ea typeface="Spartan"/>
                <a:cs typeface="Spartan"/>
              </a:defRPr>
            </a:pPr>
            <a:r>
              <a:rPr sz="2100" b="1">
                <a:solidFill>
                  <a:srgbClr val="FFFFFF"/>
                </a:solidFill>
                <a:latin typeface="Spartan"/>
                <a:ea typeface="Spartan"/>
                <a:cs typeface="Spartan"/>
              </a:rPr>
              <a:t>shared journey</a:t>
            </a:r>
          </a:p>
        </p:txBody>
      </p:sp>
      <p:sp>
        <p:nvSpPr>
          <p:cNvPr id="11" name="copy-102">
            <a:extLst xmlns:a="http://schemas.openxmlformats.org/drawingml/2006/main">
              <a:ext uri="{FF2B5EF4-FFF2-40B4-BE49-F238E27FC236}">
                <a16:creationId xmlns:a16="http://schemas.microsoft.com/office/drawing/2014/main" id="{68533926-A5B4-4BA4-A428-B667A68B040D}"/>
              </a:ext>
            </a:extLst>
          </p:cNvPr>
          <p:cNvSpPr>
            <a:spLocks xmlns:a="http://schemas.openxmlformats.org/drawingml/2006/main" noGrp="1"/>
          </p:cNvSpPr>
          <p:nvPr/>
        </p:nvSpPr>
        <p:spPr>
          <a:xfrm xmlns:a="http://schemas.openxmlformats.org/drawingml/2006/main">
            <a:off x="4267200" y="4457700"/>
            <a:ext cx="350520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Agent-initiated sealing</a:t>
            </a:r>
          </a:p>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Cross-entity operating process</a:t>
            </a:r>
          </a:p>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Onboarding and support</a:t>
            </a:r>
          </a:p>
        </p:txBody>
      </p:sp>
      <p:sp>
        <p:nvSpPr>
          <p:cNvPr id="12" name="copy-103">
            <a:extLst xmlns:a="http://schemas.openxmlformats.org/drawingml/2006/main">
              <a:ext uri="{FF2B5EF4-FFF2-40B4-BE49-F238E27FC236}">
                <a16:creationId xmlns:a16="http://schemas.microsoft.com/office/drawing/2014/main" id="{C0C4A2FD-F946-4024-B275-AD43EE5E3A3E}"/>
              </a:ext>
            </a:extLst>
          </p:cNvPr>
          <p:cNvSpPr>
            <a:spLocks xmlns:a="http://schemas.openxmlformats.org/drawingml/2006/main" noGrp="1"/>
          </p:cNvSpPr>
          <p:nvPr/>
        </p:nvSpPr>
        <p:spPr>
          <a:xfrm xmlns:a="http://schemas.openxmlformats.org/drawingml/2006/main">
            <a:off x="8077200" y="2943225"/>
            <a:ext cx="35052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F5EDFF"/>
                </a:solidFill>
                <a:latin typeface="Mulish"/>
                <a:ea typeface="Mulish"/>
                <a:cs typeface="Mulish"/>
              </a:defRPr>
            </a:pPr>
            <a:r>
              <a:rPr sz="1800" b="1">
                <a:solidFill>
                  <a:srgbClr val="F5EDFF"/>
                </a:solidFill>
                <a:latin typeface="Mulish"/>
                <a:ea typeface="Mulish"/>
                <a:cs typeface="Mulish"/>
              </a:rPr>
              <a:t>03</a:t>
            </a:r>
          </a:p>
        </p:txBody>
      </p:sp>
      <p:sp>
        <p:nvSpPr>
          <p:cNvPr id="13" name="copy-104">
            <a:extLst xmlns:a="http://schemas.openxmlformats.org/drawingml/2006/main">
              <a:ext uri="{FF2B5EF4-FFF2-40B4-BE49-F238E27FC236}">
                <a16:creationId xmlns:a16="http://schemas.microsoft.com/office/drawing/2014/main" id="{8E91349E-7FD6-420B-A5A1-AF881095B19C}"/>
              </a:ext>
            </a:extLst>
          </p:cNvPr>
          <p:cNvSpPr>
            <a:spLocks xmlns:a="http://schemas.openxmlformats.org/drawingml/2006/main" noGrp="1"/>
          </p:cNvSpPr>
          <p:nvPr/>
        </p:nvSpPr>
        <p:spPr>
          <a:xfrm xmlns:a="http://schemas.openxmlformats.org/drawingml/2006/main">
            <a:off x="8077200" y="3457575"/>
            <a:ext cx="3505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FFFFFF"/>
                </a:solidFill>
                <a:latin typeface="Spartan"/>
                <a:ea typeface="Spartan"/>
                <a:cs typeface="Spartan"/>
              </a:defRPr>
            </a:pPr>
            <a:r>
              <a:rPr sz="2100" b="1">
                <a:solidFill>
                  <a:srgbClr val="FFFFFF"/>
                </a:solidFill>
                <a:latin typeface="Spartan"/>
                <a:ea typeface="Spartan"/>
                <a:cs typeface="Spartan"/>
              </a:rPr>
              <a:t>Expand the</a:t>
            </a:r>
          </a:p>
          <a:p xmlns:a="http://schemas.openxmlformats.org/drawingml/2006/main">
            <a:pPr algn="l">
              <a:defRPr sz="2100" b="1">
                <a:solidFill>
                  <a:srgbClr val="FFFFFF"/>
                </a:solidFill>
                <a:latin typeface="Spartan"/>
                <a:ea typeface="Spartan"/>
                <a:cs typeface="Spartan"/>
              </a:defRPr>
            </a:pPr>
            <a:r>
              <a:rPr sz="2100" b="1">
                <a:solidFill>
                  <a:srgbClr val="FFFFFF"/>
                </a:solidFill>
                <a:latin typeface="Spartan"/>
                <a:ea typeface="Spartan"/>
                <a:cs typeface="Spartan"/>
              </a:rPr>
              <a:t>service catalogue</a:t>
            </a:r>
          </a:p>
        </p:txBody>
      </p:sp>
      <p:sp>
        <p:nvSpPr>
          <p:cNvPr id="14" name="copy-105">
            <a:extLst xmlns:a="http://schemas.openxmlformats.org/drawingml/2006/main">
              <a:ext uri="{FF2B5EF4-FFF2-40B4-BE49-F238E27FC236}">
                <a16:creationId xmlns:a16="http://schemas.microsoft.com/office/drawing/2014/main" id="{DEB9BC99-1B42-4EE3-838A-B5650849F8CC}"/>
              </a:ext>
            </a:extLst>
          </p:cNvPr>
          <p:cNvSpPr>
            <a:spLocks xmlns:a="http://schemas.openxmlformats.org/drawingml/2006/main" noGrp="1"/>
          </p:cNvSpPr>
          <p:nvPr/>
        </p:nvSpPr>
        <p:spPr>
          <a:xfrm xmlns:a="http://schemas.openxmlformats.org/drawingml/2006/main">
            <a:off x="8077200" y="4457700"/>
            <a:ext cx="350520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Additional trust services</a:t>
            </a:r>
          </a:p>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Government channels</a:t>
            </a:r>
          </a:p>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Connected agent platforms</a:t>
            </a:r>
          </a:p>
        </p:txBody>
      </p:sp>
      <p:sp>
        <p:nvSpPr>
          <p:cNvPr id="15" name="proposed-next-step">
            <a:extLst xmlns:a="http://schemas.openxmlformats.org/drawingml/2006/main">
              <a:ext uri="{FF2B5EF4-FFF2-40B4-BE49-F238E27FC236}">
                <a16:creationId xmlns:a16="http://schemas.microsoft.com/office/drawing/2014/main" id="{07AB8F38-7243-46B4-9E9D-60DA49C48120}"/>
              </a:ext>
            </a:extLst>
          </p:cNvPr>
          <p:cNvSpPr>
            <a:spLocks xmlns:a="http://schemas.openxmlformats.org/drawingml/2006/main" noGrp="1"/>
          </p:cNvSpPr>
          <p:nvPr/>
        </p:nvSpPr>
        <p:spPr>
          <a:xfrm xmlns:a="http://schemas.openxmlformats.org/drawingml/2006/main">
            <a:off x="457200" y="5657850"/>
            <a:ext cx="11277600" cy="781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copy-106">
            <a:extLst xmlns:a="http://schemas.openxmlformats.org/drawingml/2006/main">
              <a:ext uri="{FF2B5EF4-FFF2-40B4-BE49-F238E27FC236}">
                <a16:creationId xmlns:a16="http://schemas.microsoft.com/office/drawing/2014/main" id="{C1654BDF-A404-4268-9B84-8223622FCA65}"/>
              </a:ext>
            </a:extLst>
          </p:cNvPr>
          <p:cNvSpPr>
            <a:spLocks xmlns:a="http://schemas.openxmlformats.org/drawingml/2006/main" noGrp="1"/>
          </p:cNvSpPr>
          <p:nvPr/>
        </p:nvSpPr>
        <p:spPr>
          <a:xfrm xmlns:a="http://schemas.openxmlformats.org/drawingml/2006/main">
            <a:off x="609600" y="576262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1">
                <a:solidFill>
                  <a:srgbClr val="7000FF"/>
                </a:solidFill>
                <a:latin typeface="Mulish"/>
                <a:ea typeface="Mulish"/>
                <a:cs typeface="Mulish"/>
              </a:defRPr>
            </a:pPr>
            <a:r>
              <a:rPr sz="1600" b="1">
                <a:solidFill>
                  <a:srgbClr val="7000FF"/>
                </a:solidFill>
                <a:latin typeface="Mulish"/>
                <a:ea typeface="Mulish"/>
                <a:cs typeface="Mulish"/>
              </a:rPr>
              <a:t>PROPOSED NEXT STEP</a:t>
            </a:r>
          </a:p>
        </p:txBody>
      </p:sp>
      <p:sp>
        <p:nvSpPr>
          <p:cNvPr id="17" name="copy-107">
            <a:extLst xmlns:a="http://schemas.openxmlformats.org/drawingml/2006/main">
              <a:ext uri="{FF2B5EF4-FFF2-40B4-BE49-F238E27FC236}">
                <a16:creationId xmlns:a16="http://schemas.microsoft.com/office/drawing/2014/main" id="{DC704E06-B24A-4F09-B271-A7A6EF91EA43}"/>
              </a:ext>
            </a:extLst>
          </p:cNvPr>
          <p:cNvSpPr>
            <a:spLocks xmlns:a="http://schemas.openxmlformats.org/drawingml/2006/main" noGrp="1"/>
          </p:cNvSpPr>
          <p:nvPr/>
        </p:nvSpPr>
        <p:spPr>
          <a:xfrm xmlns:a="http://schemas.openxmlformats.org/drawingml/2006/main">
            <a:off x="609600" y="6115050"/>
            <a:ext cx="10972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D0090"/>
                </a:solidFill>
                <a:latin typeface="Mulish"/>
                <a:ea typeface="Mulish"/>
                <a:cs typeface="Mulish"/>
              </a:defRPr>
            </a:pPr>
            <a:r>
              <a:rPr sz="1725" b="1">
                <a:solidFill>
                  <a:srgbClr val="1D0090"/>
                </a:solidFill>
                <a:latin typeface="Mulish"/>
                <a:ea typeface="Mulish"/>
                <a:cs typeface="Mulish"/>
              </a:rPr>
              <a:t>Align DDA and TDRA on the shared service scope and select one cross-entity journey</a:t>
            </a:r>
          </a:p>
        </p:txBody>
      </p:sp>
    </p:spTree>
    <p:extLst>
      <p:ext uri="{BB962C8B-B14F-4D97-AF65-F5344CB8AC3E}">
        <p14:creationId xmlns:p14="http://schemas.microsoft.com/office/powerpoint/2010/main" val="17459343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2026-09-30T11:07:36.4570000Z</dcterms:created>
  <dcterms:modified xsi:type="dcterms:W3CDTF">2026-09-30T11:07:36.4570000Z</dcterms:modified>
</coreProperties>
</file>