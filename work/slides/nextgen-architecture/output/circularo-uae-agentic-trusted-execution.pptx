
<file path=[Content_Types].xml><?xml version="1.0" encoding="utf-8"?>
<Types xmlns="http://schemas.openxmlformats.org/package/2006/content-types">
  <Default Extension="xml" ContentType="application/xml"/>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viewProps.xml" ContentType="application/vnd.openxmlformats-officedocument.presentationml.viewProps+xml"/>
  <Override PartName="/ppt/slides/slide1.xml" ContentType="application/vnd.openxmlformats-officedocument.presentationml.slide+xml"/>
  <Override PartName="/ppt/slideLayouts/slideLayout5.xml" ContentType="application/vnd.openxmlformats-officedocument.presentationml.slideLayout+xml"/>
  <Override PartName="/ppt/slides/slide3.xml" ContentType="application/vnd.openxmlformats-officedocument.presentationml.slide+xml"/>
  <Override PartName="/ppt/slideLayouts/slideLayout6.xml" ContentType="application/vnd.openxmlformats-officedocument.presentationml.slideLayout+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slideMasters/slideMaster1.xml" ContentType="application/vnd.openxmlformats-officedocument.presentationml.slideMaster+xml"/>
  <Override PartName="/ppt/theme/theme2.xml" ContentType="application/vnd.openxmlformats-officedocument.theme+xml"/>
  <Override PartName="/ppt/slideLayouts/slideLayout1.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ppt/slides/slide6.xml" ContentType="application/vnd.openxmlformats-officedocument.presentationml.slide+xml"/>
  <Override PartName="/ppt/notesSlides/notesSlide2.xml" ContentType="application/vnd.openxmlformats-officedocument.presentationml.notesSlide+xml"/>
  <Override PartName="/ppt/tableStyles.xml" ContentType="application/vnd.openxmlformats-officedocument.presentationml.tableStyl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0"/>
          <a:sy n="0" d="0"/>
        </p:scale>
        <p:origin x="0"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44271518" name="Header Placeholder"/>
          <p:cNvSpPr/>
          <p:nvPr>
            <p:ph type="hdr" sz="quarter"/>
          </p:nvPr>
        </p:nvSpPr>
        <p:spPr bwMode="auto">
          <a:prstGeom prst="rect">
            <a:avLst/>
          </a:prstGeom>
        </p:spPr>
        <p:txBody>
          <a:bodyPr/>
          <a:lstStyle/>
          <a:p>
            <a:pPr>
              <a:defRPr/>
            </a:pPr>
            <a:endParaRPr/>
          </a:p>
        </p:txBody>
      </p:sp>
      <p:sp>
        <p:nvSpPr>
          <p:cNvPr id="1997965084" name="Date Placeholder"/>
          <p:cNvSpPr/>
          <p:nvPr>
            <p:ph type="dt" sz="quarter" idx="1"/>
          </p:nvPr>
        </p:nvSpPr>
        <p:spPr bwMode="auto">
          <a:prstGeom prst="rect">
            <a:avLst/>
          </a:prstGeom>
        </p:spPr>
        <p:txBody>
          <a:bodyPr/>
          <a:lstStyle/>
          <a:p>
            <a:pPr>
              <a:defRPr/>
            </a:pPr>
            <a:endParaRPr/>
          </a:p>
        </p:txBody>
      </p:sp>
      <p:sp>
        <p:nvSpPr>
          <p:cNvPr id="1418389052" name="Slide Image Placeholder"/>
          <p:cNvSpPr/>
          <p:nvPr>
            <p:ph type="sldImg" idx="2"/>
          </p:nvPr>
        </p:nvSpPr>
        <p:spPr bwMode="auto">
          <a:prstGeom prst="rect">
            <a:avLst/>
          </a:prstGeom>
        </p:spPr>
        <p:txBody>
          <a:bodyPr/>
          <a:lstStyle/>
          <a:p>
            <a:pPr>
              <a:defRPr/>
            </a:pPr>
            <a:endParaRPr/>
          </a:p>
        </p:txBody>
      </p:sp>
      <p:sp>
        <p:nvSpPr>
          <p:cNvPr id="611385973" name="Notes Placeholder"/>
          <p:cNvSpPr/>
          <p:nvPr>
            <p:ph type="body" sz="quarter" idx="3"/>
          </p:nvPr>
        </p:nvSpPr>
        <p:spPr bwMode="auto">
          <a:prstGeom prst="rect">
            <a:avLst/>
          </a:prstGeom>
        </p:spPr>
        <p:txBody>
          <a:bodyPr/>
          <a:lstStyle/>
          <a:p>
            <a:pPr>
              <a:defRPr/>
            </a:pPr>
            <a:endParaRPr/>
          </a:p>
        </p:txBody>
      </p:sp>
      <p:sp>
        <p:nvSpPr>
          <p:cNvPr id="412737519" name="Footer Placeholder"/>
          <p:cNvSpPr/>
          <p:nvPr>
            <p:ph type="ftr" sz="quarter" idx="4"/>
          </p:nvPr>
        </p:nvSpPr>
        <p:spPr bwMode="auto">
          <a:prstGeom prst="rect">
            <a:avLst/>
          </a:prstGeom>
        </p:spPr>
        <p:txBody>
          <a:bodyPr/>
          <a:lstStyle/>
          <a:p>
            <a:pPr>
              <a:defRPr/>
            </a:pPr>
            <a:endParaRPr/>
          </a:p>
        </p:txBody>
      </p:sp>
      <p:sp>
        <p:nvSpPr>
          <p:cNvPr id="1915794687"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3940257" name="Slide Image Placeholder 1"/>
          <p:cNvSpPr>
            <a:spLocks noGrp="1"/>
          </p:cNvSpPr>
          <p:nvPr>
            <p:ph type="sldImg" idx="0"/>
          </p:nvPr>
        </p:nvSpPr>
        <p:spPr bwMode="auto"/>
      </p:sp>
      <p:sp>
        <p:nvSpPr>
          <p:cNvPr id="1486322942" name="Notes Placeholder 2"/>
          <p:cNvSpPr>
            <a:spLocks noGrp="1"/>
          </p:cNvSpPr>
          <p:nvPr>
            <p:ph type="body" idx="1"/>
          </p:nvPr>
        </p:nvSpPr>
        <p:spPr bwMode="auto"/>
        <p:txBody>
          <a:bodyPr/>
          <a:lstStyle/>
          <a:p>
            <a:pPr>
              <a:defRPr/>
            </a:pPr>
            <a:r>
              <a:rPr/>
              <a:t>[Sources]</a:t>
            </a:r>
            <a:endParaRPr/>
          </a:p>
          <a:p>
            <a:pPr>
              <a:defRPr/>
            </a:pPr>
            <a:r>
              <a:rPr/>
              <a:t>- This is a reference architecture for the proposed shared-government-service expansion. Its control categories describe the common institutional framework to agree across entities; they do not assert that every specific control mechanism is already deployed.</a:t>
            </a:r>
            <a:endParaRPr/>
          </a:p>
          <a:p>
            <a:pPr>
              <a:defRPr/>
            </a:pPr>
            <a:r>
              <a:rPr/>
              <a:t>- The unified trust API and agent execution are company-confirmed available capabilities. The six connected capability families come from the supplied narrative: Cloud, Identity, Collaboration, Sign &amp; Seal, DMS / Trusted Vault and AI.</a:t>
            </a:r>
            <a:endParaRPr/>
          </a:p>
          <a:p>
            <a:pPr>
              <a:defRPr/>
            </a:pPr>
            <a:r>
              <a:rPr/>
              <a:t>- Existing government foundations should be reused. UAE PASS supplies national identity and digital signing capabilities. Digital Dubai publicly describes Digital Sign as powered by Circularo and integrated with UAE PASS. GovSign is an existing TDRA document approval and signing service.</a:t>
            </a:r>
            <a:endParaRPr/>
          </a:p>
          <a:p>
            <a:pPr>
              <a:defRPr/>
            </a:pPr>
            <a:r>
              <a:rPr/>
              <a:t>- The public Digital Dubai service name is Digital Sign; the user also refers to it as DigiSign. No deployment counts or current government agent rollout are asserted.</a:t>
            </a:r>
            <a:endParaRPr/>
          </a:p>
          <a:p>
            <a:pPr>
              <a:defRPr/>
            </a:pPr>
            <a:r>
              <a:rPr/>
              <a:t>- Internal presentation brief: /Users/josefneumann/Projects/ai-workspace/sales-system/work/ideas/Trusted Execution for the Agentic Era.md. Working narrative supplied by the user; not a governed, approved product specification.</a:t>
            </a:r>
            <a:endParaRPr/>
          </a:p>
          <a:p>
            <a:pPr>
              <a:defRPr/>
            </a:pPr>
            <a:r>
              <a:rP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endParaRPr/>
          </a:p>
          <a:p>
            <a:pPr>
              <a:defRPr/>
            </a:pPr>
            <a:r>
              <a:rPr/>
              <a:t>- Digital Dubai Partners Portal: Digital Sign — https://partnersportal.digitaldubai.ae/Services/Details/cbe90258-5c5e-40b7-9103-9e5af992369d</a:t>
            </a:r>
            <a:endParaRPr/>
          </a:p>
          <a:p>
            <a:pPr>
              <a:defRPr/>
            </a:pPr>
            <a:r>
              <a:rPr/>
              <a:t>- TDRA Unveils GovSign Initiative at GITEX 2023 — https://tdra.gov.ae/en/media/press-release/2023/tdra-unveils-govsign-initiative-at-gitex-2023</a:t>
            </a:r>
            <a:endParaRPr/>
          </a:p>
          <a:p>
            <a:pPr>
              <a:defRPr/>
            </a:pPr>
            <a:r>
              <a:rPr/>
              <a:t>- TDRA: UAE Pass — https://tdra.gov.ae/en/About/initiatives/mgov/uae-pass</a:t>
            </a:r>
            <a:endParaRPr/>
          </a:p>
        </p:txBody>
      </p:sp>
      <p:sp>
        <p:nvSpPr>
          <p:cNvPr id="151883972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5291211" name="Slide Image Placeholder 1"/>
          <p:cNvSpPr>
            <a:spLocks noGrp="1"/>
          </p:cNvSpPr>
          <p:nvPr>
            <p:ph type="sldImg" idx="0"/>
          </p:nvPr>
        </p:nvSpPr>
        <p:spPr bwMode="auto"/>
      </p:sp>
      <p:sp>
        <p:nvSpPr>
          <p:cNvPr id="194758955" name="Notes Placeholder 2"/>
          <p:cNvSpPr>
            <a:spLocks noGrp="1"/>
          </p:cNvSpPr>
          <p:nvPr>
            <p:ph type="body" idx="1"/>
          </p:nvPr>
        </p:nvSpPr>
        <p:spPr bwMode="auto"/>
        <p:txBody>
          <a:bodyPr/>
          <a:lstStyle/>
          <a:p>
            <a:pPr>
              <a:defRPr/>
            </a:pPr>
            <a:r>
              <a:rPr/>
              <a:t>[Sources]</a:t>
            </a:r>
            <a:endParaRPr/>
          </a:p>
          <a:p>
            <a:pPr>
              <a:defRPr/>
            </a:pPr>
            <a:r>
              <a:rPr/>
              <a:t>- The staircase is a conceptual evolution, not a quantitative maturity score, rollout schedule or claim that every government entity has deployed each stage.</a:t>
            </a:r>
            <a:endParaRPr/>
          </a:p>
          <a:p>
            <a:pPr>
              <a:defRPr/>
            </a:pPr>
            <a:r>
              <a:rPr/>
              <a:t>- The final stage uses the specific company-confirmed API capability: organizational digital sealing on behalf of an employee. The proposed expansion concerns shared government adoption and consistent institutional controls.</a:t>
            </a:r>
            <a:endParaRPr/>
          </a:p>
          <a:p>
            <a:pPr>
              <a:defRPr/>
            </a:pPr>
            <a:r>
              <a:rPr/>
              <a:t>- Context: Digital Dubai has publicly described integrated government service delivery and Agentic AI projects. Its AI Integration Matrix emphasizes coordinated and interoperable AI adoption. These sources support strategic alignment, not endorsement of this proposal.</a:t>
            </a:r>
            <a:endParaRPr/>
          </a:p>
          <a:p>
            <a:pPr>
              <a:defRPr/>
            </a:pPr>
            <a:r>
              <a:rPr/>
              <a:t>- Internal presentation brief: /Users/josefneumann/Projects/ai-workspace/sales-system/work/ideas/Trusted Execution for the Agentic Era.md. Working narrative supplied by the user; not a governed, approved product specification.</a:t>
            </a:r>
            <a:endParaRPr/>
          </a:p>
          <a:p>
            <a:pPr>
              <a:defRPr/>
            </a:pPr>
            <a:r>
              <a:rP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endParaRPr/>
          </a:p>
          <a:p>
            <a:pPr>
              <a:defRPr/>
            </a:pPr>
            <a:r>
              <a:rPr/>
              <a:t>- Digital Dubai unified government platform and Agentic AI projects, 1 April 2026 — https://www.digitaldubai.ae/newsroom/news/hamdan-bin-mohammed-directs-dubai-government-entities-to-integrate-all-individual-and-business-services-into-a-unified-digital-platform-within-one-year</a:t>
            </a:r>
            <a:endParaRPr/>
          </a:p>
          <a:p>
            <a:pPr>
              <a:defRPr/>
            </a:pPr>
            <a:r>
              <a:rPr/>
              <a:t>- Digital Dubai AI Integration Matrix Framework, 28 April 2026 — https://www.digitaldubai.ae/newsroom/digital-dubai-launches-ai-integration-matrix-framework-to-accelerate-ai-adoption-across-government</a:t>
            </a:r>
            <a:endParaRPr/>
          </a:p>
        </p:txBody>
      </p:sp>
      <p:sp>
        <p:nvSpPr>
          <p:cNvPr id="17325443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1857763" name="Slide Image Placeholder 1"/>
          <p:cNvSpPr>
            <a:spLocks noGrp="1"/>
          </p:cNvSpPr>
          <p:nvPr>
            <p:ph type="sldImg" idx="0"/>
          </p:nvPr>
        </p:nvSpPr>
        <p:spPr bwMode="auto"/>
      </p:sp>
      <p:sp>
        <p:nvSpPr>
          <p:cNvPr id="151932416" name="Notes Placeholder 2"/>
          <p:cNvSpPr>
            <a:spLocks noGrp="1"/>
          </p:cNvSpPr>
          <p:nvPr>
            <p:ph type="body" idx="1"/>
          </p:nvPr>
        </p:nvSpPr>
        <p:spPr bwMode="auto"/>
        <p:txBody>
          <a:bodyPr/>
          <a:lstStyle/>
          <a:p>
            <a:pPr>
              <a:defRPr/>
            </a:pPr>
            <a:r>
              <a:rPr/>
              <a:t>[Sources]</a:t>
            </a:r>
            <a:endParaRPr/>
          </a:p>
          <a:p>
            <a:pPr>
              <a:defRPr/>
            </a:pPr>
            <a:r>
              <a:rPr/>
              <a:t>- These are proposed shared-service design requirements, taken from the supplied narrative on actor, authority, policy, approval, execution, evidence and audit. They are not claims about individual control implementations or current government deployment.</a:t>
            </a:r>
            <a:endParaRPr/>
          </a:p>
          <a:p>
            <a:pPr>
              <a:defRPr/>
            </a:pPr>
            <a:r>
              <a:rPr/>
              <a:t>- The institutional boundary concerns what an agent may do and what executes. An agent may prepare an action without being authorized to approve it. The required authorization and human oversight depend on the action and the entity’s policy.</a:t>
            </a:r>
            <a:endParaRPr/>
          </a:p>
          <a:p>
            <a:pPr>
              <a:defRPr/>
            </a:pPr>
            <a:r>
              <a:rPr/>
              <a:t>- The actual delegated-authority checks, approval triggers, identity bindings, evidence format and exception process should be agreed for the shared government service.</a:t>
            </a:r>
            <a:endParaRPr/>
          </a:p>
          <a:p>
            <a:pPr>
              <a:defRPr/>
            </a:pPr>
            <a:r>
              <a:rPr/>
              <a:t>- Internal presentation brief: /Users/josefneumann/Projects/ai-workspace/sales-system/work/ideas/Trusted Execution for the Agentic Era.md. Working narrative supplied by the user; not a governed, approved product specification.</a:t>
            </a:r>
            <a:endParaRPr/>
          </a:p>
          <a:p>
            <a:pPr>
              <a:defRPr/>
            </a:pPr>
            <a:r>
              <a:rP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endParaRPr/>
          </a:p>
        </p:txBody>
      </p:sp>
      <p:sp>
        <p:nvSpPr>
          <p:cNvPr id="208162275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057259" name="Slide Image Placeholder 1"/>
          <p:cNvSpPr>
            <a:spLocks noGrp="1"/>
          </p:cNvSpPr>
          <p:nvPr>
            <p:ph type="sldImg" idx="0"/>
          </p:nvPr>
        </p:nvSpPr>
        <p:spPr bwMode="auto"/>
      </p:sp>
      <p:sp>
        <p:nvSpPr>
          <p:cNvPr id="912332069" name="Notes Placeholder 2"/>
          <p:cNvSpPr>
            <a:spLocks noGrp="1"/>
          </p:cNvSpPr>
          <p:nvPr>
            <p:ph type="body" idx="1"/>
          </p:nvPr>
        </p:nvSpPr>
        <p:spPr bwMode="auto"/>
        <p:txBody>
          <a:bodyPr/>
          <a:lstStyle/>
          <a:p>
            <a:pPr>
              <a:defRPr/>
            </a:pPr>
            <a:r>
              <a:rPr/>
              <a:t>[Sources]</a:t>
            </a:r>
            <a:endParaRPr/>
          </a:p>
          <a:p>
            <a:pPr>
              <a:defRPr/>
            </a:pPr>
            <a:r>
              <a:rPr/>
              <a:t>- The unified trust API is company-confirmed available. This is the executive service catalogue proposed for shared government expansion, distilled from the supplied narrative. It is not an endpoint inventory or a promise of every listed control being enabled in an existing deployment.</a:t>
            </a:r>
            <a:endParaRPr/>
          </a:p>
          <a:p>
            <a:pPr>
              <a:defRPr/>
            </a:pPr>
            <a:r>
              <a:rPr/>
              <a:t>- The service families connect core trust functions end to end. Specific identity assurance, delegated-authority enforcement, policy, approvals, trust service configuration and retention rules remain part of the agreed government service scope.</a:t>
            </a:r>
            <a:endParaRPr/>
          </a:p>
          <a:p>
            <a:pPr>
              <a:defRPr/>
            </a:pPr>
            <a:r>
              <a:rPr/>
              <a:t>- This proposal builds on existing national identity and signing infrastructure and existing government systems. A shared interface should reduce duplicate integration effort while each entity retains its appropriate decision authority. This is the intended operating benefit, not a measured result.</a:t>
            </a:r>
            <a:endParaRPr/>
          </a:p>
          <a:p>
            <a:pPr>
              <a:defRPr/>
            </a:pPr>
            <a:r>
              <a:rPr/>
              <a:t>- Internal presentation brief: /Users/josefneumann/Projects/ai-workspace/sales-system/work/ideas/Trusted Execution for the Agentic Era.md. Working narrative supplied by the user; not a governed, approved product specification.</a:t>
            </a:r>
            <a:endParaRPr/>
          </a:p>
          <a:p>
            <a:pPr>
              <a:defRPr/>
            </a:pPr>
            <a:r>
              <a:rP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endParaRPr/>
          </a:p>
        </p:txBody>
      </p:sp>
      <p:sp>
        <p:nvSpPr>
          <p:cNvPr id="3921983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054097" name="Slide Image Placeholder 1"/>
          <p:cNvSpPr>
            <a:spLocks noGrp="1"/>
          </p:cNvSpPr>
          <p:nvPr>
            <p:ph type="sldImg" idx="0"/>
          </p:nvPr>
        </p:nvSpPr>
        <p:spPr bwMode="auto"/>
      </p:sp>
      <p:sp>
        <p:nvSpPr>
          <p:cNvPr id="1285953893" name="Notes Placeholder 2"/>
          <p:cNvSpPr>
            <a:spLocks noGrp="1"/>
          </p:cNvSpPr>
          <p:nvPr>
            <p:ph type="body" idx="1"/>
          </p:nvPr>
        </p:nvSpPr>
        <p:spPr bwMode="auto"/>
        <p:txBody>
          <a:bodyPr/>
          <a:lstStyle/>
          <a:p>
            <a:pPr>
              <a:defRPr/>
            </a:pPr>
            <a:r>
              <a:rPr/>
              <a:t>[Sources]</a:t>
            </a:r>
            <a:endParaRPr/>
          </a:p>
          <a:p>
            <a:pPr>
              <a:defRPr/>
            </a:pPr>
            <a:r>
              <a:rPr/>
              <a:t>- Direct company confirmation from the user: "Digitally seal documents with organization identity on behalf of employee." This is the specific available-today example requested for the presentation.</a:t>
            </a:r>
            <a:endParaRPr/>
          </a:p>
          <a:p>
            <a:pPr>
              <a:defRPr/>
            </a:pPr>
            <a:r>
              <a:rPr/>
              <a:t>- The diagram explains the actors and capability, not the exact production API call sequence. Employee context describes on whose behalf the action is performed. Organizational sealing uses the organization’s identity; it is not a claim that the agent reproduces the employee’s personal signature.</a:t>
            </a:r>
            <a:endParaRPr/>
          </a:p>
          <a:p>
            <a:pPr>
              <a:defRPr/>
            </a:pPr>
            <a:r>
              <a:rPr/>
              <a:t>- Production or pilot maturity and the exact implemented controls were not specified. No deployment count, existing government agent deployment, autonomous approval capability or per-action human approval behavior is asserted.</a:t>
            </a:r>
            <a:endParaRPr/>
          </a:p>
          <a:p>
            <a:pPr>
              <a:defRPr/>
            </a:pPr>
            <a:r>
              <a:rPr/>
              <a:t>- The lower band identifies shared-service design decisions to be agreed with the government stakeholders. It should not be read as a statement that those controls are currently absent or already fully deployed.</a:t>
            </a:r>
            <a:endParaRPr/>
          </a:p>
          <a:p>
            <a:pPr>
              <a:defRPr/>
            </a:pPr>
            <a:r>
              <a:rPr/>
              <a:t>- Artwork: Circularo skill assets/icons/circularo/person.svg, folder-check.svg, and assets/icons/sovereign/sovereign-ai.svg. The original AI paths are preserved with an expanded viewport to avoid clipping.</a:t>
            </a:r>
            <a:endParaRPr/>
          </a:p>
          <a:p>
            <a:pPr>
              <a:defRPr/>
            </a:pPr>
            <a:r>
              <a:rPr/>
              <a:t>- Internal presentation brief: /Users/josefneumann/Projects/ai-workspace/sales-system/work/ideas/Trusted Execution for the Agentic Era.md. Working narrative supplied by the user; not a governed, approved product specification.</a:t>
            </a:r>
            <a:endParaRPr/>
          </a:p>
          <a:p>
            <a:pPr>
              <a:defRPr/>
            </a:pPr>
            <a:r>
              <a:rP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endParaRPr/>
          </a:p>
        </p:txBody>
      </p:sp>
      <p:sp>
        <p:nvSpPr>
          <p:cNvPr id="156831220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7182507" name="Slide Image Placeholder 1"/>
          <p:cNvSpPr>
            <a:spLocks noGrp="1"/>
          </p:cNvSpPr>
          <p:nvPr>
            <p:ph type="sldImg" idx="0"/>
          </p:nvPr>
        </p:nvSpPr>
        <p:spPr bwMode="auto"/>
      </p:sp>
      <p:sp>
        <p:nvSpPr>
          <p:cNvPr id="2117580984" name="Notes Placeholder 2"/>
          <p:cNvSpPr>
            <a:spLocks noGrp="1"/>
          </p:cNvSpPr>
          <p:nvPr>
            <p:ph type="body" idx="1"/>
          </p:nvPr>
        </p:nvSpPr>
        <p:spPr bwMode="auto"/>
        <p:txBody>
          <a:bodyPr/>
          <a:lstStyle/>
          <a:p>
            <a:pPr>
              <a:defRPr/>
            </a:pPr>
            <a:r>
              <a:rPr/>
              <a:t>[Sources]</a:t>
            </a:r>
            <a:endParaRPr/>
          </a:p>
          <a:p>
            <a:pPr>
              <a:defRPr/>
            </a:pPr>
            <a:r>
              <a:rPr/>
              <a:t>- The supplied narrative describes the progression from trusted records to searchable evidence, institutional knowledge, trusted AI context and governed action. This slide presents that intended operating model.</a:t>
            </a:r>
            <a:endParaRPr/>
          </a:p>
          <a:p>
            <a:pPr>
              <a:defRPr/>
            </a:pPr>
            <a:r>
              <a:rPr/>
              <a:t>- The record can combine authoritative content, identities, roles, approvals, signatures, seals, timestamps, audit events, retention metadata and supporting evidence. Permissions and provenance must remain connected when records are used as AI context.</a:t>
            </a:r>
            <a:endParaRPr/>
          </a:p>
          <a:p>
            <a:pPr>
              <a:defRPr/>
            </a:pPr>
            <a:r>
              <a:rPr/>
              <a:t>- Trusted context is not a guarantee that an AI model’s response will be correct. The institution’s controls still determine which consequential actions may execute. Each action can contribute new evidence to the record.</a:t>
            </a:r>
            <a:endParaRPr/>
          </a:p>
          <a:p>
            <a:pPr>
              <a:defRPr/>
            </a:pPr>
            <a:r>
              <a:rPr/>
              <a:t>- Internal presentation brief: /Users/josefneumann/Projects/ai-workspace/sales-system/work/ideas/Trusted Execution for the Agentic Era.md. Working narrative supplied by the user; not a governed, approved product specification.</a:t>
            </a:r>
            <a:endParaRPr/>
          </a:p>
          <a:p>
            <a:pPr>
              <a:defRPr/>
            </a:pPr>
            <a:r>
              <a:rPr/>
              <a:t>- Company confirmation from the user, 30 September 2026: the unified trust API and agent execution are available. Concrete example: an agent can digitally seal a document with organizational identity on behalf of an employee. The user did not specify production-versus-pilot maturity or the implementation of individual delegation, policy and approval controls.</a:t>
            </a:r>
            <a:endParaRPr/>
          </a:p>
        </p:txBody>
      </p:sp>
      <p:sp>
        <p:nvSpPr>
          <p:cNvPr id="933681999"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1836461523" name="Accent rule"/>
          <p:cNvSpPr>
            <a:spLocks noGrp="1"/>
          </p:cNvSpPr>
          <p:nvPr/>
        </p:nvSpPr>
        <p:spPr bwMode="auto">
          <a:xfrm>
            <a:off x="5791200" y="2209800"/>
            <a:ext cx="609600" cy="38100"/>
          </a:xfrm>
          <a:prstGeom prst="rect">
            <a:avLst/>
          </a:prstGeom>
          <a:solidFill>
            <a:schemeClr val="accent1"/>
          </a:solidFill>
          <a:ln>
            <a:noFill/>
            <a:prstDash val="solid"/>
          </a:ln>
        </p:spPr>
      </p:sp>
      <p:sp>
        <p:nvSpPr>
          <p:cNvPr id="1154650723"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a:pPr>
            <a:endParaRPr/>
          </a:p>
        </p:txBody>
      </p:sp>
      <p:sp>
        <p:nvSpPr>
          <p:cNvPr id="804240634"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1896479861" name="Accent rule"/>
          <p:cNvSpPr>
            <a:spLocks noGrp="1"/>
          </p:cNvSpPr>
          <p:nvPr/>
        </p:nvSpPr>
        <p:spPr bwMode="auto">
          <a:xfrm>
            <a:off x="5791200" y="2476500"/>
            <a:ext cx="609600" cy="38100"/>
          </a:xfrm>
          <a:prstGeom prst="rect">
            <a:avLst/>
          </a:prstGeom>
          <a:solidFill>
            <a:schemeClr val="accent1"/>
          </a:solidFill>
          <a:ln>
            <a:noFill/>
            <a:prstDash val="solid"/>
          </a:ln>
        </p:spPr>
      </p:sp>
      <p:sp>
        <p:nvSpPr>
          <p:cNvPr id="2100094811"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1868509718" name="Accent rule"/>
          <p:cNvSpPr>
            <a:spLocks noGrp="1"/>
          </p:cNvSpPr>
          <p:nvPr/>
        </p:nvSpPr>
        <p:spPr bwMode="auto">
          <a:xfrm>
            <a:off x="685800" y="1524000"/>
            <a:ext cx="609600" cy="38100"/>
          </a:xfrm>
          <a:prstGeom prst="rect">
            <a:avLst/>
          </a:prstGeom>
          <a:solidFill>
            <a:schemeClr val="accent1"/>
          </a:solidFill>
          <a:ln>
            <a:noFill/>
            <a:prstDash val="solid"/>
          </a:ln>
        </p:spPr>
      </p:sp>
      <p:sp>
        <p:nvSpPr>
          <p:cNvPr id="980345295"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a:pPr>
            <a:endParaRPr/>
          </a:p>
        </p:txBody>
      </p:sp>
      <p:sp>
        <p:nvSpPr>
          <p:cNvPr id="403447141"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599"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199"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909381182" name="Accent rule"/>
          <p:cNvSpPr>
            <a:spLocks noGrp="1"/>
          </p:cNvSpPr>
          <p:nvPr/>
        </p:nvSpPr>
        <p:spPr bwMode="auto">
          <a:xfrm>
            <a:off x="685800" y="1524000"/>
            <a:ext cx="609600" cy="38100"/>
          </a:xfrm>
          <a:prstGeom prst="rect">
            <a:avLst/>
          </a:prstGeom>
          <a:solidFill>
            <a:schemeClr val="accent1"/>
          </a:solidFill>
          <a:ln>
            <a:noFill/>
            <a:prstDash val="solid"/>
          </a:ln>
        </p:spPr>
      </p:sp>
      <p:sp>
        <p:nvSpPr>
          <p:cNvPr id="1327277653"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a:pPr>
            <a:endParaRPr/>
          </a:p>
        </p:txBody>
      </p:sp>
      <p:sp>
        <p:nvSpPr>
          <p:cNvPr id="152549583"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599"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199"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pPr>
              <a:defRPr/>
            </a:pPr>
            <a:endParaRPr/>
          </a:p>
        </p:txBody>
      </p:sp>
      <p:sp>
        <p:nvSpPr>
          <p:cNvPr id="419534727"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599"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199"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1914063849" name="Accent rule"/>
          <p:cNvSpPr>
            <a:spLocks noGrp="1"/>
          </p:cNvSpPr>
          <p:nvPr/>
        </p:nvSpPr>
        <p:spPr bwMode="auto">
          <a:xfrm>
            <a:off x="685800" y="1524000"/>
            <a:ext cx="609600" cy="38100"/>
          </a:xfrm>
          <a:prstGeom prst="rect">
            <a:avLst/>
          </a:prstGeom>
          <a:solidFill>
            <a:schemeClr val="accent1"/>
          </a:solidFill>
          <a:ln>
            <a:noFill/>
            <a:prstDash val="solid"/>
          </a:ln>
        </p:spPr>
      </p:sp>
      <p:sp>
        <p:nvSpPr>
          <p:cNvPr id="1158866654"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a:pPr>
            <a:endParaRPr/>
          </a:p>
        </p:txBody>
      </p:sp>
      <p:sp>
        <p:nvSpPr>
          <p:cNvPr id="1082347439"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599"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199"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cxnSp>
        <p:nvCxnSpPr>
          <p:cNvPr id="1196270745" name=""/>
          <p:cNvCxnSpPr>
            <a:stCxn id="522697319" idx="2"/>
            <a:endCxn id="696702327" idx="0"/>
          </p:cNvCxnSpPr>
          <p:nvPr/>
        </p:nvCxnSpPr>
        <p:spPr bwMode="auto">
          <a:xfrm>
            <a:off x="6096000" y="3276600"/>
            <a:ext cx="0" cy="304800"/>
          </a:xfrm>
          <a:prstGeom prst="straightConnector1">
            <a:avLst/>
          </a:prstGeom>
          <a:ln w="19050">
            <a:solidFill>
              <a:srgbClr val="7000FF"/>
            </a:solidFill>
            <a:tailEnd type="triangle" w="sm" len="sm"/>
          </a:ln>
        </p:spPr>
      </p:cxnSp>
      <p:pic>
        <p:nvPicPr>
          <p:cNvPr id="683428183" name=""/>
          <p:cNvPicPr>
            <a:picLocks noChangeAspect="1"/>
          </p:cNvPicPr>
          <p:nvPr/>
        </p:nvPicPr>
        <p:blipFill rotWithShape="1">
          <a:blip r:embed="rId3"/>
          <a:stretch/>
        </p:blipFill>
        <p:spPr bwMode="auto">
          <a:xfrm>
            <a:off x="457200" y="228600"/>
            <a:ext cx="381000" cy="381000"/>
          </a:xfrm>
          <a:prstGeom prst="rect">
            <a:avLst/>
          </a:prstGeom>
        </p:spPr>
      </p:pic>
      <p:sp>
        <p:nvSpPr>
          <p:cNvPr id="1038468721" name="page-number"/>
          <p:cNvSpPr>
            <a:spLocks noGrp="1"/>
          </p:cNvSpPr>
          <p:nvPr/>
        </p:nvSpPr>
        <p:spPr bwMode="auto">
          <a:xfrm>
            <a:off x="11277600" y="6438899"/>
            <a:ext cx="457200" cy="190500"/>
          </a:xfrm>
          <a:prstGeom prst="rect">
            <a:avLst/>
          </a:prstGeom>
          <a:noFill/>
          <a:ln w="0">
            <a:noFill/>
            <a:prstDash val="solid"/>
          </a:ln>
        </p:spPr>
        <p:txBody>
          <a:bodyPr/>
          <a:lstStyle/>
          <a:p>
            <a:pPr algn="r">
              <a:defRPr sz="1050" b="1">
                <a:solidFill>
                  <a:srgbClr val="1D0090"/>
                </a:solidFill>
                <a:latin typeface="Mulish"/>
                <a:ea typeface="Mulish"/>
                <a:cs typeface="Mulish"/>
              </a:defRPr>
            </a:pPr>
            <a:r>
              <a:rPr sz="1050" b="1">
                <a:solidFill>
                  <a:srgbClr val="1D0090"/>
                </a:solidFill>
                <a:latin typeface="Mulish"/>
                <a:ea typeface="Mulish"/>
                <a:cs typeface="Mulish"/>
              </a:rPr>
              <a:t>01</a:t>
            </a:r>
            <a:endParaRPr/>
          </a:p>
        </p:txBody>
      </p:sp>
      <p:sp>
        <p:nvSpPr>
          <p:cNvPr id="1227896019" name="copy-1"/>
          <p:cNvSpPr>
            <a:spLocks noGrp="1"/>
          </p:cNvSpPr>
          <p:nvPr/>
        </p:nvSpPr>
        <p:spPr bwMode="auto">
          <a:xfrm>
            <a:off x="990600" y="295274"/>
            <a:ext cx="10096500" cy="266700"/>
          </a:xfrm>
          <a:prstGeom prst="rect">
            <a:avLst/>
          </a:prstGeom>
          <a:noFill/>
          <a:ln w="0">
            <a:noFill/>
            <a:prstDash val="solid"/>
          </a:ln>
        </p:spPr>
        <p:txBody>
          <a:bodyPr wrap="none" lIns="0" tIns="0" rIns="0" bIns="0" anchor="t">
            <a:noAutofit/>
          </a:bodyPr>
          <a:lstStyle/>
          <a:p>
            <a:pPr algn="l">
              <a:defRPr sz="1350" b="1">
                <a:solidFill>
                  <a:srgbClr val="7000FF"/>
                </a:solidFill>
                <a:latin typeface="Mulish"/>
                <a:ea typeface="Mulish"/>
                <a:cs typeface="Mulish"/>
              </a:defRPr>
            </a:pPr>
            <a:r>
              <a:rPr sz="1350" b="1">
                <a:solidFill>
                  <a:srgbClr val="7000FF"/>
                </a:solidFill>
                <a:latin typeface="Mulish"/>
                <a:ea typeface="Mulish"/>
                <a:cs typeface="Mulish"/>
              </a:rPr>
              <a:t>TRUSTED EXECUTION FOR THE AGENTIC ERA</a:t>
            </a:r>
            <a:endParaRPr/>
          </a:p>
        </p:txBody>
      </p:sp>
      <p:sp>
        <p:nvSpPr>
          <p:cNvPr id="896638030" name="copy-2"/>
          <p:cNvSpPr>
            <a:spLocks noGrp="1"/>
          </p:cNvSpPr>
          <p:nvPr/>
        </p:nvSpPr>
        <p:spPr bwMode="auto">
          <a:xfrm>
            <a:off x="457200" y="914400"/>
            <a:ext cx="11277600" cy="647700"/>
          </a:xfrm>
          <a:prstGeom prst="rect">
            <a:avLst/>
          </a:prstGeom>
          <a:noFill/>
          <a:ln w="0">
            <a:noFill/>
            <a:prstDash val="solid"/>
          </a:ln>
        </p:spPr>
        <p:txBody>
          <a:bodyPr wrap="none" lIns="0" tIns="0" rIns="0" bIns="0" anchor="t">
            <a:noAutofit/>
          </a:bodyPr>
          <a:lstStyle/>
          <a:p>
            <a:pPr algn="l">
              <a:defRPr sz="3600" b="1">
                <a:solidFill>
                  <a:srgbClr val="1D0090"/>
                </a:solidFill>
                <a:latin typeface="Spartan"/>
                <a:ea typeface="Spartan"/>
                <a:cs typeface="Spartan"/>
              </a:defRPr>
            </a:pPr>
            <a:r>
              <a:rPr sz="3600" b="1">
                <a:solidFill>
                  <a:srgbClr val="1D0090"/>
                </a:solidFill>
                <a:latin typeface="Spartan"/>
                <a:ea typeface="Spartan"/>
                <a:cs typeface="Spartan"/>
              </a:rPr>
              <a:t>One trust layer for government</a:t>
            </a:r>
            <a:endParaRPr/>
          </a:p>
        </p:txBody>
      </p:sp>
      <p:sp>
        <p:nvSpPr>
          <p:cNvPr id="127896198" name="copy-3"/>
          <p:cNvSpPr>
            <a:spLocks noGrp="1"/>
          </p:cNvSpPr>
          <p:nvPr/>
        </p:nvSpPr>
        <p:spPr bwMode="auto">
          <a:xfrm>
            <a:off x="457200" y="1666875"/>
            <a:ext cx="11277600" cy="333375"/>
          </a:xfrm>
          <a:prstGeom prst="rect">
            <a:avLst/>
          </a:prstGeom>
          <a:noFill/>
          <a:ln w="0">
            <a:noFill/>
            <a:prstDash val="solid"/>
          </a:ln>
        </p:spPr>
        <p:txBody>
          <a:bodyPr wrap="none" lIns="0" tIns="0" rIns="0" bIns="0" anchor="t">
            <a:noAutofit/>
          </a:bodyPr>
          <a:lstStyle/>
          <a:p>
            <a:pPr algn="l">
              <a:defRPr sz="1900" b="0">
                <a:solidFill>
                  <a:srgbClr val="3D3D3D"/>
                </a:solidFill>
                <a:latin typeface="Mulish"/>
                <a:ea typeface="Mulish"/>
                <a:cs typeface="Mulish"/>
              </a:defRPr>
            </a:pPr>
            <a:r>
              <a:rPr sz="1900" b="0">
                <a:solidFill>
                  <a:srgbClr val="3D3D3D"/>
                </a:solidFill>
                <a:latin typeface="Mulish"/>
                <a:ea typeface="Mulish"/>
                <a:cs typeface="Mulish"/>
              </a:rPr>
              <a:t>Reference architecture for expanding existing DDA and TDRA services</a:t>
            </a:r>
            <a:endParaRPr/>
          </a:p>
        </p:txBody>
      </p:sp>
      <p:sp>
        <p:nvSpPr>
          <p:cNvPr id="833478183" name="copy-4"/>
          <p:cNvSpPr>
            <a:spLocks noGrp="1"/>
          </p:cNvSpPr>
          <p:nvPr/>
        </p:nvSpPr>
        <p:spPr bwMode="auto">
          <a:xfrm>
            <a:off x="457200" y="2257425"/>
            <a:ext cx="2647949"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People &amp; organisations</a:t>
            </a:r>
            <a:endParaRPr/>
          </a:p>
        </p:txBody>
      </p:sp>
      <p:sp>
        <p:nvSpPr>
          <p:cNvPr id="930986178" name="copy-5"/>
          <p:cNvSpPr>
            <a:spLocks noGrp="1"/>
          </p:cNvSpPr>
          <p:nvPr/>
        </p:nvSpPr>
        <p:spPr bwMode="auto">
          <a:xfrm>
            <a:off x="3333750" y="2257425"/>
            <a:ext cx="2647949"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Government systems</a:t>
            </a:r>
            <a:endParaRPr/>
          </a:p>
        </p:txBody>
      </p:sp>
      <p:sp>
        <p:nvSpPr>
          <p:cNvPr id="828017201" name="copy-6"/>
          <p:cNvSpPr>
            <a:spLocks noGrp="1"/>
          </p:cNvSpPr>
          <p:nvPr/>
        </p:nvSpPr>
        <p:spPr bwMode="auto">
          <a:xfrm>
            <a:off x="6210300" y="2257425"/>
            <a:ext cx="2647949"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AI agents</a:t>
            </a:r>
            <a:endParaRPr/>
          </a:p>
        </p:txBody>
      </p:sp>
      <p:sp>
        <p:nvSpPr>
          <p:cNvPr id="1718594324" name="copy-7"/>
          <p:cNvSpPr>
            <a:spLocks noGrp="1"/>
          </p:cNvSpPr>
          <p:nvPr/>
        </p:nvSpPr>
        <p:spPr bwMode="auto">
          <a:xfrm>
            <a:off x="9086850" y="2257425"/>
            <a:ext cx="2647949"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Ecosystem partners</a:t>
            </a:r>
            <a:endParaRPr/>
          </a:p>
        </p:txBody>
      </p:sp>
      <p:sp>
        <p:nvSpPr>
          <p:cNvPr id="522697319" name="unified-trust-api"/>
          <p:cNvSpPr>
            <a:spLocks noGrp="1"/>
          </p:cNvSpPr>
          <p:nvPr/>
        </p:nvSpPr>
        <p:spPr bwMode="auto">
          <a:xfrm>
            <a:off x="457200" y="2781300"/>
            <a:ext cx="11277600" cy="495300"/>
          </a:xfrm>
          <a:prstGeom prst="rect">
            <a:avLst/>
          </a:prstGeom>
          <a:solidFill>
            <a:srgbClr val="7000FF"/>
          </a:solidFill>
          <a:ln w="0">
            <a:noFill/>
            <a:prstDash val="solid"/>
          </a:ln>
        </p:spPr>
      </p:sp>
      <p:sp>
        <p:nvSpPr>
          <p:cNvPr id="1666602111" name="copy-8"/>
          <p:cNvSpPr>
            <a:spLocks noGrp="1"/>
          </p:cNvSpPr>
          <p:nvPr/>
        </p:nvSpPr>
        <p:spPr bwMode="auto">
          <a:xfrm>
            <a:off x="609600" y="2905125"/>
            <a:ext cx="10972800" cy="304800"/>
          </a:xfrm>
          <a:prstGeom prst="rect">
            <a:avLst/>
          </a:prstGeom>
          <a:noFill/>
          <a:ln w="0">
            <a:noFill/>
            <a:prstDash val="solid"/>
          </a:ln>
        </p:spPr>
        <p:txBody>
          <a:bodyPr wrap="none" lIns="0" tIns="0" rIns="0" bIns="0" anchor="t">
            <a:noAutofit/>
          </a:bodyPr>
          <a:lstStyle/>
          <a:p>
            <a:pPr algn="ctr">
              <a:defRPr sz="1800" b="1">
                <a:solidFill>
                  <a:srgbClr val="FFFFFF"/>
                </a:solidFill>
                <a:latin typeface="Mulish"/>
                <a:ea typeface="Mulish"/>
                <a:cs typeface="Mulish"/>
              </a:defRPr>
            </a:pPr>
            <a:r>
              <a:rPr sz="1800" b="1">
                <a:solidFill>
                  <a:srgbClr val="FFFFFF"/>
                </a:solidFill>
                <a:latin typeface="Mulish"/>
                <a:ea typeface="Mulish"/>
                <a:cs typeface="Mulish"/>
              </a:rPr>
              <a:t>UNIFIED TRUST API</a:t>
            </a:r>
            <a:endParaRPr/>
          </a:p>
        </p:txBody>
      </p:sp>
      <p:sp>
        <p:nvSpPr>
          <p:cNvPr id="696702327" name="trusted-execution-layer"/>
          <p:cNvSpPr>
            <a:spLocks noGrp="1"/>
          </p:cNvSpPr>
          <p:nvPr/>
        </p:nvSpPr>
        <p:spPr bwMode="auto">
          <a:xfrm>
            <a:off x="457200" y="3581400"/>
            <a:ext cx="11277600" cy="1181099"/>
          </a:xfrm>
          <a:prstGeom prst="rect">
            <a:avLst/>
          </a:prstGeom>
          <a:solidFill>
            <a:srgbClr val="1D0090"/>
          </a:solidFill>
          <a:ln w="0">
            <a:noFill/>
            <a:prstDash val="solid"/>
          </a:ln>
        </p:spPr>
      </p:sp>
      <p:sp>
        <p:nvSpPr>
          <p:cNvPr id="1869079334" name="copy-9"/>
          <p:cNvSpPr>
            <a:spLocks noGrp="1"/>
          </p:cNvSpPr>
          <p:nvPr/>
        </p:nvSpPr>
        <p:spPr bwMode="auto">
          <a:xfrm>
            <a:off x="609600" y="3714750"/>
            <a:ext cx="10972800" cy="285750"/>
          </a:xfrm>
          <a:prstGeom prst="rect">
            <a:avLst/>
          </a:prstGeom>
          <a:noFill/>
          <a:ln w="0">
            <a:noFill/>
            <a:prstDash val="solid"/>
          </a:ln>
        </p:spPr>
        <p:txBody>
          <a:bodyPr wrap="none" lIns="0" tIns="0" rIns="0" bIns="0" anchor="t">
            <a:noAutofit/>
          </a:bodyPr>
          <a:lstStyle/>
          <a:p>
            <a:pPr algn="ctr">
              <a:defRPr sz="1800" b="1">
                <a:solidFill>
                  <a:srgbClr val="FFFFFF"/>
                </a:solidFill>
                <a:latin typeface="Mulish"/>
                <a:ea typeface="Mulish"/>
                <a:cs typeface="Mulish"/>
              </a:defRPr>
            </a:pPr>
            <a:r>
              <a:rPr sz="1800" b="1">
                <a:solidFill>
                  <a:srgbClr val="FFFFFF"/>
                </a:solidFill>
                <a:latin typeface="Mulish"/>
                <a:ea typeface="Mulish"/>
                <a:cs typeface="Mulish"/>
              </a:rPr>
              <a:t>TRUSTED EXECUTION LAYER</a:t>
            </a:r>
            <a:endParaRPr/>
          </a:p>
        </p:txBody>
      </p:sp>
      <p:sp>
        <p:nvSpPr>
          <p:cNvPr id="2048340707" name="copy-10"/>
          <p:cNvSpPr>
            <a:spLocks noGrp="1"/>
          </p:cNvSpPr>
          <p:nvPr/>
        </p:nvSpPr>
        <p:spPr bwMode="auto">
          <a:xfrm>
            <a:off x="609600" y="4257675"/>
            <a:ext cx="3457575" cy="314325"/>
          </a:xfrm>
          <a:prstGeom prst="rect">
            <a:avLst/>
          </a:prstGeom>
          <a:noFill/>
          <a:ln w="0">
            <a:noFill/>
            <a:prstDash val="solid"/>
          </a:ln>
        </p:spPr>
        <p:txBody>
          <a:bodyPr wrap="none" lIns="0" tIns="0" rIns="0" bIns="0" anchor="t">
            <a:noAutofit/>
          </a:bodyPr>
          <a:lstStyle/>
          <a:p>
            <a:pPr algn="ctr">
              <a:defRPr sz="1900" b="1">
                <a:solidFill>
                  <a:srgbClr val="FFFFFF"/>
                </a:solidFill>
                <a:latin typeface="Mulish"/>
                <a:ea typeface="Mulish"/>
                <a:cs typeface="Mulish"/>
              </a:defRPr>
            </a:pPr>
            <a:r>
              <a:rPr sz="1900" b="1">
                <a:solidFill>
                  <a:srgbClr val="FFFFFF"/>
                </a:solidFill>
                <a:latin typeface="Mulish"/>
                <a:ea typeface="Mulish"/>
                <a:cs typeface="Mulish"/>
              </a:rPr>
              <a:t>Actor &amp; authority</a:t>
            </a:r>
            <a:endParaRPr/>
          </a:p>
        </p:txBody>
      </p:sp>
      <p:sp>
        <p:nvSpPr>
          <p:cNvPr id="414823331" name="divider"/>
          <p:cNvSpPr>
            <a:spLocks noGrp="1"/>
          </p:cNvSpPr>
          <p:nvPr/>
        </p:nvSpPr>
        <p:spPr bwMode="auto">
          <a:xfrm>
            <a:off x="4219575" y="4181475"/>
            <a:ext cx="9525" cy="371475"/>
          </a:xfrm>
          <a:prstGeom prst="rect">
            <a:avLst/>
          </a:prstGeom>
          <a:solidFill>
            <a:srgbClr val="F5EDFF"/>
          </a:solidFill>
          <a:ln w="0">
            <a:noFill/>
            <a:prstDash val="solid"/>
          </a:ln>
        </p:spPr>
      </p:sp>
      <p:sp>
        <p:nvSpPr>
          <p:cNvPr id="1563604674" name="copy-11"/>
          <p:cNvSpPr>
            <a:spLocks noGrp="1"/>
          </p:cNvSpPr>
          <p:nvPr/>
        </p:nvSpPr>
        <p:spPr bwMode="auto">
          <a:xfrm>
            <a:off x="4371975" y="4257675"/>
            <a:ext cx="3457575" cy="314325"/>
          </a:xfrm>
          <a:prstGeom prst="rect">
            <a:avLst/>
          </a:prstGeom>
          <a:noFill/>
          <a:ln w="0">
            <a:noFill/>
            <a:prstDash val="solid"/>
          </a:ln>
        </p:spPr>
        <p:txBody>
          <a:bodyPr wrap="none" lIns="0" tIns="0" rIns="0" bIns="0" anchor="t">
            <a:noAutofit/>
          </a:bodyPr>
          <a:lstStyle/>
          <a:p>
            <a:pPr algn="ctr">
              <a:defRPr sz="1900" b="1">
                <a:solidFill>
                  <a:srgbClr val="FFFFFF"/>
                </a:solidFill>
                <a:latin typeface="Mulish"/>
                <a:ea typeface="Mulish"/>
                <a:cs typeface="Mulish"/>
              </a:defRPr>
            </a:pPr>
            <a:r>
              <a:rPr sz="1900" b="1">
                <a:solidFill>
                  <a:srgbClr val="FFFFFF"/>
                </a:solidFill>
                <a:latin typeface="Mulish"/>
                <a:ea typeface="Mulish"/>
                <a:cs typeface="Mulish"/>
              </a:rPr>
              <a:t>Policy &amp; approval</a:t>
            </a:r>
            <a:endParaRPr/>
          </a:p>
        </p:txBody>
      </p:sp>
      <p:sp>
        <p:nvSpPr>
          <p:cNvPr id="1241555082" name="divider"/>
          <p:cNvSpPr>
            <a:spLocks noGrp="1"/>
          </p:cNvSpPr>
          <p:nvPr/>
        </p:nvSpPr>
        <p:spPr bwMode="auto">
          <a:xfrm>
            <a:off x="7981950" y="4181475"/>
            <a:ext cx="9525" cy="371475"/>
          </a:xfrm>
          <a:prstGeom prst="rect">
            <a:avLst/>
          </a:prstGeom>
          <a:solidFill>
            <a:srgbClr val="F5EDFF"/>
          </a:solidFill>
          <a:ln w="0">
            <a:noFill/>
            <a:prstDash val="solid"/>
          </a:ln>
        </p:spPr>
      </p:sp>
      <p:sp>
        <p:nvSpPr>
          <p:cNvPr id="1802998890" name="copy-12"/>
          <p:cNvSpPr>
            <a:spLocks noGrp="1"/>
          </p:cNvSpPr>
          <p:nvPr/>
        </p:nvSpPr>
        <p:spPr bwMode="auto">
          <a:xfrm>
            <a:off x="8134350" y="4257675"/>
            <a:ext cx="3457575" cy="314325"/>
          </a:xfrm>
          <a:prstGeom prst="rect">
            <a:avLst/>
          </a:prstGeom>
          <a:noFill/>
          <a:ln w="0">
            <a:noFill/>
            <a:prstDash val="solid"/>
          </a:ln>
        </p:spPr>
        <p:txBody>
          <a:bodyPr wrap="none" lIns="0" tIns="0" rIns="0" bIns="0" anchor="t">
            <a:noAutofit/>
          </a:bodyPr>
          <a:lstStyle/>
          <a:p>
            <a:pPr algn="ctr">
              <a:defRPr sz="1900" b="1">
                <a:solidFill>
                  <a:srgbClr val="FFFFFF"/>
                </a:solidFill>
                <a:latin typeface="Mulish"/>
                <a:ea typeface="Mulish"/>
                <a:cs typeface="Mulish"/>
              </a:defRPr>
            </a:pPr>
            <a:r>
              <a:rPr sz="1900" b="1">
                <a:solidFill>
                  <a:srgbClr val="FFFFFF"/>
                </a:solidFill>
                <a:latin typeface="Mulish"/>
                <a:ea typeface="Mulish"/>
                <a:cs typeface="Mulish"/>
              </a:rPr>
              <a:t>Execution &amp; evidence</a:t>
            </a:r>
            <a:endParaRPr/>
          </a:p>
        </p:txBody>
      </p:sp>
      <p:sp>
        <p:nvSpPr>
          <p:cNvPr id="804004714" name="copy-13"/>
          <p:cNvSpPr>
            <a:spLocks noGrp="1"/>
          </p:cNvSpPr>
          <p:nvPr/>
        </p:nvSpPr>
        <p:spPr bwMode="auto">
          <a:xfrm>
            <a:off x="457200" y="5067300"/>
            <a:ext cx="11277600" cy="266700"/>
          </a:xfrm>
          <a:prstGeom prst="rect">
            <a:avLst/>
          </a:prstGeom>
          <a:noFill/>
          <a:ln w="0">
            <a:noFill/>
            <a:prstDash val="solid"/>
          </a:ln>
        </p:spPr>
        <p:txBody>
          <a:bodyPr wrap="none" lIns="0" tIns="0" rIns="0" bIns="0" anchor="t">
            <a:noAutofit/>
          </a:bodyPr>
          <a:lstStyle/>
          <a:p>
            <a:pPr algn="l">
              <a:defRPr sz="1600" b="1">
                <a:solidFill>
                  <a:srgbClr val="667085"/>
                </a:solidFill>
                <a:latin typeface="Mulish"/>
                <a:ea typeface="Mulish"/>
                <a:cs typeface="Mulish"/>
              </a:defRPr>
            </a:pPr>
            <a:r>
              <a:rPr sz="1600" b="1">
                <a:solidFill>
                  <a:srgbClr val="667085"/>
                </a:solidFill>
                <a:latin typeface="Mulish"/>
                <a:ea typeface="Mulish"/>
                <a:cs typeface="Mulish"/>
              </a:rPr>
              <a:t>CONNECTED CORE SERVICES</a:t>
            </a:r>
            <a:endParaRPr/>
          </a:p>
        </p:txBody>
      </p:sp>
      <p:sp>
        <p:nvSpPr>
          <p:cNvPr id="2097176225" name="copy-14"/>
          <p:cNvSpPr>
            <a:spLocks noGrp="1"/>
          </p:cNvSpPr>
          <p:nvPr/>
        </p:nvSpPr>
        <p:spPr bwMode="auto">
          <a:xfrm>
            <a:off x="533400" y="5467350"/>
            <a:ext cx="1724025"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Cloud</a:t>
            </a:r>
            <a:endParaRPr/>
          </a:p>
        </p:txBody>
      </p:sp>
      <p:sp>
        <p:nvSpPr>
          <p:cNvPr id="584000023" name="divider"/>
          <p:cNvSpPr>
            <a:spLocks noGrp="1"/>
          </p:cNvSpPr>
          <p:nvPr/>
        </p:nvSpPr>
        <p:spPr bwMode="auto">
          <a:xfrm>
            <a:off x="2336800" y="5476875"/>
            <a:ext cx="9525" cy="304800"/>
          </a:xfrm>
          <a:prstGeom prst="rect">
            <a:avLst/>
          </a:prstGeom>
          <a:solidFill>
            <a:srgbClr val="D0D5DD"/>
          </a:solidFill>
          <a:ln w="0">
            <a:noFill/>
            <a:prstDash val="solid"/>
          </a:ln>
        </p:spPr>
      </p:sp>
      <p:sp>
        <p:nvSpPr>
          <p:cNvPr id="1582040600" name="copy-15"/>
          <p:cNvSpPr>
            <a:spLocks noGrp="1"/>
          </p:cNvSpPr>
          <p:nvPr/>
        </p:nvSpPr>
        <p:spPr bwMode="auto">
          <a:xfrm>
            <a:off x="2413000" y="5467350"/>
            <a:ext cx="1724025"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Identity</a:t>
            </a:r>
            <a:endParaRPr/>
          </a:p>
        </p:txBody>
      </p:sp>
      <p:sp>
        <p:nvSpPr>
          <p:cNvPr id="2018179962" name="divider"/>
          <p:cNvSpPr>
            <a:spLocks noGrp="1"/>
          </p:cNvSpPr>
          <p:nvPr/>
        </p:nvSpPr>
        <p:spPr bwMode="auto">
          <a:xfrm>
            <a:off x="4216400" y="5476875"/>
            <a:ext cx="9525" cy="304800"/>
          </a:xfrm>
          <a:prstGeom prst="rect">
            <a:avLst/>
          </a:prstGeom>
          <a:solidFill>
            <a:srgbClr val="D0D5DD"/>
          </a:solidFill>
          <a:ln w="0">
            <a:noFill/>
            <a:prstDash val="solid"/>
          </a:ln>
        </p:spPr>
      </p:sp>
      <p:sp>
        <p:nvSpPr>
          <p:cNvPr id="122061839" name="copy-16"/>
          <p:cNvSpPr>
            <a:spLocks noGrp="1"/>
          </p:cNvSpPr>
          <p:nvPr/>
        </p:nvSpPr>
        <p:spPr bwMode="auto">
          <a:xfrm>
            <a:off x="4292600" y="5467350"/>
            <a:ext cx="1724025"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Collaboration</a:t>
            </a:r>
            <a:endParaRPr/>
          </a:p>
        </p:txBody>
      </p:sp>
      <p:sp>
        <p:nvSpPr>
          <p:cNvPr id="243930774" name="divider"/>
          <p:cNvSpPr>
            <a:spLocks noGrp="1"/>
          </p:cNvSpPr>
          <p:nvPr/>
        </p:nvSpPr>
        <p:spPr bwMode="auto">
          <a:xfrm>
            <a:off x="6096000" y="5476875"/>
            <a:ext cx="9525" cy="304800"/>
          </a:xfrm>
          <a:prstGeom prst="rect">
            <a:avLst/>
          </a:prstGeom>
          <a:solidFill>
            <a:srgbClr val="D0D5DD"/>
          </a:solidFill>
          <a:ln w="0">
            <a:noFill/>
            <a:prstDash val="solid"/>
          </a:ln>
        </p:spPr>
      </p:sp>
      <p:sp>
        <p:nvSpPr>
          <p:cNvPr id="1502097038" name="copy-17"/>
          <p:cNvSpPr>
            <a:spLocks noGrp="1"/>
          </p:cNvSpPr>
          <p:nvPr/>
        </p:nvSpPr>
        <p:spPr bwMode="auto">
          <a:xfrm>
            <a:off x="6172200" y="5467350"/>
            <a:ext cx="1724025"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Sign &amp; seal</a:t>
            </a:r>
            <a:endParaRPr/>
          </a:p>
        </p:txBody>
      </p:sp>
      <p:sp>
        <p:nvSpPr>
          <p:cNvPr id="444182944" name="divider"/>
          <p:cNvSpPr>
            <a:spLocks noGrp="1"/>
          </p:cNvSpPr>
          <p:nvPr/>
        </p:nvSpPr>
        <p:spPr bwMode="auto">
          <a:xfrm>
            <a:off x="7975600" y="5476875"/>
            <a:ext cx="9525" cy="304800"/>
          </a:xfrm>
          <a:prstGeom prst="rect">
            <a:avLst/>
          </a:prstGeom>
          <a:solidFill>
            <a:srgbClr val="D0D5DD"/>
          </a:solidFill>
          <a:ln w="0">
            <a:noFill/>
            <a:prstDash val="solid"/>
          </a:ln>
        </p:spPr>
      </p:sp>
      <p:sp>
        <p:nvSpPr>
          <p:cNvPr id="677755624" name="copy-18"/>
          <p:cNvSpPr>
            <a:spLocks noGrp="1"/>
          </p:cNvSpPr>
          <p:nvPr/>
        </p:nvSpPr>
        <p:spPr bwMode="auto">
          <a:xfrm>
            <a:off x="8051799" y="5467350"/>
            <a:ext cx="1724025"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Trusted vault</a:t>
            </a:r>
            <a:endParaRPr/>
          </a:p>
        </p:txBody>
      </p:sp>
      <p:sp>
        <p:nvSpPr>
          <p:cNvPr id="1295378520" name="divider"/>
          <p:cNvSpPr>
            <a:spLocks noGrp="1"/>
          </p:cNvSpPr>
          <p:nvPr/>
        </p:nvSpPr>
        <p:spPr bwMode="auto">
          <a:xfrm>
            <a:off x="9855200" y="5476875"/>
            <a:ext cx="9525" cy="304800"/>
          </a:xfrm>
          <a:prstGeom prst="rect">
            <a:avLst/>
          </a:prstGeom>
          <a:solidFill>
            <a:srgbClr val="D0D5DD"/>
          </a:solidFill>
          <a:ln w="0">
            <a:noFill/>
            <a:prstDash val="solid"/>
          </a:ln>
        </p:spPr>
      </p:sp>
      <p:sp>
        <p:nvSpPr>
          <p:cNvPr id="282503894" name="copy-19"/>
          <p:cNvSpPr>
            <a:spLocks noGrp="1"/>
          </p:cNvSpPr>
          <p:nvPr/>
        </p:nvSpPr>
        <p:spPr bwMode="auto">
          <a:xfrm>
            <a:off x="9931400" y="5467350"/>
            <a:ext cx="1724025" cy="304800"/>
          </a:xfrm>
          <a:prstGeom prst="rect">
            <a:avLst/>
          </a:prstGeom>
          <a:noFill/>
          <a:ln w="0">
            <a:noFill/>
            <a:prstDash val="solid"/>
          </a:ln>
        </p:spPr>
        <p:txBody>
          <a:bodyPr wrap="none" lIns="0" tIns="0" rIns="0" bIns="0" anchor="t">
            <a:noAutofit/>
          </a:bodyPr>
          <a:lstStyle/>
          <a:p>
            <a:pPr algn="ctr">
              <a:defRPr sz="1750" b="1">
                <a:solidFill>
                  <a:srgbClr val="1D0090"/>
                </a:solidFill>
                <a:latin typeface="Mulish"/>
                <a:ea typeface="Mulish"/>
                <a:cs typeface="Mulish"/>
              </a:defRPr>
            </a:pPr>
            <a:r>
              <a:rPr sz="1750" b="1">
                <a:solidFill>
                  <a:srgbClr val="1D0090"/>
                </a:solidFill>
                <a:latin typeface="Mulish"/>
                <a:ea typeface="Mulish"/>
                <a:cs typeface="Mulish"/>
              </a:rPr>
              <a:t>AI</a:t>
            </a:r>
            <a:endParaRPr/>
          </a:p>
        </p:txBody>
      </p:sp>
      <p:sp>
        <p:nvSpPr>
          <p:cNvPr id="1816611197" name="existing-government-foundation"/>
          <p:cNvSpPr>
            <a:spLocks noGrp="1"/>
          </p:cNvSpPr>
          <p:nvPr/>
        </p:nvSpPr>
        <p:spPr bwMode="auto">
          <a:xfrm>
            <a:off x="457200" y="6010274"/>
            <a:ext cx="11277600" cy="428625"/>
          </a:xfrm>
          <a:prstGeom prst="rect">
            <a:avLst/>
          </a:prstGeom>
          <a:solidFill>
            <a:srgbClr val="F5EDFF"/>
          </a:solidFill>
          <a:ln w="0">
            <a:noFill/>
            <a:prstDash val="solid"/>
          </a:ln>
        </p:spPr>
      </p:sp>
      <p:sp>
        <p:nvSpPr>
          <p:cNvPr id="1087660109" name="copy-20"/>
          <p:cNvSpPr>
            <a:spLocks noGrp="1"/>
          </p:cNvSpPr>
          <p:nvPr/>
        </p:nvSpPr>
        <p:spPr bwMode="auto">
          <a:xfrm>
            <a:off x="609600" y="6115050"/>
            <a:ext cx="10972800" cy="285750"/>
          </a:xfrm>
          <a:prstGeom prst="rect">
            <a:avLst/>
          </a:prstGeom>
          <a:noFill/>
          <a:ln w="0">
            <a:noFill/>
            <a:prstDash val="solid"/>
          </a:ln>
        </p:spPr>
        <p:txBody>
          <a:bodyPr wrap="none" lIns="0" tIns="0" rIns="0" bIns="0" anchor="t">
            <a:noAutofit/>
          </a:bodyPr>
          <a:lstStyle/>
          <a:p>
            <a:pPr algn="l">
              <a:defRPr sz="1650" b="0">
                <a:solidFill>
                  <a:srgbClr val="1D0090"/>
                </a:solidFill>
                <a:latin typeface="Mulish"/>
                <a:ea typeface="Mulish"/>
                <a:cs typeface="Mulish"/>
              </a:defRPr>
            </a:pPr>
            <a:r>
              <a:rPr sz="1650" b="0">
                <a:solidFill>
                  <a:srgbClr val="1D0090"/>
                </a:solidFill>
                <a:latin typeface="Mulish"/>
                <a:ea typeface="Mulish"/>
                <a:cs typeface="Mulish"/>
              </a:rPr>
              <a:t>Built on UAE PASS, GovSign, Digital Dubai Digital Sign and existing government systems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22102181" name="available-capability-band"/>
          <p:cNvSpPr>
            <a:spLocks noGrp="1"/>
          </p:cNvSpPr>
          <p:nvPr/>
        </p:nvSpPr>
        <p:spPr bwMode="auto">
          <a:xfrm>
            <a:off x="0" y="5600700"/>
            <a:ext cx="12192000" cy="1257300"/>
          </a:xfrm>
          <a:prstGeom prst="rect">
            <a:avLst/>
          </a:prstGeom>
          <a:solidFill>
            <a:srgbClr val="1D0090"/>
          </a:solidFill>
          <a:ln w="0">
            <a:noFill/>
            <a:prstDash val="solid"/>
          </a:ln>
        </p:spPr>
      </p:sp>
      <p:pic>
        <p:nvPicPr>
          <p:cNvPr id="1778126643" name=""/>
          <p:cNvPicPr>
            <a:picLocks noChangeAspect="1"/>
          </p:cNvPicPr>
          <p:nvPr/>
        </p:nvPicPr>
        <p:blipFill rotWithShape="1">
          <a:blip r:embed="rId3"/>
          <a:stretch/>
        </p:blipFill>
        <p:spPr bwMode="auto">
          <a:xfrm>
            <a:off x="457200" y="228600"/>
            <a:ext cx="381000" cy="381000"/>
          </a:xfrm>
          <a:prstGeom prst="rect">
            <a:avLst/>
          </a:prstGeom>
        </p:spPr>
      </p:pic>
      <p:sp>
        <p:nvSpPr>
          <p:cNvPr id="108316680" name="page-number"/>
          <p:cNvSpPr>
            <a:spLocks noGrp="1"/>
          </p:cNvSpPr>
          <p:nvPr/>
        </p:nvSpPr>
        <p:spPr bwMode="auto">
          <a:xfrm>
            <a:off x="11277600" y="6438899"/>
            <a:ext cx="457200" cy="190500"/>
          </a:xfrm>
          <a:prstGeom prst="rect">
            <a:avLst/>
          </a:prstGeom>
          <a:noFill/>
          <a:ln w="0">
            <a:noFill/>
            <a:prstDash val="solid"/>
          </a:ln>
        </p:spPr>
        <p:txBody>
          <a:bodyPr/>
          <a:lstStyle/>
          <a:p>
            <a:pPr algn="r">
              <a:defRPr sz="1050" b="1">
                <a:solidFill>
                  <a:srgbClr val="1D0090"/>
                </a:solidFill>
                <a:latin typeface="Mulish"/>
                <a:ea typeface="Mulish"/>
                <a:cs typeface="Mulish"/>
              </a:defRPr>
            </a:pPr>
            <a:r>
              <a:rPr sz="1050" b="1">
                <a:solidFill>
                  <a:srgbClr val="FFFFFF"/>
                </a:solidFill>
                <a:latin typeface="Mulish"/>
                <a:ea typeface="Mulish"/>
                <a:cs typeface="Mulish"/>
              </a:rPr>
              <a:t>02</a:t>
            </a:r>
            <a:endParaRPr/>
          </a:p>
        </p:txBody>
      </p:sp>
      <p:sp>
        <p:nvSpPr>
          <p:cNvPr id="217537952" name="copy-21"/>
          <p:cNvSpPr>
            <a:spLocks noGrp="1"/>
          </p:cNvSpPr>
          <p:nvPr/>
        </p:nvSpPr>
        <p:spPr bwMode="auto">
          <a:xfrm>
            <a:off x="990600" y="295274"/>
            <a:ext cx="10096500" cy="266700"/>
          </a:xfrm>
          <a:prstGeom prst="rect">
            <a:avLst/>
          </a:prstGeom>
          <a:noFill/>
          <a:ln w="0">
            <a:noFill/>
            <a:prstDash val="solid"/>
          </a:ln>
        </p:spPr>
        <p:txBody>
          <a:bodyPr wrap="none" lIns="0" tIns="0" rIns="0" bIns="0" anchor="t">
            <a:noAutofit/>
          </a:bodyPr>
          <a:lstStyle/>
          <a:p>
            <a:pPr algn="l">
              <a:defRPr sz="1350" b="1">
                <a:solidFill>
                  <a:srgbClr val="7000FF"/>
                </a:solidFill>
                <a:latin typeface="Mulish"/>
                <a:ea typeface="Mulish"/>
                <a:cs typeface="Mulish"/>
              </a:defRPr>
            </a:pPr>
            <a:r>
              <a:rPr sz="1350" b="1">
                <a:solidFill>
                  <a:srgbClr val="7000FF"/>
                </a:solidFill>
                <a:latin typeface="Mulish"/>
                <a:ea typeface="Mulish"/>
                <a:cs typeface="Mulish"/>
              </a:rPr>
              <a:t>EXPANDING EXISTING GOVERNMENT SERVICES</a:t>
            </a:r>
            <a:endParaRPr/>
          </a:p>
        </p:txBody>
      </p:sp>
      <p:sp>
        <p:nvSpPr>
          <p:cNvPr id="1356066943" name="copy-22"/>
          <p:cNvSpPr>
            <a:spLocks noGrp="1"/>
          </p:cNvSpPr>
          <p:nvPr/>
        </p:nvSpPr>
        <p:spPr bwMode="auto">
          <a:xfrm>
            <a:off x="457200" y="914400"/>
            <a:ext cx="11277600" cy="1095375"/>
          </a:xfrm>
          <a:prstGeom prst="rect">
            <a:avLst/>
          </a:prstGeom>
          <a:noFill/>
          <a:ln w="0">
            <a:noFill/>
            <a:prstDash val="solid"/>
          </a:ln>
        </p:spPr>
        <p:txBody>
          <a:bodyPr wrap="none" lIns="0" tIns="0" rIns="0" bIns="0" anchor="t">
            <a:noAutofit/>
          </a:bodyPr>
          <a:lstStyle/>
          <a:p>
            <a:pPr algn="l">
              <a:defRPr sz="3600" b="1">
                <a:solidFill>
                  <a:srgbClr val="1D0090"/>
                </a:solidFill>
                <a:latin typeface="Spartan"/>
                <a:ea typeface="Spartan"/>
                <a:cs typeface="Spartan"/>
              </a:defRPr>
            </a:pPr>
            <a:r>
              <a:rPr sz="3600" b="1">
                <a:solidFill>
                  <a:srgbClr val="1D0090"/>
                </a:solidFill>
                <a:latin typeface="Spartan"/>
                <a:ea typeface="Spartan"/>
                <a:cs typeface="Spartan"/>
              </a:rPr>
              <a:t>Towards Agentic AI</a:t>
            </a:r>
            <a:endParaRPr/>
          </a:p>
          <a:p>
            <a:pPr algn="l">
              <a:defRPr sz="3600" b="1">
                <a:solidFill>
                  <a:srgbClr val="1D0090"/>
                </a:solidFill>
                <a:latin typeface="Spartan"/>
                <a:ea typeface="Spartan"/>
                <a:cs typeface="Spartan"/>
              </a:defRPr>
            </a:pPr>
            <a:r>
              <a:rPr sz="3600" b="1">
                <a:solidFill>
                  <a:srgbClr val="1D0090"/>
                </a:solidFill>
                <a:latin typeface="Spartan"/>
                <a:ea typeface="Spartan"/>
                <a:cs typeface="Spartan"/>
              </a:rPr>
              <a:t>Trusted Execution</a:t>
            </a:r>
            <a:endParaRPr/>
          </a:p>
        </p:txBody>
      </p:sp>
      <p:sp>
        <p:nvSpPr>
          <p:cNvPr id="669601170" name="copy-23"/>
          <p:cNvSpPr>
            <a:spLocks noGrp="1"/>
          </p:cNvSpPr>
          <p:nvPr/>
        </p:nvSpPr>
        <p:spPr bwMode="auto">
          <a:xfrm>
            <a:off x="457200" y="2105025"/>
            <a:ext cx="11277600" cy="333375"/>
          </a:xfrm>
          <a:prstGeom prst="rect">
            <a:avLst/>
          </a:prstGeom>
          <a:noFill/>
          <a:ln w="0">
            <a:noFill/>
            <a:prstDash val="solid"/>
          </a:ln>
        </p:spPr>
        <p:txBody>
          <a:bodyPr wrap="none" lIns="0" tIns="0" rIns="0" bIns="0" anchor="t">
            <a:noAutofit/>
          </a:bodyPr>
          <a:lstStyle/>
          <a:p>
            <a:pPr algn="l">
              <a:defRPr sz="1900" b="0">
                <a:solidFill>
                  <a:srgbClr val="3D3D3D"/>
                </a:solidFill>
                <a:latin typeface="Mulish"/>
                <a:ea typeface="Mulish"/>
                <a:cs typeface="Mulish"/>
              </a:defRPr>
            </a:pPr>
            <a:r>
              <a:rPr sz="1900" b="0">
                <a:solidFill>
                  <a:srgbClr val="3D3D3D"/>
                </a:solidFill>
                <a:latin typeface="Mulish"/>
                <a:ea typeface="Mulish"/>
                <a:cs typeface="Mulish"/>
              </a:rPr>
              <a:t>Extend established digital trust into agent-initiated government action</a:t>
            </a:r>
            <a:endParaRPr/>
          </a:p>
        </p:txBody>
      </p:sp>
      <p:sp>
        <p:nvSpPr>
          <p:cNvPr id="1857318461" name="copy-24"/>
          <p:cNvSpPr>
            <a:spLocks noGrp="1"/>
          </p:cNvSpPr>
          <p:nvPr/>
        </p:nvSpPr>
        <p:spPr bwMode="auto">
          <a:xfrm>
            <a:off x="457200" y="2705100"/>
            <a:ext cx="6477000" cy="276225"/>
          </a:xfrm>
          <a:prstGeom prst="rect">
            <a:avLst/>
          </a:prstGeom>
          <a:noFill/>
          <a:ln w="0">
            <a:noFill/>
            <a:prstDash val="solid"/>
          </a:ln>
        </p:spPr>
        <p:txBody>
          <a:bodyPr wrap="none" lIns="0" tIns="0" rIns="0" bIns="0" anchor="t">
            <a:noAutofit/>
          </a:bodyPr>
          <a:lstStyle/>
          <a:p>
            <a:pPr algn="l">
              <a:defRPr sz="1600" b="1">
                <a:solidFill>
                  <a:srgbClr val="667085"/>
                </a:solidFill>
                <a:latin typeface="Mulish"/>
                <a:ea typeface="Mulish"/>
                <a:cs typeface="Mulish"/>
              </a:defRPr>
            </a:pPr>
            <a:r>
              <a:rPr sz="1600" b="1">
                <a:solidFill>
                  <a:srgbClr val="667085"/>
                </a:solidFill>
                <a:latin typeface="Mulish"/>
                <a:ea typeface="Mulish"/>
                <a:cs typeface="Mulish"/>
              </a:rPr>
              <a:t>EXISTING TRUST FOUNDATION</a:t>
            </a:r>
            <a:endParaRPr/>
          </a:p>
        </p:txBody>
      </p:sp>
      <p:sp>
        <p:nvSpPr>
          <p:cNvPr id="1832801352" name="trust-evolution-stage-0"/>
          <p:cNvSpPr>
            <a:spLocks noGrp="1"/>
          </p:cNvSpPr>
          <p:nvPr/>
        </p:nvSpPr>
        <p:spPr bwMode="auto">
          <a:xfrm>
            <a:off x="457200" y="3562350"/>
            <a:ext cx="2133600" cy="1714500"/>
          </a:xfrm>
          <a:prstGeom prst="rect">
            <a:avLst/>
          </a:prstGeom>
          <a:solidFill>
            <a:srgbClr val="F5EDFF"/>
          </a:solidFill>
          <a:ln w="0">
            <a:noFill/>
            <a:prstDash val="solid"/>
          </a:ln>
        </p:spPr>
      </p:sp>
      <p:sp>
        <p:nvSpPr>
          <p:cNvPr id="803340264" name="copy-25"/>
          <p:cNvSpPr>
            <a:spLocks noGrp="1"/>
          </p:cNvSpPr>
          <p:nvPr/>
        </p:nvSpPr>
        <p:spPr bwMode="auto">
          <a:xfrm>
            <a:off x="590549" y="3714750"/>
            <a:ext cx="1924050" cy="590549"/>
          </a:xfrm>
          <a:prstGeom prst="rect">
            <a:avLst/>
          </a:prstGeom>
          <a:noFill/>
          <a:ln w="0">
            <a:noFill/>
            <a:prstDash val="solid"/>
          </a:ln>
        </p:spPr>
        <p:txBody>
          <a:bodyPr wrap="none" lIns="0" tIns="0" rIns="0" bIns="0" anchor="t">
            <a:noAutofit/>
          </a:bodyPr>
          <a:lstStyle/>
          <a:p>
            <a:pPr algn="l">
              <a:defRPr sz="1800" b="1">
                <a:solidFill>
                  <a:srgbClr val="1D0090"/>
                </a:solidFill>
                <a:latin typeface="Mulish"/>
                <a:ea typeface="Mulish"/>
                <a:cs typeface="Mulish"/>
              </a:defRPr>
            </a:pPr>
            <a:r>
              <a:rPr sz="1800" b="1">
                <a:solidFill>
                  <a:srgbClr val="1D0090"/>
                </a:solidFill>
                <a:latin typeface="Mulish"/>
                <a:ea typeface="Mulish"/>
                <a:cs typeface="Mulish"/>
              </a:rPr>
              <a:t>Digital</a:t>
            </a:r>
            <a:endParaRPr/>
          </a:p>
          <a:p>
            <a:pPr algn="l">
              <a:defRPr sz="1800" b="1">
                <a:solidFill>
                  <a:srgbClr val="1D0090"/>
                </a:solidFill>
                <a:latin typeface="Mulish"/>
                <a:ea typeface="Mulish"/>
                <a:cs typeface="Mulish"/>
              </a:defRPr>
            </a:pPr>
            <a:r>
              <a:rPr sz="1800" b="1">
                <a:solidFill>
                  <a:srgbClr val="1D0090"/>
                </a:solidFill>
                <a:latin typeface="Mulish"/>
                <a:ea typeface="Mulish"/>
                <a:cs typeface="Mulish"/>
              </a:rPr>
              <a:t>signatures</a:t>
            </a:r>
            <a:endParaRPr/>
          </a:p>
        </p:txBody>
      </p:sp>
      <p:sp>
        <p:nvSpPr>
          <p:cNvPr id="1933362885" name="copy-26"/>
          <p:cNvSpPr>
            <a:spLocks noGrp="1"/>
          </p:cNvSpPr>
          <p:nvPr/>
        </p:nvSpPr>
        <p:spPr bwMode="auto">
          <a:xfrm>
            <a:off x="590549" y="4438650"/>
            <a:ext cx="1924050" cy="895350"/>
          </a:xfrm>
          <a:prstGeom prst="rect">
            <a:avLst/>
          </a:prstGeom>
          <a:noFill/>
          <a:ln w="0">
            <a:noFill/>
            <a:prstDash val="solid"/>
          </a:ln>
        </p:spPr>
        <p:txBody>
          <a:bodyPr wrap="none" lIns="0" tIns="0" rIns="0" bIns="0" anchor="t">
            <a:noAutofit/>
          </a:bodyPr>
          <a:lstStyle/>
          <a:p>
            <a:pPr algn="l">
              <a:defRPr sz="1600" b="0">
                <a:solidFill>
                  <a:srgbClr val="3D3D3D"/>
                </a:solidFill>
                <a:latin typeface="Mulish"/>
                <a:ea typeface="Mulish"/>
                <a:cs typeface="Mulish"/>
              </a:defRPr>
            </a:pPr>
            <a:r>
              <a:rPr sz="1600" b="0">
                <a:solidFill>
                  <a:srgbClr val="3D3D3D"/>
                </a:solidFill>
                <a:latin typeface="Mulish"/>
                <a:ea typeface="Mulish"/>
                <a:cs typeface="Mulish"/>
              </a:rPr>
              <a:t>Identity, signing</a:t>
            </a:r>
            <a:endParaRPr/>
          </a:p>
          <a:p>
            <a:pPr algn="l">
              <a:defRPr sz="1600" b="0">
                <a:solidFill>
                  <a:srgbClr val="3D3D3D"/>
                </a:solidFill>
                <a:latin typeface="Mulish"/>
                <a:ea typeface="Mulish"/>
                <a:cs typeface="Mulish"/>
              </a:defRPr>
            </a:pPr>
            <a:r>
              <a:rPr sz="1600" b="0">
                <a:solidFill>
                  <a:srgbClr val="3D3D3D"/>
                </a:solidFill>
                <a:latin typeface="Mulish"/>
                <a:ea typeface="Mulish"/>
                <a:cs typeface="Mulish"/>
              </a:rPr>
              <a:t>and timestamps</a:t>
            </a:r>
            <a:endParaRPr/>
          </a:p>
        </p:txBody>
      </p:sp>
      <p:sp>
        <p:nvSpPr>
          <p:cNvPr id="876652655" name="trust-evolution-stage-1"/>
          <p:cNvSpPr>
            <a:spLocks noGrp="1"/>
          </p:cNvSpPr>
          <p:nvPr/>
        </p:nvSpPr>
        <p:spPr bwMode="auto">
          <a:xfrm>
            <a:off x="2743200" y="3314700"/>
            <a:ext cx="2133600" cy="1962150"/>
          </a:xfrm>
          <a:prstGeom prst="rect">
            <a:avLst/>
          </a:prstGeom>
          <a:solidFill>
            <a:srgbClr val="F5EDFF"/>
          </a:solidFill>
          <a:ln w="0">
            <a:noFill/>
            <a:prstDash val="solid"/>
          </a:ln>
        </p:spPr>
      </p:sp>
      <p:sp>
        <p:nvSpPr>
          <p:cNvPr id="1422441323" name="copy-27"/>
          <p:cNvSpPr>
            <a:spLocks noGrp="1"/>
          </p:cNvSpPr>
          <p:nvPr/>
        </p:nvSpPr>
        <p:spPr bwMode="auto">
          <a:xfrm>
            <a:off x="2876550" y="3467100"/>
            <a:ext cx="1924050" cy="590549"/>
          </a:xfrm>
          <a:prstGeom prst="rect">
            <a:avLst/>
          </a:prstGeom>
          <a:noFill/>
          <a:ln w="0">
            <a:noFill/>
            <a:prstDash val="solid"/>
          </a:ln>
        </p:spPr>
        <p:txBody>
          <a:bodyPr wrap="none" lIns="0" tIns="0" rIns="0" bIns="0" anchor="t">
            <a:noAutofit/>
          </a:bodyPr>
          <a:lstStyle/>
          <a:p>
            <a:pPr algn="l">
              <a:defRPr sz="1800" b="1">
                <a:solidFill>
                  <a:srgbClr val="1D0090"/>
                </a:solidFill>
                <a:latin typeface="Mulish"/>
                <a:ea typeface="Mulish"/>
                <a:cs typeface="Mulish"/>
              </a:defRPr>
            </a:pPr>
            <a:r>
              <a:rPr sz="1800" b="1">
                <a:solidFill>
                  <a:srgbClr val="1D0090"/>
                </a:solidFill>
                <a:latin typeface="Mulish"/>
                <a:ea typeface="Mulish"/>
                <a:cs typeface="Mulish"/>
              </a:rPr>
              <a:t>Trusted</a:t>
            </a:r>
            <a:endParaRPr/>
          </a:p>
          <a:p>
            <a:pPr algn="l">
              <a:defRPr sz="1800" b="1">
                <a:solidFill>
                  <a:srgbClr val="1D0090"/>
                </a:solidFill>
                <a:latin typeface="Mulish"/>
                <a:ea typeface="Mulish"/>
                <a:cs typeface="Mulish"/>
              </a:defRPr>
            </a:pPr>
            <a:r>
              <a:rPr sz="1800" b="1">
                <a:solidFill>
                  <a:srgbClr val="1D0090"/>
                </a:solidFill>
                <a:latin typeface="Mulish"/>
                <a:ea typeface="Mulish"/>
                <a:cs typeface="Mulish"/>
              </a:rPr>
              <a:t>collaboration</a:t>
            </a:r>
            <a:endParaRPr/>
          </a:p>
        </p:txBody>
      </p:sp>
      <p:sp>
        <p:nvSpPr>
          <p:cNvPr id="1939931281" name="copy-28"/>
          <p:cNvSpPr>
            <a:spLocks noGrp="1"/>
          </p:cNvSpPr>
          <p:nvPr/>
        </p:nvSpPr>
        <p:spPr bwMode="auto">
          <a:xfrm>
            <a:off x="2876550" y="4191000"/>
            <a:ext cx="1924050" cy="895350"/>
          </a:xfrm>
          <a:prstGeom prst="rect">
            <a:avLst/>
          </a:prstGeom>
          <a:noFill/>
          <a:ln w="0">
            <a:noFill/>
            <a:prstDash val="solid"/>
          </a:ln>
        </p:spPr>
        <p:txBody>
          <a:bodyPr wrap="none" lIns="0" tIns="0" rIns="0" bIns="0" anchor="t">
            <a:noAutofit/>
          </a:bodyPr>
          <a:lstStyle/>
          <a:p>
            <a:pPr algn="l">
              <a:defRPr sz="1600" b="0">
                <a:solidFill>
                  <a:srgbClr val="3D3D3D"/>
                </a:solidFill>
                <a:latin typeface="Mulish"/>
                <a:ea typeface="Mulish"/>
                <a:cs typeface="Mulish"/>
              </a:defRPr>
            </a:pPr>
            <a:r>
              <a:rPr sz="1600" b="0">
                <a:solidFill>
                  <a:srgbClr val="3D3D3D"/>
                </a:solidFill>
                <a:latin typeface="Mulish"/>
                <a:ea typeface="Mulish"/>
                <a:cs typeface="Mulish"/>
              </a:rPr>
              <a:t>Approvals and</a:t>
            </a:r>
            <a:endParaRPr/>
          </a:p>
          <a:p>
            <a:pPr algn="l">
              <a:defRPr sz="1600" b="0">
                <a:solidFill>
                  <a:srgbClr val="3D3D3D"/>
                </a:solidFill>
                <a:latin typeface="Mulish"/>
                <a:ea typeface="Mulish"/>
                <a:cs typeface="Mulish"/>
              </a:defRPr>
            </a:pPr>
            <a:r>
              <a:rPr sz="1600" b="0">
                <a:solidFill>
                  <a:srgbClr val="3D3D3D"/>
                </a:solidFill>
                <a:latin typeface="Mulish"/>
                <a:ea typeface="Mulish"/>
                <a:cs typeface="Mulish"/>
              </a:rPr>
              <a:t>multi-party</a:t>
            </a:r>
            <a:endParaRPr/>
          </a:p>
          <a:p>
            <a:pPr algn="l">
              <a:defRPr sz="1600" b="0">
                <a:solidFill>
                  <a:srgbClr val="3D3D3D"/>
                </a:solidFill>
                <a:latin typeface="Mulish"/>
                <a:ea typeface="Mulish"/>
                <a:cs typeface="Mulish"/>
              </a:defRPr>
            </a:pPr>
            <a:r>
              <a:rPr sz="1600" b="0">
                <a:solidFill>
                  <a:srgbClr val="3D3D3D"/>
                </a:solidFill>
                <a:latin typeface="Mulish"/>
                <a:ea typeface="Mulish"/>
                <a:cs typeface="Mulish"/>
              </a:rPr>
              <a:t>workflows</a:t>
            </a:r>
            <a:endParaRPr/>
          </a:p>
        </p:txBody>
      </p:sp>
      <p:sp>
        <p:nvSpPr>
          <p:cNvPr id="1221771177" name="trust-evolution-stage-2"/>
          <p:cNvSpPr>
            <a:spLocks noGrp="1"/>
          </p:cNvSpPr>
          <p:nvPr/>
        </p:nvSpPr>
        <p:spPr bwMode="auto">
          <a:xfrm>
            <a:off x="5029200" y="3067050"/>
            <a:ext cx="2133600" cy="2209800"/>
          </a:xfrm>
          <a:prstGeom prst="rect">
            <a:avLst/>
          </a:prstGeom>
          <a:solidFill>
            <a:srgbClr val="F5EDFF"/>
          </a:solidFill>
          <a:ln w="0">
            <a:noFill/>
            <a:prstDash val="solid"/>
          </a:ln>
        </p:spPr>
      </p:sp>
      <p:sp>
        <p:nvSpPr>
          <p:cNvPr id="1874962122" name="copy-29"/>
          <p:cNvSpPr>
            <a:spLocks noGrp="1"/>
          </p:cNvSpPr>
          <p:nvPr/>
        </p:nvSpPr>
        <p:spPr bwMode="auto">
          <a:xfrm>
            <a:off x="5162550" y="3219449"/>
            <a:ext cx="1924050" cy="590549"/>
          </a:xfrm>
          <a:prstGeom prst="rect">
            <a:avLst/>
          </a:prstGeom>
          <a:noFill/>
          <a:ln w="0">
            <a:noFill/>
            <a:prstDash val="solid"/>
          </a:ln>
        </p:spPr>
        <p:txBody>
          <a:bodyPr wrap="none" lIns="0" tIns="0" rIns="0" bIns="0" anchor="t">
            <a:noAutofit/>
          </a:bodyPr>
          <a:lstStyle/>
          <a:p>
            <a:pPr algn="l">
              <a:defRPr sz="1800" b="1">
                <a:solidFill>
                  <a:srgbClr val="1D0090"/>
                </a:solidFill>
                <a:latin typeface="Mulish"/>
                <a:ea typeface="Mulish"/>
                <a:cs typeface="Mulish"/>
              </a:defRPr>
            </a:pPr>
            <a:r>
              <a:rPr sz="1800" b="1">
                <a:solidFill>
                  <a:srgbClr val="1D0090"/>
                </a:solidFill>
                <a:latin typeface="Mulish"/>
                <a:ea typeface="Mulish"/>
                <a:cs typeface="Mulish"/>
              </a:rPr>
              <a:t>Sovereign trust</a:t>
            </a:r>
            <a:endParaRPr/>
          </a:p>
          <a:p>
            <a:pPr algn="l">
              <a:defRPr sz="1800" b="1">
                <a:solidFill>
                  <a:srgbClr val="1D0090"/>
                </a:solidFill>
                <a:latin typeface="Mulish"/>
                <a:ea typeface="Mulish"/>
                <a:cs typeface="Mulish"/>
              </a:defRPr>
            </a:pPr>
            <a:r>
              <a:rPr sz="1800" b="1">
                <a:solidFill>
                  <a:srgbClr val="1D0090"/>
                </a:solidFill>
                <a:latin typeface="Mulish"/>
                <a:ea typeface="Mulish"/>
                <a:cs typeface="Mulish"/>
              </a:rPr>
              <a:t>infrastructure</a:t>
            </a:r>
            <a:endParaRPr/>
          </a:p>
        </p:txBody>
      </p:sp>
      <p:sp>
        <p:nvSpPr>
          <p:cNvPr id="600638378" name="copy-30"/>
          <p:cNvSpPr>
            <a:spLocks noGrp="1"/>
          </p:cNvSpPr>
          <p:nvPr/>
        </p:nvSpPr>
        <p:spPr bwMode="auto">
          <a:xfrm>
            <a:off x="5162550" y="3943350"/>
            <a:ext cx="1924050" cy="895350"/>
          </a:xfrm>
          <a:prstGeom prst="rect">
            <a:avLst/>
          </a:prstGeom>
          <a:noFill/>
          <a:ln w="0">
            <a:noFill/>
            <a:prstDash val="solid"/>
          </a:ln>
        </p:spPr>
        <p:txBody>
          <a:bodyPr wrap="none" lIns="0" tIns="0" rIns="0" bIns="0" anchor="t">
            <a:noAutofit/>
          </a:bodyPr>
          <a:lstStyle/>
          <a:p>
            <a:pPr algn="l">
              <a:defRPr sz="1600" b="0">
                <a:solidFill>
                  <a:srgbClr val="3D3D3D"/>
                </a:solidFill>
                <a:latin typeface="Mulish"/>
                <a:ea typeface="Mulish"/>
                <a:cs typeface="Mulish"/>
              </a:defRPr>
            </a:pPr>
            <a:r>
              <a:rPr sz="1600" b="0">
                <a:solidFill>
                  <a:srgbClr val="3D3D3D"/>
                </a:solidFill>
                <a:latin typeface="Mulish"/>
                <a:ea typeface="Mulish"/>
                <a:cs typeface="Mulish"/>
              </a:rPr>
              <a:t>Shared services,</a:t>
            </a:r>
            <a:endParaRPr/>
          </a:p>
          <a:p>
            <a:pPr algn="l">
              <a:defRPr sz="1600" b="0">
                <a:solidFill>
                  <a:srgbClr val="3D3D3D"/>
                </a:solidFill>
                <a:latin typeface="Mulish"/>
                <a:ea typeface="Mulish"/>
                <a:cs typeface="Mulish"/>
              </a:defRPr>
            </a:pPr>
            <a:r>
              <a:rPr sz="1600" b="0">
                <a:solidFill>
                  <a:srgbClr val="3D3D3D"/>
                </a:solidFill>
                <a:latin typeface="Mulish"/>
                <a:ea typeface="Mulish"/>
                <a:cs typeface="Mulish"/>
              </a:rPr>
              <a:t>identity integration</a:t>
            </a:r>
            <a:endParaRPr/>
          </a:p>
          <a:p>
            <a:pPr algn="l">
              <a:defRPr sz="1600" b="0">
                <a:solidFill>
                  <a:srgbClr val="3D3D3D"/>
                </a:solidFill>
                <a:latin typeface="Mulish"/>
                <a:ea typeface="Mulish"/>
                <a:cs typeface="Mulish"/>
              </a:defRPr>
            </a:pPr>
            <a:r>
              <a:rPr sz="1600" b="0">
                <a:solidFill>
                  <a:srgbClr val="3D3D3D"/>
                </a:solidFill>
                <a:latin typeface="Mulish"/>
                <a:ea typeface="Mulish"/>
                <a:cs typeface="Mulish"/>
              </a:rPr>
              <a:t>and evidence</a:t>
            </a:r>
            <a:endParaRPr/>
          </a:p>
        </p:txBody>
      </p:sp>
      <p:sp>
        <p:nvSpPr>
          <p:cNvPr id="541692252" name="trust-evolution-stage-3"/>
          <p:cNvSpPr>
            <a:spLocks noGrp="1"/>
          </p:cNvSpPr>
          <p:nvPr/>
        </p:nvSpPr>
        <p:spPr bwMode="auto">
          <a:xfrm>
            <a:off x="7315200" y="2819400"/>
            <a:ext cx="2133600" cy="2457450"/>
          </a:xfrm>
          <a:prstGeom prst="rect">
            <a:avLst/>
          </a:prstGeom>
          <a:solidFill>
            <a:srgbClr val="7000FF"/>
          </a:solidFill>
          <a:ln w="0">
            <a:noFill/>
            <a:prstDash val="solid"/>
          </a:ln>
        </p:spPr>
      </p:sp>
      <p:sp>
        <p:nvSpPr>
          <p:cNvPr id="2130166386" name="copy-31"/>
          <p:cNvSpPr>
            <a:spLocks noGrp="1"/>
          </p:cNvSpPr>
          <p:nvPr/>
        </p:nvSpPr>
        <p:spPr bwMode="auto">
          <a:xfrm>
            <a:off x="7448550" y="2971800"/>
            <a:ext cx="1924050" cy="590549"/>
          </a:xfrm>
          <a:prstGeom prst="rect">
            <a:avLst/>
          </a:prstGeom>
          <a:noFill/>
          <a:ln w="0">
            <a:noFill/>
            <a:prstDash val="solid"/>
          </a:ln>
        </p:spPr>
        <p:txBody>
          <a:bodyPr wrap="none" lIns="0" tIns="0" rIns="0" bIns="0" anchor="t">
            <a:noAutofit/>
          </a:bodyPr>
          <a:lstStyle/>
          <a:p>
            <a:pPr algn="l">
              <a:defRPr sz="1800" b="1">
                <a:solidFill>
                  <a:srgbClr val="FFFFFF"/>
                </a:solidFill>
                <a:latin typeface="Mulish"/>
                <a:ea typeface="Mulish"/>
                <a:cs typeface="Mulish"/>
              </a:defRPr>
            </a:pPr>
            <a:r>
              <a:rPr sz="1800" b="1">
                <a:solidFill>
                  <a:srgbClr val="FFFFFF"/>
                </a:solidFill>
                <a:latin typeface="Mulish"/>
                <a:ea typeface="Mulish"/>
                <a:cs typeface="Mulish"/>
              </a:rPr>
              <a:t>Trusted</a:t>
            </a:r>
            <a:endParaRPr/>
          </a:p>
          <a:p>
            <a:pPr algn="l">
              <a:defRPr sz="1800" b="1">
                <a:solidFill>
                  <a:srgbClr val="FFFFFF"/>
                </a:solidFill>
                <a:latin typeface="Mulish"/>
                <a:ea typeface="Mulish"/>
                <a:cs typeface="Mulish"/>
              </a:defRPr>
            </a:pPr>
            <a:r>
              <a:rPr sz="1800" b="1">
                <a:solidFill>
                  <a:srgbClr val="FFFFFF"/>
                </a:solidFill>
                <a:latin typeface="Mulish"/>
                <a:ea typeface="Mulish"/>
                <a:cs typeface="Mulish"/>
              </a:rPr>
              <a:t>execution</a:t>
            </a:r>
            <a:endParaRPr/>
          </a:p>
        </p:txBody>
      </p:sp>
      <p:sp>
        <p:nvSpPr>
          <p:cNvPr id="1878709106" name="copy-32"/>
          <p:cNvSpPr>
            <a:spLocks noGrp="1"/>
          </p:cNvSpPr>
          <p:nvPr/>
        </p:nvSpPr>
        <p:spPr bwMode="auto">
          <a:xfrm>
            <a:off x="7448550" y="3695700"/>
            <a:ext cx="1924050" cy="895350"/>
          </a:xfrm>
          <a:prstGeom prst="rect">
            <a:avLst/>
          </a:prstGeom>
          <a:noFill/>
          <a:ln w="0">
            <a:noFill/>
            <a:prstDash val="solid"/>
          </a:ln>
        </p:spPr>
        <p:txBody>
          <a:bodyPr wrap="none" lIns="0" tIns="0" rIns="0" bIns="0" anchor="t">
            <a:noAutofit/>
          </a:bodyPr>
          <a:lstStyle/>
          <a:p>
            <a:pPr algn="l">
              <a:defRPr sz="1600" b="0">
                <a:solidFill>
                  <a:srgbClr val="FFFFFF"/>
                </a:solidFill>
                <a:latin typeface="Mulish"/>
                <a:ea typeface="Mulish"/>
                <a:cs typeface="Mulish"/>
              </a:defRPr>
            </a:pPr>
            <a:r>
              <a:rPr sz="1600" b="0">
                <a:solidFill>
                  <a:srgbClr val="FFFFFF"/>
                </a:solidFill>
                <a:latin typeface="Mulish"/>
                <a:ea typeface="Mulish"/>
                <a:cs typeface="Mulish"/>
              </a:rPr>
              <a:t>Governed actions</a:t>
            </a:r>
            <a:endParaRPr/>
          </a:p>
          <a:p>
            <a:pPr algn="l">
              <a:defRPr sz="1600" b="0">
                <a:solidFill>
                  <a:srgbClr val="FFFFFF"/>
                </a:solidFill>
                <a:latin typeface="Mulish"/>
                <a:ea typeface="Mulish"/>
                <a:cs typeface="Mulish"/>
              </a:defRPr>
            </a:pPr>
            <a:r>
              <a:rPr sz="1600" b="0">
                <a:solidFill>
                  <a:srgbClr val="FFFFFF"/>
                </a:solidFill>
                <a:latin typeface="Mulish"/>
                <a:ea typeface="Mulish"/>
                <a:cs typeface="Mulish"/>
              </a:rPr>
              <a:t>through connected</a:t>
            </a:r>
            <a:endParaRPr/>
          </a:p>
          <a:p>
            <a:pPr algn="l">
              <a:defRPr sz="1600" b="0">
                <a:solidFill>
                  <a:srgbClr val="FFFFFF"/>
                </a:solidFill>
                <a:latin typeface="Mulish"/>
                <a:ea typeface="Mulish"/>
                <a:cs typeface="Mulish"/>
              </a:defRPr>
            </a:pPr>
            <a:r>
              <a:rPr sz="1600" b="0">
                <a:solidFill>
                  <a:srgbClr val="FFFFFF"/>
                </a:solidFill>
                <a:latin typeface="Mulish"/>
                <a:ea typeface="Mulish"/>
                <a:cs typeface="Mulish"/>
              </a:rPr>
              <a:t>trust services</a:t>
            </a:r>
            <a:endParaRPr/>
          </a:p>
        </p:txBody>
      </p:sp>
      <p:sp>
        <p:nvSpPr>
          <p:cNvPr id="1873524756" name="copy-33"/>
          <p:cNvSpPr>
            <a:spLocks noGrp="1"/>
          </p:cNvSpPr>
          <p:nvPr/>
        </p:nvSpPr>
        <p:spPr bwMode="auto">
          <a:xfrm>
            <a:off x="7448550" y="4953000"/>
            <a:ext cx="1924050" cy="266700"/>
          </a:xfrm>
          <a:prstGeom prst="rect">
            <a:avLst/>
          </a:prstGeom>
          <a:noFill/>
          <a:ln w="0">
            <a:noFill/>
            <a:prstDash val="solid"/>
          </a:ln>
        </p:spPr>
        <p:txBody>
          <a:bodyPr wrap="none" lIns="0" tIns="0" rIns="0" bIns="0" anchor="t">
            <a:noAutofit/>
          </a:bodyPr>
          <a:lstStyle/>
          <a:p>
            <a:pPr algn="l">
              <a:defRPr sz="1600" b="1">
                <a:solidFill>
                  <a:srgbClr val="FFFFFF"/>
                </a:solidFill>
                <a:latin typeface="Mulish"/>
                <a:ea typeface="Mulish"/>
                <a:cs typeface="Mulish"/>
              </a:defRPr>
            </a:pPr>
            <a:r>
              <a:rPr sz="1600" b="1">
                <a:solidFill>
                  <a:srgbClr val="FFFFFF"/>
                </a:solidFill>
                <a:latin typeface="Mulish"/>
                <a:ea typeface="Mulish"/>
                <a:cs typeface="Mulish"/>
              </a:rPr>
              <a:t>API ENABLED</a:t>
            </a:r>
            <a:endParaRPr/>
          </a:p>
        </p:txBody>
      </p:sp>
      <p:sp>
        <p:nvSpPr>
          <p:cNvPr id="818621923" name="trust-evolution-stage-4"/>
          <p:cNvSpPr>
            <a:spLocks noGrp="1"/>
          </p:cNvSpPr>
          <p:nvPr/>
        </p:nvSpPr>
        <p:spPr bwMode="auto">
          <a:xfrm>
            <a:off x="9601200" y="2571750"/>
            <a:ext cx="2133600" cy="2705100"/>
          </a:xfrm>
          <a:prstGeom prst="rect">
            <a:avLst/>
          </a:prstGeom>
          <a:solidFill>
            <a:srgbClr val="1D0090"/>
          </a:solidFill>
          <a:ln w="0">
            <a:noFill/>
            <a:prstDash val="solid"/>
          </a:ln>
        </p:spPr>
      </p:sp>
      <p:sp>
        <p:nvSpPr>
          <p:cNvPr id="1710358750" name="copy-34"/>
          <p:cNvSpPr>
            <a:spLocks noGrp="1"/>
          </p:cNvSpPr>
          <p:nvPr/>
        </p:nvSpPr>
        <p:spPr bwMode="auto">
          <a:xfrm>
            <a:off x="9734549" y="2724150"/>
            <a:ext cx="1924050" cy="590549"/>
          </a:xfrm>
          <a:prstGeom prst="rect">
            <a:avLst/>
          </a:prstGeom>
          <a:noFill/>
          <a:ln w="0">
            <a:noFill/>
            <a:prstDash val="solid"/>
          </a:ln>
        </p:spPr>
        <p:txBody>
          <a:bodyPr wrap="none" lIns="0" tIns="0" rIns="0" bIns="0" anchor="t">
            <a:noAutofit/>
          </a:bodyPr>
          <a:lstStyle/>
          <a:p>
            <a:pPr algn="l">
              <a:defRPr sz="1800" b="1">
                <a:solidFill>
                  <a:srgbClr val="FFFFFF"/>
                </a:solidFill>
                <a:latin typeface="Mulish"/>
                <a:ea typeface="Mulish"/>
                <a:cs typeface="Mulish"/>
              </a:defRPr>
            </a:pPr>
            <a:r>
              <a:rPr sz="1800" b="1">
                <a:solidFill>
                  <a:srgbClr val="FFFFFF"/>
                </a:solidFill>
                <a:latin typeface="Mulish"/>
                <a:ea typeface="Mulish"/>
                <a:cs typeface="Mulish"/>
              </a:rPr>
              <a:t>Agentic trusted</a:t>
            </a:r>
            <a:endParaRPr/>
          </a:p>
          <a:p>
            <a:pPr algn="l">
              <a:defRPr sz="1800" b="1">
                <a:solidFill>
                  <a:srgbClr val="FFFFFF"/>
                </a:solidFill>
                <a:latin typeface="Mulish"/>
                <a:ea typeface="Mulish"/>
                <a:cs typeface="Mulish"/>
              </a:defRPr>
            </a:pPr>
            <a:r>
              <a:rPr sz="1800" b="1">
                <a:solidFill>
                  <a:srgbClr val="FFFFFF"/>
                </a:solidFill>
                <a:latin typeface="Mulish"/>
                <a:ea typeface="Mulish"/>
                <a:cs typeface="Mulish"/>
              </a:rPr>
              <a:t>execution</a:t>
            </a:r>
            <a:endParaRPr/>
          </a:p>
        </p:txBody>
      </p:sp>
      <p:sp>
        <p:nvSpPr>
          <p:cNvPr id="2078746567" name="copy-35"/>
          <p:cNvSpPr>
            <a:spLocks noGrp="1"/>
          </p:cNvSpPr>
          <p:nvPr/>
        </p:nvSpPr>
        <p:spPr bwMode="auto">
          <a:xfrm>
            <a:off x="9734549" y="3448050"/>
            <a:ext cx="1924050" cy="895350"/>
          </a:xfrm>
          <a:prstGeom prst="rect">
            <a:avLst/>
          </a:prstGeom>
          <a:noFill/>
          <a:ln w="0">
            <a:noFill/>
            <a:prstDash val="solid"/>
          </a:ln>
        </p:spPr>
        <p:txBody>
          <a:bodyPr wrap="none" lIns="0" tIns="0" rIns="0" bIns="0" anchor="t">
            <a:noAutofit/>
          </a:bodyPr>
          <a:lstStyle/>
          <a:p>
            <a:pPr algn="l">
              <a:defRPr sz="1600" b="0">
                <a:solidFill>
                  <a:srgbClr val="FFFFFF"/>
                </a:solidFill>
                <a:latin typeface="Mulish"/>
                <a:ea typeface="Mulish"/>
                <a:cs typeface="Mulish"/>
              </a:defRPr>
            </a:pPr>
            <a:r>
              <a:rPr sz="1600" b="0">
                <a:solidFill>
                  <a:srgbClr val="FFFFFF"/>
                </a:solidFill>
                <a:latin typeface="Mulish"/>
                <a:ea typeface="Mulish"/>
                <a:cs typeface="Mulish"/>
              </a:rPr>
              <a:t>Agents invoke</a:t>
            </a:r>
            <a:endParaRPr/>
          </a:p>
          <a:p>
            <a:pPr algn="l">
              <a:defRPr sz="1600" b="0">
                <a:solidFill>
                  <a:srgbClr val="FFFFFF"/>
                </a:solidFill>
                <a:latin typeface="Mulish"/>
                <a:ea typeface="Mulish"/>
                <a:cs typeface="Mulish"/>
              </a:defRPr>
            </a:pPr>
            <a:r>
              <a:rPr sz="1600" b="0">
                <a:solidFill>
                  <a:srgbClr val="FFFFFF"/>
                </a:solidFill>
                <a:latin typeface="Mulish"/>
                <a:ea typeface="Mulish"/>
                <a:cs typeface="Mulish"/>
              </a:rPr>
              <a:t>trust services for</a:t>
            </a:r>
            <a:endParaRPr/>
          </a:p>
          <a:p>
            <a:pPr algn="l">
              <a:defRPr sz="1600" b="0">
                <a:solidFill>
                  <a:srgbClr val="FFFFFF"/>
                </a:solidFill>
                <a:latin typeface="Mulish"/>
                <a:ea typeface="Mulish"/>
                <a:cs typeface="Mulish"/>
              </a:defRPr>
            </a:pPr>
            <a:r>
              <a:rPr sz="1600" b="0">
                <a:solidFill>
                  <a:srgbClr val="FFFFFF"/>
                </a:solidFill>
                <a:latin typeface="Mulish"/>
                <a:ea typeface="Mulish"/>
                <a:cs typeface="Mulish"/>
              </a:rPr>
              <a:t>an employee</a:t>
            </a:r>
            <a:endParaRPr/>
          </a:p>
        </p:txBody>
      </p:sp>
      <p:sp>
        <p:nvSpPr>
          <p:cNvPr id="2063086729" name="copy-36"/>
          <p:cNvSpPr>
            <a:spLocks noGrp="1"/>
          </p:cNvSpPr>
          <p:nvPr/>
        </p:nvSpPr>
        <p:spPr bwMode="auto">
          <a:xfrm>
            <a:off x="9734549" y="4953000"/>
            <a:ext cx="1924050" cy="266700"/>
          </a:xfrm>
          <a:prstGeom prst="rect">
            <a:avLst/>
          </a:prstGeom>
          <a:noFill/>
          <a:ln w="0">
            <a:noFill/>
            <a:prstDash val="solid"/>
          </a:ln>
        </p:spPr>
        <p:txBody>
          <a:bodyPr wrap="none" lIns="0" tIns="0" rIns="0" bIns="0" anchor="t">
            <a:noAutofit/>
          </a:bodyPr>
          <a:lstStyle/>
          <a:p>
            <a:pPr algn="l">
              <a:defRPr sz="1600" b="1">
                <a:solidFill>
                  <a:srgbClr val="FFFFFF"/>
                </a:solidFill>
                <a:latin typeface="Mulish"/>
                <a:ea typeface="Mulish"/>
                <a:cs typeface="Mulish"/>
              </a:defRPr>
            </a:pPr>
            <a:r>
              <a:rPr sz="1600" b="1">
                <a:solidFill>
                  <a:srgbClr val="FFFFFF"/>
                </a:solidFill>
                <a:latin typeface="Mulish"/>
                <a:ea typeface="Mulish"/>
                <a:cs typeface="Mulish"/>
              </a:rPr>
              <a:t>API ENABLED</a:t>
            </a:r>
            <a:endParaRPr/>
          </a:p>
        </p:txBody>
      </p:sp>
      <p:sp>
        <p:nvSpPr>
          <p:cNvPr id="134714694" name="copy-37"/>
          <p:cNvSpPr>
            <a:spLocks noGrp="1"/>
          </p:cNvSpPr>
          <p:nvPr/>
        </p:nvSpPr>
        <p:spPr bwMode="auto">
          <a:xfrm>
            <a:off x="457200" y="5772150"/>
            <a:ext cx="11277600" cy="276225"/>
          </a:xfrm>
          <a:prstGeom prst="rect">
            <a:avLst/>
          </a:prstGeom>
          <a:noFill/>
          <a:ln w="0">
            <a:noFill/>
            <a:prstDash val="solid"/>
          </a:ln>
        </p:spPr>
        <p:txBody>
          <a:bodyPr wrap="none" lIns="0" tIns="0" rIns="0" bIns="0" anchor="t">
            <a:noAutofit/>
          </a:bodyPr>
          <a:lstStyle/>
          <a:p>
            <a:pPr algn="l">
              <a:defRPr sz="1600" b="1">
                <a:solidFill>
                  <a:srgbClr val="FFFFFF"/>
                </a:solidFill>
                <a:latin typeface="Mulish"/>
                <a:ea typeface="Mulish"/>
                <a:cs typeface="Mulish"/>
              </a:defRPr>
            </a:pPr>
            <a:r>
              <a:rPr sz="1600" b="1">
                <a:solidFill>
                  <a:srgbClr val="FFFFFF"/>
                </a:solidFill>
                <a:latin typeface="Mulish"/>
                <a:ea typeface="Mulish"/>
                <a:cs typeface="Mulish"/>
              </a:rPr>
              <a:t>AVAILABLE TODAY</a:t>
            </a:r>
            <a:endParaRPr/>
          </a:p>
        </p:txBody>
      </p:sp>
      <p:sp>
        <p:nvSpPr>
          <p:cNvPr id="1579615459" name="copy-38"/>
          <p:cNvSpPr>
            <a:spLocks noGrp="1"/>
          </p:cNvSpPr>
          <p:nvPr/>
        </p:nvSpPr>
        <p:spPr bwMode="auto">
          <a:xfrm>
            <a:off x="457200" y="6124575"/>
            <a:ext cx="10763250" cy="571500"/>
          </a:xfrm>
          <a:prstGeom prst="rect">
            <a:avLst/>
          </a:prstGeom>
          <a:noFill/>
          <a:ln w="0">
            <a:noFill/>
            <a:prstDash val="solid"/>
          </a:ln>
        </p:spPr>
        <p:txBody>
          <a:bodyPr wrap="none" lIns="0" tIns="0" rIns="0" bIns="0" anchor="t">
            <a:noAutofit/>
          </a:bodyPr>
          <a:lstStyle/>
          <a:p>
            <a:pPr algn="l">
              <a:defRPr sz="1800" b="0">
                <a:solidFill>
                  <a:srgbClr val="FFFFFF"/>
                </a:solidFill>
                <a:latin typeface="Mulish"/>
                <a:ea typeface="Mulish"/>
                <a:cs typeface="Mulish"/>
              </a:defRPr>
            </a:pPr>
            <a:r>
              <a:rPr sz="1800" b="0">
                <a:solidFill>
                  <a:srgbClr val="FFFFFF"/>
                </a:solidFill>
                <a:latin typeface="Mulish"/>
                <a:ea typeface="Mulish"/>
                <a:cs typeface="Mulish"/>
              </a:rPr>
              <a:t>An agent can digitally seal a document with organisational identity</a:t>
            </a:r>
            <a:endParaRPr/>
          </a:p>
          <a:p>
            <a:pPr algn="l">
              <a:defRPr sz="1800" b="0">
                <a:solidFill>
                  <a:srgbClr val="FFFFFF"/>
                </a:solidFill>
                <a:latin typeface="Mulish"/>
                <a:ea typeface="Mulish"/>
                <a:cs typeface="Mulish"/>
              </a:defRPr>
            </a:pPr>
            <a:r>
              <a:rPr sz="1800" b="0">
                <a:solidFill>
                  <a:srgbClr val="FFFFFF"/>
                </a:solidFill>
                <a:latin typeface="Mulish"/>
                <a:ea typeface="Mulish"/>
                <a:cs typeface="Mulish"/>
              </a:rPr>
              <a:t>on behalf of an employee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58116475" name=""/>
          <p:cNvPicPr>
            <a:picLocks noChangeAspect="1"/>
          </p:cNvPicPr>
          <p:nvPr/>
        </p:nvPicPr>
        <p:blipFill rotWithShape="1">
          <a:blip r:embed="rId3"/>
          <a:stretch/>
        </p:blipFill>
        <p:spPr bwMode="auto">
          <a:xfrm>
            <a:off x="457200" y="228600"/>
            <a:ext cx="381000" cy="381000"/>
          </a:xfrm>
          <a:prstGeom prst="rect">
            <a:avLst/>
          </a:prstGeom>
        </p:spPr>
      </p:pic>
      <p:sp>
        <p:nvSpPr>
          <p:cNvPr id="404293459" name="page-number"/>
          <p:cNvSpPr>
            <a:spLocks noGrp="1"/>
          </p:cNvSpPr>
          <p:nvPr/>
        </p:nvSpPr>
        <p:spPr bwMode="auto">
          <a:xfrm>
            <a:off x="11277600" y="6438899"/>
            <a:ext cx="457200" cy="190500"/>
          </a:xfrm>
          <a:prstGeom prst="rect">
            <a:avLst/>
          </a:prstGeom>
          <a:noFill/>
          <a:ln w="0">
            <a:noFill/>
            <a:prstDash val="solid"/>
          </a:ln>
        </p:spPr>
        <p:txBody>
          <a:bodyPr/>
          <a:lstStyle/>
          <a:p>
            <a:pPr algn="r">
              <a:defRPr sz="1050" b="1">
                <a:solidFill>
                  <a:srgbClr val="1D0090"/>
                </a:solidFill>
                <a:latin typeface="Mulish"/>
                <a:ea typeface="Mulish"/>
                <a:cs typeface="Mulish"/>
              </a:defRPr>
            </a:pPr>
            <a:r>
              <a:rPr sz="1050" b="1">
                <a:solidFill>
                  <a:srgbClr val="1D0090"/>
                </a:solidFill>
                <a:latin typeface="Mulish"/>
                <a:ea typeface="Mulish"/>
                <a:cs typeface="Mulish"/>
              </a:rPr>
              <a:t>03</a:t>
            </a:r>
            <a:endParaRPr/>
          </a:p>
        </p:txBody>
      </p:sp>
      <p:sp>
        <p:nvSpPr>
          <p:cNvPr id="201019400" name="copy-39"/>
          <p:cNvSpPr>
            <a:spLocks noGrp="1"/>
          </p:cNvSpPr>
          <p:nvPr/>
        </p:nvSpPr>
        <p:spPr bwMode="auto">
          <a:xfrm>
            <a:off x="990600" y="295274"/>
            <a:ext cx="10096500" cy="266700"/>
          </a:xfrm>
          <a:prstGeom prst="rect">
            <a:avLst/>
          </a:prstGeom>
          <a:noFill/>
          <a:ln w="0">
            <a:noFill/>
            <a:prstDash val="solid"/>
          </a:ln>
        </p:spPr>
        <p:txBody>
          <a:bodyPr wrap="none" lIns="0" tIns="0" rIns="0" bIns="0" anchor="t">
            <a:noAutofit/>
          </a:bodyPr>
          <a:lstStyle/>
          <a:p>
            <a:pPr algn="l">
              <a:defRPr sz="1350" b="1">
                <a:solidFill>
                  <a:srgbClr val="7000FF"/>
                </a:solidFill>
                <a:latin typeface="Mulish"/>
                <a:ea typeface="Mulish"/>
                <a:cs typeface="Mulish"/>
              </a:defRPr>
            </a:pPr>
            <a:r>
              <a:rPr sz="1350" b="1">
                <a:solidFill>
                  <a:srgbClr val="7000FF"/>
                </a:solidFill>
                <a:latin typeface="Mulish"/>
                <a:ea typeface="Mulish"/>
                <a:cs typeface="Mulish"/>
              </a:rPr>
              <a:t>SHARED-SERVICE CONTROL FRAMEWORK</a:t>
            </a:r>
            <a:endParaRPr/>
          </a:p>
        </p:txBody>
      </p:sp>
      <p:sp>
        <p:nvSpPr>
          <p:cNvPr id="42398198" name="copy-40"/>
          <p:cNvSpPr>
            <a:spLocks noGrp="1"/>
          </p:cNvSpPr>
          <p:nvPr/>
        </p:nvSpPr>
        <p:spPr bwMode="auto">
          <a:xfrm>
            <a:off x="457200" y="914400"/>
            <a:ext cx="11277600" cy="1095375"/>
          </a:xfrm>
          <a:prstGeom prst="rect">
            <a:avLst/>
          </a:prstGeom>
          <a:noFill/>
          <a:ln w="0">
            <a:noFill/>
            <a:prstDash val="solid"/>
          </a:ln>
        </p:spPr>
        <p:txBody>
          <a:bodyPr wrap="none" lIns="0" tIns="0" rIns="0" bIns="0" anchor="t">
            <a:noAutofit/>
          </a:bodyPr>
          <a:lstStyle/>
          <a:p>
            <a:pPr algn="l">
              <a:defRPr sz="3600" b="1">
                <a:solidFill>
                  <a:srgbClr val="1D0090"/>
                </a:solidFill>
                <a:latin typeface="Spartan"/>
                <a:ea typeface="Spartan"/>
                <a:cs typeface="Spartan"/>
              </a:defRPr>
            </a:pPr>
            <a:r>
              <a:rPr sz="3600" b="1">
                <a:solidFill>
                  <a:srgbClr val="1D0090"/>
                </a:solidFill>
                <a:latin typeface="Spartan"/>
                <a:ea typeface="Spartan"/>
                <a:cs typeface="Spartan"/>
              </a:rPr>
              <a:t>Agent actions within</a:t>
            </a:r>
            <a:endParaRPr/>
          </a:p>
          <a:p>
            <a:pPr algn="l">
              <a:defRPr sz="3600" b="1">
                <a:solidFill>
                  <a:srgbClr val="1D0090"/>
                </a:solidFill>
                <a:latin typeface="Spartan"/>
                <a:ea typeface="Spartan"/>
                <a:cs typeface="Spartan"/>
              </a:defRPr>
            </a:pPr>
            <a:r>
              <a:rPr sz="3600" b="1">
                <a:solidFill>
                  <a:srgbClr val="1D0090"/>
                </a:solidFill>
                <a:latin typeface="Spartan"/>
                <a:ea typeface="Spartan"/>
                <a:cs typeface="Spartan"/>
              </a:rPr>
              <a:t>institutional control</a:t>
            </a:r>
            <a:endParaRPr/>
          </a:p>
        </p:txBody>
      </p:sp>
      <p:sp>
        <p:nvSpPr>
          <p:cNvPr id="893211596" name="copy-41"/>
          <p:cNvSpPr>
            <a:spLocks noGrp="1"/>
          </p:cNvSpPr>
          <p:nvPr/>
        </p:nvSpPr>
        <p:spPr bwMode="auto">
          <a:xfrm>
            <a:off x="457200" y="2124075"/>
            <a:ext cx="11277600" cy="323850"/>
          </a:xfrm>
          <a:prstGeom prst="rect">
            <a:avLst/>
          </a:prstGeom>
          <a:noFill/>
          <a:ln w="0">
            <a:noFill/>
            <a:prstDash val="solid"/>
          </a:ln>
        </p:spPr>
        <p:txBody>
          <a:bodyPr wrap="none" lIns="0" tIns="0" rIns="0" bIns="0" anchor="t">
            <a:noAutofit/>
          </a:bodyPr>
          <a:lstStyle/>
          <a:p>
            <a:pPr algn="l">
              <a:defRPr sz="1900" b="0">
                <a:solidFill>
                  <a:srgbClr val="3D3D3D"/>
                </a:solidFill>
                <a:latin typeface="Mulish"/>
                <a:ea typeface="Mulish"/>
                <a:cs typeface="Mulish"/>
              </a:defRPr>
            </a:pPr>
            <a:r>
              <a:rPr sz="1900" b="0">
                <a:solidFill>
                  <a:srgbClr val="3D3D3D"/>
                </a:solidFill>
                <a:latin typeface="Mulish"/>
                <a:ea typeface="Mulish"/>
                <a:cs typeface="Mulish"/>
              </a:rPr>
              <a:t>Controls to agree and apply consistently across government entities</a:t>
            </a:r>
            <a:endParaRPr/>
          </a:p>
        </p:txBody>
      </p:sp>
      <p:sp>
        <p:nvSpPr>
          <p:cNvPr id="479676271" name="copy-42"/>
          <p:cNvSpPr>
            <a:spLocks noGrp="1"/>
          </p:cNvSpPr>
          <p:nvPr/>
        </p:nvSpPr>
        <p:spPr bwMode="auto">
          <a:xfrm>
            <a:off x="457200" y="2724150"/>
            <a:ext cx="3505199" cy="333375"/>
          </a:xfrm>
          <a:prstGeom prst="rect">
            <a:avLst/>
          </a:prstGeom>
          <a:noFill/>
          <a:ln w="0">
            <a:noFill/>
            <a:prstDash val="solid"/>
          </a:ln>
        </p:spPr>
        <p:txBody>
          <a:bodyPr wrap="none" lIns="0" tIns="0" rIns="0" bIns="0" anchor="t">
            <a:noAutofit/>
          </a:bodyPr>
          <a:lstStyle/>
          <a:p>
            <a:pPr algn="l">
              <a:defRPr sz="1750" b="1">
                <a:solidFill>
                  <a:srgbClr val="7000FF"/>
                </a:solidFill>
                <a:latin typeface="Mulish"/>
                <a:ea typeface="Mulish"/>
                <a:cs typeface="Mulish"/>
              </a:defRPr>
            </a:pPr>
            <a:r>
              <a:rPr sz="1750" b="1">
                <a:solidFill>
                  <a:srgbClr val="7000FF"/>
                </a:solidFill>
                <a:latin typeface="Mulish"/>
                <a:ea typeface="Mulish"/>
                <a:cs typeface="Mulish"/>
              </a:rPr>
              <a:t>01</a:t>
            </a:r>
            <a:endParaRPr/>
          </a:p>
        </p:txBody>
      </p:sp>
      <p:sp>
        <p:nvSpPr>
          <p:cNvPr id="1824283384" name="copy-43"/>
          <p:cNvSpPr>
            <a:spLocks noGrp="1"/>
          </p:cNvSpPr>
          <p:nvPr/>
        </p:nvSpPr>
        <p:spPr bwMode="auto">
          <a:xfrm>
            <a:off x="457200" y="3162300"/>
            <a:ext cx="3505199" cy="714375"/>
          </a:xfrm>
          <a:prstGeom prst="rect">
            <a:avLst/>
          </a:prstGeom>
          <a:noFill/>
          <a:ln w="0">
            <a:noFill/>
            <a:prstDash val="solid"/>
          </a:ln>
        </p:spPr>
        <p:txBody>
          <a:bodyPr wrap="none" lIns="0" tIns="0" rIns="0" bIns="0" anchor="t">
            <a:noAutofit/>
          </a:bodyPr>
          <a:lstStyle/>
          <a:p>
            <a:pPr algn="l">
              <a:defRPr sz="2100" b="1">
                <a:solidFill>
                  <a:srgbClr val="1D0090"/>
                </a:solidFill>
                <a:latin typeface="Spartan"/>
                <a:ea typeface="Spartan"/>
                <a:cs typeface="Spartan"/>
              </a:defRPr>
            </a:pPr>
            <a:r>
              <a:rPr sz="2100" b="1">
                <a:solidFill>
                  <a:srgbClr val="1D0090"/>
                </a:solidFill>
                <a:latin typeface="Spartan"/>
                <a:ea typeface="Spartan"/>
                <a:cs typeface="Spartan"/>
              </a:rPr>
              <a:t>Identity</a:t>
            </a:r>
            <a:endParaRPr/>
          </a:p>
          <a:p>
            <a:pPr algn="l">
              <a:defRPr sz="2100" b="1">
                <a:solidFill>
                  <a:srgbClr val="1D0090"/>
                </a:solidFill>
                <a:latin typeface="Spartan"/>
                <a:ea typeface="Spartan"/>
                <a:cs typeface="Spartan"/>
              </a:defRPr>
            </a:pPr>
            <a:r>
              <a:rPr sz="2100" b="1">
                <a:solidFill>
                  <a:srgbClr val="1D0090"/>
                </a:solidFill>
                <a:latin typeface="Spartan"/>
                <a:ea typeface="Spartan"/>
                <a:cs typeface="Spartan"/>
              </a:rPr>
              <a:t>&amp; context</a:t>
            </a:r>
            <a:endParaRPr/>
          </a:p>
        </p:txBody>
      </p:sp>
      <p:sp>
        <p:nvSpPr>
          <p:cNvPr id="1957223115" name="copy-44"/>
          <p:cNvSpPr>
            <a:spLocks noGrp="1"/>
          </p:cNvSpPr>
          <p:nvPr/>
        </p:nvSpPr>
        <p:spPr bwMode="auto">
          <a:xfrm>
            <a:off x="457200" y="4048125"/>
            <a:ext cx="3505199" cy="619125"/>
          </a:xfrm>
          <a:prstGeom prst="rect">
            <a:avLst/>
          </a:prstGeom>
          <a:noFill/>
          <a:ln w="0">
            <a:noFill/>
            <a:prstDash val="solid"/>
          </a:ln>
        </p:spPr>
        <p:txBody>
          <a:bodyPr wrap="none" lIns="0" tIns="0" rIns="0" bIns="0" anchor="t">
            <a:noAutofit/>
          </a:bodyPr>
          <a:lstStyle/>
          <a:p>
            <a:pPr algn="l">
              <a:defRPr sz="1900" b="1">
                <a:solidFill>
                  <a:srgbClr val="1D0090"/>
                </a:solidFill>
                <a:latin typeface="Mulish"/>
                <a:ea typeface="Mulish"/>
                <a:cs typeface="Mulish"/>
              </a:defRPr>
            </a:pPr>
            <a:r>
              <a:rPr sz="1900" b="1">
                <a:solidFill>
                  <a:srgbClr val="1D0090"/>
                </a:solidFill>
                <a:latin typeface="Mulish"/>
                <a:ea typeface="Mulish"/>
                <a:cs typeface="Mulish"/>
              </a:rPr>
              <a:t>Which employee and</a:t>
            </a:r>
            <a:endParaRPr/>
          </a:p>
          <a:p>
            <a:pPr algn="l">
              <a:defRPr sz="1900" b="1">
                <a:solidFill>
                  <a:srgbClr val="1D0090"/>
                </a:solidFill>
                <a:latin typeface="Mulish"/>
                <a:ea typeface="Mulish"/>
                <a:cs typeface="Mulish"/>
              </a:defRPr>
            </a:pPr>
            <a:r>
              <a:rPr sz="1900" b="1">
                <a:solidFill>
                  <a:srgbClr val="1D0090"/>
                </a:solidFill>
                <a:latin typeface="Mulish"/>
                <a:ea typeface="Mulish"/>
                <a:cs typeface="Mulish"/>
              </a:rPr>
              <a:t>agent are involved?</a:t>
            </a:r>
            <a:endParaRPr/>
          </a:p>
        </p:txBody>
      </p:sp>
      <p:sp>
        <p:nvSpPr>
          <p:cNvPr id="410350453" name="copy-45"/>
          <p:cNvSpPr>
            <a:spLocks noGrp="1"/>
          </p:cNvSpPr>
          <p:nvPr/>
        </p:nvSpPr>
        <p:spPr bwMode="auto">
          <a:xfrm>
            <a:off x="457200" y="4810125"/>
            <a:ext cx="3505199" cy="57150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Connect the action to its</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initiator and institutional role.</a:t>
            </a:r>
            <a:endParaRPr/>
          </a:p>
        </p:txBody>
      </p:sp>
      <p:sp>
        <p:nvSpPr>
          <p:cNvPr id="398333649" name="divider"/>
          <p:cNvSpPr>
            <a:spLocks noGrp="1"/>
          </p:cNvSpPr>
          <p:nvPr/>
        </p:nvSpPr>
        <p:spPr bwMode="auto">
          <a:xfrm>
            <a:off x="4038600" y="2790824"/>
            <a:ext cx="9525" cy="2371725"/>
          </a:xfrm>
          <a:prstGeom prst="rect">
            <a:avLst/>
          </a:prstGeom>
          <a:solidFill>
            <a:srgbClr val="E4E7EC"/>
          </a:solidFill>
          <a:ln w="0">
            <a:noFill/>
            <a:prstDash val="solid"/>
          </a:ln>
        </p:spPr>
      </p:sp>
      <p:sp>
        <p:nvSpPr>
          <p:cNvPr id="1992346053" name="copy-46"/>
          <p:cNvSpPr>
            <a:spLocks noGrp="1"/>
          </p:cNvSpPr>
          <p:nvPr/>
        </p:nvSpPr>
        <p:spPr bwMode="auto">
          <a:xfrm>
            <a:off x="4267200" y="2724150"/>
            <a:ext cx="3505199" cy="333375"/>
          </a:xfrm>
          <a:prstGeom prst="rect">
            <a:avLst/>
          </a:prstGeom>
          <a:noFill/>
          <a:ln w="0">
            <a:noFill/>
            <a:prstDash val="solid"/>
          </a:ln>
        </p:spPr>
        <p:txBody>
          <a:bodyPr wrap="none" lIns="0" tIns="0" rIns="0" bIns="0" anchor="t">
            <a:noAutofit/>
          </a:bodyPr>
          <a:lstStyle/>
          <a:p>
            <a:pPr algn="l">
              <a:defRPr sz="1750" b="1">
                <a:solidFill>
                  <a:srgbClr val="7000FF"/>
                </a:solidFill>
                <a:latin typeface="Mulish"/>
                <a:ea typeface="Mulish"/>
                <a:cs typeface="Mulish"/>
              </a:defRPr>
            </a:pPr>
            <a:r>
              <a:rPr sz="1750" b="1">
                <a:solidFill>
                  <a:srgbClr val="7000FF"/>
                </a:solidFill>
                <a:latin typeface="Mulish"/>
                <a:ea typeface="Mulish"/>
                <a:cs typeface="Mulish"/>
              </a:rPr>
              <a:t>02</a:t>
            </a:r>
            <a:endParaRPr/>
          </a:p>
        </p:txBody>
      </p:sp>
      <p:sp>
        <p:nvSpPr>
          <p:cNvPr id="1631040980" name="copy-47"/>
          <p:cNvSpPr>
            <a:spLocks noGrp="1"/>
          </p:cNvSpPr>
          <p:nvPr/>
        </p:nvSpPr>
        <p:spPr bwMode="auto">
          <a:xfrm>
            <a:off x="4267200" y="3162300"/>
            <a:ext cx="3505199" cy="714375"/>
          </a:xfrm>
          <a:prstGeom prst="rect">
            <a:avLst/>
          </a:prstGeom>
          <a:noFill/>
          <a:ln w="0">
            <a:noFill/>
            <a:prstDash val="solid"/>
          </a:ln>
        </p:spPr>
        <p:txBody>
          <a:bodyPr wrap="none" lIns="0" tIns="0" rIns="0" bIns="0" anchor="t">
            <a:noAutofit/>
          </a:bodyPr>
          <a:lstStyle/>
          <a:p>
            <a:pPr algn="l">
              <a:defRPr sz="2100" b="1">
                <a:solidFill>
                  <a:srgbClr val="1D0090"/>
                </a:solidFill>
                <a:latin typeface="Spartan"/>
                <a:ea typeface="Spartan"/>
                <a:cs typeface="Spartan"/>
              </a:defRPr>
            </a:pPr>
            <a:r>
              <a:rPr sz="2100" b="1">
                <a:solidFill>
                  <a:srgbClr val="1D0090"/>
                </a:solidFill>
                <a:latin typeface="Spartan"/>
                <a:ea typeface="Spartan"/>
                <a:cs typeface="Spartan"/>
              </a:rPr>
              <a:t>Authority</a:t>
            </a:r>
            <a:endParaRPr/>
          </a:p>
          <a:p>
            <a:pPr algn="l">
              <a:defRPr sz="2100" b="1">
                <a:solidFill>
                  <a:srgbClr val="1D0090"/>
                </a:solidFill>
                <a:latin typeface="Spartan"/>
                <a:ea typeface="Spartan"/>
                <a:cs typeface="Spartan"/>
              </a:defRPr>
            </a:pPr>
            <a:r>
              <a:rPr sz="2100" b="1">
                <a:solidFill>
                  <a:srgbClr val="1D0090"/>
                </a:solidFill>
                <a:latin typeface="Spartan"/>
                <a:ea typeface="Spartan"/>
                <a:cs typeface="Spartan"/>
              </a:rPr>
              <a:t>&amp; policy</a:t>
            </a:r>
            <a:endParaRPr/>
          </a:p>
        </p:txBody>
      </p:sp>
      <p:sp>
        <p:nvSpPr>
          <p:cNvPr id="1651003073" name="copy-48"/>
          <p:cNvSpPr>
            <a:spLocks noGrp="1"/>
          </p:cNvSpPr>
          <p:nvPr/>
        </p:nvSpPr>
        <p:spPr bwMode="auto">
          <a:xfrm>
            <a:off x="4267200" y="4048125"/>
            <a:ext cx="3505199" cy="619125"/>
          </a:xfrm>
          <a:prstGeom prst="rect">
            <a:avLst/>
          </a:prstGeom>
          <a:noFill/>
          <a:ln w="0">
            <a:noFill/>
            <a:prstDash val="solid"/>
          </a:ln>
        </p:spPr>
        <p:txBody>
          <a:bodyPr wrap="none" lIns="0" tIns="0" rIns="0" bIns="0" anchor="t">
            <a:noAutofit/>
          </a:bodyPr>
          <a:lstStyle/>
          <a:p>
            <a:pPr algn="l">
              <a:defRPr sz="1900" b="1">
                <a:solidFill>
                  <a:srgbClr val="1D0090"/>
                </a:solidFill>
                <a:latin typeface="Mulish"/>
                <a:ea typeface="Mulish"/>
                <a:cs typeface="Mulish"/>
              </a:defRPr>
            </a:pPr>
            <a:r>
              <a:rPr sz="1900" b="1">
                <a:solidFill>
                  <a:srgbClr val="1D0090"/>
                </a:solidFill>
                <a:latin typeface="Mulish"/>
                <a:ea typeface="Mulish"/>
                <a:cs typeface="Mulish"/>
              </a:rPr>
              <a:t>What is the agent</a:t>
            </a:r>
            <a:endParaRPr/>
          </a:p>
          <a:p>
            <a:pPr algn="l">
              <a:defRPr sz="1900" b="1">
                <a:solidFill>
                  <a:srgbClr val="1D0090"/>
                </a:solidFill>
                <a:latin typeface="Mulish"/>
                <a:ea typeface="Mulish"/>
                <a:cs typeface="Mulish"/>
              </a:defRPr>
            </a:pPr>
            <a:r>
              <a:rPr sz="1900" b="1">
                <a:solidFill>
                  <a:srgbClr val="1D0090"/>
                </a:solidFill>
                <a:latin typeface="Mulish"/>
                <a:ea typeface="Mulish"/>
                <a:cs typeface="Mulish"/>
              </a:rPr>
              <a:t>permitted to do?</a:t>
            </a:r>
            <a:endParaRPr/>
          </a:p>
        </p:txBody>
      </p:sp>
      <p:sp>
        <p:nvSpPr>
          <p:cNvPr id="837981986" name="copy-49"/>
          <p:cNvSpPr>
            <a:spLocks noGrp="1"/>
          </p:cNvSpPr>
          <p:nvPr/>
        </p:nvSpPr>
        <p:spPr bwMode="auto">
          <a:xfrm>
            <a:off x="4267200" y="4810125"/>
            <a:ext cx="3505199" cy="57150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Make the delegated scope</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and applicable limits explicit.</a:t>
            </a:r>
            <a:endParaRPr/>
          </a:p>
        </p:txBody>
      </p:sp>
      <p:sp>
        <p:nvSpPr>
          <p:cNvPr id="1550328562" name="divider"/>
          <p:cNvSpPr>
            <a:spLocks noGrp="1"/>
          </p:cNvSpPr>
          <p:nvPr/>
        </p:nvSpPr>
        <p:spPr bwMode="auto">
          <a:xfrm>
            <a:off x="7848600" y="2790824"/>
            <a:ext cx="9525" cy="2371725"/>
          </a:xfrm>
          <a:prstGeom prst="rect">
            <a:avLst/>
          </a:prstGeom>
          <a:solidFill>
            <a:srgbClr val="E4E7EC"/>
          </a:solidFill>
          <a:ln w="0">
            <a:noFill/>
            <a:prstDash val="solid"/>
          </a:ln>
        </p:spPr>
      </p:sp>
      <p:sp>
        <p:nvSpPr>
          <p:cNvPr id="2048486344" name="copy-50"/>
          <p:cNvSpPr>
            <a:spLocks noGrp="1"/>
          </p:cNvSpPr>
          <p:nvPr/>
        </p:nvSpPr>
        <p:spPr bwMode="auto">
          <a:xfrm>
            <a:off x="8077200" y="2724150"/>
            <a:ext cx="3505199" cy="333375"/>
          </a:xfrm>
          <a:prstGeom prst="rect">
            <a:avLst/>
          </a:prstGeom>
          <a:noFill/>
          <a:ln w="0">
            <a:noFill/>
            <a:prstDash val="solid"/>
          </a:ln>
        </p:spPr>
        <p:txBody>
          <a:bodyPr wrap="none" lIns="0" tIns="0" rIns="0" bIns="0" anchor="t">
            <a:noAutofit/>
          </a:bodyPr>
          <a:lstStyle/>
          <a:p>
            <a:pPr algn="l">
              <a:defRPr sz="1750" b="1">
                <a:solidFill>
                  <a:srgbClr val="7000FF"/>
                </a:solidFill>
                <a:latin typeface="Mulish"/>
                <a:ea typeface="Mulish"/>
                <a:cs typeface="Mulish"/>
              </a:defRPr>
            </a:pPr>
            <a:r>
              <a:rPr sz="1750" b="1">
                <a:solidFill>
                  <a:srgbClr val="7000FF"/>
                </a:solidFill>
                <a:latin typeface="Mulish"/>
                <a:ea typeface="Mulish"/>
                <a:cs typeface="Mulish"/>
              </a:rPr>
              <a:t>03</a:t>
            </a:r>
            <a:endParaRPr/>
          </a:p>
        </p:txBody>
      </p:sp>
      <p:sp>
        <p:nvSpPr>
          <p:cNvPr id="1434671970" name="copy-51"/>
          <p:cNvSpPr>
            <a:spLocks noGrp="1"/>
          </p:cNvSpPr>
          <p:nvPr/>
        </p:nvSpPr>
        <p:spPr bwMode="auto">
          <a:xfrm>
            <a:off x="8077200" y="3162300"/>
            <a:ext cx="3505199" cy="714375"/>
          </a:xfrm>
          <a:prstGeom prst="rect">
            <a:avLst/>
          </a:prstGeom>
          <a:noFill/>
          <a:ln w="0">
            <a:noFill/>
            <a:prstDash val="solid"/>
          </a:ln>
        </p:spPr>
        <p:txBody>
          <a:bodyPr wrap="none" lIns="0" tIns="0" rIns="0" bIns="0" anchor="t">
            <a:noAutofit/>
          </a:bodyPr>
          <a:lstStyle/>
          <a:p>
            <a:pPr algn="l">
              <a:defRPr sz="2100" b="1">
                <a:solidFill>
                  <a:srgbClr val="1D0090"/>
                </a:solidFill>
                <a:latin typeface="Spartan"/>
                <a:ea typeface="Spartan"/>
                <a:cs typeface="Spartan"/>
              </a:defRPr>
            </a:pPr>
            <a:r>
              <a:rPr sz="2100" b="1">
                <a:solidFill>
                  <a:srgbClr val="1D0090"/>
                </a:solidFill>
                <a:latin typeface="Spartan"/>
                <a:ea typeface="Spartan"/>
                <a:cs typeface="Spartan"/>
              </a:rPr>
              <a:t>Approval</a:t>
            </a:r>
            <a:endParaRPr/>
          </a:p>
          <a:p>
            <a:pPr algn="l">
              <a:defRPr sz="2100" b="1">
                <a:solidFill>
                  <a:srgbClr val="1D0090"/>
                </a:solidFill>
                <a:latin typeface="Spartan"/>
                <a:ea typeface="Spartan"/>
                <a:cs typeface="Spartan"/>
              </a:defRPr>
            </a:pPr>
            <a:r>
              <a:rPr sz="2100" b="1">
                <a:solidFill>
                  <a:srgbClr val="1D0090"/>
                </a:solidFill>
                <a:latin typeface="Spartan"/>
                <a:ea typeface="Spartan"/>
                <a:cs typeface="Spartan"/>
              </a:rPr>
              <a:t>&amp; oversight</a:t>
            </a:r>
            <a:endParaRPr/>
          </a:p>
        </p:txBody>
      </p:sp>
      <p:sp>
        <p:nvSpPr>
          <p:cNvPr id="1478828156" name="copy-52"/>
          <p:cNvSpPr>
            <a:spLocks noGrp="1"/>
          </p:cNvSpPr>
          <p:nvPr/>
        </p:nvSpPr>
        <p:spPr bwMode="auto">
          <a:xfrm>
            <a:off x="8077200" y="4048125"/>
            <a:ext cx="3505199" cy="619125"/>
          </a:xfrm>
          <a:prstGeom prst="rect">
            <a:avLst/>
          </a:prstGeom>
          <a:noFill/>
          <a:ln w="0">
            <a:noFill/>
            <a:prstDash val="solid"/>
          </a:ln>
        </p:spPr>
        <p:txBody>
          <a:bodyPr wrap="none" lIns="0" tIns="0" rIns="0" bIns="0" anchor="t">
            <a:noAutofit/>
          </a:bodyPr>
          <a:lstStyle/>
          <a:p>
            <a:pPr algn="l">
              <a:defRPr sz="1900" b="1">
                <a:solidFill>
                  <a:srgbClr val="1D0090"/>
                </a:solidFill>
                <a:latin typeface="Mulish"/>
                <a:ea typeface="Mulish"/>
                <a:cs typeface="Mulish"/>
              </a:defRPr>
            </a:pPr>
            <a:r>
              <a:rPr sz="1900" b="1">
                <a:solidFill>
                  <a:srgbClr val="1D0090"/>
                </a:solidFill>
                <a:latin typeface="Mulish"/>
                <a:ea typeface="Mulish"/>
                <a:cs typeface="Mulish"/>
              </a:rPr>
              <a:t>When must a person</a:t>
            </a:r>
            <a:endParaRPr/>
          </a:p>
          <a:p>
            <a:pPr algn="l">
              <a:defRPr sz="1900" b="1">
                <a:solidFill>
                  <a:srgbClr val="1D0090"/>
                </a:solidFill>
                <a:latin typeface="Mulish"/>
                <a:ea typeface="Mulish"/>
                <a:cs typeface="Mulish"/>
              </a:defRPr>
            </a:pPr>
            <a:r>
              <a:rPr sz="1900" b="1">
                <a:solidFill>
                  <a:srgbClr val="1D0090"/>
                </a:solidFill>
                <a:latin typeface="Mulish"/>
                <a:ea typeface="Mulish"/>
                <a:cs typeface="Mulish"/>
              </a:rPr>
              <a:t>authorise the action?</a:t>
            </a:r>
            <a:endParaRPr/>
          </a:p>
        </p:txBody>
      </p:sp>
      <p:sp>
        <p:nvSpPr>
          <p:cNvPr id="835634949" name="copy-53"/>
          <p:cNvSpPr>
            <a:spLocks noGrp="1"/>
          </p:cNvSpPr>
          <p:nvPr/>
        </p:nvSpPr>
        <p:spPr bwMode="auto">
          <a:xfrm>
            <a:off x="8077200" y="4810125"/>
            <a:ext cx="3505199" cy="57150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Define approval requirements</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for consequential actions.</a:t>
            </a:r>
            <a:endParaRPr/>
          </a:p>
        </p:txBody>
      </p:sp>
      <p:sp>
        <p:nvSpPr>
          <p:cNvPr id="2050052285" name="evidence-through-execution"/>
          <p:cNvSpPr>
            <a:spLocks noGrp="1"/>
          </p:cNvSpPr>
          <p:nvPr/>
        </p:nvSpPr>
        <p:spPr bwMode="auto">
          <a:xfrm>
            <a:off x="457200" y="5657850"/>
            <a:ext cx="11277600" cy="771525"/>
          </a:xfrm>
          <a:prstGeom prst="rect">
            <a:avLst/>
          </a:prstGeom>
          <a:solidFill>
            <a:srgbClr val="1D0090"/>
          </a:solidFill>
          <a:ln w="0">
            <a:noFill/>
            <a:prstDash val="solid"/>
          </a:ln>
        </p:spPr>
      </p:sp>
      <p:sp>
        <p:nvSpPr>
          <p:cNvPr id="285572360" name="copy-54"/>
          <p:cNvSpPr>
            <a:spLocks noGrp="1"/>
          </p:cNvSpPr>
          <p:nvPr/>
        </p:nvSpPr>
        <p:spPr bwMode="auto">
          <a:xfrm>
            <a:off x="609600" y="5781675"/>
            <a:ext cx="10972800" cy="295274"/>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Accountability continues after execution</a:t>
            </a:r>
            <a:endParaRPr/>
          </a:p>
        </p:txBody>
      </p:sp>
      <p:sp>
        <p:nvSpPr>
          <p:cNvPr id="941458402" name="copy-55"/>
          <p:cNvSpPr>
            <a:spLocks noGrp="1"/>
          </p:cNvSpPr>
          <p:nvPr/>
        </p:nvSpPr>
        <p:spPr bwMode="auto">
          <a:xfrm>
            <a:off x="609600" y="6134100"/>
            <a:ext cx="10972800" cy="285750"/>
          </a:xfrm>
          <a:prstGeom prst="rect">
            <a:avLst/>
          </a:prstGeom>
          <a:noFill/>
          <a:ln w="0">
            <a:noFill/>
            <a:prstDash val="solid"/>
          </a:ln>
        </p:spPr>
        <p:txBody>
          <a:bodyPr wrap="none" lIns="0" tIns="0" rIns="0" bIns="0" anchor="t">
            <a:noAutofit/>
          </a:bodyPr>
          <a:lstStyle/>
          <a:p>
            <a:pPr algn="l">
              <a:defRPr sz="1650" b="0">
                <a:solidFill>
                  <a:srgbClr val="FFFFFF"/>
                </a:solidFill>
                <a:latin typeface="Mulish"/>
                <a:ea typeface="Mulish"/>
                <a:cs typeface="Mulish"/>
              </a:defRPr>
            </a:pPr>
            <a:r>
              <a:rPr sz="1650" b="0">
                <a:solidFill>
                  <a:srgbClr val="FFFFFF"/>
                </a:solidFill>
                <a:latin typeface="Mulish"/>
                <a:ea typeface="Mulish"/>
                <a:cs typeface="Mulish"/>
              </a:rPr>
              <a:t>Retain what was requested, permitted and executed, with attributable evidence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D0090"/>
        </a:solidFill>
      </p:bgPr>
    </p:bg>
    <p:spTree>
      <p:nvGrpSpPr>
        <p:cNvPr id="1" name=""/>
        <p:cNvGrpSpPr/>
        <p:nvPr/>
      </p:nvGrpSpPr>
      <p:grpSpPr bwMode="auto">
        <a:xfrm>
          <a:off x="0" y="0"/>
          <a:ext cx="0" cy="0"/>
          <a:chOff x="0" y="0"/>
          <a:chExt cx="0" cy="0"/>
        </a:xfrm>
      </p:grpSpPr>
      <p:pic>
        <p:nvPicPr>
          <p:cNvPr id="1418298447" name=""/>
          <p:cNvPicPr>
            <a:picLocks noChangeAspect="1"/>
          </p:cNvPicPr>
          <p:nvPr/>
        </p:nvPicPr>
        <p:blipFill rotWithShape="1">
          <a:blip r:embed="rId3"/>
          <a:stretch/>
        </p:blipFill>
        <p:spPr bwMode="auto">
          <a:xfrm>
            <a:off x="457200" y="228600"/>
            <a:ext cx="381000" cy="381000"/>
          </a:xfrm>
          <a:prstGeom prst="rect">
            <a:avLst/>
          </a:prstGeom>
        </p:spPr>
      </p:pic>
      <p:sp>
        <p:nvSpPr>
          <p:cNvPr id="1319822208" name="page-number"/>
          <p:cNvSpPr>
            <a:spLocks noGrp="1"/>
          </p:cNvSpPr>
          <p:nvPr/>
        </p:nvSpPr>
        <p:spPr bwMode="auto">
          <a:xfrm>
            <a:off x="11277600" y="6438899"/>
            <a:ext cx="457200" cy="190500"/>
          </a:xfrm>
          <a:prstGeom prst="rect">
            <a:avLst/>
          </a:prstGeom>
          <a:noFill/>
          <a:ln w="0">
            <a:noFill/>
            <a:prstDash val="solid"/>
          </a:ln>
        </p:spPr>
        <p:txBody>
          <a:bodyPr/>
          <a:lstStyle/>
          <a:p>
            <a:pPr algn="r">
              <a:defRPr sz="1050" b="1">
                <a:solidFill>
                  <a:srgbClr val="FFFFFF"/>
                </a:solidFill>
                <a:latin typeface="Mulish"/>
                <a:ea typeface="Mulish"/>
                <a:cs typeface="Mulish"/>
              </a:defRPr>
            </a:pPr>
            <a:r>
              <a:rPr sz="1050" b="1">
                <a:solidFill>
                  <a:srgbClr val="FFFFFF"/>
                </a:solidFill>
                <a:latin typeface="Mulish"/>
                <a:ea typeface="Mulish"/>
                <a:cs typeface="Mulish"/>
              </a:rPr>
              <a:t>04</a:t>
            </a:r>
            <a:endParaRPr/>
          </a:p>
        </p:txBody>
      </p:sp>
      <p:sp>
        <p:nvSpPr>
          <p:cNvPr id="1009890225" name="copy-56"/>
          <p:cNvSpPr>
            <a:spLocks noGrp="1"/>
          </p:cNvSpPr>
          <p:nvPr/>
        </p:nvSpPr>
        <p:spPr bwMode="auto">
          <a:xfrm>
            <a:off x="990600" y="295274"/>
            <a:ext cx="10096500" cy="266700"/>
          </a:xfrm>
          <a:prstGeom prst="rect">
            <a:avLst/>
          </a:prstGeom>
          <a:noFill/>
          <a:ln w="0">
            <a:noFill/>
            <a:prstDash val="solid"/>
          </a:ln>
        </p:spPr>
        <p:txBody>
          <a:bodyPr wrap="none" lIns="0" tIns="0" rIns="0" bIns="0" anchor="t">
            <a:noAutofit/>
          </a:bodyPr>
          <a:lstStyle/>
          <a:p>
            <a:pPr algn="l">
              <a:defRPr sz="1350" b="1">
                <a:solidFill>
                  <a:srgbClr val="F5EDFF"/>
                </a:solidFill>
                <a:latin typeface="Mulish"/>
                <a:ea typeface="Mulish"/>
                <a:cs typeface="Mulish"/>
              </a:defRPr>
            </a:pPr>
            <a:r>
              <a:rPr sz="1350" b="1">
                <a:solidFill>
                  <a:srgbClr val="F5EDFF"/>
                </a:solidFill>
                <a:latin typeface="Mulish"/>
                <a:ea typeface="Mulish"/>
                <a:cs typeface="Mulish"/>
              </a:rPr>
              <a:t>UNIFIED TRUST API</a:t>
            </a:r>
            <a:endParaRPr/>
          </a:p>
        </p:txBody>
      </p:sp>
      <p:sp>
        <p:nvSpPr>
          <p:cNvPr id="1275490752" name="copy-57"/>
          <p:cNvSpPr>
            <a:spLocks noGrp="1"/>
          </p:cNvSpPr>
          <p:nvPr/>
        </p:nvSpPr>
        <p:spPr bwMode="auto">
          <a:xfrm>
            <a:off x="457200" y="914400"/>
            <a:ext cx="11277600" cy="1095375"/>
          </a:xfrm>
          <a:prstGeom prst="rect">
            <a:avLst/>
          </a:prstGeom>
          <a:noFill/>
          <a:ln w="0">
            <a:noFill/>
            <a:prstDash val="solid"/>
          </a:ln>
        </p:spPr>
        <p:txBody>
          <a:bodyPr wrap="none" lIns="0" tIns="0" rIns="0" bIns="0" anchor="t">
            <a:noAutofit/>
          </a:bodyPr>
          <a:lstStyle/>
          <a:p>
            <a:pPr algn="l">
              <a:defRPr sz="3600" b="1">
                <a:solidFill>
                  <a:srgbClr val="FFFFFF"/>
                </a:solidFill>
                <a:latin typeface="Spartan"/>
                <a:ea typeface="Spartan"/>
                <a:cs typeface="Spartan"/>
              </a:defRPr>
            </a:pPr>
            <a:r>
              <a:rPr sz="3600" b="1">
                <a:solidFill>
                  <a:srgbClr val="FFFFFF"/>
                </a:solidFill>
                <a:latin typeface="Spartan"/>
                <a:ea typeface="Spartan"/>
                <a:cs typeface="Spartan"/>
              </a:rPr>
              <a:t>One interface for</a:t>
            </a:r>
            <a:endParaRPr/>
          </a:p>
          <a:p>
            <a:pPr algn="l">
              <a:defRPr sz="3600" b="1">
                <a:solidFill>
                  <a:srgbClr val="FFFFFF"/>
                </a:solidFill>
                <a:latin typeface="Spartan"/>
                <a:ea typeface="Spartan"/>
                <a:cs typeface="Spartan"/>
              </a:defRPr>
            </a:pPr>
            <a:r>
              <a:rPr sz="3600" b="1">
                <a:solidFill>
                  <a:srgbClr val="FFFFFF"/>
                </a:solidFill>
                <a:latin typeface="Spartan"/>
                <a:ea typeface="Spartan"/>
                <a:cs typeface="Spartan"/>
              </a:rPr>
              <a:t>end-to-end trust services</a:t>
            </a:r>
            <a:endParaRPr/>
          </a:p>
        </p:txBody>
      </p:sp>
      <p:sp>
        <p:nvSpPr>
          <p:cNvPr id="1178798383" name="copy-58"/>
          <p:cNvSpPr>
            <a:spLocks noGrp="1"/>
          </p:cNvSpPr>
          <p:nvPr/>
        </p:nvSpPr>
        <p:spPr bwMode="auto">
          <a:xfrm>
            <a:off x="457200" y="2114550"/>
            <a:ext cx="11277600" cy="323850"/>
          </a:xfrm>
          <a:prstGeom prst="rect">
            <a:avLst/>
          </a:prstGeom>
          <a:noFill/>
          <a:ln w="0">
            <a:noFill/>
            <a:prstDash val="solid"/>
          </a:ln>
        </p:spPr>
        <p:txBody>
          <a:bodyPr wrap="none" lIns="0" tIns="0" rIns="0" bIns="0" anchor="t">
            <a:noAutofit/>
          </a:bodyPr>
          <a:lstStyle/>
          <a:p>
            <a:pPr algn="l">
              <a:defRPr sz="1800" b="0">
                <a:solidFill>
                  <a:srgbClr val="FFFFFF"/>
                </a:solidFill>
                <a:latin typeface="Mulish"/>
                <a:ea typeface="Mulish"/>
                <a:cs typeface="Mulish"/>
              </a:defRPr>
            </a:pPr>
            <a:r>
              <a:rPr sz="1800" b="0">
                <a:solidFill>
                  <a:srgbClr val="FFFFFF"/>
                </a:solidFill>
                <a:latin typeface="Mulish"/>
                <a:ea typeface="Mulish"/>
                <a:cs typeface="Mulish"/>
              </a:rPr>
              <a:t>Government channels, enterprise systems and agents connect through a common API</a:t>
            </a:r>
            <a:endParaRPr/>
          </a:p>
        </p:txBody>
      </p:sp>
      <p:sp>
        <p:nvSpPr>
          <p:cNvPr id="20186504" name="divider"/>
          <p:cNvSpPr>
            <a:spLocks noGrp="1"/>
          </p:cNvSpPr>
          <p:nvPr/>
        </p:nvSpPr>
        <p:spPr bwMode="auto">
          <a:xfrm>
            <a:off x="457200" y="2847975"/>
            <a:ext cx="3505199" cy="19050"/>
          </a:xfrm>
          <a:prstGeom prst="rect">
            <a:avLst/>
          </a:prstGeom>
          <a:solidFill>
            <a:srgbClr val="F5EDFF"/>
          </a:solidFill>
          <a:ln w="0">
            <a:noFill/>
            <a:prstDash val="solid"/>
          </a:ln>
        </p:spPr>
      </p:sp>
      <p:sp>
        <p:nvSpPr>
          <p:cNvPr id="1320496179" name="copy-59"/>
          <p:cNvSpPr>
            <a:spLocks noGrp="1"/>
          </p:cNvSpPr>
          <p:nvPr/>
        </p:nvSpPr>
        <p:spPr bwMode="auto">
          <a:xfrm>
            <a:off x="457200" y="3048000"/>
            <a:ext cx="3505199" cy="333375"/>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Identity &amp; authority</a:t>
            </a:r>
            <a:endParaRPr/>
          </a:p>
        </p:txBody>
      </p:sp>
      <p:sp>
        <p:nvSpPr>
          <p:cNvPr id="1612256838" name="copy-60"/>
          <p:cNvSpPr>
            <a:spLocks noGrp="1"/>
          </p:cNvSpPr>
          <p:nvPr/>
        </p:nvSpPr>
        <p:spPr bwMode="auto">
          <a:xfrm>
            <a:off x="457200" y="3581400"/>
            <a:ext cx="3505199" cy="600075"/>
          </a:xfrm>
          <a:prstGeom prst="rect">
            <a:avLst/>
          </a:prstGeom>
          <a:noFill/>
          <a:ln w="0">
            <a:noFill/>
            <a:prstDash val="solid"/>
          </a:ln>
        </p:spPr>
        <p:txBody>
          <a:bodyPr wrap="none" lIns="0" tIns="0" rIns="0" bIns="0" anchor="t">
            <a:noAutofit/>
          </a:bodyPr>
          <a:lstStyle/>
          <a:p>
            <a:pPr algn="l">
              <a:defRPr sz="1750" b="0">
                <a:solidFill>
                  <a:srgbClr val="FFFFFF"/>
                </a:solidFill>
                <a:latin typeface="Mulish"/>
                <a:ea typeface="Mulish"/>
                <a:cs typeface="Mulish"/>
              </a:defRPr>
            </a:pPr>
            <a:r>
              <a:rPr sz="1750" b="0">
                <a:solidFill>
                  <a:srgbClr val="FFFFFF"/>
                </a:solidFill>
                <a:latin typeface="Mulish"/>
                <a:ea typeface="Mulish"/>
                <a:cs typeface="Mulish"/>
              </a:rPr>
              <a:t>Actor context and the</a:t>
            </a:r>
            <a:endParaRPr/>
          </a:p>
          <a:p>
            <a:pPr algn="l">
              <a:defRPr sz="1750" b="0">
                <a:solidFill>
                  <a:srgbClr val="FFFFFF"/>
                </a:solidFill>
                <a:latin typeface="Mulish"/>
                <a:ea typeface="Mulish"/>
                <a:cs typeface="Mulish"/>
              </a:defRPr>
            </a:pPr>
            <a:r>
              <a:rPr sz="1750" b="0">
                <a:solidFill>
                  <a:srgbClr val="FFFFFF"/>
                </a:solidFill>
                <a:latin typeface="Mulish"/>
                <a:ea typeface="Mulish"/>
                <a:cs typeface="Mulish"/>
              </a:rPr>
              <a:t>authority required to act</a:t>
            </a:r>
            <a:endParaRPr/>
          </a:p>
        </p:txBody>
      </p:sp>
      <p:sp>
        <p:nvSpPr>
          <p:cNvPr id="1806076109" name="divider"/>
          <p:cNvSpPr>
            <a:spLocks noGrp="1"/>
          </p:cNvSpPr>
          <p:nvPr/>
        </p:nvSpPr>
        <p:spPr bwMode="auto">
          <a:xfrm>
            <a:off x="4267200" y="2847975"/>
            <a:ext cx="3505199" cy="19050"/>
          </a:xfrm>
          <a:prstGeom prst="rect">
            <a:avLst/>
          </a:prstGeom>
          <a:solidFill>
            <a:srgbClr val="F5EDFF"/>
          </a:solidFill>
          <a:ln w="0">
            <a:noFill/>
            <a:prstDash val="solid"/>
          </a:ln>
        </p:spPr>
      </p:sp>
      <p:sp>
        <p:nvSpPr>
          <p:cNvPr id="79735898" name="copy-61"/>
          <p:cNvSpPr>
            <a:spLocks noGrp="1"/>
          </p:cNvSpPr>
          <p:nvPr/>
        </p:nvSpPr>
        <p:spPr bwMode="auto">
          <a:xfrm>
            <a:off x="4267200" y="3048000"/>
            <a:ext cx="3505199" cy="333375"/>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Collaboration &amp; approval</a:t>
            </a:r>
            <a:endParaRPr/>
          </a:p>
        </p:txBody>
      </p:sp>
      <p:sp>
        <p:nvSpPr>
          <p:cNvPr id="555886983" name="copy-62"/>
          <p:cNvSpPr>
            <a:spLocks noGrp="1"/>
          </p:cNvSpPr>
          <p:nvPr/>
        </p:nvSpPr>
        <p:spPr bwMode="auto">
          <a:xfrm>
            <a:off x="4267200" y="3581400"/>
            <a:ext cx="3505199" cy="600075"/>
          </a:xfrm>
          <a:prstGeom prst="rect">
            <a:avLst/>
          </a:prstGeom>
          <a:noFill/>
          <a:ln w="0">
            <a:noFill/>
            <a:prstDash val="solid"/>
          </a:ln>
        </p:spPr>
        <p:txBody>
          <a:bodyPr wrap="none" lIns="0" tIns="0" rIns="0" bIns="0" anchor="t">
            <a:noAutofit/>
          </a:bodyPr>
          <a:lstStyle/>
          <a:p>
            <a:pPr algn="l">
              <a:defRPr sz="1750" b="0">
                <a:solidFill>
                  <a:srgbClr val="FFFFFF"/>
                </a:solidFill>
                <a:latin typeface="Mulish"/>
                <a:ea typeface="Mulish"/>
                <a:cs typeface="Mulish"/>
              </a:defRPr>
            </a:pPr>
            <a:r>
              <a:rPr sz="1750" b="0">
                <a:solidFill>
                  <a:srgbClr val="FFFFFF"/>
                </a:solidFill>
                <a:latin typeface="Mulish"/>
                <a:ea typeface="Mulish"/>
                <a:cs typeface="Mulish"/>
              </a:rPr>
              <a:t>Preparation, review and</a:t>
            </a:r>
            <a:endParaRPr/>
          </a:p>
          <a:p>
            <a:pPr algn="l">
              <a:defRPr sz="1750" b="0">
                <a:solidFill>
                  <a:srgbClr val="FFFFFF"/>
                </a:solidFill>
                <a:latin typeface="Mulish"/>
                <a:ea typeface="Mulish"/>
                <a:cs typeface="Mulish"/>
              </a:defRPr>
            </a:pPr>
            <a:r>
              <a:rPr sz="1750" b="0">
                <a:solidFill>
                  <a:srgbClr val="FFFFFF"/>
                </a:solidFill>
                <a:latin typeface="Mulish"/>
                <a:ea typeface="Mulish"/>
                <a:cs typeface="Mulish"/>
              </a:rPr>
              <a:t>authorisation workflows</a:t>
            </a:r>
            <a:endParaRPr/>
          </a:p>
        </p:txBody>
      </p:sp>
      <p:sp>
        <p:nvSpPr>
          <p:cNvPr id="600510910" name="divider"/>
          <p:cNvSpPr>
            <a:spLocks noGrp="1"/>
          </p:cNvSpPr>
          <p:nvPr/>
        </p:nvSpPr>
        <p:spPr bwMode="auto">
          <a:xfrm>
            <a:off x="8077200" y="2847975"/>
            <a:ext cx="3505199" cy="19050"/>
          </a:xfrm>
          <a:prstGeom prst="rect">
            <a:avLst/>
          </a:prstGeom>
          <a:solidFill>
            <a:srgbClr val="F5EDFF"/>
          </a:solidFill>
          <a:ln w="0">
            <a:noFill/>
            <a:prstDash val="solid"/>
          </a:ln>
        </p:spPr>
      </p:sp>
      <p:sp>
        <p:nvSpPr>
          <p:cNvPr id="1568888912" name="copy-63"/>
          <p:cNvSpPr>
            <a:spLocks noGrp="1"/>
          </p:cNvSpPr>
          <p:nvPr/>
        </p:nvSpPr>
        <p:spPr bwMode="auto">
          <a:xfrm>
            <a:off x="8077200" y="3048000"/>
            <a:ext cx="3505199" cy="333375"/>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Signatures &amp; seals</a:t>
            </a:r>
            <a:endParaRPr/>
          </a:p>
        </p:txBody>
      </p:sp>
      <p:sp>
        <p:nvSpPr>
          <p:cNvPr id="574084600" name="copy-64"/>
          <p:cNvSpPr>
            <a:spLocks noGrp="1"/>
          </p:cNvSpPr>
          <p:nvPr/>
        </p:nvSpPr>
        <p:spPr bwMode="auto">
          <a:xfrm>
            <a:off x="8077200" y="3581400"/>
            <a:ext cx="3505199" cy="600075"/>
          </a:xfrm>
          <a:prstGeom prst="rect">
            <a:avLst/>
          </a:prstGeom>
          <a:noFill/>
          <a:ln w="0">
            <a:noFill/>
            <a:prstDash val="solid"/>
          </a:ln>
        </p:spPr>
        <p:txBody>
          <a:bodyPr wrap="none" lIns="0" tIns="0" rIns="0" bIns="0" anchor="t">
            <a:noAutofit/>
          </a:bodyPr>
          <a:lstStyle/>
          <a:p>
            <a:pPr algn="l">
              <a:defRPr sz="1750" b="0">
                <a:solidFill>
                  <a:srgbClr val="FFFFFF"/>
                </a:solidFill>
                <a:latin typeface="Mulish"/>
                <a:ea typeface="Mulish"/>
                <a:cs typeface="Mulish"/>
              </a:defRPr>
            </a:pPr>
            <a:r>
              <a:rPr sz="1750" b="0">
                <a:solidFill>
                  <a:srgbClr val="FFFFFF"/>
                </a:solidFill>
                <a:latin typeface="Mulish"/>
                <a:ea typeface="Mulish"/>
                <a:cs typeface="Mulish"/>
              </a:rPr>
              <a:t>Personal signing and</a:t>
            </a:r>
            <a:endParaRPr/>
          </a:p>
          <a:p>
            <a:pPr algn="l">
              <a:defRPr sz="1750" b="0">
                <a:solidFill>
                  <a:srgbClr val="FFFFFF"/>
                </a:solidFill>
                <a:latin typeface="Mulish"/>
                <a:ea typeface="Mulish"/>
                <a:cs typeface="Mulish"/>
              </a:defRPr>
            </a:pPr>
            <a:r>
              <a:rPr sz="1750" b="0">
                <a:solidFill>
                  <a:srgbClr val="FFFFFF"/>
                </a:solidFill>
                <a:latin typeface="Mulish"/>
                <a:ea typeface="Mulish"/>
                <a:cs typeface="Mulish"/>
              </a:rPr>
              <a:t>organisational sealing</a:t>
            </a:r>
            <a:endParaRPr/>
          </a:p>
        </p:txBody>
      </p:sp>
      <p:sp>
        <p:nvSpPr>
          <p:cNvPr id="669921368" name="divider"/>
          <p:cNvSpPr>
            <a:spLocks noGrp="1"/>
          </p:cNvSpPr>
          <p:nvPr/>
        </p:nvSpPr>
        <p:spPr bwMode="auto">
          <a:xfrm>
            <a:off x="457200" y="4467225"/>
            <a:ext cx="3505199" cy="19050"/>
          </a:xfrm>
          <a:prstGeom prst="rect">
            <a:avLst/>
          </a:prstGeom>
          <a:solidFill>
            <a:srgbClr val="F5EDFF"/>
          </a:solidFill>
          <a:ln w="0">
            <a:noFill/>
            <a:prstDash val="solid"/>
          </a:ln>
        </p:spPr>
      </p:sp>
      <p:sp>
        <p:nvSpPr>
          <p:cNvPr id="673039365" name="copy-65"/>
          <p:cNvSpPr>
            <a:spLocks noGrp="1"/>
          </p:cNvSpPr>
          <p:nvPr/>
        </p:nvSpPr>
        <p:spPr bwMode="auto">
          <a:xfrm>
            <a:off x="457200" y="4667250"/>
            <a:ext cx="3505199" cy="333375"/>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Time &amp; verification</a:t>
            </a:r>
            <a:endParaRPr/>
          </a:p>
        </p:txBody>
      </p:sp>
      <p:sp>
        <p:nvSpPr>
          <p:cNvPr id="1660051738" name="copy-66"/>
          <p:cNvSpPr>
            <a:spLocks noGrp="1"/>
          </p:cNvSpPr>
          <p:nvPr/>
        </p:nvSpPr>
        <p:spPr bwMode="auto">
          <a:xfrm>
            <a:off x="457200" y="5200650"/>
            <a:ext cx="3505199" cy="600075"/>
          </a:xfrm>
          <a:prstGeom prst="rect">
            <a:avLst/>
          </a:prstGeom>
          <a:noFill/>
          <a:ln w="0">
            <a:noFill/>
            <a:prstDash val="solid"/>
          </a:ln>
        </p:spPr>
        <p:txBody>
          <a:bodyPr wrap="none" lIns="0" tIns="0" rIns="0" bIns="0" anchor="t">
            <a:noAutofit/>
          </a:bodyPr>
          <a:lstStyle/>
          <a:p>
            <a:pPr algn="l">
              <a:defRPr sz="1750" b="0">
                <a:solidFill>
                  <a:srgbClr val="FFFFFF"/>
                </a:solidFill>
                <a:latin typeface="Mulish"/>
                <a:ea typeface="Mulish"/>
                <a:cs typeface="Mulish"/>
              </a:defRPr>
            </a:pPr>
            <a:r>
              <a:rPr sz="1750" b="0">
                <a:solidFill>
                  <a:srgbClr val="FFFFFF"/>
                </a:solidFill>
                <a:latin typeface="Mulish"/>
                <a:ea typeface="Mulish"/>
                <a:cs typeface="Mulish"/>
              </a:rPr>
              <a:t>Timestamps and validation</a:t>
            </a:r>
            <a:endParaRPr/>
          </a:p>
          <a:p>
            <a:pPr algn="l">
              <a:defRPr sz="1750" b="0">
                <a:solidFill>
                  <a:srgbClr val="FFFFFF"/>
                </a:solidFill>
                <a:latin typeface="Mulish"/>
                <a:ea typeface="Mulish"/>
                <a:cs typeface="Mulish"/>
              </a:defRPr>
            </a:pPr>
            <a:r>
              <a:rPr sz="1750" b="0">
                <a:solidFill>
                  <a:srgbClr val="FFFFFF"/>
                </a:solidFill>
                <a:latin typeface="Mulish"/>
                <a:ea typeface="Mulish"/>
                <a:cs typeface="Mulish"/>
              </a:rPr>
              <a:t>of trusted digital outputs</a:t>
            </a:r>
            <a:endParaRPr/>
          </a:p>
        </p:txBody>
      </p:sp>
      <p:sp>
        <p:nvSpPr>
          <p:cNvPr id="445770693" name="divider"/>
          <p:cNvSpPr>
            <a:spLocks noGrp="1"/>
          </p:cNvSpPr>
          <p:nvPr/>
        </p:nvSpPr>
        <p:spPr bwMode="auto">
          <a:xfrm>
            <a:off x="4267200" y="4467225"/>
            <a:ext cx="3505199" cy="19050"/>
          </a:xfrm>
          <a:prstGeom prst="rect">
            <a:avLst/>
          </a:prstGeom>
          <a:solidFill>
            <a:srgbClr val="F5EDFF"/>
          </a:solidFill>
          <a:ln w="0">
            <a:noFill/>
            <a:prstDash val="solid"/>
          </a:ln>
        </p:spPr>
      </p:sp>
      <p:sp>
        <p:nvSpPr>
          <p:cNvPr id="325221685" name="copy-67"/>
          <p:cNvSpPr>
            <a:spLocks noGrp="1"/>
          </p:cNvSpPr>
          <p:nvPr/>
        </p:nvSpPr>
        <p:spPr bwMode="auto">
          <a:xfrm>
            <a:off x="4267200" y="4667250"/>
            <a:ext cx="3505199" cy="333375"/>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Evidence &amp; audit</a:t>
            </a:r>
            <a:endParaRPr/>
          </a:p>
        </p:txBody>
      </p:sp>
      <p:sp>
        <p:nvSpPr>
          <p:cNvPr id="595799284" name="copy-68"/>
          <p:cNvSpPr>
            <a:spLocks noGrp="1"/>
          </p:cNvSpPr>
          <p:nvPr/>
        </p:nvSpPr>
        <p:spPr bwMode="auto">
          <a:xfrm>
            <a:off x="4267200" y="5200650"/>
            <a:ext cx="3505199" cy="600075"/>
          </a:xfrm>
          <a:prstGeom prst="rect">
            <a:avLst/>
          </a:prstGeom>
          <a:noFill/>
          <a:ln w="0">
            <a:noFill/>
            <a:prstDash val="solid"/>
          </a:ln>
        </p:spPr>
        <p:txBody>
          <a:bodyPr wrap="none" lIns="0" tIns="0" rIns="0" bIns="0" anchor="t">
            <a:noAutofit/>
          </a:bodyPr>
          <a:lstStyle/>
          <a:p>
            <a:pPr algn="l">
              <a:defRPr sz="1750" b="0">
                <a:solidFill>
                  <a:srgbClr val="FFFFFF"/>
                </a:solidFill>
                <a:latin typeface="Mulish"/>
                <a:ea typeface="Mulish"/>
                <a:cs typeface="Mulish"/>
              </a:defRPr>
            </a:pPr>
            <a:r>
              <a:rPr sz="1750" b="0">
                <a:solidFill>
                  <a:srgbClr val="FFFFFF"/>
                </a:solidFill>
                <a:latin typeface="Mulish"/>
                <a:ea typeface="Mulish"/>
                <a:cs typeface="Mulish"/>
              </a:rPr>
              <a:t>Traceable actions, decisions</a:t>
            </a:r>
            <a:endParaRPr/>
          </a:p>
          <a:p>
            <a:pPr algn="l">
              <a:defRPr sz="1750" b="0">
                <a:solidFill>
                  <a:srgbClr val="FFFFFF"/>
                </a:solidFill>
                <a:latin typeface="Mulish"/>
                <a:ea typeface="Mulish"/>
                <a:cs typeface="Mulish"/>
              </a:defRPr>
            </a:pPr>
            <a:r>
              <a:rPr sz="1750" b="0">
                <a:solidFill>
                  <a:srgbClr val="FFFFFF"/>
                </a:solidFill>
                <a:latin typeface="Mulish"/>
                <a:ea typeface="Mulish"/>
                <a:cs typeface="Mulish"/>
              </a:rPr>
              <a:t>and supporting evidence</a:t>
            </a:r>
            <a:endParaRPr/>
          </a:p>
        </p:txBody>
      </p:sp>
      <p:sp>
        <p:nvSpPr>
          <p:cNvPr id="1439685624" name="divider"/>
          <p:cNvSpPr>
            <a:spLocks noGrp="1"/>
          </p:cNvSpPr>
          <p:nvPr/>
        </p:nvSpPr>
        <p:spPr bwMode="auto">
          <a:xfrm>
            <a:off x="8077200" y="4467225"/>
            <a:ext cx="3505199" cy="19050"/>
          </a:xfrm>
          <a:prstGeom prst="rect">
            <a:avLst/>
          </a:prstGeom>
          <a:solidFill>
            <a:srgbClr val="F5EDFF"/>
          </a:solidFill>
          <a:ln w="0">
            <a:noFill/>
            <a:prstDash val="solid"/>
          </a:ln>
        </p:spPr>
      </p:sp>
      <p:sp>
        <p:nvSpPr>
          <p:cNvPr id="715535293" name="copy-69"/>
          <p:cNvSpPr>
            <a:spLocks noGrp="1"/>
          </p:cNvSpPr>
          <p:nvPr/>
        </p:nvSpPr>
        <p:spPr bwMode="auto">
          <a:xfrm>
            <a:off x="8077200" y="4667250"/>
            <a:ext cx="3505199" cy="333375"/>
          </a:xfrm>
          <a:prstGeom prst="rect">
            <a:avLst/>
          </a:prstGeom>
          <a:noFill/>
          <a:ln w="0">
            <a:noFill/>
            <a:prstDash val="solid"/>
          </a:ln>
        </p:spPr>
        <p:txBody>
          <a:bodyPr wrap="none" lIns="0" tIns="0" rIns="0" bIns="0" anchor="t">
            <a:noAutofit/>
          </a:bodyPr>
          <a:lstStyle/>
          <a:p>
            <a:pPr algn="l">
              <a:defRPr sz="1900" b="1">
                <a:solidFill>
                  <a:srgbClr val="FFFFFF"/>
                </a:solidFill>
                <a:latin typeface="Mulish"/>
                <a:ea typeface="Mulish"/>
                <a:cs typeface="Mulish"/>
              </a:defRPr>
            </a:pPr>
            <a:r>
              <a:rPr sz="1900" b="1">
                <a:solidFill>
                  <a:srgbClr val="FFFFFF"/>
                </a:solidFill>
                <a:latin typeface="Mulish"/>
                <a:ea typeface="Mulish"/>
                <a:cs typeface="Mulish"/>
              </a:rPr>
              <a:t>Records &amp; retrieval</a:t>
            </a:r>
            <a:endParaRPr/>
          </a:p>
        </p:txBody>
      </p:sp>
      <p:sp>
        <p:nvSpPr>
          <p:cNvPr id="1984047127" name="copy-70"/>
          <p:cNvSpPr>
            <a:spLocks noGrp="1"/>
          </p:cNvSpPr>
          <p:nvPr/>
        </p:nvSpPr>
        <p:spPr bwMode="auto">
          <a:xfrm>
            <a:off x="8077200" y="5200650"/>
            <a:ext cx="3505199" cy="600075"/>
          </a:xfrm>
          <a:prstGeom prst="rect">
            <a:avLst/>
          </a:prstGeom>
          <a:noFill/>
          <a:ln w="0">
            <a:noFill/>
            <a:prstDash val="solid"/>
          </a:ln>
        </p:spPr>
        <p:txBody>
          <a:bodyPr wrap="none" lIns="0" tIns="0" rIns="0" bIns="0" anchor="t">
            <a:noAutofit/>
          </a:bodyPr>
          <a:lstStyle/>
          <a:p>
            <a:pPr algn="l">
              <a:defRPr sz="1750" b="0">
                <a:solidFill>
                  <a:srgbClr val="FFFFFF"/>
                </a:solidFill>
                <a:latin typeface="Mulish"/>
                <a:ea typeface="Mulish"/>
                <a:cs typeface="Mulish"/>
              </a:defRPr>
            </a:pPr>
            <a:r>
              <a:rPr sz="1750" b="0">
                <a:solidFill>
                  <a:srgbClr val="FFFFFF"/>
                </a:solidFill>
                <a:latin typeface="Mulish"/>
                <a:ea typeface="Mulish"/>
                <a:cs typeface="Mulish"/>
              </a:rPr>
              <a:t>Preservation and permissioned</a:t>
            </a:r>
            <a:endParaRPr/>
          </a:p>
          <a:p>
            <a:pPr algn="l">
              <a:defRPr sz="1750" b="0">
                <a:solidFill>
                  <a:srgbClr val="FFFFFF"/>
                </a:solidFill>
                <a:latin typeface="Mulish"/>
                <a:ea typeface="Mulish"/>
                <a:cs typeface="Mulish"/>
              </a:defRPr>
            </a:pPr>
            <a:r>
              <a:rPr sz="1750" b="0">
                <a:solidFill>
                  <a:srgbClr val="FFFFFF"/>
                </a:solidFill>
                <a:latin typeface="Mulish"/>
                <a:ea typeface="Mulish"/>
                <a:cs typeface="Mulish"/>
              </a:rPr>
              <a:t>access to trusted records</a:t>
            </a:r>
            <a:endParaRPr/>
          </a:p>
        </p:txBody>
      </p:sp>
      <p:sp>
        <p:nvSpPr>
          <p:cNvPr id="1135228703" name="copy-71"/>
          <p:cNvSpPr>
            <a:spLocks noGrp="1"/>
          </p:cNvSpPr>
          <p:nvPr/>
        </p:nvSpPr>
        <p:spPr bwMode="auto">
          <a:xfrm>
            <a:off x="457200" y="6257925"/>
            <a:ext cx="10858500" cy="314325"/>
          </a:xfrm>
          <a:prstGeom prst="rect">
            <a:avLst/>
          </a:prstGeom>
          <a:noFill/>
          <a:ln w="0">
            <a:noFill/>
            <a:prstDash val="solid"/>
          </a:ln>
        </p:spPr>
        <p:txBody>
          <a:bodyPr wrap="none" lIns="0" tIns="0" rIns="0" bIns="0" anchor="t">
            <a:noAutofit/>
          </a:bodyPr>
          <a:lstStyle/>
          <a:p>
            <a:pPr algn="l">
              <a:defRPr sz="1650" b="0">
                <a:solidFill>
                  <a:srgbClr val="FFFFFF"/>
                </a:solidFill>
                <a:latin typeface="Mulish"/>
                <a:ea typeface="Mulish"/>
                <a:cs typeface="Mulish"/>
              </a:defRPr>
            </a:pPr>
            <a:r>
              <a:rPr sz="1650" b="0">
                <a:solidFill>
                  <a:srgbClr val="FFFFFF"/>
                </a:solidFill>
                <a:latin typeface="Mulish"/>
                <a:ea typeface="Mulish"/>
                <a:cs typeface="Mulish"/>
              </a:rPr>
              <a:t>Shared-service aim: reusable integration, consistent controls and a continuous evidence chain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cxnSp>
        <p:nvCxnSpPr>
          <p:cNvPr id="364174745" name=""/>
          <p:cNvCxnSpPr>
            <a:stCxn id="1424779177" idx="3"/>
            <a:endCxn id="24032801" idx="1"/>
          </p:cNvCxnSpPr>
          <p:nvPr/>
        </p:nvCxnSpPr>
        <p:spPr bwMode="auto">
          <a:xfrm>
            <a:off x="7772400" y="3729038"/>
            <a:ext cx="609600" cy="0"/>
          </a:xfrm>
          <a:prstGeom prst="straightConnector1">
            <a:avLst/>
          </a:prstGeom>
          <a:ln w="19050">
            <a:solidFill>
              <a:srgbClr val="7000FF"/>
            </a:solidFill>
            <a:tailEnd type="triangle" w="sm" len="sm"/>
          </a:ln>
        </p:spPr>
      </p:cxnSp>
      <p:cxnSp>
        <p:nvCxnSpPr>
          <p:cNvPr id="230689820" name=""/>
          <p:cNvCxnSpPr>
            <a:stCxn id="1591021086" idx="3"/>
            <a:endCxn id="1424779177" idx="1"/>
          </p:cNvCxnSpPr>
          <p:nvPr/>
        </p:nvCxnSpPr>
        <p:spPr bwMode="auto">
          <a:xfrm>
            <a:off x="3810000" y="3729038"/>
            <a:ext cx="609600" cy="0"/>
          </a:xfrm>
          <a:prstGeom prst="straightConnector1">
            <a:avLst/>
          </a:prstGeom>
          <a:ln w="19050">
            <a:solidFill>
              <a:srgbClr val="7000FF"/>
            </a:solidFill>
            <a:tailEnd type="triangle" w="sm" len="sm"/>
          </a:ln>
        </p:spPr>
      </p:cxnSp>
      <p:pic>
        <p:nvPicPr>
          <p:cNvPr id="1625112813" name=""/>
          <p:cNvPicPr>
            <a:picLocks noChangeAspect="1"/>
          </p:cNvPicPr>
          <p:nvPr/>
        </p:nvPicPr>
        <p:blipFill rotWithShape="1">
          <a:blip r:embed="rId3"/>
          <a:stretch/>
        </p:blipFill>
        <p:spPr bwMode="auto">
          <a:xfrm>
            <a:off x="457200" y="228600"/>
            <a:ext cx="381000" cy="381000"/>
          </a:xfrm>
          <a:prstGeom prst="rect">
            <a:avLst/>
          </a:prstGeom>
        </p:spPr>
      </p:pic>
      <p:sp>
        <p:nvSpPr>
          <p:cNvPr id="109343861" name="page-number"/>
          <p:cNvSpPr>
            <a:spLocks noGrp="1"/>
          </p:cNvSpPr>
          <p:nvPr/>
        </p:nvSpPr>
        <p:spPr bwMode="auto">
          <a:xfrm>
            <a:off x="11277600" y="6438899"/>
            <a:ext cx="457200" cy="190500"/>
          </a:xfrm>
          <a:prstGeom prst="rect">
            <a:avLst/>
          </a:prstGeom>
          <a:noFill/>
          <a:ln w="0">
            <a:noFill/>
            <a:prstDash val="solid"/>
          </a:ln>
        </p:spPr>
        <p:txBody>
          <a:bodyPr/>
          <a:lstStyle/>
          <a:p>
            <a:pPr algn="r">
              <a:defRPr sz="1050" b="1">
                <a:solidFill>
                  <a:srgbClr val="1D0090"/>
                </a:solidFill>
                <a:latin typeface="Mulish"/>
                <a:ea typeface="Mulish"/>
                <a:cs typeface="Mulish"/>
              </a:defRPr>
            </a:pPr>
            <a:r>
              <a:rPr sz="1050" b="1">
                <a:solidFill>
                  <a:srgbClr val="1D0090"/>
                </a:solidFill>
                <a:latin typeface="Mulish"/>
                <a:ea typeface="Mulish"/>
                <a:cs typeface="Mulish"/>
              </a:rPr>
              <a:t>05</a:t>
            </a:r>
            <a:endParaRPr/>
          </a:p>
        </p:txBody>
      </p:sp>
      <p:sp>
        <p:nvSpPr>
          <p:cNvPr id="963116108" name="copy-72"/>
          <p:cNvSpPr>
            <a:spLocks noGrp="1"/>
          </p:cNvSpPr>
          <p:nvPr/>
        </p:nvSpPr>
        <p:spPr bwMode="auto">
          <a:xfrm>
            <a:off x="990600" y="295274"/>
            <a:ext cx="10096500" cy="266700"/>
          </a:xfrm>
          <a:prstGeom prst="rect">
            <a:avLst/>
          </a:prstGeom>
          <a:noFill/>
          <a:ln w="0">
            <a:noFill/>
            <a:prstDash val="solid"/>
          </a:ln>
        </p:spPr>
        <p:txBody>
          <a:bodyPr wrap="none" lIns="0" tIns="0" rIns="0" bIns="0" anchor="t">
            <a:noAutofit/>
          </a:bodyPr>
          <a:lstStyle/>
          <a:p>
            <a:pPr algn="l">
              <a:defRPr sz="1350" b="1">
                <a:solidFill>
                  <a:srgbClr val="7000FF"/>
                </a:solidFill>
                <a:latin typeface="Mulish"/>
                <a:ea typeface="Mulish"/>
                <a:cs typeface="Mulish"/>
              </a:defRPr>
            </a:pPr>
            <a:r>
              <a:rPr sz="1350" b="1">
                <a:solidFill>
                  <a:srgbClr val="7000FF"/>
                </a:solidFill>
                <a:latin typeface="Mulish"/>
                <a:ea typeface="Mulish"/>
                <a:cs typeface="Mulish"/>
              </a:rPr>
              <a:t>AVAILABLE TODAY  /  COMPANY-CONFIRMED CAPABILITY</a:t>
            </a:r>
            <a:endParaRPr/>
          </a:p>
        </p:txBody>
      </p:sp>
      <p:sp>
        <p:nvSpPr>
          <p:cNvPr id="1317032894" name="copy-73"/>
          <p:cNvSpPr>
            <a:spLocks noGrp="1"/>
          </p:cNvSpPr>
          <p:nvPr/>
        </p:nvSpPr>
        <p:spPr bwMode="auto">
          <a:xfrm>
            <a:off x="457200" y="914400"/>
            <a:ext cx="11277600" cy="1095375"/>
          </a:xfrm>
          <a:prstGeom prst="rect">
            <a:avLst/>
          </a:prstGeom>
          <a:noFill/>
          <a:ln w="0">
            <a:noFill/>
            <a:prstDash val="solid"/>
          </a:ln>
        </p:spPr>
        <p:txBody>
          <a:bodyPr wrap="none" lIns="0" tIns="0" rIns="0" bIns="0" anchor="t">
            <a:noAutofit/>
          </a:bodyPr>
          <a:lstStyle/>
          <a:p>
            <a:pPr algn="l">
              <a:defRPr sz="3600" b="1">
                <a:solidFill>
                  <a:srgbClr val="1D0090"/>
                </a:solidFill>
                <a:latin typeface="Spartan"/>
                <a:ea typeface="Spartan"/>
                <a:cs typeface="Spartan"/>
              </a:defRPr>
            </a:pPr>
            <a:r>
              <a:rPr sz="3600" b="1">
                <a:solidFill>
                  <a:srgbClr val="1D0090"/>
                </a:solidFill>
                <a:latin typeface="Spartan"/>
                <a:ea typeface="Spartan"/>
                <a:cs typeface="Spartan"/>
              </a:rPr>
              <a:t>Agent-initiated</a:t>
            </a:r>
            <a:endParaRPr/>
          </a:p>
          <a:p>
            <a:pPr algn="l">
              <a:defRPr sz="3600" b="1">
                <a:solidFill>
                  <a:srgbClr val="1D0090"/>
                </a:solidFill>
                <a:latin typeface="Spartan"/>
                <a:ea typeface="Spartan"/>
                <a:cs typeface="Spartan"/>
              </a:defRPr>
            </a:pPr>
            <a:r>
              <a:rPr sz="3600" b="1">
                <a:solidFill>
                  <a:srgbClr val="1D0090"/>
                </a:solidFill>
                <a:latin typeface="Spartan"/>
                <a:ea typeface="Spartan"/>
                <a:cs typeface="Spartan"/>
              </a:rPr>
              <a:t>organisational sealing</a:t>
            </a:r>
            <a:endParaRPr/>
          </a:p>
        </p:txBody>
      </p:sp>
      <p:sp>
        <p:nvSpPr>
          <p:cNvPr id="34917110" name="copy-74"/>
          <p:cNvSpPr>
            <a:spLocks noGrp="1"/>
          </p:cNvSpPr>
          <p:nvPr/>
        </p:nvSpPr>
        <p:spPr bwMode="auto">
          <a:xfrm>
            <a:off x="457200" y="2114550"/>
            <a:ext cx="11277600" cy="333375"/>
          </a:xfrm>
          <a:prstGeom prst="rect">
            <a:avLst/>
          </a:prstGeom>
          <a:noFill/>
          <a:ln w="0">
            <a:noFill/>
            <a:prstDash val="solid"/>
          </a:ln>
        </p:spPr>
        <p:txBody>
          <a:bodyPr wrap="none" lIns="0" tIns="0" rIns="0" bIns="0" anchor="t">
            <a:noAutofit/>
          </a:bodyPr>
          <a:lstStyle/>
          <a:p>
            <a:pPr algn="l">
              <a:defRPr sz="1800" b="0">
                <a:solidFill>
                  <a:srgbClr val="3D3D3D"/>
                </a:solidFill>
                <a:latin typeface="Mulish"/>
                <a:ea typeface="Mulish"/>
                <a:cs typeface="Mulish"/>
              </a:defRPr>
            </a:pPr>
            <a:r>
              <a:rPr sz="1800" b="0">
                <a:solidFill>
                  <a:srgbClr val="3D3D3D"/>
                </a:solidFill>
                <a:latin typeface="Mulish"/>
                <a:ea typeface="Mulish"/>
                <a:cs typeface="Mulish"/>
              </a:rPr>
              <a:t>An agent invokes Circularo’s API to seal a document on an employee’s behalf</a:t>
            </a:r>
            <a:endParaRPr/>
          </a:p>
        </p:txBody>
      </p:sp>
      <p:sp>
        <p:nvSpPr>
          <p:cNvPr id="1591021086" name="employee-context"/>
          <p:cNvSpPr>
            <a:spLocks noGrp="1"/>
          </p:cNvSpPr>
          <p:nvPr/>
        </p:nvSpPr>
        <p:spPr bwMode="auto">
          <a:xfrm>
            <a:off x="457200" y="2724150"/>
            <a:ext cx="3352800" cy="2009775"/>
          </a:xfrm>
          <a:prstGeom prst="rect">
            <a:avLst/>
          </a:prstGeom>
          <a:noFill/>
          <a:ln w="0">
            <a:noFill/>
            <a:prstDash val="solid"/>
          </a:ln>
        </p:spPr>
      </p:sp>
      <p:sp>
        <p:nvSpPr>
          <p:cNvPr id="1424779177" name="agent-api-request"/>
          <p:cNvSpPr>
            <a:spLocks noGrp="1"/>
          </p:cNvSpPr>
          <p:nvPr/>
        </p:nvSpPr>
        <p:spPr bwMode="auto">
          <a:xfrm>
            <a:off x="4419600" y="2724150"/>
            <a:ext cx="3352800" cy="2009775"/>
          </a:xfrm>
          <a:prstGeom prst="rect">
            <a:avLst/>
          </a:prstGeom>
          <a:noFill/>
          <a:ln w="0">
            <a:noFill/>
            <a:prstDash val="solid"/>
          </a:ln>
        </p:spPr>
      </p:sp>
      <p:sp>
        <p:nvSpPr>
          <p:cNvPr id="24032801" name="organisation-seal"/>
          <p:cNvSpPr>
            <a:spLocks noGrp="1"/>
          </p:cNvSpPr>
          <p:nvPr/>
        </p:nvSpPr>
        <p:spPr bwMode="auto">
          <a:xfrm>
            <a:off x="8382000" y="2724150"/>
            <a:ext cx="3352800" cy="2009775"/>
          </a:xfrm>
          <a:prstGeom prst="rect">
            <a:avLst/>
          </a:prstGeom>
          <a:noFill/>
          <a:ln w="0">
            <a:noFill/>
            <a:prstDash val="solid"/>
          </a:ln>
        </p:spPr>
      </p:sp>
      <p:pic>
        <p:nvPicPr>
          <p:cNvPr id="1086479368" name=""/>
          <p:cNvPicPr>
            <a:picLocks noChangeAspect="1"/>
          </p:cNvPicPr>
          <p:nvPr/>
        </p:nvPicPr>
        <p:blipFill rotWithShape="1">
          <a:blip r:embed="rId4"/>
          <a:stretch/>
        </p:blipFill>
        <p:spPr bwMode="auto">
          <a:xfrm>
            <a:off x="457200" y="2733675"/>
            <a:ext cx="685800" cy="685800"/>
          </a:xfrm>
          <a:prstGeom prst="rect">
            <a:avLst/>
          </a:prstGeom>
        </p:spPr>
      </p:pic>
      <p:pic>
        <p:nvPicPr>
          <p:cNvPr id="460240657" name=""/>
          <p:cNvPicPr>
            <a:picLocks noChangeAspect="1"/>
          </p:cNvPicPr>
          <p:nvPr/>
        </p:nvPicPr>
        <p:blipFill rotWithShape="1">
          <a:blip r:embed="rId5"/>
          <a:stretch/>
        </p:blipFill>
        <p:spPr bwMode="auto">
          <a:xfrm>
            <a:off x="4419600" y="2657475"/>
            <a:ext cx="838200" cy="866775"/>
          </a:xfrm>
          <a:prstGeom prst="rect">
            <a:avLst/>
          </a:prstGeom>
        </p:spPr>
      </p:pic>
      <p:pic>
        <p:nvPicPr>
          <p:cNvPr id="747144956" name=""/>
          <p:cNvPicPr>
            <a:picLocks noChangeAspect="1"/>
          </p:cNvPicPr>
          <p:nvPr/>
        </p:nvPicPr>
        <p:blipFill rotWithShape="1">
          <a:blip r:embed="rId6"/>
          <a:stretch/>
        </p:blipFill>
        <p:spPr bwMode="auto">
          <a:xfrm>
            <a:off x="8382000" y="2733675"/>
            <a:ext cx="685800" cy="685800"/>
          </a:xfrm>
          <a:prstGeom prst="rect">
            <a:avLst/>
          </a:prstGeom>
        </p:spPr>
      </p:pic>
      <p:sp>
        <p:nvSpPr>
          <p:cNvPr id="1007225494" name="copy-75"/>
          <p:cNvSpPr>
            <a:spLocks noGrp="1"/>
          </p:cNvSpPr>
          <p:nvPr/>
        </p:nvSpPr>
        <p:spPr bwMode="auto">
          <a:xfrm>
            <a:off x="457200" y="3705225"/>
            <a:ext cx="3352800" cy="352425"/>
          </a:xfrm>
          <a:prstGeom prst="rect">
            <a:avLst/>
          </a:prstGeom>
          <a:noFill/>
          <a:ln w="0">
            <a:noFill/>
            <a:prstDash val="solid"/>
          </a:ln>
        </p:spPr>
        <p:txBody>
          <a:bodyPr wrap="none" lIns="0" tIns="0" rIns="0" bIns="0" anchor="t">
            <a:noAutofit/>
          </a:bodyPr>
          <a:lstStyle/>
          <a:p>
            <a:pPr algn="l">
              <a:defRPr sz="1950" b="1">
                <a:solidFill>
                  <a:srgbClr val="1D0090"/>
                </a:solidFill>
                <a:latin typeface="Mulish"/>
                <a:ea typeface="Mulish"/>
                <a:cs typeface="Mulish"/>
              </a:defRPr>
            </a:pPr>
            <a:r>
              <a:rPr sz="1950" b="1">
                <a:solidFill>
                  <a:srgbClr val="1D0090"/>
                </a:solidFill>
                <a:latin typeface="Mulish"/>
                <a:ea typeface="Mulish"/>
                <a:cs typeface="Mulish"/>
              </a:rPr>
              <a:t>Employee context</a:t>
            </a:r>
            <a:endParaRPr/>
          </a:p>
        </p:txBody>
      </p:sp>
      <p:sp>
        <p:nvSpPr>
          <p:cNvPr id="818713636" name="copy-76"/>
          <p:cNvSpPr>
            <a:spLocks noGrp="1"/>
          </p:cNvSpPr>
          <p:nvPr/>
        </p:nvSpPr>
        <p:spPr bwMode="auto">
          <a:xfrm>
            <a:off x="457200" y="4276725"/>
            <a:ext cx="3352800" cy="85725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A document and the employee</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on whose behalf the action</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is performed</a:t>
            </a:r>
            <a:endParaRPr/>
          </a:p>
        </p:txBody>
      </p:sp>
      <p:sp>
        <p:nvSpPr>
          <p:cNvPr id="1376486393" name="copy-77"/>
          <p:cNvSpPr>
            <a:spLocks noGrp="1"/>
          </p:cNvSpPr>
          <p:nvPr/>
        </p:nvSpPr>
        <p:spPr bwMode="auto">
          <a:xfrm>
            <a:off x="4419600" y="3705225"/>
            <a:ext cx="3352800" cy="352425"/>
          </a:xfrm>
          <a:prstGeom prst="rect">
            <a:avLst/>
          </a:prstGeom>
          <a:noFill/>
          <a:ln w="0">
            <a:noFill/>
            <a:prstDash val="solid"/>
          </a:ln>
        </p:spPr>
        <p:txBody>
          <a:bodyPr wrap="none" lIns="0" tIns="0" rIns="0" bIns="0" anchor="t">
            <a:noAutofit/>
          </a:bodyPr>
          <a:lstStyle/>
          <a:p>
            <a:pPr algn="l">
              <a:defRPr sz="1950" b="1">
                <a:solidFill>
                  <a:srgbClr val="1D0090"/>
                </a:solidFill>
                <a:latin typeface="Mulish"/>
                <a:ea typeface="Mulish"/>
                <a:cs typeface="Mulish"/>
              </a:defRPr>
            </a:pPr>
            <a:r>
              <a:rPr sz="1950" b="1">
                <a:solidFill>
                  <a:srgbClr val="1D0090"/>
                </a:solidFill>
                <a:latin typeface="Mulish"/>
                <a:ea typeface="Mulish"/>
                <a:cs typeface="Mulish"/>
              </a:rPr>
              <a:t>Agent API request</a:t>
            </a:r>
            <a:endParaRPr/>
          </a:p>
        </p:txBody>
      </p:sp>
      <p:sp>
        <p:nvSpPr>
          <p:cNvPr id="82474651" name="copy-78"/>
          <p:cNvSpPr>
            <a:spLocks noGrp="1"/>
          </p:cNvSpPr>
          <p:nvPr/>
        </p:nvSpPr>
        <p:spPr bwMode="auto">
          <a:xfrm>
            <a:off x="4419600" y="4276725"/>
            <a:ext cx="3352800" cy="85725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The agent requests the</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sealing action through the</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unified trust API</a:t>
            </a:r>
            <a:endParaRPr/>
          </a:p>
        </p:txBody>
      </p:sp>
      <p:sp>
        <p:nvSpPr>
          <p:cNvPr id="535653263" name="copy-79"/>
          <p:cNvSpPr>
            <a:spLocks noGrp="1"/>
          </p:cNvSpPr>
          <p:nvPr/>
        </p:nvSpPr>
        <p:spPr bwMode="auto">
          <a:xfrm>
            <a:off x="8382000" y="3705225"/>
            <a:ext cx="3352800" cy="352425"/>
          </a:xfrm>
          <a:prstGeom prst="rect">
            <a:avLst/>
          </a:prstGeom>
          <a:noFill/>
          <a:ln w="0">
            <a:noFill/>
            <a:prstDash val="solid"/>
          </a:ln>
        </p:spPr>
        <p:txBody>
          <a:bodyPr wrap="none" lIns="0" tIns="0" rIns="0" bIns="0" anchor="t">
            <a:noAutofit/>
          </a:bodyPr>
          <a:lstStyle/>
          <a:p>
            <a:pPr algn="l">
              <a:defRPr sz="1950" b="1">
                <a:solidFill>
                  <a:srgbClr val="1D0090"/>
                </a:solidFill>
                <a:latin typeface="Mulish"/>
                <a:ea typeface="Mulish"/>
                <a:cs typeface="Mulish"/>
              </a:defRPr>
            </a:pPr>
            <a:r>
              <a:rPr sz="1950" b="1">
                <a:solidFill>
                  <a:srgbClr val="1D0090"/>
                </a:solidFill>
                <a:latin typeface="Mulish"/>
                <a:ea typeface="Mulish"/>
                <a:cs typeface="Mulish"/>
              </a:rPr>
              <a:t>Organisation’s seal</a:t>
            </a:r>
            <a:endParaRPr/>
          </a:p>
        </p:txBody>
      </p:sp>
      <p:sp>
        <p:nvSpPr>
          <p:cNvPr id="2082486191" name="copy-80"/>
          <p:cNvSpPr>
            <a:spLocks noGrp="1"/>
          </p:cNvSpPr>
          <p:nvPr/>
        </p:nvSpPr>
        <p:spPr bwMode="auto">
          <a:xfrm>
            <a:off x="8382000" y="4276725"/>
            <a:ext cx="3352800" cy="85725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Circularo applies the</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organisation’s digital identity</a:t>
            </a:r>
            <a:endParaRPr/>
          </a:p>
          <a:p>
            <a:pPr algn="l">
              <a:defRPr sz="1650" b="0">
                <a:solidFill>
                  <a:srgbClr val="3D3D3D"/>
                </a:solidFill>
                <a:latin typeface="Mulish"/>
                <a:ea typeface="Mulish"/>
                <a:cs typeface="Mulish"/>
              </a:defRPr>
            </a:pPr>
            <a:r>
              <a:rPr sz="1650" b="0">
                <a:solidFill>
                  <a:srgbClr val="3D3D3D"/>
                </a:solidFill>
                <a:latin typeface="Mulish"/>
                <a:ea typeface="Mulish"/>
                <a:cs typeface="Mulish"/>
              </a:rPr>
              <a:t>to seal the document</a:t>
            </a:r>
            <a:endParaRPr/>
          </a:p>
        </p:txBody>
      </p:sp>
      <p:sp>
        <p:nvSpPr>
          <p:cNvPr id="392760772" name="rollout-controls"/>
          <p:cNvSpPr>
            <a:spLocks noGrp="1"/>
          </p:cNvSpPr>
          <p:nvPr/>
        </p:nvSpPr>
        <p:spPr bwMode="auto">
          <a:xfrm>
            <a:off x="457200" y="5610225"/>
            <a:ext cx="11277600" cy="847725"/>
          </a:xfrm>
          <a:prstGeom prst="rect">
            <a:avLst/>
          </a:prstGeom>
          <a:solidFill>
            <a:srgbClr val="F5EDFF"/>
          </a:solidFill>
          <a:ln w="0">
            <a:noFill/>
            <a:prstDash val="solid"/>
          </a:ln>
        </p:spPr>
      </p:sp>
      <p:sp>
        <p:nvSpPr>
          <p:cNvPr id="780012306" name="copy-81"/>
          <p:cNvSpPr>
            <a:spLocks noGrp="1"/>
          </p:cNvSpPr>
          <p:nvPr/>
        </p:nvSpPr>
        <p:spPr bwMode="auto">
          <a:xfrm>
            <a:off x="609600" y="5734050"/>
            <a:ext cx="10972800" cy="276225"/>
          </a:xfrm>
          <a:prstGeom prst="rect">
            <a:avLst/>
          </a:prstGeom>
          <a:noFill/>
          <a:ln w="0">
            <a:noFill/>
            <a:prstDash val="solid"/>
          </a:ln>
        </p:spPr>
        <p:txBody>
          <a:bodyPr wrap="none" lIns="0" tIns="0" rIns="0" bIns="0" anchor="t">
            <a:noAutofit/>
          </a:bodyPr>
          <a:lstStyle/>
          <a:p>
            <a:pPr algn="l">
              <a:defRPr sz="1600" b="1">
                <a:solidFill>
                  <a:srgbClr val="7000FF"/>
                </a:solidFill>
                <a:latin typeface="Mulish"/>
                <a:ea typeface="Mulish"/>
                <a:cs typeface="Mulish"/>
              </a:defRPr>
            </a:pPr>
            <a:r>
              <a:rPr sz="1600" b="1">
                <a:solidFill>
                  <a:srgbClr val="7000FF"/>
                </a:solidFill>
                <a:latin typeface="Mulish"/>
                <a:ea typeface="Mulish"/>
                <a:cs typeface="Mulish"/>
              </a:rPr>
              <a:t>FOR SHARED GOVERNMENT ROLLOUT</a:t>
            </a:r>
            <a:endParaRPr/>
          </a:p>
        </p:txBody>
      </p:sp>
      <p:sp>
        <p:nvSpPr>
          <p:cNvPr id="1855760926" name="copy-82"/>
          <p:cNvSpPr>
            <a:spLocks noGrp="1"/>
          </p:cNvSpPr>
          <p:nvPr/>
        </p:nvSpPr>
        <p:spPr bwMode="auto">
          <a:xfrm>
            <a:off x="609600" y="6115050"/>
            <a:ext cx="10972800" cy="285750"/>
          </a:xfrm>
          <a:prstGeom prst="rect">
            <a:avLst/>
          </a:prstGeom>
          <a:noFill/>
          <a:ln w="0">
            <a:noFill/>
            <a:prstDash val="solid"/>
          </a:ln>
        </p:spPr>
        <p:txBody>
          <a:bodyPr wrap="none" lIns="0" tIns="0" rIns="0" bIns="0" anchor="t">
            <a:noAutofit/>
          </a:bodyPr>
          <a:lstStyle/>
          <a:p>
            <a:pPr algn="l">
              <a:defRPr sz="1650" b="0">
                <a:solidFill>
                  <a:srgbClr val="1D0090"/>
                </a:solidFill>
                <a:latin typeface="Mulish"/>
                <a:ea typeface="Mulish"/>
                <a:cs typeface="Mulish"/>
              </a:defRPr>
            </a:pPr>
            <a:r>
              <a:rPr sz="1650" b="0">
                <a:solidFill>
                  <a:srgbClr val="1D0090"/>
                </a:solidFill>
                <a:latin typeface="Mulish"/>
                <a:ea typeface="Mulish"/>
                <a:cs typeface="Mulish"/>
              </a:rPr>
              <a:t>Agree delegation, approval triggers, evidence and retention requirements for each entity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cxnSp>
        <p:nvCxnSpPr>
          <p:cNvPr id="631001664" name=""/>
          <p:cNvCxnSpPr>
            <a:stCxn id="1805770232" idx="3"/>
            <a:endCxn id="2027048275" idx="1"/>
          </p:cNvCxnSpPr>
          <p:nvPr/>
        </p:nvCxnSpPr>
        <p:spPr bwMode="auto">
          <a:xfrm>
            <a:off x="7772400" y="3962400"/>
            <a:ext cx="609600" cy="0"/>
          </a:xfrm>
          <a:prstGeom prst="straightConnector1">
            <a:avLst/>
          </a:prstGeom>
          <a:ln w="19050">
            <a:solidFill>
              <a:srgbClr val="7000FF"/>
            </a:solidFill>
            <a:tailEnd type="triangle" w="sm" len="sm"/>
          </a:ln>
        </p:spPr>
      </p:cxnSp>
      <p:cxnSp>
        <p:nvCxnSpPr>
          <p:cNvPr id="1599395785" name=""/>
          <p:cNvCxnSpPr>
            <a:stCxn id="1859071924" idx="3"/>
            <a:endCxn id="1805770232" idx="1"/>
          </p:cNvCxnSpPr>
          <p:nvPr/>
        </p:nvCxnSpPr>
        <p:spPr bwMode="auto">
          <a:xfrm>
            <a:off x="3810000" y="3962400"/>
            <a:ext cx="609600" cy="0"/>
          </a:xfrm>
          <a:prstGeom prst="straightConnector1">
            <a:avLst/>
          </a:prstGeom>
          <a:ln w="19050">
            <a:solidFill>
              <a:srgbClr val="7000FF"/>
            </a:solidFill>
            <a:tailEnd type="triangle" w="sm" len="sm"/>
          </a:ln>
        </p:spPr>
      </p:cxnSp>
      <p:pic>
        <p:nvPicPr>
          <p:cNvPr id="1674595315" name=""/>
          <p:cNvPicPr>
            <a:picLocks noChangeAspect="1"/>
          </p:cNvPicPr>
          <p:nvPr/>
        </p:nvPicPr>
        <p:blipFill rotWithShape="1">
          <a:blip r:embed="rId3"/>
          <a:stretch/>
        </p:blipFill>
        <p:spPr bwMode="auto">
          <a:xfrm>
            <a:off x="457200" y="228600"/>
            <a:ext cx="381000" cy="381000"/>
          </a:xfrm>
          <a:prstGeom prst="rect">
            <a:avLst/>
          </a:prstGeom>
        </p:spPr>
      </p:pic>
      <p:sp>
        <p:nvSpPr>
          <p:cNvPr id="931797510" name="page-number"/>
          <p:cNvSpPr>
            <a:spLocks noGrp="1"/>
          </p:cNvSpPr>
          <p:nvPr/>
        </p:nvSpPr>
        <p:spPr bwMode="auto">
          <a:xfrm>
            <a:off x="11277600" y="6438899"/>
            <a:ext cx="457200" cy="190500"/>
          </a:xfrm>
          <a:prstGeom prst="rect">
            <a:avLst/>
          </a:prstGeom>
          <a:noFill/>
          <a:ln w="0">
            <a:noFill/>
            <a:prstDash val="solid"/>
          </a:ln>
        </p:spPr>
        <p:txBody>
          <a:bodyPr/>
          <a:lstStyle/>
          <a:p>
            <a:pPr algn="r">
              <a:defRPr sz="1050" b="1">
                <a:solidFill>
                  <a:srgbClr val="1D0090"/>
                </a:solidFill>
                <a:latin typeface="Mulish"/>
                <a:ea typeface="Mulish"/>
                <a:cs typeface="Mulish"/>
              </a:defRPr>
            </a:pPr>
            <a:r>
              <a:rPr sz="1050" b="1">
                <a:solidFill>
                  <a:srgbClr val="1D0090"/>
                </a:solidFill>
                <a:latin typeface="Mulish"/>
                <a:ea typeface="Mulish"/>
                <a:cs typeface="Mulish"/>
              </a:rPr>
              <a:t>06</a:t>
            </a:r>
            <a:endParaRPr/>
          </a:p>
        </p:txBody>
      </p:sp>
      <p:sp>
        <p:nvSpPr>
          <p:cNvPr id="1204508137" name="copy-83"/>
          <p:cNvSpPr>
            <a:spLocks noGrp="1"/>
          </p:cNvSpPr>
          <p:nvPr/>
        </p:nvSpPr>
        <p:spPr bwMode="auto">
          <a:xfrm>
            <a:off x="990600" y="295274"/>
            <a:ext cx="10096500" cy="266700"/>
          </a:xfrm>
          <a:prstGeom prst="rect">
            <a:avLst/>
          </a:prstGeom>
          <a:noFill/>
          <a:ln w="0">
            <a:noFill/>
            <a:prstDash val="solid"/>
          </a:ln>
        </p:spPr>
        <p:txBody>
          <a:bodyPr wrap="none" lIns="0" tIns="0" rIns="0" bIns="0" anchor="t">
            <a:noAutofit/>
          </a:bodyPr>
          <a:lstStyle/>
          <a:p>
            <a:pPr algn="l">
              <a:defRPr sz="1350" b="1">
                <a:solidFill>
                  <a:srgbClr val="7000FF"/>
                </a:solidFill>
                <a:latin typeface="Mulish"/>
                <a:ea typeface="Mulish"/>
                <a:cs typeface="Mulish"/>
              </a:defRPr>
            </a:pPr>
            <a:r>
              <a:rPr sz="1350" b="1">
                <a:solidFill>
                  <a:srgbClr val="7000FF"/>
                </a:solidFill>
                <a:latin typeface="Mulish"/>
                <a:ea typeface="Mulish"/>
                <a:cs typeface="Mulish"/>
              </a:rPr>
              <a:t>INSTITUTIONAL EVIDENCE AND TRUSTED AI CONTEXT</a:t>
            </a:r>
            <a:endParaRPr/>
          </a:p>
        </p:txBody>
      </p:sp>
      <p:sp>
        <p:nvSpPr>
          <p:cNvPr id="1946741432" name="copy-84"/>
          <p:cNvSpPr>
            <a:spLocks noGrp="1"/>
          </p:cNvSpPr>
          <p:nvPr/>
        </p:nvSpPr>
        <p:spPr bwMode="auto">
          <a:xfrm>
            <a:off x="457200" y="914400"/>
            <a:ext cx="11277600" cy="1095375"/>
          </a:xfrm>
          <a:prstGeom prst="rect">
            <a:avLst/>
          </a:prstGeom>
          <a:noFill/>
          <a:ln w="0">
            <a:noFill/>
            <a:prstDash val="solid"/>
          </a:ln>
        </p:spPr>
        <p:txBody>
          <a:bodyPr wrap="none" lIns="0" tIns="0" rIns="0" bIns="0" anchor="t">
            <a:noAutofit/>
          </a:bodyPr>
          <a:lstStyle/>
          <a:p>
            <a:pPr algn="l">
              <a:defRPr sz="3600" b="1">
                <a:solidFill>
                  <a:srgbClr val="1D0090"/>
                </a:solidFill>
                <a:latin typeface="Spartan"/>
                <a:ea typeface="Spartan"/>
                <a:cs typeface="Spartan"/>
              </a:defRPr>
            </a:pPr>
            <a:r>
              <a:rPr sz="3600" b="1">
                <a:solidFill>
                  <a:srgbClr val="1D0090"/>
                </a:solidFill>
                <a:latin typeface="Spartan"/>
                <a:ea typeface="Spartan"/>
                <a:cs typeface="Spartan"/>
              </a:rPr>
              <a:t>Evidence becomes</a:t>
            </a:r>
            <a:endParaRPr/>
          </a:p>
          <a:p>
            <a:pPr algn="l">
              <a:defRPr sz="3600" b="1">
                <a:solidFill>
                  <a:srgbClr val="1D0090"/>
                </a:solidFill>
                <a:latin typeface="Spartan"/>
                <a:ea typeface="Spartan"/>
                <a:cs typeface="Spartan"/>
              </a:defRPr>
            </a:pPr>
            <a:r>
              <a:rPr sz="3600" b="1">
                <a:solidFill>
                  <a:srgbClr val="1D0090"/>
                </a:solidFill>
                <a:latin typeface="Spartan"/>
                <a:ea typeface="Spartan"/>
                <a:cs typeface="Spartan"/>
              </a:rPr>
              <a:t>institutional memory</a:t>
            </a:r>
            <a:endParaRPr/>
          </a:p>
        </p:txBody>
      </p:sp>
      <p:sp>
        <p:nvSpPr>
          <p:cNvPr id="473366294" name="copy-85"/>
          <p:cNvSpPr>
            <a:spLocks noGrp="1"/>
          </p:cNvSpPr>
          <p:nvPr/>
        </p:nvSpPr>
        <p:spPr bwMode="auto">
          <a:xfrm>
            <a:off x="457200" y="2114550"/>
            <a:ext cx="11277600" cy="323850"/>
          </a:xfrm>
          <a:prstGeom prst="rect">
            <a:avLst/>
          </a:prstGeom>
          <a:noFill/>
          <a:ln w="0">
            <a:noFill/>
            <a:prstDash val="solid"/>
          </a:ln>
        </p:spPr>
        <p:txBody>
          <a:bodyPr wrap="none" lIns="0" tIns="0" rIns="0" bIns="0" anchor="t">
            <a:noAutofit/>
          </a:bodyPr>
          <a:lstStyle/>
          <a:p>
            <a:pPr algn="l">
              <a:defRPr sz="1900" b="0">
                <a:solidFill>
                  <a:srgbClr val="3D3D3D"/>
                </a:solidFill>
                <a:latin typeface="Mulish"/>
                <a:ea typeface="Mulish"/>
                <a:cs typeface="Mulish"/>
              </a:defRPr>
            </a:pPr>
            <a:r>
              <a:rPr sz="1900" b="0">
                <a:solidFill>
                  <a:srgbClr val="3D3D3D"/>
                </a:solidFill>
                <a:latin typeface="Mulish"/>
                <a:ea typeface="Mulish"/>
                <a:cs typeface="Mulish"/>
              </a:rPr>
              <a:t>Preserve provenance and permissions so AI can work with trusted context</a:t>
            </a:r>
            <a:endParaRPr/>
          </a:p>
        </p:txBody>
      </p:sp>
      <p:sp>
        <p:nvSpPr>
          <p:cNvPr id="1859071924" name="trusted-records"/>
          <p:cNvSpPr>
            <a:spLocks noGrp="1"/>
          </p:cNvSpPr>
          <p:nvPr/>
        </p:nvSpPr>
        <p:spPr bwMode="auto">
          <a:xfrm>
            <a:off x="457200" y="2876550"/>
            <a:ext cx="3352800" cy="2171700"/>
          </a:xfrm>
          <a:prstGeom prst="rect">
            <a:avLst/>
          </a:prstGeom>
          <a:solidFill>
            <a:srgbClr val="F5EDFF"/>
          </a:solidFill>
          <a:ln w="0">
            <a:noFill/>
            <a:prstDash val="solid"/>
          </a:ln>
        </p:spPr>
      </p:sp>
      <p:sp>
        <p:nvSpPr>
          <p:cNvPr id="1805770232" name="trusted-context"/>
          <p:cNvSpPr>
            <a:spLocks noGrp="1"/>
          </p:cNvSpPr>
          <p:nvPr/>
        </p:nvSpPr>
        <p:spPr bwMode="auto">
          <a:xfrm>
            <a:off x="4419600" y="2876550"/>
            <a:ext cx="3352800" cy="2171700"/>
          </a:xfrm>
          <a:prstGeom prst="rect">
            <a:avLst/>
          </a:prstGeom>
          <a:solidFill>
            <a:srgbClr val="F5EDFF"/>
          </a:solidFill>
          <a:ln w="0">
            <a:noFill/>
            <a:prstDash val="solid"/>
          </a:ln>
        </p:spPr>
      </p:sp>
      <p:sp>
        <p:nvSpPr>
          <p:cNvPr id="2027048275" name="governed-action"/>
          <p:cNvSpPr>
            <a:spLocks noGrp="1"/>
          </p:cNvSpPr>
          <p:nvPr/>
        </p:nvSpPr>
        <p:spPr bwMode="auto">
          <a:xfrm>
            <a:off x="8382000" y="2876550"/>
            <a:ext cx="3352800" cy="2171700"/>
          </a:xfrm>
          <a:prstGeom prst="rect">
            <a:avLst/>
          </a:prstGeom>
          <a:solidFill>
            <a:srgbClr val="1D0090"/>
          </a:solidFill>
          <a:ln w="0">
            <a:noFill/>
            <a:prstDash val="solid"/>
          </a:ln>
        </p:spPr>
      </p:sp>
      <p:sp>
        <p:nvSpPr>
          <p:cNvPr id="917824096" name="copy-86"/>
          <p:cNvSpPr>
            <a:spLocks noGrp="1"/>
          </p:cNvSpPr>
          <p:nvPr/>
        </p:nvSpPr>
        <p:spPr bwMode="auto">
          <a:xfrm>
            <a:off x="609600" y="3057525"/>
            <a:ext cx="3048000" cy="733424"/>
          </a:xfrm>
          <a:prstGeom prst="rect">
            <a:avLst/>
          </a:prstGeom>
          <a:noFill/>
          <a:ln w="0">
            <a:noFill/>
            <a:prstDash val="solid"/>
          </a:ln>
        </p:spPr>
        <p:txBody>
          <a:bodyPr wrap="none" lIns="0" tIns="0" rIns="0" bIns="0" anchor="t">
            <a:noAutofit/>
          </a:bodyPr>
          <a:lstStyle/>
          <a:p>
            <a:pPr algn="l">
              <a:defRPr sz="2100" b="1">
                <a:solidFill>
                  <a:srgbClr val="1D0090"/>
                </a:solidFill>
                <a:latin typeface="Spartan"/>
                <a:ea typeface="Spartan"/>
                <a:cs typeface="Spartan"/>
              </a:defRPr>
            </a:pPr>
            <a:r>
              <a:rPr sz="2100" b="1">
                <a:solidFill>
                  <a:srgbClr val="1D0090"/>
                </a:solidFill>
                <a:latin typeface="Spartan"/>
                <a:ea typeface="Spartan"/>
                <a:cs typeface="Spartan"/>
              </a:rPr>
              <a:t>Trusted</a:t>
            </a:r>
            <a:endParaRPr/>
          </a:p>
          <a:p>
            <a:pPr algn="l">
              <a:defRPr sz="2100" b="1">
                <a:solidFill>
                  <a:srgbClr val="1D0090"/>
                </a:solidFill>
                <a:latin typeface="Spartan"/>
                <a:ea typeface="Spartan"/>
                <a:cs typeface="Spartan"/>
              </a:defRPr>
            </a:pPr>
            <a:r>
              <a:rPr sz="2100" b="1">
                <a:solidFill>
                  <a:srgbClr val="1D0090"/>
                </a:solidFill>
                <a:latin typeface="Spartan"/>
                <a:ea typeface="Spartan"/>
                <a:cs typeface="Spartan"/>
              </a:rPr>
              <a:t>records</a:t>
            </a:r>
            <a:endParaRPr/>
          </a:p>
        </p:txBody>
      </p:sp>
      <p:sp>
        <p:nvSpPr>
          <p:cNvPr id="1088836526" name="copy-87"/>
          <p:cNvSpPr>
            <a:spLocks noGrp="1"/>
          </p:cNvSpPr>
          <p:nvPr/>
        </p:nvSpPr>
        <p:spPr bwMode="auto">
          <a:xfrm>
            <a:off x="609600" y="4095750"/>
            <a:ext cx="3048000" cy="838200"/>
          </a:xfrm>
          <a:prstGeom prst="rect">
            <a:avLst/>
          </a:prstGeom>
          <a:noFill/>
          <a:ln w="0">
            <a:noFill/>
            <a:prstDash val="solid"/>
          </a:ln>
        </p:spPr>
        <p:txBody>
          <a:bodyPr wrap="none" lIns="0" tIns="0" rIns="0" bIns="0" anchor="t">
            <a:noAutofit/>
          </a:bodyPr>
          <a:lstStyle/>
          <a:p>
            <a:pPr algn="l">
              <a:defRPr sz="1600" b="0">
                <a:solidFill>
                  <a:srgbClr val="1D0090"/>
                </a:solidFill>
                <a:latin typeface="Mulish"/>
                <a:ea typeface="Mulish"/>
                <a:cs typeface="Mulish"/>
              </a:defRPr>
            </a:pPr>
            <a:r>
              <a:rPr sz="1600" b="0">
                <a:solidFill>
                  <a:srgbClr val="1D0090"/>
                </a:solidFill>
                <a:latin typeface="Mulish"/>
                <a:ea typeface="Mulish"/>
                <a:cs typeface="Mulish"/>
              </a:rPr>
              <a:t>Identity and provenance</a:t>
            </a:r>
            <a:endParaRPr/>
          </a:p>
          <a:p>
            <a:pPr algn="l">
              <a:defRPr sz="1600" b="0">
                <a:solidFill>
                  <a:srgbClr val="1D0090"/>
                </a:solidFill>
                <a:latin typeface="Mulish"/>
                <a:ea typeface="Mulish"/>
                <a:cs typeface="Mulish"/>
              </a:defRPr>
            </a:pPr>
            <a:r>
              <a:rPr sz="1600" b="0">
                <a:solidFill>
                  <a:srgbClr val="1D0090"/>
                </a:solidFill>
                <a:latin typeface="Mulish"/>
                <a:ea typeface="Mulish"/>
                <a:cs typeface="Mulish"/>
              </a:rPr>
              <a:t>Decisions, signatures and seals</a:t>
            </a:r>
            <a:endParaRPr/>
          </a:p>
          <a:p>
            <a:pPr algn="l">
              <a:defRPr sz="1600" b="0">
                <a:solidFill>
                  <a:srgbClr val="1D0090"/>
                </a:solidFill>
                <a:latin typeface="Mulish"/>
                <a:ea typeface="Mulish"/>
                <a:cs typeface="Mulish"/>
              </a:defRPr>
            </a:pPr>
            <a:r>
              <a:rPr sz="1600" b="0">
                <a:solidFill>
                  <a:srgbClr val="1D0090"/>
                </a:solidFill>
                <a:latin typeface="Mulish"/>
                <a:ea typeface="Mulish"/>
                <a:cs typeface="Mulish"/>
              </a:rPr>
              <a:t>Timestamps and evidence</a:t>
            </a:r>
            <a:endParaRPr/>
          </a:p>
        </p:txBody>
      </p:sp>
      <p:sp>
        <p:nvSpPr>
          <p:cNvPr id="874970447" name="copy-88"/>
          <p:cNvSpPr>
            <a:spLocks noGrp="1"/>
          </p:cNvSpPr>
          <p:nvPr/>
        </p:nvSpPr>
        <p:spPr bwMode="auto">
          <a:xfrm>
            <a:off x="4572000" y="3057525"/>
            <a:ext cx="3048000" cy="733424"/>
          </a:xfrm>
          <a:prstGeom prst="rect">
            <a:avLst/>
          </a:prstGeom>
          <a:noFill/>
          <a:ln w="0">
            <a:noFill/>
            <a:prstDash val="solid"/>
          </a:ln>
        </p:spPr>
        <p:txBody>
          <a:bodyPr wrap="none" lIns="0" tIns="0" rIns="0" bIns="0" anchor="t">
            <a:noAutofit/>
          </a:bodyPr>
          <a:lstStyle/>
          <a:p>
            <a:pPr algn="l">
              <a:defRPr sz="2100" b="1">
                <a:solidFill>
                  <a:srgbClr val="1D0090"/>
                </a:solidFill>
                <a:latin typeface="Spartan"/>
                <a:ea typeface="Spartan"/>
                <a:cs typeface="Spartan"/>
              </a:defRPr>
            </a:pPr>
            <a:r>
              <a:rPr sz="2100" b="1">
                <a:solidFill>
                  <a:srgbClr val="1D0090"/>
                </a:solidFill>
                <a:latin typeface="Spartan"/>
                <a:ea typeface="Spartan"/>
                <a:cs typeface="Spartan"/>
              </a:rPr>
              <a:t>Trusted</a:t>
            </a:r>
            <a:endParaRPr/>
          </a:p>
          <a:p>
            <a:pPr algn="l">
              <a:defRPr sz="2100" b="1">
                <a:solidFill>
                  <a:srgbClr val="1D0090"/>
                </a:solidFill>
                <a:latin typeface="Spartan"/>
                <a:ea typeface="Spartan"/>
                <a:cs typeface="Spartan"/>
              </a:defRPr>
            </a:pPr>
            <a:r>
              <a:rPr sz="2100" b="1">
                <a:solidFill>
                  <a:srgbClr val="1D0090"/>
                </a:solidFill>
                <a:latin typeface="Spartan"/>
                <a:ea typeface="Spartan"/>
                <a:cs typeface="Spartan"/>
              </a:rPr>
              <a:t>AI context</a:t>
            </a:r>
            <a:endParaRPr/>
          </a:p>
        </p:txBody>
      </p:sp>
      <p:sp>
        <p:nvSpPr>
          <p:cNvPr id="1623842290" name="copy-89"/>
          <p:cNvSpPr>
            <a:spLocks noGrp="1"/>
          </p:cNvSpPr>
          <p:nvPr/>
        </p:nvSpPr>
        <p:spPr bwMode="auto">
          <a:xfrm>
            <a:off x="4572000" y="4095750"/>
            <a:ext cx="3048000" cy="838200"/>
          </a:xfrm>
          <a:prstGeom prst="rect">
            <a:avLst/>
          </a:prstGeom>
          <a:noFill/>
          <a:ln w="0">
            <a:noFill/>
            <a:prstDash val="solid"/>
          </a:ln>
        </p:spPr>
        <p:txBody>
          <a:bodyPr wrap="none" lIns="0" tIns="0" rIns="0" bIns="0" anchor="t">
            <a:noAutofit/>
          </a:bodyPr>
          <a:lstStyle/>
          <a:p>
            <a:pPr algn="l">
              <a:defRPr sz="1600" b="0">
                <a:solidFill>
                  <a:srgbClr val="1D0090"/>
                </a:solidFill>
                <a:latin typeface="Mulish"/>
                <a:ea typeface="Mulish"/>
                <a:cs typeface="Mulish"/>
              </a:defRPr>
            </a:pPr>
            <a:r>
              <a:rPr sz="1600" b="0">
                <a:solidFill>
                  <a:srgbClr val="1D0090"/>
                </a:solidFill>
                <a:latin typeface="Mulish"/>
                <a:ea typeface="Mulish"/>
                <a:cs typeface="Mulish"/>
              </a:rPr>
              <a:t>Attributable information</a:t>
            </a:r>
            <a:endParaRPr/>
          </a:p>
          <a:p>
            <a:pPr algn="l">
              <a:defRPr sz="1600" b="0">
                <a:solidFill>
                  <a:srgbClr val="1D0090"/>
                </a:solidFill>
                <a:latin typeface="Mulish"/>
                <a:ea typeface="Mulish"/>
                <a:cs typeface="Mulish"/>
              </a:defRPr>
            </a:pPr>
            <a:r>
              <a:rPr sz="1600" b="0">
                <a:solidFill>
                  <a:srgbClr val="1D0090"/>
                </a:solidFill>
                <a:latin typeface="Mulish"/>
                <a:ea typeface="Mulish"/>
                <a:cs typeface="Mulish"/>
              </a:rPr>
              <a:t>Permission-controlled access</a:t>
            </a:r>
            <a:endParaRPr/>
          </a:p>
          <a:p>
            <a:pPr algn="l">
              <a:defRPr sz="1600" b="0">
                <a:solidFill>
                  <a:srgbClr val="1D0090"/>
                </a:solidFill>
                <a:latin typeface="Mulish"/>
                <a:ea typeface="Mulish"/>
                <a:cs typeface="Mulish"/>
              </a:defRPr>
            </a:pPr>
            <a:r>
              <a:rPr sz="1600" b="0">
                <a:solidFill>
                  <a:srgbClr val="1D0090"/>
                </a:solidFill>
                <a:latin typeface="Mulish"/>
                <a:ea typeface="Mulish"/>
                <a:cs typeface="Mulish"/>
              </a:rPr>
              <a:t>Historical decision context</a:t>
            </a:r>
            <a:endParaRPr/>
          </a:p>
        </p:txBody>
      </p:sp>
      <p:sp>
        <p:nvSpPr>
          <p:cNvPr id="1489680888" name="copy-90"/>
          <p:cNvSpPr>
            <a:spLocks noGrp="1"/>
          </p:cNvSpPr>
          <p:nvPr/>
        </p:nvSpPr>
        <p:spPr bwMode="auto">
          <a:xfrm>
            <a:off x="8534400" y="3057525"/>
            <a:ext cx="3048000" cy="733424"/>
          </a:xfrm>
          <a:prstGeom prst="rect">
            <a:avLst/>
          </a:prstGeom>
          <a:noFill/>
          <a:ln w="0">
            <a:noFill/>
            <a:prstDash val="solid"/>
          </a:ln>
        </p:spPr>
        <p:txBody>
          <a:bodyPr wrap="none" lIns="0" tIns="0" rIns="0" bIns="0" anchor="t">
            <a:noAutofit/>
          </a:bodyPr>
          <a:lstStyle/>
          <a:p>
            <a:pPr algn="l">
              <a:defRPr sz="2100" b="1">
                <a:solidFill>
                  <a:srgbClr val="FFFFFF"/>
                </a:solidFill>
                <a:latin typeface="Spartan"/>
                <a:ea typeface="Spartan"/>
                <a:cs typeface="Spartan"/>
              </a:defRPr>
            </a:pPr>
            <a:r>
              <a:rPr sz="2100" b="1">
                <a:solidFill>
                  <a:srgbClr val="FFFFFF"/>
                </a:solidFill>
                <a:latin typeface="Spartan"/>
                <a:ea typeface="Spartan"/>
                <a:cs typeface="Spartan"/>
              </a:rPr>
              <a:t>Governed</a:t>
            </a:r>
            <a:endParaRPr/>
          </a:p>
          <a:p>
            <a:pPr algn="l">
              <a:defRPr sz="2100" b="1">
                <a:solidFill>
                  <a:srgbClr val="FFFFFF"/>
                </a:solidFill>
                <a:latin typeface="Spartan"/>
                <a:ea typeface="Spartan"/>
                <a:cs typeface="Spartan"/>
              </a:defRPr>
            </a:pPr>
            <a:r>
              <a:rPr sz="2100" b="1">
                <a:solidFill>
                  <a:srgbClr val="FFFFFF"/>
                </a:solidFill>
                <a:latin typeface="Spartan"/>
                <a:ea typeface="Spartan"/>
                <a:cs typeface="Spartan"/>
              </a:rPr>
              <a:t>action</a:t>
            </a:r>
            <a:endParaRPr/>
          </a:p>
        </p:txBody>
      </p:sp>
      <p:sp>
        <p:nvSpPr>
          <p:cNvPr id="1084411288" name="copy-91"/>
          <p:cNvSpPr>
            <a:spLocks noGrp="1"/>
          </p:cNvSpPr>
          <p:nvPr/>
        </p:nvSpPr>
        <p:spPr bwMode="auto">
          <a:xfrm>
            <a:off x="8534400" y="4095750"/>
            <a:ext cx="3048000" cy="838200"/>
          </a:xfrm>
          <a:prstGeom prst="rect">
            <a:avLst/>
          </a:prstGeom>
          <a:noFill/>
          <a:ln w="0">
            <a:noFill/>
            <a:prstDash val="solid"/>
          </a:ln>
        </p:spPr>
        <p:txBody>
          <a:bodyPr wrap="none" lIns="0" tIns="0" rIns="0" bIns="0" anchor="t">
            <a:noAutofit/>
          </a:bodyPr>
          <a:lstStyle/>
          <a:p>
            <a:pPr algn="l">
              <a:defRPr sz="1600" b="0">
                <a:solidFill>
                  <a:srgbClr val="FFFFFF"/>
                </a:solidFill>
                <a:latin typeface="Mulish"/>
                <a:ea typeface="Mulish"/>
                <a:cs typeface="Mulish"/>
              </a:defRPr>
            </a:pPr>
            <a:r>
              <a:rPr sz="1600" b="0">
                <a:solidFill>
                  <a:srgbClr val="FFFFFF"/>
                </a:solidFill>
                <a:latin typeface="Mulish"/>
                <a:ea typeface="Mulish"/>
                <a:cs typeface="Mulish"/>
              </a:rPr>
              <a:t>Retrieve and understand</a:t>
            </a:r>
            <a:endParaRPr/>
          </a:p>
          <a:p>
            <a:pPr algn="l">
              <a:defRPr sz="1600" b="0">
                <a:solidFill>
                  <a:srgbClr val="FFFFFF"/>
                </a:solidFill>
                <a:latin typeface="Mulish"/>
                <a:ea typeface="Mulish"/>
                <a:cs typeface="Mulish"/>
              </a:defRPr>
            </a:pPr>
            <a:r>
              <a:rPr sz="1600" b="0">
                <a:solidFill>
                  <a:srgbClr val="FFFFFF"/>
                </a:solidFill>
                <a:latin typeface="Mulish"/>
                <a:ea typeface="Mulish"/>
                <a:cs typeface="Mulish"/>
              </a:rPr>
              <a:t>Advise with context</a:t>
            </a:r>
            <a:endParaRPr/>
          </a:p>
          <a:p>
            <a:pPr algn="l">
              <a:defRPr sz="1600" b="0">
                <a:solidFill>
                  <a:srgbClr val="FFFFFF"/>
                </a:solidFill>
                <a:latin typeface="Mulish"/>
                <a:ea typeface="Mulish"/>
                <a:cs typeface="Mulish"/>
              </a:defRPr>
            </a:pPr>
            <a:r>
              <a:rPr sz="1600" b="0">
                <a:solidFill>
                  <a:srgbClr val="FFFFFF"/>
                </a:solidFill>
                <a:latin typeface="Mulish"/>
                <a:ea typeface="Mulish"/>
                <a:cs typeface="Mulish"/>
              </a:rPr>
              <a:t>Invoke permitted actions</a:t>
            </a:r>
            <a:endParaRPr/>
          </a:p>
        </p:txBody>
      </p:sp>
      <p:sp>
        <p:nvSpPr>
          <p:cNvPr id="996171388" name="copy-92"/>
          <p:cNvSpPr>
            <a:spLocks noGrp="1"/>
          </p:cNvSpPr>
          <p:nvPr/>
        </p:nvSpPr>
        <p:spPr bwMode="auto">
          <a:xfrm>
            <a:off x="457200" y="5514975"/>
            <a:ext cx="11277600" cy="333375"/>
          </a:xfrm>
          <a:prstGeom prst="rect">
            <a:avLst/>
          </a:prstGeom>
          <a:noFill/>
          <a:ln w="0">
            <a:noFill/>
            <a:prstDash val="solid"/>
          </a:ln>
        </p:spPr>
        <p:txBody>
          <a:bodyPr wrap="none" lIns="0" tIns="0" rIns="0" bIns="0" anchor="t">
            <a:noAutofit/>
          </a:bodyPr>
          <a:lstStyle/>
          <a:p>
            <a:pPr algn="l">
              <a:defRPr sz="1900" b="1">
                <a:solidFill>
                  <a:srgbClr val="7000FF"/>
                </a:solidFill>
                <a:latin typeface="Mulish"/>
                <a:ea typeface="Mulish"/>
                <a:cs typeface="Mulish"/>
              </a:defRPr>
            </a:pPr>
            <a:r>
              <a:rPr sz="1900" b="1">
                <a:solidFill>
                  <a:srgbClr val="7000FF"/>
                </a:solidFill>
                <a:latin typeface="Mulish"/>
                <a:ea typeface="Mulish"/>
                <a:cs typeface="Mulish"/>
              </a:rPr>
              <a:t>Each governed action can add new evidence to the institutional record</a:t>
            </a:r>
            <a:endParaRPr/>
          </a:p>
        </p:txBody>
      </p:sp>
      <p:sp>
        <p:nvSpPr>
          <p:cNvPr id="1011630245" name="divider"/>
          <p:cNvSpPr>
            <a:spLocks noGrp="1"/>
          </p:cNvSpPr>
          <p:nvPr/>
        </p:nvSpPr>
        <p:spPr bwMode="auto">
          <a:xfrm>
            <a:off x="457200" y="6029325"/>
            <a:ext cx="11277600" cy="9525"/>
          </a:xfrm>
          <a:prstGeom prst="rect">
            <a:avLst/>
          </a:prstGeom>
          <a:solidFill>
            <a:srgbClr val="E4E7EC"/>
          </a:solidFill>
          <a:ln w="0">
            <a:noFill/>
            <a:prstDash val="solid"/>
          </a:ln>
        </p:spPr>
      </p:sp>
      <p:sp>
        <p:nvSpPr>
          <p:cNvPr id="431171984" name="copy-93"/>
          <p:cNvSpPr>
            <a:spLocks noGrp="1"/>
          </p:cNvSpPr>
          <p:nvPr/>
        </p:nvSpPr>
        <p:spPr bwMode="auto">
          <a:xfrm>
            <a:off x="457200" y="6238875"/>
            <a:ext cx="10829925" cy="304800"/>
          </a:xfrm>
          <a:prstGeom prst="rect">
            <a:avLst/>
          </a:prstGeom>
          <a:noFill/>
          <a:ln w="0">
            <a:noFill/>
            <a:prstDash val="solid"/>
          </a:ln>
        </p:spPr>
        <p:txBody>
          <a:bodyPr wrap="none" lIns="0" tIns="0" rIns="0" bIns="0" anchor="t">
            <a:noAutofit/>
          </a:bodyPr>
          <a:lstStyle/>
          <a:p>
            <a:pPr algn="l">
              <a:defRPr sz="1650" b="0">
                <a:solidFill>
                  <a:srgbClr val="3D3D3D"/>
                </a:solidFill>
                <a:latin typeface="Mulish"/>
                <a:ea typeface="Mulish"/>
                <a:cs typeface="Mulish"/>
              </a:defRPr>
            </a:pPr>
            <a:r>
              <a:rPr sz="1650" b="0">
                <a:solidFill>
                  <a:srgbClr val="3D3D3D"/>
                </a:solidFill>
                <a:latin typeface="Mulish"/>
                <a:ea typeface="Mulish"/>
                <a:cs typeface="Mulish"/>
              </a:rPr>
              <a:t>Trusted context informs AI. Policy and authority continue to govern execution.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2026-09-30T11:18:22Z</dcterms:modified>
</cp:coreProperties>
</file>