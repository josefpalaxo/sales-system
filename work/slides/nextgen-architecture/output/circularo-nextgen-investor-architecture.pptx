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463c9dd32d14977" /><Relationship Type="http://schemas.openxmlformats.org/officeDocument/2006/relationships/extended-properties" Target="/docProps/app.xml" Id="R1d2ab724850d40ce" /><Relationship Type="http://schemas.openxmlformats.org/officeDocument/2006/relationships/officeDocument" Target="/ppt/presentation.xml" Id="R7c1ce90d7e744572" /></Relationships>
</file>

<file path=ppt/presentation.xml><?xml version="1.0" encoding="utf-8"?>
<p:presentation xmlns:p="http://schemas.openxmlformats.org/presentationml/2006/main">
  <p:sldMasterIdLst>
    <p:sldMasterId xmlns:r="http://schemas.openxmlformats.org/officeDocument/2006/relationships" id="2147483648" r:id="R6e4d6b47f3504d67"/>
  </p:sldMasterIdLst>
  <p:notesMasterIdLst>
    <p:notesMasterId xmlns:r="http://schemas.openxmlformats.org/officeDocument/2006/relationships" r:id="R8e9105216eb2475c"/>
  </p:notesMasterIdLst>
  <p:sldIdLst>
    <p:sldId xmlns:r="http://schemas.openxmlformats.org/officeDocument/2006/relationships" id="256" r:id="Rf25bd80819d84d7e"/>
    <p:sldId xmlns:r="http://schemas.openxmlformats.org/officeDocument/2006/relationships" id="257" r:id="Rc6829f133af7459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1678f62cb34a92" /><Relationship Type="http://schemas.openxmlformats.org/officeDocument/2006/relationships/slideMaster" Target="/ppt/slideMasters/slideMaster1.xml" Id="R6e4d6b47f3504d67" /><Relationship Type="http://schemas.openxmlformats.org/officeDocument/2006/relationships/notesMaster" Target="/ppt/notesMasters/notesMaster1.xml" Id="R8e9105216eb2475c" /><Relationship Type="http://schemas.openxmlformats.org/officeDocument/2006/relationships/presProps" Target="/ppt/presProps.xml" Id="Rf847285d27d043cc" /><Relationship Type="http://schemas.openxmlformats.org/officeDocument/2006/relationships/tableStyles" Target="/ppt/tableStyles.xml" Id="Ra7c05ffff25f44e8" /><Relationship Type="http://schemas.openxmlformats.org/officeDocument/2006/relationships/slide" Target="/ppt/slides/slide1.xml" Id="Rf25bd80819d84d7e" /><Relationship Type="http://schemas.openxmlformats.org/officeDocument/2006/relationships/slide" Target="/ppt/slides/slide2.xml" Id="Rc6829f133af745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239266f20e45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115f08b90f44b3" /><Relationship Type="http://schemas.openxmlformats.org/officeDocument/2006/relationships/notesMaster" Target="/ppt/notesMasters/notesMaster1.xml" Id="Re9c81cc8fcf940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1639df95674731" /><Relationship Type="http://schemas.openxmlformats.org/officeDocument/2006/relationships/notesMaster" Target="/ppt/notesMasters/notesMaster1.xml" Id="R38a29e5840f04b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investor architecture brief in this conversation, 29 September 2026. Architecture is a proposed next-generation direction, not a claim of generally available capability.</a:t>
            </a:r>
          </a:p>
          <a:p xmlns:a="http://schemas.openxmlformats.org/drawingml/2006/main">
            <a:r>
              <a:t>- User-provided reference image: codex-clipboard-4fb763e5-996b-4adb-b7b7-43a908f9860c.png. Used for terminology and architecture relationships. Rebuilt as editable shapes and text.</a:t>
            </a:r>
          </a:p>
          <a:p xmlns:a="http://schemas.openxmlformats.org/drawingml/2006/main">
            <a:r>
              <a:t>- The brief refers to Next-Generation Circularo — Foundational Architecture.md. That source file was not supplied or found in the working directory. Its ACTUS scope is therefore attributed to the user brief, not independently verified.</a:t>
            </a:r>
          </a:p>
          <a:p xmlns:a="http://schemas.openxmlformats.org/drawingml/2006/main">
            <a:r>
              <a:t>- Narrative: Circularo is extending an already-deployed digital trust infrastructure into the control and evidence layer required when humans, enterprise systems and autonomous agents execute consequential actions. Internal draft based on management-provided source material.</a:t>
            </a:r>
          </a:p>
          <a:p xmlns:a="http://schemas.openxmlformats.org/drawingml/2006/main">
            <a:r>
              <a:t>- ACTUS is described in the brief as not document-specific. Additional intended use cases include access provisioning and agent-to-agent actions. These are expansion opportunities, not assertions of shipped functionality.</a:t>
            </a:r>
          </a:p>
          <a:p xmlns:a="http://schemas.openxmlformats.org/drawingml/2006/main">
            <a:r>
              <a:t>- HOROS supplies organizational context. AUTHOS supplies authority and policy. Function names lead so investors do not need to decode internal brands. SANTOS orchestrates, ACTUS governs execution, eDoc represents the canonical trust object, and records preserve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narrative and reference image: codex-clipboard-c7858ebd-e6a9-4436-a91f-b6e7470133da.png, 29 September 2026.</a:t>
            </a:r>
          </a:p>
          <a:p xmlns:a="http://schemas.openxmlformats.org/drawingml/2006/main">
            <a:r>
              <a:t>- The named deployment foundations (TDRA GovSign, Digital Dubai DigiSign, Sharjah Sign, e&amp; and KSA/Nafath) are reported by the user. They have not been independently validated or approved as governed repository claims. The visible attribution preserves that evidence state.</a:t>
            </a:r>
          </a:p>
          <a:p xmlns:a="http://schemas.openxmlformats.org/drawingml/2006/main">
            <a:r>
              <a:t>- The first three stages describe the foundation presented by management. Trusted Execution and Agentic Trusted Execution describe the proposed direction. This is a strategic progression, not a dated delivery roadmap.</a:t>
            </a:r>
          </a:p>
          <a:p xmlns:a="http://schemas.openxmlformats.org/drawingml/2006/main">
            <a:r>
              <a:t>- Investor narrative: We built the infrastructure to establish identity, authority, intent, execution and evidence for important digital transactions. AI agents increase the number of actors capable of consequential actions. Circularo’s proposed next generation extends existing trust infrastructure to govern those actions and preserve verifiable evidence.</a:t>
            </a:r>
          </a:p>
          <a:p xmlns:a="http://schemas.openxmlformats.org/drawingml/2006/main">
            <a:r>
              <a:t>- Economic thesis: reuse the existing trust foundation and institutional relationships across a broader set of actions. The potential leverage is a larger addressable problem space without rebuilding the trust foundation. This is a strategic hypothesis, not quantified revenue, margin, valuation or delivery evidence.</a:t>
            </a:r>
          </a:p>
          <a:p xmlns:a="http://schemas.openxmlformats.org/drawingml/2006/main">
            <a:r>
              <a:t>- Deployment counts, certification assertions, customer-logo permission and specific rollout scope from the screenshot are not asserted in this deck. Source status: internal, non-canonical working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74573b49384ac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b387e899bf24fe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4c2ab3d025e492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ec7a05f855041b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4daf76022e0427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9a3305c3680497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1F1DDB4-2ECD-46B6-9A2A-674916927BBD}"/>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2C38F1F-89C9-41FC-A7D0-3A325504E0E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65358651-F003-4005-B0C2-9AE1219C28B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5E06A933-C2F5-494B-98A0-5DCD079BAC42}"/>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B67B1BED-E4C6-4CB1-98DD-AF3522C274A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58698768-5634-4FFE-B985-56092379CB9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5F51A78-F489-48EC-88E8-04C8335904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24150969-C275-466B-81EC-1AC33D65882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E945CF74-D960-4544-916B-8A7831F6241D}"/>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7A185D9-9C65-4F94-ABC7-B773B2CDFD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6A92A1B8-4B11-4FA7-8F9B-A7EC995775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4118FC0A-9F5F-4465-8AAD-23A8211093A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6CFCB24-2E8C-497E-AD6E-8E71543FAAED}"/>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4E28403-FB08-4618-BC71-6CD4B93306E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39A83150-5D0D-4CEC-A4BB-AF05D54B370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89f00c13074026" /><Relationship Type="http://schemas.openxmlformats.org/officeDocument/2006/relationships/slideLayout" Target="/ppt/slideLayouts/slideLayout1.xml" Id="R839e11f44ff848d1" /><Relationship Type="http://schemas.openxmlformats.org/officeDocument/2006/relationships/slideLayout" Target="/ppt/slideLayouts/slideLayout2.xml" Id="R058748f8dd6746f8" /><Relationship Type="http://schemas.openxmlformats.org/officeDocument/2006/relationships/slideLayout" Target="/ppt/slideLayouts/slideLayout3.xml" Id="R85f3522ef40f4585" /><Relationship Type="http://schemas.openxmlformats.org/officeDocument/2006/relationships/slideLayout" Target="/ppt/slideLayouts/slideLayout4.xml" Id="R9d732045f85546ef" /><Relationship Type="http://schemas.openxmlformats.org/officeDocument/2006/relationships/slideLayout" Target="/ppt/slideLayouts/slideLayout5.xml" Id="R0bc4a2fbd9824e30" /><Relationship Type="http://schemas.openxmlformats.org/officeDocument/2006/relationships/slideLayout" Target="/ppt/slideLayouts/slideLayout6.xml" Id="Rfd5cef4e61f74b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9e11f44ff848d1"/>
    <p:sldLayoutId xmlns:r="http://schemas.openxmlformats.org/officeDocument/2006/relationships" id="2147483650" r:id="R058748f8dd6746f8"/>
    <p:sldLayoutId xmlns:r="http://schemas.openxmlformats.org/officeDocument/2006/relationships" id="2147483651" r:id="R85f3522ef40f4585"/>
    <p:sldLayoutId xmlns:r="http://schemas.openxmlformats.org/officeDocument/2006/relationships" id="2147483652" r:id="R9d732045f85546ef"/>
    <p:sldLayoutId xmlns:r="http://schemas.openxmlformats.org/officeDocument/2006/relationships" id="2147483653" r:id="R0bc4a2fbd9824e30"/>
    <p:sldLayoutId xmlns:r="http://schemas.openxmlformats.org/officeDocument/2006/relationships" id="2147483654" r:id="Rfd5cef4e61f74b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507ecddea7c4f04" /><Relationship Type="http://schemas.openxmlformats.org/officeDocument/2006/relationships/image" Target="/ppt/media/image.png" Id="Rc6a555ce0f0c4af9" /><Relationship Type="http://schemas.openxmlformats.org/officeDocument/2006/relationships/notesSlide" Target="/ppt/notesSlides/notesSlide1.xml" Id="Rb402a1cf95c641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7b867b7f44b4620" /><Relationship Type="http://schemas.openxmlformats.org/officeDocument/2006/relationships/image" Target="/ppt/media/image2.png" Id="R7b7608d57b92479c" /><Relationship Type="http://schemas.openxmlformats.org/officeDocument/2006/relationships/notesSlide" Target="/ppt/notesSlides/notesSlide2.xml" Id="R10f3ceaa6ec7431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7" name=""/>
          <p:cNvCxnSpPr>
            <a:stCxn xmlns:a="http://schemas.openxmlformats.org/drawingml/2006/main" id="24" idx="3"/>
            <a:endCxn xmlns:a="http://schemas.openxmlformats.org/drawingml/2006/main" id="10" idx="1"/>
          </p:cNvCxnSpPr>
          <p:nvPr/>
        </p:nvCxnSpPr>
        <p:spPr>
          <a:xfrm xmlns:a="http://schemas.openxmlformats.org/drawingml/2006/main" flipV="1">
            <a:off x="2009775" y="3810000"/>
            <a:ext cx="228600" cy="904875"/>
          </a:xfrm>
          <a:prstGeom xmlns:a="http://schemas.openxmlformats.org/drawingml/2006/main" prst="straightConnector1">
            <a:avLst/>
          </a:prstGeom>
          <a:ln xmlns:a="http://schemas.openxmlformats.org/drawingml/2006/main" w="14288">
            <a:solidFill>
              <a:srgbClr val="667085"/>
            </a:solidFill>
            <a:tailEnd type="triangle" w="sm" len="sm"/>
          </a:ln>
        </p:spPr>
      </p:cxnSp>
      <p:cxnSp>
        <p:nvCxnSpPr>
          <p:cNvPr id="38" name=""/>
          <p:cNvCxnSpPr>
            <a:stCxn xmlns:a="http://schemas.openxmlformats.org/drawingml/2006/main" id="21" idx="3"/>
            <a:endCxn xmlns:a="http://schemas.openxmlformats.org/drawingml/2006/main" id="10" idx="1"/>
          </p:cNvCxnSpPr>
          <p:nvPr/>
        </p:nvCxnSpPr>
        <p:spPr>
          <a:xfrm xmlns:a="http://schemas.openxmlformats.org/drawingml/2006/main">
            <a:off x="2009775" y="3543300"/>
            <a:ext cx="228600" cy="266700"/>
          </a:xfrm>
          <a:prstGeom xmlns:a="http://schemas.openxmlformats.org/drawingml/2006/main" prst="straightConnector1">
            <a:avLst/>
          </a:prstGeom>
          <a:ln xmlns:a="http://schemas.openxmlformats.org/drawingml/2006/main" w="14288">
            <a:solidFill>
              <a:srgbClr val="667085"/>
            </a:solidFill>
            <a:tailEnd type="triangle" w="sm" len="sm"/>
          </a:ln>
        </p:spPr>
      </p:cxnSp>
      <p:cxnSp>
        <p:nvCxnSpPr>
          <p:cNvPr id="39" name=""/>
          <p:cNvCxnSpPr>
            <a:stCxn xmlns:a="http://schemas.openxmlformats.org/drawingml/2006/main" id="13" idx="2"/>
            <a:endCxn xmlns:a="http://schemas.openxmlformats.org/drawingml/2006/main" id="16" idx="0"/>
          </p:cNvCxnSpPr>
          <p:nvPr/>
        </p:nvCxnSpPr>
        <p:spPr>
          <a:xfrm xmlns:a="http://schemas.openxmlformats.org/drawingml/2006/main">
            <a:off x="4071938" y="4610100"/>
            <a:ext cx="0" cy="114300"/>
          </a:xfrm>
          <a:prstGeom xmlns:a="http://schemas.openxmlformats.org/drawingml/2006/main" prst="straightConnector1">
            <a:avLst/>
          </a:prstGeom>
          <a:ln xmlns:a="http://schemas.openxmlformats.org/drawingml/2006/main" w="14288">
            <a:solidFill>
              <a:srgbClr val="7000FF"/>
            </a:solidFill>
            <a:tailEnd type="triangle" w="sm" len="sm"/>
          </a:ln>
        </p:spPr>
      </p:cxnSp>
      <p:cxnSp>
        <p:nvCxnSpPr>
          <p:cNvPr id="40" name=""/>
          <p:cNvCxnSpPr>
            <a:stCxn xmlns:a="http://schemas.openxmlformats.org/drawingml/2006/main" id="10" idx="2"/>
            <a:endCxn xmlns:a="http://schemas.openxmlformats.org/drawingml/2006/main" id="13" idx="0"/>
          </p:cNvCxnSpPr>
          <p:nvPr/>
        </p:nvCxnSpPr>
        <p:spPr>
          <a:xfrm xmlns:a="http://schemas.openxmlformats.org/drawingml/2006/main">
            <a:off x="4071938" y="4038600"/>
            <a:ext cx="0" cy="114300"/>
          </a:xfrm>
          <a:prstGeom xmlns:a="http://schemas.openxmlformats.org/drawingml/2006/main" prst="straightConnector1">
            <a:avLst/>
          </a:prstGeom>
          <a:ln xmlns:a="http://schemas.openxmlformats.org/drawingml/2006/main" w="14288">
            <a:solidFill>
              <a:srgbClr val="7000FF"/>
            </a:solidFill>
            <a:tailEnd type="triangle" w="sm" len="sm"/>
          </a:ln>
        </p:spPr>
      </p:cxnSp>
      <p:cxnSp>
        <p:nvCxnSpPr>
          <p:cNvPr id="41" name=""/>
          <p:cNvCxnSpPr>
            <a:stCxn xmlns:a="http://schemas.openxmlformats.org/drawingml/2006/main" id="7" idx="2"/>
            <a:endCxn xmlns:a="http://schemas.openxmlformats.org/drawingml/2006/main" id="10" idx="0"/>
          </p:cNvCxnSpPr>
          <p:nvPr/>
        </p:nvCxnSpPr>
        <p:spPr>
          <a:xfrm xmlns:a="http://schemas.openxmlformats.org/drawingml/2006/main">
            <a:off x="4071938" y="3467100"/>
            <a:ext cx="0" cy="114300"/>
          </a:xfrm>
          <a:prstGeom xmlns:a="http://schemas.openxmlformats.org/drawingml/2006/main" prst="straightConnector1">
            <a:avLst/>
          </a:prstGeom>
          <a:ln xmlns:a="http://schemas.openxmlformats.org/drawingml/2006/main" w="14288">
            <a:solidFill>
              <a:srgbClr val="7000FF"/>
            </a:solidFill>
            <a:tailEnd type="triangle" w="sm" len="sm"/>
          </a:ln>
        </p:spPr>
      </p:cxn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c6a555ce0f0c4af9"/>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92D6DB5B-1E56-43AA-A908-FAB3AED9B935}"/>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01</a:t>
            </a:r>
          </a:p>
        </p:txBody>
      </p:sp>
      <p:sp>
        <p:nvSpPr>
          <p:cNvPr id="3" name="text-1">
            <a:extLst xmlns:a="http://schemas.openxmlformats.org/drawingml/2006/main">
              <a:ext uri="{FF2B5EF4-FFF2-40B4-BE49-F238E27FC236}">
                <a16:creationId xmlns:a16="http://schemas.microsoft.com/office/drawing/2014/main" id="{FCD1B855-6782-4C00-91C5-14968D9AA836}"/>
              </a:ext>
            </a:extLst>
          </p:cNvPr>
          <p:cNvSpPr>
            <a:spLocks xmlns:a="http://schemas.openxmlformats.org/drawingml/2006/main" noGrp="1"/>
          </p:cNvSpPr>
          <p:nvPr/>
        </p:nvSpPr>
        <p:spPr>
          <a:xfrm xmlns:a="http://schemas.openxmlformats.org/drawingml/2006/main">
            <a:off x="990600" y="295275"/>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7000FF"/>
                </a:solidFill>
                <a:latin typeface="Mulish"/>
                <a:ea typeface="Mulish"/>
                <a:cs typeface="Mulish"/>
              </a:defRPr>
            </a:pPr>
            <a:r>
              <a:rPr sz="1350" b="1">
                <a:solidFill>
                  <a:srgbClr val="7000FF"/>
                </a:solidFill>
                <a:latin typeface="Mulish"/>
                <a:ea typeface="Mulish"/>
                <a:cs typeface="Mulish"/>
              </a:rPr>
              <a:t>NEXT-GENERATION CIRCULARO</a:t>
            </a:r>
          </a:p>
        </p:txBody>
      </p:sp>
      <p:sp>
        <p:nvSpPr>
          <p:cNvPr id="4" name="text-2">
            <a:extLst xmlns:a="http://schemas.openxmlformats.org/drawingml/2006/main">
              <a:ext uri="{FF2B5EF4-FFF2-40B4-BE49-F238E27FC236}">
                <a16:creationId xmlns:a16="http://schemas.microsoft.com/office/drawing/2014/main" id="{4CCF35C8-4C94-44C8-A7A5-40AE9D5CC2E0}"/>
              </a:ext>
            </a:extLst>
          </p:cNvPr>
          <p:cNvSpPr>
            <a:spLocks xmlns:a="http://schemas.openxmlformats.org/drawingml/2006/main" noGrp="1"/>
          </p:cNvSpPr>
          <p:nvPr/>
        </p:nvSpPr>
        <p:spPr>
          <a:xfrm xmlns:a="http://schemas.openxmlformats.org/drawingml/2006/main">
            <a:off x="457200" y="914400"/>
            <a:ext cx="112776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D0090"/>
                </a:solidFill>
                <a:latin typeface="Spartan"/>
                <a:ea typeface="Spartan"/>
                <a:cs typeface="Spartan"/>
              </a:defRPr>
            </a:pPr>
            <a:r>
              <a:rPr sz="3600" b="1">
                <a:solidFill>
                  <a:srgbClr val="1D0090"/>
                </a:solidFill>
                <a:latin typeface="Spartan"/>
                <a:ea typeface="Spartan"/>
                <a:cs typeface="Spartan"/>
              </a:rPr>
              <a:t>From eSignatures to</a:t>
            </a:r>
          </a:p>
          <a:p xmlns:a="http://schemas.openxmlformats.org/drawingml/2006/main">
            <a:pPr algn="l">
              <a:defRPr sz="3600" b="1">
                <a:solidFill>
                  <a:srgbClr val="1D0090"/>
                </a:solidFill>
                <a:latin typeface="Spartan"/>
                <a:ea typeface="Spartan"/>
                <a:cs typeface="Spartan"/>
              </a:defRPr>
            </a:pPr>
            <a:r>
              <a:rPr sz="3600" b="1">
                <a:solidFill>
                  <a:srgbClr val="1D0090"/>
                </a:solidFill>
                <a:latin typeface="Spartan"/>
                <a:ea typeface="Spartan"/>
                <a:cs typeface="Spartan"/>
              </a:rPr>
              <a:t>Agentic Trusted Execution</a:t>
            </a:r>
          </a:p>
        </p:txBody>
      </p:sp>
      <p:sp>
        <p:nvSpPr>
          <p:cNvPr id="5" name="text-3">
            <a:extLst xmlns:a="http://schemas.openxmlformats.org/drawingml/2006/main">
              <a:ext uri="{FF2B5EF4-FFF2-40B4-BE49-F238E27FC236}">
                <a16:creationId xmlns:a16="http://schemas.microsoft.com/office/drawing/2014/main" id="{9E8DDA8D-7AEE-4829-BC35-031EE37F7742}"/>
              </a:ext>
            </a:extLst>
          </p:cNvPr>
          <p:cNvSpPr>
            <a:spLocks xmlns:a="http://schemas.openxmlformats.org/drawingml/2006/main" noGrp="1"/>
          </p:cNvSpPr>
          <p:nvPr/>
        </p:nvSpPr>
        <p:spPr>
          <a:xfrm xmlns:a="http://schemas.openxmlformats.org/drawingml/2006/main">
            <a:off x="457200" y="2076450"/>
            <a:ext cx="11277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Trust infrastructure for humans, enterprise systems and AI agents</a:t>
            </a:r>
          </a:p>
        </p:txBody>
      </p:sp>
      <p:sp>
        <p:nvSpPr>
          <p:cNvPr id="6" name="text-4">
            <a:extLst xmlns:a="http://schemas.openxmlformats.org/drawingml/2006/main">
              <a:ext uri="{FF2B5EF4-FFF2-40B4-BE49-F238E27FC236}">
                <a16:creationId xmlns:a16="http://schemas.microsoft.com/office/drawing/2014/main" id="{87A554A1-CBA5-4A14-9B88-EB78BFD02247}"/>
              </a:ext>
            </a:extLst>
          </p:cNvPr>
          <p:cNvSpPr>
            <a:spLocks xmlns:a="http://schemas.openxmlformats.org/drawingml/2006/main" noGrp="1"/>
          </p:cNvSpPr>
          <p:nvPr/>
        </p:nvSpPr>
        <p:spPr>
          <a:xfrm xmlns:a="http://schemas.openxmlformats.org/drawingml/2006/main">
            <a:off x="457200" y="2600325"/>
            <a:ext cx="733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667085"/>
                </a:solidFill>
                <a:latin typeface="Mulish"/>
                <a:ea typeface="Mulish"/>
                <a:cs typeface="Mulish"/>
              </a:defRPr>
            </a:pPr>
            <a:r>
              <a:rPr sz="1600" b="1">
                <a:solidFill>
                  <a:srgbClr val="667085"/>
                </a:solidFill>
                <a:latin typeface="Mulish"/>
                <a:ea typeface="Mulish"/>
                <a:cs typeface="Mulish"/>
              </a:rPr>
              <a:t>PROPOSED ARCHITECTURE</a:t>
            </a:r>
          </a:p>
        </p:txBody>
      </p:sp>
      <p:sp>
        <p:nvSpPr>
          <p:cNvPr id="7" name="layer-0">
            <a:extLst xmlns:a="http://schemas.openxmlformats.org/drawingml/2006/main">
              <a:ext uri="{FF2B5EF4-FFF2-40B4-BE49-F238E27FC236}">
                <a16:creationId xmlns:a16="http://schemas.microsoft.com/office/drawing/2014/main" id="{C3850E24-314E-46FC-A450-A7F9AF3E352A}"/>
              </a:ext>
            </a:extLst>
          </p:cNvPr>
          <p:cNvSpPr>
            <a:spLocks xmlns:a="http://schemas.openxmlformats.org/drawingml/2006/main" noGrp="1"/>
          </p:cNvSpPr>
          <p:nvPr/>
        </p:nvSpPr>
        <p:spPr>
          <a:xfrm xmlns:a="http://schemas.openxmlformats.org/drawingml/2006/main">
            <a:off x="2238375" y="3009900"/>
            <a:ext cx="3667125" cy="457200"/>
          </a:xfrm>
          <a:prstGeom xmlns:a="http://schemas.openxmlformats.org/drawingml/2006/main" prst="rect">
            <a:avLst/>
          </a:prstGeom>
          <a:solidFill xmlns:a="http://schemas.openxmlformats.org/drawingml/2006/main">
            <a:srgbClr val="F5EDFF"/>
          </a:solidFill>
          <a:ln xmlns:a="http://schemas.openxmlformats.org/drawingml/2006/main" w="0">
            <a:noFill/>
            <a:prstDash val="solid"/>
          </a:ln>
        </p:spPr>
      </p:sp>
      <p:sp>
        <p:nvSpPr>
          <p:cNvPr id="8" name="text-5">
            <a:extLst xmlns:a="http://schemas.openxmlformats.org/drawingml/2006/main">
              <a:ext uri="{FF2B5EF4-FFF2-40B4-BE49-F238E27FC236}">
                <a16:creationId xmlns:a16="http://schemas.microsoft.com/office/drawing/2014/main" id="{92AF3C85-FA17-43FF-9F7D-9A147B4DE92C}"/>
              </a:ext>
            </a:extLst>
          </p:cNvPr>
          <p:cNvSpPr>
            <a:spLocks xmlns:a="http://schemas.openxmlformats.org/drawingml/2006/main" noGrp="1"/>
          </p:cNvSpPr>
          <p:nvPr/>
        </p:nvSpPr>
        <p:spPr>
          <a:xfrm xmlns:a="http://schemas.openxmlformats.org/drawingml/2006/main">
            <a:off x="2390775" y="3114675"/>
            <a:ext cx="3352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D0090"/>
                </a:solidFill>
                <a:latin typeface="Mulish"/>
                <a:ea typeface="Mulish"/>
                <a:cs typeface="Mulish"/>
              </a:defRPr>
            </a:pPr>
            <a:r>
              <a:rPr sz="1800" b="1">
                <a:solidFill>
                  <a:srgbClr val="1D0090"/>
                </a:solidFill>
                <a:latin typeface="Mulish"/>
                <a:ea typeface="Mulish"/>
                <a:cs typeface="Mulish"/>
              </a:rPr>
              <a:t>Intelligent orchestration</a:t>
            </a:r>
          </a:p>
        </p:txBody>
      </p:sp>
      <p:sp>
        <p:nvSpPr>
          <p:cNvPr id="9" name="text-6">
            <a:extLst xmlns:a="http://schemas.openxmlformats.org/drawingml/2006/main">
              <a:ext uri="{FF2B5EF4-FFF2-40B4-BE49-F238E27FC236}">
                <a16:creationId xmlns:a16="http://schemas.microsoft.com/office/drawing/2014/main" id="{2BD91B7C-0DFF-41DF-A150-F2B133CAA501}"/>
              </a:ext>
            </a:extLst>
          </p:cNvPr>
          <p:cNvSpPr>
            <a:spLocks xmlns:a="http://schemas.openxmlformats.org/drawingml/2006/main" noGrp="1"/>
          </p:cNvSpPr>
          <p:nvPr/>
        </p:nvSpPr>
        <p:spPr>
          <a:xfrm xmlns:a="http://schemas.openxmlformats.org/drawingml/2006/main">
            <a:off x="6057900" y="3124200"/>
            <a:ext cx="140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667085"/>
                </a:solidFill>
                <a:latin typeface="Mulish"/>
                <a:ea typeface="Mulish"/>
                <a:cs typeface="Mulish"/>
              </a:defRPr>
            </a:pPr>
            <a:r>
              <a:rPr sz="1600" b="0">
                <a:solidFill>
                  <a:srgbClr val="667085"/>
                </a:solidFill>
                <a:latin typeface="Mulish"/>
                <a:ea typeface="Mulish"/>
                <a:cs typeface="Mulish"/>
              </a:rPr>
              <a:t>SANTOS</a:t>
            </a:r>
          </a:p>
        </p:txBody>
      </p:sp>
      <p:sp>
        <p:nvSpPr>
          <p:cNvPr id="10" name="layer-1">
            <a:extLst xmlns:a="http://schemas.openxmlformats.org/drawingml/2006/main">
              <a:ext uri="{FF2B5EF4-FFF2-40B4-BE49-F238E27FC236}">
                <a16:creationId xmlns:a16="http://schemas.microsoft.com/office/drawing/2014/main" id="{EB0CD946-6E74-4942-AF2E-CCBCC28320B7}"/>
              </a:ext>
            </a:extLst>
          </p:cNvPr>
          <p:cNvSpPr>
            <a:spLocks xmlns:a="http://schemas.openxmlformats.org/drawingml/2006/main" noGrp="1"/>
          </p:cNvSpPr>
          <p:nvPr/>
        </p:nvSpPr>
        <p:spPr>
          <a:xfrm xmlns:a="http://schemas.openxmlformats.org/drawingml/2006/main">
            <a:off x="2238375" y="3581400"/>
            <a:ext cx="3667125" cy="457200"/>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11" name="text-7">
            <a:extLst xmlns:a="http://schemas.openxmlformats.org/drawingml/2006/main">
              <a:ext uri="{FF2B5EF4-FFF2-40B4-BE49-F238E27FC236}">
                <a16:creationId xmlns:a16="http://schemas.microsoft.com/office/drawing/2014/main" id="{63B1F336-43AC-4C13-8EDE-950C31056A25}"/>
              </a:ext>
            </a:extLst>
          </p:cNvPr>
          <p:cNvSpPr>
            <a:spLocks xmlns:a="http://schemas.openxmlformats.org/drawingml/2006/main" noGrp="1"/>
          </p:cNvSpPr>
          <p:nvPr/>
        </p:nvSpPr>
        <p:spPr>
          <a:xfrm xmlns:a="http://schemas.openxmlformats.org/drawingml/2006/main">
            <a:off x="2390775" y="3686175"/>
            <a:ext cx="3352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FFFFFF"/>
                </a:solidFill>
                <a:latin typeface="Mulish"/>
                <a:ea typeface="Mulish"/>
                <a:cs typeface="Mulish"/>
              </a:defRPr>
            </a:pPr>
            <a:r>
              <a:rPr sz="1800" b="1">
                <a:solidFill>
                  <a:srgbClr val="FFFFFF"/>
                </a:solidFill>
                <a:latin typeface="Mulish"/>
                <a:ea typeface="Mulish"/>
                <a:cs typeface="Mulish"/>
              </a:rPr>
              <a:t>Trusted execution</a:t>
            </a:r>
          </a:p>
        </p:txBody>
      </p:sp>
      <p:sp>
        <p:nvSpPr>
          <p:cNvPr id="12" name="text-8">
            <a:extLst xmlns:a="http://schemas.openxmlformats.org/drawingml/2006/main">
              <a:ext uri="{FF2B5EF4-FFF2-40B4-BE49-F238E27FC236}">
                <a16:creationId xmlns:a16="http://schemas.microsoft.com/office/drawing/2014/main" id="{C6BEFA53-7ACE-4E6E-8554-BFBD4912EBC5}"/>
              </a:ext>
            </a:extLst>
          </p:cNvPr>
          <p:cNvSpPr>
            <a:spLocks xmlns:a="http://schemas.openxmlformats.org/drawingml/2006/main" noGrp="1"/>
          </p:cNvSpPr>
          <p:nvPr/>
        </p:nvSpPr>
        <p:spPr>
          <a:xfrm xmlns:a="http://schemas.openxmlformats.org/drawingml/2006/main">
            <a:off x="6057900" y="3695700"/>
            <a:ext cx="140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667085"/>
                </a:solidFill>
                <a:latin typeface="Mulish"/>
                <a:ea typeface="Mulish"/>
                <a:cs typeface="Mulish"/>
              </a:defRPr>
            </a:pPr>
            <a:r>
              <a:rPr sz="1600" b="0">
                <a:solidFill>
                  <a:srgbClr val="667085"/>
                </a:solidFill>
                <a:latin typeface="Mulish"/>
                <a:ea typeface="Mulish"/>
                <a:cs typeface="Mulish"/>
              </a:rPr>
              <a:t>ACTUS</a:t>
            </a:r>
          </a:p>
        </p:txBody>
      </p:sp>
      <p:sp>
        <p:nvSpPr>
          <p:cNvPr id="13" name="layer-2">
            <a:extLst xmlns:a="http://schemas.openxmlformats.org/drawingml/2006/main">
              <a:ext uri="{FF2B5EF4-FFF2-40B4-BE49-F238E27FC236}">
                <a16:creationId xmlns:a16="http://schemas.microsoft.com/office/drawing/2014/main" id="{49FE0ABB-9CBA-4038-8F55-E0924DBDB2AF}"/>
              </a:ext>
            </a:extLst>
          </p:cNvPr>
          <p:cNvSpPr>
            <a:spLocks xmlns:a="http://schemas.openxmlformats.org/drawingml/2006/main" noGrp="1"/>
          </p:cNvSpPr>
          <p:nvPr/>
        </p:nvSpPr>
        <p:spPr>
          <a:xfrm xmlns:a="http://schemas.openxmlformats.org/drawingml/2006/main">
            <a:off x="2238375" y="4152900"/>
            <a:ext cx="3667125" cy="457200"/>
          </a:xfrm>
          <a:prstGeom xmlns:a="http://schemas.openxmlformats.org/drawingml/2006/main" prst="rect">
            <a:avLst/>
          </a:prstGeom>
          <a:solidFill xmlns:a="http://schemas.openxmlformats.org/drawingml/2006/main">
            <a:srgbClr val="F5EDFF"/>
          </a:solidFill>
          <a:ln xmlns:a="http://schemas.openxmlformats.org/drawingml/2006/main" w="0">
            <a:noFill/>
            <a:prstDash val="solid"/>
          </a:ln>
        </p:spPr>
      </p:sp>
      <p:sp>
        <p:nvSpPr>
          <p:cNvPr id="14" name="text-9">
            <a:extLst xmlns:a="http://schemas.openxmlformats.org/drawingml/2006/main">
              <a:ext uri="{FF2B5EF4-FFF2-40B4-BE49-F238E27FC236}">
                <a16:creationId xmlns:a16="http://schemas.microsoft.com/office/drawing/2014/main" id="{6A542D59-B068-4C1F-BFFC-4AC03CBBD6EB}"/>
              </a:ext>
            </a:extLst>
          </p:cNvPr>
          <p:cNvSpPr>
            <a:spLocks xmlns:a="http://schemas.openxmlformats.org/drawingml/2006/main" noGrp="1"/>
          </p:cNvSpPr>
          <p:nvPr/>
        </p:nvSpPr>
        <p:spPr>
          <a:xfrm xmlns:a="http://schemas.openxmlformats.org/drawingml/2006/main">
            <a:off x="2390775" y="4257675"/>
            <a:ext cx="3352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D0090"/>
                </a:solidFill>
                <a:latin typeface="Mulish"/>
                <a:ea typeface="Mulish"/>
                <a:cs typeface="Mulish"/>
              </a:defRPr>
            </a:pPr>
            <a:r>
              <a:rPr sz="1800" b="1">
                <a:solidFill>
                  <a:srgbClr val="1D0090"/>
                </a:solidFill>
                <a:latin typeface="Mulish"/>
                <a:ea typeface="Mulish"/>
                <a:cs typeface="Mulish"/>
              </a:rPr>
              <a:t>Canonical trust object</a:t>
            </a:r>
          </a:p>
        </p:txBody>
      </p:sp>
      <p:sp>
        <p:nvSpPr>
          <p:cNvPr id="15" name="text-10">
            <a:extLst xmlns:a="http://schemas.openxmlformats.org/drawingml/2006/main">
              <a:ext uri="{FF2B5EF4-FFF2-40B4-BE49-F238E27FC236}">
                <a16:creationId xmlns:a16="http://schemas.microsoft.com/office/drawing/2014/main" id="{FD0ED9B6-B870-4872-BE7C-7A4E86F54143}"/>
              </a:ext>
            </a:extLst>
          </p:cNvPr>
          <p:cNvSpPr>
            <a:spLocks xmlns:a="http://schemas.openxmlformats.org/drawingml/2006/main" noGrp="1"/>
          </p:cNvSpPr>
          <p:nvPr/>
        </p:nvSpPr>
        <p:spPr>
          <a:xfrm xmlns:a="http://schemas.openxmlformats.org/drawingml/2006/main">
            <a:off x="6057900" y="4267200"/>
            <a:ext cx="140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667085"/>
                </a:solidFill>
                <a:latin typeface="Mulish"/>
                <a:ea typeface="Mulish"/>
                <a:cs typeface="Mulish"/>
              </a:defRPr>
            </a:pPr>
            <a:r>
              <a:rPr sz="1600" b="0">
                <a:solidFill>
                  <a:srgbClr val="667085"/>
                </a:solidFill>
                <a:latin typeface="Mulish"/>
                <a:ea typeface="Mulish"/>
                <a:cs typeface="Mulish"/>
              </a:rPr>
              <a:t>eDoc</a:t>
            </a:r>
          </a:p>
        </p:txBody>
      </p:sp>
      <p:sp>
        <p:nvSpPr>
          <p:cNvPr id="16" name="layer-3">
            <a:extLst xmlns:a="http://schemas.openxmlformats.org/drawingml/2006/main">
              <a:ext uri="{FF2B5EF4-FFF2-40B4-BE49-F238E27FC236}">
                <a16:creationId xmlns:a16="http://schemas.microsoft.com/office/drawing/2014/main" id="{11DEB87C-654C-4899-B24A-5136FD4858A8}"/>
              </a:ext>
            </a:extLst>
          </p:cNvPr>
          <p:cNvSpPr>
            <a:spLocks xmlns:a="http://schemas.openxmlformats.org/drawingml/2006/main" noGrp="1"/>
          </p:cNvSpPr>
          <p:nvPr/>
        </p:nvSpPr>
        <p:spPr>
          <a:xfrm xmlns:a="http://schemas.openxmlformats.org/drawingml/2006/main">
            <a:off x="2238375" y="4724400"/>
            <a:ext cx="3667125" cy="457200"/>
          </a:xfrm>
          <a:prstGeom xmlns:a="http://schemas.openxmlformats.org/drawingml/2006/main" prst="rect">
            <a:avLst/>
          </a:prstGeom>
          <a:solidFill xmlns:a="http://schemas.openxmlformats.org/drawingml/2006/main">
            <a:srgbClr val="1D0090"/>
          </a:solidFill>
          <a:ln xmlns:a="http://schemas.openxmlformats.org/drawingml/2006/main" w="0">
            <a:noFill/>
            <a:prstDash val="solid"/>
          </a:ln>
        </p:spPr>
      </p:sp>
      <p:sp>
        <p:nvSpPr>
          <p:cNvPr id="17" name="text-11">
            <a:extLst xmlns:a="http://schemas.openxmlformats.org/drawingml/2006/main">
              <a:ext uri="{FF2B5EF4-FFF2-40B4-BE49-F238E27FC236}">
                <a16:creationId xmlns:a16="http://schemas.microsoft.com/office/drawing/2014/main" id="{47BEF612-4546-4773-8FA3-57B0EA475F02}"/>
              </a:ext>
            </a:extLst>
          </p:cNvPr>
          <p:cNvSpPr>
            <a:spLocks xmlns:a="http://schemas.openxmlformats.org/drawingml/2006/main" noGrp="1"/>
          </p:cNvSpPr>
          <p:nvPr/>
        </p:nvSpPr>
        <p:spPr>
          <a:xfrm xmlns:a="http://schemas.openxmlformats.org/drawingml/2006/main">
            <a:off x="2390775" y="4829175"/>
            <a:ext cx="3352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FFFFFF"/>
                </a:solidFill>
                <a:latin typeface="Mulish"/>
                <a:ea typeface="Mulish"/>
                <a:cs typeface="Mulish"/>
              </a:defRPr>
            </a:pPr>
            <a:r>
              <a:rPr sz="1800" b="1">
                <a:solidFill>
                  <a:srgbClr val="FFFFFF"/>
                </a:solidFill>
                <a:latin typeface="Mulish"/>
                <a:ea typeface="Mulish"/>
                <a:cs typeface="Mulish"/>
              </a:rPr>
              <a:t>Trusted records &amp; evidence</a:t>
            </a:r>
          </a:p>
        </p:txBody>
      </p:sp>
      <p:sp>
        <p:nvSpPr>
          <p:cNvPr id="21" name="organizational-context">
            <a:extLst xmlns:a="http://schemas.openxmlformats.org/drawingml/2006/main">
              <a:ext uri="{FF2B5EF4-FFF2-40B4-BE49-F238E27FC236}">
                <a16:creationId xmlns:a16="http://schemas.microsoft.com/office/drawing/2014/main" id="{1249701F-4F72-4D6E-A9D7-01B5EF85D793}"/>
              </a:ext>
            </a:extLst>
          </p:cNvPr>
          <p:cNvSpPr>
            <a:spLocks xmlns:a="http://schemas.openxmlformats.org/drawingml/2006/main" noGrp="1"/>
          </p:cNvSpPr>
          <p:nvPr/>
        </p:nvSpPr>
        <p:spPr>
          <a:xfrm xmlns:a="http://schemas.openxmlformats.org/drawingml/2006/main">
            <a:off x="457200" y="3105150"/>
            <a:ext cx="1552575" cy="876300"/>
          </a:xfrm>
          <a:prstGeom xmlns:a="http://schemas.openxmlformats.org/drawingml/2006/main" prst="rect">
            <a:avLst/>
          </a:prstGeom>
          <a:noFill xmlns:a="http://schemas.openxmlformats.org/drawingml/2006/main"/>
          <a:ln xmlns:a="http://schemas.openxmlformats.org/drawingml/2006/main" w="0">
            <a:noFill/>
            <a:prstDash val="solid"/>
          </a:ln>
        </p:spPr>
      </p:sp>
      <p:sp>
        <p:nvSpPr>
          <p:cNvPr id="22" name="text-12">
            <a:extLst xmlns:a="http://schemas.openxmlformats.org/drawingml/2006/main">
              <a:ext uri="{FF2B5EF4-FFF2-40B4-BE49-F238E27FC236}">
                <a16:creationId xmlns:a16="http://schemas.microsoft.com/office/drawing/2014/main" id="{F13B84BC-023D-44D0-A966-27272F29A6F1}"/>
              </a:ext>
            </a:extLst>
          </p:cNvPr>
          <p:cNvSpPr>
            <a:spLocks xmlns:a="http://schemas.openxmlformats.org/drawingml/2006/main" noGrp="1"/>
          </p:cNvSpPr>
          <p:nvPr/>
        </p:nvSpPr>
        <p:spPr>
          <a:xfrm xmlns:a="http://schemas.openxmlformats.org/drawingml/2006/main">
            <a:off x="457200" y="3105150"/>
            <a:ext cx="1714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D0090"/>
                </a:solidFill>
                <a:latin typeface="Mulish"/>
                <a:ea typeface="Mulish"/>
                <a:cs typeface="Mulish"/>
              </a:defRPr>
            </a:pPr>
            <a:r>
              <a:rPr sz="1725" b="1">
                <a:solidFill>
                  <a:srgbClr val="1D0090"/>
                </a:solidFill>
                <a:latin typeface="Mulish"/>
                <a:ea typeface="Mulish"/>
                <a:cs typeface="Mulish"/>
              </a:rPr>
              <a:t>Organizational</a:t>
            </a:r>
          </a:p>
          <a:p xmlns:a="http://schemas.openxmlformats.org/drawingml/2006/main">
            <a:pPr algn="l">
              <a:defRPr sz="1725" b="1">
                <a:solidFill>
                  <a:srgbClr val="1D0090"/>
                </a:solidFill>
                <a:latin typeface="Mulish"/>
                <a:ea typeface="Mulish"/>
                <a:cs typeface="Mulish"/>
              </a:defRPr>
            </a:pPr>
            <a:r>
              <a:rPr sz="1725" b="1">
                <a:solidFill>
                  <a:srgbClr val="1D0090"/>
                </a:solidFill>
                <a:latin typeface="Mulish"/>
                <a:ea typeface="Mulish"/>
                <a:cs typeface="Mulish"/>
              </a:rPr>
              <a:t>context</a:t>
            </a:r>
          </a:p>
        </p:txBody>
      </p:sp>
      <p:sp>
        <p:nvSpPr>
          <p:cNvPr id="23" name="text-13">
            <a:extLst xmlns:a="http://schemas.openxmlformats.org/drawingml/2006/main">
              <a:ext uri="{FF2B5EF4-FFF2-40B4-BE49-F238E27FC236}">
                <a16:creationId xmlns:a16="http://schemas.microsoft.com/office/drawing/2014/main" id="{CF9B4689-CE5C-41C1-B707-EA9DB8BA9504}"/>
              </a:ext>
            </a:extLst>
          </p:cNvPr>
          <p:cNvSpPr>
            <a:spLocks xmlns:a="http://schemas.openxmlformats.org/drawingml/2006/main" noGrp="1"/>
          </p:cNvSpPr>
          <p:nvPr/>
        </p:nvSpPr>
        <p:spPr>
          <a:xfrm xmlns:a="http://schemas.openxmlformats.org/drawingml/2006/main">
            <a:off x="457200" y="3695700"/>
            <a:ext cx="1552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667085"/>
                </a:solidFill>
                <a:latin typeface="Mulish"/>
                <a:ea typeface="Mulish"/>
                <a:cs typeface="Mulish"/>
              </a:defRPr>
            </a:pPr>
            <a:r>
              <a:rPr sz="1600" b="0">
                <a:solidFill>
                  <a:srgbClr val="667085"/>
                </a:solidFill>
                <a:latin typeface="Mulish"/>
                <a:ea typeface="Mulish"/>
                <a:cs typeface="Mulish"/>
              </a:rPr>
              <a:t>HOROS</a:t>
            </a:r>
          </a:p>
        </p:txBody>
      </p:sp>
      <p:sp>
        <p:nvSpPr>
          <p:cNvPr id="24" name="authority-policy">
            <a:extLst xmlns:a="http://schemas.openxmlformats.org/drawingml/2006/main">
              <a:ext uri="{FF2B5EF4-FFF2-40B4-BE49-F238E27FC236}">
                <a16:creationId xmlns:a16="http://schemas.microsoft.com/office/drawing/2014/main" id="{9577C630-2BDD-4A85-8D4C-80131C0EFA27}"/>
              </a:ext>
            </a:extLst>
          </p:cNvPr>
          <p:cNvSpPr>
            <a:spLocks xmlns:a="http://schemas.openxmlformats.org/drawingml/2006/main" noGrp="1"/>
          </p:cNvSpPr>
          <p:nvPr/>
        </p:nvSpPr>
        <p:spPr>
          <a:xfrm xmlns:a="http://schemas.openxmlformats.org/drawingml/2006/main">
            <a:off x="457200" y="4286250"/>
            <a:ext cx="1552575" cy="857250"/>
          </a:xfrm>
          <a:prstGeom xmlns:a="http://schemas.openxmlformats.org/drawingml/2006/main" prst="rect">
            <a:avLst/>
          </a:prstGeom>
          <a:noFill xmlns:a="http://schemas.openxmlformats.org/drawingml/2006/main"/>
          <a:ln xmlns:a="http://schemas.openxmlformats.org/drawingml/2006/main" w="0">
            <a:noFill/>
            <a:prstDash val="solid"/>
          </a:ln>
        </p:spPr>
      </p:sp>
      <p:sp>
        <p:nvSpPr>
          <p:cNvPr id="25" name="text-14">
            <a:extLst xmlns:a="http://schemas.openxmlformats.org/drawingml/2006/main">
              <a:ext uri="{FF2B5EF4-FFF2-40B4-BE49-F238E27FC236}">
                <a16:creationId xmlns:a16="http://schemas.microsoft.com/office/drawing/2014/main" id="{ACC40EBA-D390-468E-B8A0-44049A883E00}"/>
              </a:ext>
            </a:extLst>
          </p:cNvPr>
          <p:cNvSpPr>
            <a:spLocks xmlns:a="http://schemas.openxmlformats.org/drawingml/2006/main" noGrp="1"/>
          </p:cNvSpPr>
          <p:nvPr/>
        </p:nvSpPr>
        <p:spPr>
          <a:xfrm xmlns:a="http://schemas.openxmlformats.org/drawingml/2006/main">
            <a:off x="457200" y="4286250"/>
            <a:ext cx="15525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D0090"/>
                </a:solidFill>
                <a:latin typeface="Mulish"/>
                <a:ea typeface="Mulish"/>
                <a:cs typeface="Mulish"/>
              </a:defRPr>
            </a:pPr>
            <a:r>
              <a:rPr sz="1725" b="1">
                <a:solidFill>
                  <a:srgbClr val="1D0090"/>
                </a:solidFill>
                <a:latin typeface="Mulish"/>
                <a:ea typeface="Mulish"/>
                <a:cs typeface="Mulish"/>
              </a:rPr>
              <a:t>Authority</a:t>
            </a:r>
          </a:p>
          <a:p xmlns:a="http://schemas.openxmlformats.org/drawingml/2006/main">
            <a:pPr algn="l">
              <a:defRPr sz="1725" b="1">
                <a:solidFill>
                  <a:srgbClr val="1D0090"/>
                </a:solidFill>
                <a:latin typeface="Mulish"/>
                <a:ea typeface="Mulish"/>
                <a:cs typeface="Mulish"/>
              </a:defRPr>
            </a:pPr>
            <a:r>
              <a:rPr sz="1725" b="1">
                <a:solidFill>
                  <a:srgbClr val="1D0090"/>
                </a:solidFill>
                <a:latin typeface="Mulish"/>
                <a:ea typeface="Mulish"/>
                <a:cs typeface="Mulish"/>
              </a:rPr>
              <a:t>&amp; policy</a:t>
            </a:r>
          </a:p>
        </p:txBody>
      </p:sp>
      <p:sp>
        <p:nvSpPr>
          <p:cNvPr id="26" name="text-15">
            <a:extLst xmlns:a="http://schemas.openxmlformats.org/drawingml/2006/main">
              <a:ext uri="{FF2B5EF4-FFF2-40B4-BE49-F238E27FC236}">
                <a16:creationId xmlns:a16="http://schemas.microsoft.com/office/drawing/2014/main" id="{7418332A-4DF0-427A-AEE4-95F4F97D9C67}"/>
              </a:ext>
            </a:extLst>
          </p:cNvPr>
          <p:cNvSpPr>
            <a:spLocks xmlns:a="http://schemas.openxmlformats.org/drawingml/2006/main" noGrp="1"/>
          </p:cNvSpPr>
          <p:nvPr/>
        </p:nvSpPr>
        <p:spPr>
          <a:xfrm xmlns:a="http://schemas.openxmlformats.org/drawingml/2006/main">
            <a:off x="457200" y="4876800"/>
            <a:ext cx="1552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667085"/>
                </a:solidFill>
                <a:latin typeface="Mulish"/>
                <a:ea typeface="Mulish"/>
                <a:cs typeface="Mulish"/>
              </a:defRPr>
            </a:pPr>
            <a:r>
              <a:rPr sz="1600" b="0">
                <a:solidFill>
                  <a:srgbClr val="667085"/>
                </a:solidFill>
                <a:latin typeface="Mulish"/>
                <a:ea typeface="Mulish"/>
                <a:cs typeface="Mulish"/>
              </a:rPr>
              <a:t>AUTHOS</a:t>
            </a:r>
          </a:p>
        </p:txBody>
      </p:sp>
      <p:sp>
        <p:nvSpPr>
          <p:cNvPr id="29" name="trust-foundation">
            <a:extLst xmlns:a="http://schemas.openxmlformats.org/drawingml/2006/main">
              <a:ext uri="{FF2B5EF4-FFF2-40B4-BE49-F238E27FC236}">
                <a16:creationId xmlns:a16="http://schemas.microsoft.com/office/drawing/2014/main" id="{D8A221F8-E766-42E7-AC32-5513167A273F}"/>
              </a:ext>
            </a:extLst>
          </p:cNvPr>
          <p:cNvSpPr>
            <a:spLocks xmlns:a="http://schemas.openxmlformats.org/drawingml/2006/main" noGrp="1"/>
          </p:cNvSpPr>
          <p:nvPr/>
        </p:nvSpPr>
        <p:spPr>
          <a:xfrm xmlns:a="http://schemas.openxmlformats.org/drawingml/2006/main">
            <a:off x="457200" y="5429250"/>
            <a:ext cx="7086600" cy="876300"/>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30" name="text-16">
            <a:extLst xmlns:a="http://schemas.openxmlformats.org/drawingml/2006/main">
              <a:ext uri="{FF2B5EF4-FFF2-40B4-BE49-F238E27FC236}">
                <a16:creationId xmlns:a16="http://schemas.microsoft.com/office/drawing/2014/main" id="{D1E6AAA7-112E-4C4F-B4B9-E928455C6153}"/>
              </a:ext>
            </a:extLst>
          </p:cNvPr>
          <p:cNvSpPr>
            <a:spLocks xmlns:a="http://schemas.openxmlformats.org/drawingml/2006/main" noGrp="1"/>
          </p:cNvSpPr>
          <p:nvPr/>
        </p:nvSpPr>
        <p:spPr>
          <a:xfrm xmlns:a="http://schemas.openxmlformats.org/drawingml/2006/main">
            <a:off x="609600" y="5543550"/>
            <a:ext cx="6810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1D0090"/>
                </a:solidFill>
                <a:latin typeface="Mulish"/>
                <a:ea typeface="Mulish"/>
                <a:cs typeface="Mulish"/>
              </a:defRPr>
            </a:pPr>
            <a:r>
              <a:rPr sz="1600" b="1">
                <a:solidFill>
                  <a:srgbClr val="1D0090"/>
                </a:solidFill>
                <a:latin typeface="Mulish"/>
                <a:ea typeface="Mulish"/>
                <a:cs typeface="Mulish"/>
              </a:rPr>
              <a:t>EXISTING TRUST FOUNDATION</a:t>
            </a:r>
          </a:p>
        </p:txBody>
      </p:sp>
      <p:sp>
        <p:nvSpPr>
          <p:cNvPr id="31" name="text-17">
            <a:extLst xmlns:a="http://schemas.openxmlformats.org/drawingml/2006/main">
              <a:ext uri="{FF2B5EF4-FFF2-40B4-BE49-F238E27FC236}">
                <a16:creationId xmlns:a16="http://schemas.microsoft.com/office/drawing/2014/main" id="{AB8D25FF-F303-4F04-942B-4C443F37C876}"/>
              </a:ext>
            </a:extLst>
          </p:cNvPr>
          <p:cNvSpPr>
            <a:spLocks xmlns:a="http://schemas.openxmlformats.org/drawingml/2006/main" noGrp="1"/>
          </p:cNvSpPr>
          <p:nvPr/>
        </p:nvSpPr>
        <p:spPr>
          <a:xfrm xmlns:a="http://schemas.openxmlformats.org/drawingml/2006/main">
            <a:off x="609600" y="5848350"/>
            <a:ext cx="6810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Identity, signatures, seals, timestamps, evidence, authority,</a:t>
            </a:r>
          </a:p>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audit, APIs and sovereign infrastructure</a:t>
            </a:r>
          </a:p>
        </p:txBody>
      </p:sp>
      <p:sp>
        <p:nvSpPr>
          <p:cNvPr id="32" name="divider">
            <a:extLst xmlns:a="http://schemas.openxmlformats.org/drawingml/2006/main">
              <a:ext uri="{FF2B5EF4-FFF2-40B4-BE49-F238E27FC236}">
                <a16:creationId xmlns:a16="http://schemas.microsoft.com/office/drawing/2014/main" id="{D2FE514D-5F52-48C5-8228-8A9BD2CF7E5B}"/>
              </a:ext>
            </a:extLst>
          </p:cNvPr>
          <p:cNvSpPr>
            <a:spLocks xmlns:a="http://schemas.openxmlformats.org/drawingml/2006/main" noGrp="1"/>
          </p:cNvSpPr>
          <p:nvPr/>
        </p:nvSpPr>
        <p:spPr>
          <a:xfrm xmlns:a="http://schemas.openxmlformats.org/drawingml/2006/main">
            <a:off x="7867650" y="2600325"/>
            <a:ext cx="9525" cy="3705225"/>
          </a:xfrm>
          <a:prstGeom xmlns:a="http://schemas.openxmlformats.org/drawingml/2006/main" prst="rect">
            <a:avLst/>
          </a:prstGeom>
          <a:solidFill xmlns:a="http://schemas.openxmlformats.org/drawingml/2006/main">
            <a:srgbClr val="E4E7EC"/>
          </a:solidFill>
          <a:ln xmlns:a="http://schemas.openxmlformats.org/drawingml/2006/main" w="0">
            <a:noFill/>
            <a:prstDash val="solid"/>
          </a:ln>
        </p:spPr>
      </p:sp>
      <p:sp>
        <p:nvSpPr>
          <p:cNvPr id="33" name="text-18">
            <a:extLst xmlns:a="http://schemas.openxmlformats.org/drawingml/2006/main">
              <a:ext uri="{FF2B5EF4-FFF2-40B4-BE49-F238E27FC236}">
                <a16:creationId xmlns:a16="http://schemas.microsoft.com/office/drawing/2014/main" id="{D3C2549E-E1E5-48B4-904B-2214E4719EA2}"/>
              </a:ext>
            </a:extLst>
          </p:cNvPr>
          <p:cNvSpPr>
            <a:spLocks xmlns:a="http://schemas.openxmlformats.org/drawingml/2006/main" noGrp="1"/>
          </p:cNvSpPr>
          <p:nvPr/>
        </p:nvSpPr>
        <p:spPr>
          <a:xfrm xmlns:a="http://schemas.openxmlformats.org/drawingml/2006/main">
            <a:off x="8191500" y="2619375"/>
            <a:ext cx="3543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D0090"/>
                </a:solidFill>
                <a:latin typeface="Spartan"/>
                <a:ea typeface="Spartan"/>
                <a:cs typeface="Spartan"/>
              </a:defRPr>
            </a:pPr>
            <a:r>
              <a:rPr sz="2400" b="1">
                <a:solidFill>
                  <a:srgbClr val="1D0090"/>
                </a:solidFill>
                <a:latin typeface="Spartan"/>
                <a:ea typeface="Spartan"/>
                <a:cs typeface="Spartan"/>
              </a:rPr>
              <a:t>A larger role in</a:t>
            </a:r>
          </a:p>
          <a:p xmlns:a="http://schemas.openxmlformats.org/drawingml/2006/main">
            <a:pPr algn="l">
              <a:defRPr sz="2400" b="1">
                <a:solidFill>
                  <a:srgbClr val="1D0090"/>
                </a:solidFill>
                <a:latin typeface="Spartan"/>
                <a:ea typeface="Spartan"/>
                <a:cs typeface="Spartan"/>
              </a:defRPr>
            </a:pPr>
            <a:r>
              <a:rPr sz="2400" b="1">
                <a:solidFill>
                  <a:srgbClr val="1D0090"/>
                </a:solidFill>
                <a:latin typeface="Spartan"/>
                <a:ea typeface="Spartan"/>
                <a:cs typeface="Spartan"/>
              </a:rPr>
              <a:t>digital transactions</a:t>
            </a:r>
          </a:p>
        </p:txBody>
      </p:sp>
      <p:sp>
        <p:nvSpPr>
          <p:cNvPr id="34" name="text-19">
            <a:extLst xmlns:a="http://schemas.openxmlformats.org/drawingml/2006/main">
              <a:ext uri="{FF2B5EF4-FFF2-40B4-BE49-F238E27FC236}">
                <a16:creationId xmlns:a16="http://schemas.microsoft.com/office/drawing/2014/main" id="{D16D67BC-4CD1-4092-B0CF-35F19F759B41}"/>
              </a:ext>
            </a:extLst>
          </p:cNvPr>
          <p:cNvSpPr>
            <a:spLocks xmlns:a="http://schemas.openxmlformats.org/drawingml/2006/main" noGrp="1"/>
          </p:cNvSpPr>
          <p:nvPr/>
        </p:nvSpPr>
        <p:spPr>
          <a:xfrm xmlns:a="http://schemas.openxmlformats.org/drawingml/2006/main">
            <a:off x="8191500" y="3667125"/>
            <a:ext cx="3543300" cy="1133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Extend deployed trust infrastructure</a:t>
            </a:r>
          </a:p>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into the control and evidence layer</a:t>
            </a:r>
          </a:p>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for consequential actions by</a:t>
            </a:r>
          </a:p>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humans, systems and AI agents.</a:t>
            </a:r>
          </a:p>
        </p:txBody>
      </p:sp>
      <p:sp>
        <p:nvSpPr>
          <p:cNvPr id="35" name="text-20">
            <a:extLst xmlns:a="http://schemas.openxmlformats.org/drawingml/2006/main">
              <a:ext uri="{FF2B5EF4-FFF2-40B4-BE49-F238E27FC236}">
                <a16:creationId xmlns:a16="http://schemas.microsoft.com/office/drawing/2014/main" id="{10AF81D2-5EA2-4574-97C4-CC8857D00545}"/>
              </a:ext>
            </a:extLst>
          </p:cNvPr>
          <p:cNvSpPr>
            <a:spLocks xmlns:a="http://schemas.openxmlformats.org/drawingml/2006/main" noGrp="1"/>
          </p:cNvSpPr>
          <p:nvPr/>
        </p:nvSpPr>
        <p:spPr>
          <a:xfrm xmlns:a="http://schemas.openxmlformats.org/drawingml/2006/main">
            <a:off x="8191500" y="5114925"/>
            <a:ext cx="3543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7000FF"/>
                </a:solidFill>
                <a:latin typeface="Mulish"/>
                <a:ea typeface="Mulish"/>
                <a:cs typeface="Mulish"/>
              </a:defRPr>
            </a:pPr>
            <a:r>
              <a:rPr sz="1600" b="1">
                <a:solidFill>
                  <a:srgbClr val="7000FF"/>
                </a:solidFill>
                <a:latin typeface="Mulish"/>
                <a:ea typeface="Mulish"/>
                <a:cs typeface="Mulish"/>
              </a:rPr>
              <a:t>EXPANSION OPPORTUNITY</a:t>
            </a:r>
          </a:p>
        </p:txBody>
      </p:sp>
      <p:sp>
        <p:nvSpPr>
          <p:cNvPr id="36" name="text-21">
            <a:extLst xmlns:a="http://schemas.openxmlformats.org/drawingml/2006/main">
              <a:ext uri="{FF2B5EF4-FFF2-40B4-BE49-F238E27FC236}">
                <a16:creationId xmlns:a16="http://schemas.microsoft.com/office/drawing/2014/main" id="{1870F0A4-AF3E-4FBE-AFE8-45243E158CFD}"/>
              </a:ext>
            </a:extLst>
          </p:cNvPr>
          <p:cNvSpPr>
            <a:spLocks xmlns:a="http://schemas.openxmlformats.org/drawingml/2006/main" noGrp="1"/>
          </p:cNvSpPr>
          <p:nvPr/>
        </p:nvSpPr>
        <p:spPr>
          <a:xfrm xmlns:a="http://schemas.openxmlformats.org/drawingml/2006/main">
            <a:off x="8191500" y="5514975"/>
            <a:ext cx="35433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Beyond documents: payments,</a:t>
            </a:r>
          </a:p>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ERP changes, procurement</a:t>
            </a:r>
          </a:p>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and government services</a:t>
            </a:r>
          </a:p>
        </p:txBody>
      </p:sp>
    </p:spTree>
    <p:extLst>
      <p:ext uri="{BB962C8B-B14F-4D97-AF65-F5344CB8AC3E}">
        <p14:creationId xmlns:p14="http://schemas.microsoft.com/office/powerpoint/2010/main" val="42132063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40" name=""/>
          <p:cNvCxnSpPr>
            <a:stCxn xmlns:a="http://schemas.openxmlformats.org/drawingml/2006/main" id="14" idx="6"/>
            <a:endCxn xmlns:a="http://schemas.openxmlformats.org/drawingml/2006/main" id="16" idx="2"/>
          </p:cNvCxnSpPr>
          <p:nvPr/>
        </p:nvCxnSpPr>
        <p:spPr>
          <a:xfrm xmlns:a="http://schemas.openxmlformats.org/drawingml/2006/main">
            <a:off x="7696200" y="3200400"/>
            <a:ext cx="1905000" cy="0"/>
          </a:xfrm>
          <a:prstGeom xmlns:a="http://schemas.openxmlformats.org/drawingml/2006/main" prst="straightConnector1">
            <a:avLst/>
          </a:prstGeom>
          <a:ln xmlns:a="http://schemas.openxmlformats.org/drawingml/2006/main" w="14288">
            <a:solidFill>
              <a:srgbClr val="7000FF"/>
            </a:solidFill>
            <a:tailEnd type="triangle" w="sm" len="sm"/>
          </a:ln>
        </p:spPr>
      </p:cxnSp>
      <p:cxnSp>
        <p:nvCxnSpPr>
          <p:cNvPr id="41" name=""/>
          <p:cNvCxnSpPr>
            <a:stCxn xmlns:a="http://schemas.openxmlformats.org/drawingml/2006/main" id="12" idx="6"/>
            <a:endCxn xmlns:a="http://schemas.openxmlformats.org/drawingml/2006/main" id="14" idx="2"/>
          </p:cNvCxnSpPr>
          <p:nvPr/>
        </p:nvCxnSpPr>
        <p:spPr>
          <a:xfrm xmlns:a="http://schemas.openxmlformats.org/drawingml/2006/main">
            <a:off x="5410200" y="3200400"/>
            <a:ext cx="1905000" cy="0"/>
          </a:xfrm>
          <a:prstGeom xmlns:a="http://schemas.openxmlformats.org/drawingml/2006/main" prst="straightConnector1">
            <a:avLst/>
          </a:prstGeom>
          <a:ln xmlns:a="http://schemas.openxmlformats.org/drawingml/2006/main" w="14288">
            <a:solidFill>
              <a:srgbClr val="7000FF"/>
            </a:solidFill>
            <a:tailEnd type="triangle" w="sm" len="sm"/>
          </a:ln>
        </p:spPr>
      </p:cxnSp>
      <p:cxnSp>
        <p:nvCxnSpPr>
          <p:cNvPr id="42" name=""/>
          <p:cNvCxnSpPr>
            <a:stCxn xmlns:a="http://schemas.openxmlformats.org/drawingml/2006/main" id="10" idx="6"/>
            <a:endCxn xmlns:a="http://schemas.openxmlformats.org/drawingml/2006/main" id="12" idx="2"/>
          </p:cNvCxnSpPr>
          <p:nvPr/>
        </p:nvCxnSpPr>
        <p:spPr>
          <a:xfrm xmlns:a="http://schemas.openxmlformats.org/drawingml/2006/main">
            <a:off x="3124200" y="3200400"/>
            <a:ext cx="1905000" cy="0"/>
          </a:xfrm>
          <a:prstGeom xmlns:a="http://schemas.openxmlformats.org/drawingml/2006/main" prst="straightConnector1">
            <a:avLst/>
          </a:prstGeom>
          <a:ln xmlns:a="http://schemas.openxmlformats.org/drawingml/2006/main" w="14288">
            <a:solidFill>
              <a:srgbClr val="D0D5DD"/>
            </a:solidFill>
            <a:tailEnd type="triangle" w="sm" len="sm"/>
          </a:ln>
        </p:spPr>
      </p:cxnSp>
      <p:cxnSp>
        <p:nvCxnSpPr>
          <p:cNvPr id="43" name=""/>
          <p:cNvCxnSpPr>
            <a:stCxn xmlns:a="http://schemas.openxmlformats.org/drawingml/2006/main" id="8" idx="6"/>
            <a:endCxn xmlns:a="http://schemas.openxmlformats.org/drawingml/2006/main" id="10" idx="2"/>
          </p:cNvCxnSpPr>
          <p:nvPr/>
        </p:nvCxnSpPr>
        <p:spPr>
          <a:xfrm xmlns:a="http://schemas.openxmlformats.org/drawingml/2006/main">
            <a:off x="838200" y="3200400"/>
            <a:ext cx="1905000" cy="0"/>
          </a:xfrm>
          <a:prstGeom xmlns:a="http://schemas.openxmlformats.org/drawingml/2006/main" prst="straightConnector1">
            <a:avLst/>
          </a:prstGeom>
          <a:ln xmlns:a="http://schemas.openxmlformats.org/drawingml/2006/main" w="14288">
            <a:solidFill>
              <a:srgbClr val="D0D5DD"/>
            </a:solidFill>
            <a:tailEnd type="triangle" w="sm" len="sm"/>
          </a:ln>
        </p:spPr>
      </p:cxn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7b7608d57b92479c"/>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text-22">
            <a:extLst xmlns:a="http://schemas.openxmlformats.org/drawingml/2006/main">
              <a:ext uri="{FF2B5EF4-FFF2-40B4-BE49-F238E27FC236}">
                <a16:creationId xmlns:a16="http://schemas.microsoft.com/office/drawing/2014/main" id="{8B2B06E3-CAE5-4E26-A888-9976ABC5B431}"/>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02</a:t>
            </a:r>
          </a:p>
        </p:txBody>
      </p:sp>
      <p:sp>
        <p:nvSpPr>
          <p:cNvPr id="3" name="text-23">
            <a:extLst xmlns:a="http://schemas.openxmlformats.org/drawingml/2006/main">
              <a:ext uri="{FF2B5EF4-FFF2-40B4-BE49-F238E27FC236}">
                <a16:creationId xmlns:a16="http://schemas.microsoft.com/office/drawing/2014/main" id="{B550460E-782E-479D-B986-93581D8602B0}"/>
              </a:ext>
            </a:extLst>
          </p:cNvPr>
          <p:cNvSpPr>
            <a:spLocks xmlns:a="http://schemas.openxmlformats.org/drawingml/2006/main" noGrp="1"/>
          </p:cNvSpPr>
          <p:nvPr/>
        </p:nvSpPr>
        <p:spPr>
          <a:xfrm xmlns:a="http://schemas.openxmlformats.org/drawingml/2006/main">
            <a:off x="990600" y="295275"/>
            <a:ext cx="904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7000FF"/>
                </a:solidFill>
                <a:latin typeface="Mulish"/>
                <a:ea typeface="Mulish"/>
                <a:cs typeface="Mulish"/>
              </a:defRPr>
            </a:pPr>
            <a:r>
              <a:rPr sz="1350" b="1">
                <a:solidFill>
                  <a:srgbClr val="7000FF"/>
                </a:solidFill>
                <a:latin typeface="Mulish"/>
                <a:ea typeface="Mulish"/>
                <a:cs typeface="Mulish"/>
              </a:rPr>
              <a:t>CIRCULARO’S FOUNDATION FOR EXPANSION</a:t>
            </a:r>
          </a:p>
        </p:txBody>
      </p:sp>
      <p:sp>
        <p:nvSpPr>
          <p:cNvPr id="4" name="text-24">
            <a:extLst xmlns:a="http://schemas.openxmlformats.org/drawingml/2006/main">
              <a:ext uri="{FF2B5EF4-FFF2-40B4-BE49-F238E27FC236}">
                <a16:creationId xmlns:a16="http://schemas.microsoft.com/office/drawing/2014/main" id="{441BB78C-C4DF-41C2-9A86-D11283B4258E}"/>
              </a:ext>
            </a:extLst>
          </p:cNvPr>
          <p:cNvSpPr>
            <a:spLocks xmlns:a="http://schemas.openxmlformats.org/drawingml/2006/main" noGrp="1"/>
          </p:cNvSpPr>
          <p:nvPr/>
        </p:nvSpPr>
        <p:spPr>
          <a:xfrm xmlns:a="http://schemas.openxmlformats.org/drawingml/2006/main">
            <a:off x="457200" y="914400"/>
            <a:ext cx="112776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D0090"/>
                </a:solidFill>
                <a:latin typeface="Spartan"/>
                <a:ea typeface="Spartan"/>
                <a:cs typeface="Spartan"/>
              </a:defRPr>
            </a:pPr>
            <a:r>
              <a:rPr sz="3600" b="1">
                <a:solidFill>
                  <a:srgbClr val="1D0090"/>
                </a:solidFill>
                <a:latin typeface="Spartan"/>
                <a:ea typeface="Spartan"/>
                <a:cs typeface="Spartan"/>
              </a:rPr>
              <a:t>Why Circularo can</a:t>
            </a:r>
          </a:p>
          <a:p xmlns:a="http://schemas.openxmlformats.org/drawingml/2006/main">
            <a:pPr algn="l">
              <a:defRPr sz="3600" b="1">
                <a:solidFill>
                  <a:srgbClr val="1D0090"/>
                </a:solidFill>
                <a:latin typeface="Spartan"/>
                <a:ea typeface="Spartan"/>
                <a:cs typeface="Spartan"/>
              </a:defRPr>
            </a:pPr>
            <a:r>
              <a:rPr sz="3600" b="1">
                <a:solidFill>
                  <a:srgbClr val="1D0090"/>
                </a:solidFill>
                <a:latin typeface="Spartan"/>
                <a:ea typeface="Spartan"/>
                <a:cs typeface="Spartan"/>
              </a:rPr>
              <a:t>credibly build this</a:t>
            </a:r>
          </a:p>
        </p:txBody>
      </p:sp>
      <p:sp>
        <p:nvSpPr>
          <p:cNvPr id="5" name="text-25">
            <a:extLst xmlns:a="http://schemas.openxmlformats.org/drawingml/2006/main">
              <a:ext uri="{FF2B5EF4-FFF2-40B4-BE49-F238E27FC236}">
                <a16:creationId xmlns:a16="http://schemas.microsoft.com/office/drawing/2014/main" id="{82E8580C-5FF1-45B8-9EEE-BAFC5AD46996}"/>
              </a:ext>
            </a:extLst>
          </p:cNvPr>
          <p:cNvSpPr>
            <a:spLocks xmlns:a="http://schemas.openxmlformats.org/drawingml/2006/main" noGrp="1"/>
          </p:cNvSpPr>
          <p:nvPr/>
        </p:nvSpPr>
        <p:spPr>
          <a:xfrm xmlns:a="http://schemas.openxmlformats.org/drawingml/2006/main">
            <a:off x="457200" y="207645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3D3D3D"/>
                </a:solidFill>
                <a:latin typeface="Mulish"/>
                <a:ea typeface="Mulish"/>
                <a:cs typeface="Mulish"/>
              </a:defRPr>
            </a:pPr>
            <a:r>
              <a:rPr sz="1800" b="0">
                <a:solidFill>
                  <a:srgbClr val="3D3D3D"/>
                </a:solidFill>
                <a:latin typeface="Mulish"/>
                <a:ea typeface="Mulish"/>
                <a:cs typeface="Mulish"/>
              </a:rPr>
              <a:t>The opportunity: reuse existing infrastructure across a broader set of governed actions</a:t>
            </a:r>
          </a:p>
        </p:txBody>
      </p:sp>
      <p:sp>
        <p:nvSpPr>
          <p:cNvPr id="6" name="text-26">
            <a:extLst xmlns:a="http://schemas.openxmlformats.org/drawingml/2006/main">
              <a:ext uri="{FF2B5EF4-FFF2-40B4-BE49-F238E27FC236}">
                <a16:creationId xmlns:a16="http://schemas.microsoft.com/office/drawing/2014/main" id="{43F95503-3C8E-47D7-9308-5E14EE80270A}"/>
              </a:ext>
            </a:extLst>
          </p:cNvPr>
          <p:cNvSpPr>
            <a:spLocks xmlns:a="http://schemas.openxmlformats.org/drawingml/2006/main" noGrp="1"/>
          </p:cNvSpPr>
          <p:nvPr/>
        </p:nvSpPr>
        <p:spPr>
          <a:xfrm xmlns:a="http://schemas.openxmlformats.org/drawingml/2006/main">
            <a:off x="457200" y="260985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667085"/>
                </a:solidFill>
                <a:latin typeface="Mulish"/>
                <a:ea typeface="Mulish"/>
                <a:cs typeface="Mulish"/>
              </a:defRPr>
            </a:pPr>
            <a:r>
              <a:rPr sz="1600" b="1">
                <a:solidFill>
                  <a:srgbClr val="667085"/>
                </a:solidFill>
                <a:latin typeface="Mulish"/>
                <a:ea typeface="Mulish"/>
                <a:cs typeface="Mulish"/>
              </a:rPr>
              <a:t>ESTABLISHED FOUNDATION</a:t>
            </a:r>
          </a:p>
        </p:txBody>
      </p:sp>
      <p:sp>
        <p:nvSpPr>
          <p:cNvPr id="7" name="text-27">
            <a:extLst xmlns:a="http://schemas.openxmlformats.org/drawingml/2006/main">
              <a:ext uri="{FF2B5EF4-FFF2-40B4-BE49-F238E27FC236}">
                <a16:creationId xmlns:a16="http://schemas.microsoft.com/office/drawing/2014/main" id="{DC0D80BE-A038-432B-970C-9100CA63AEA3}"/>
              </a:ext>
            </a:extLst>
          </p:cNvPr>
          <p:cNvSpPr>
            <a:spLocks xmlns:a="http://schemas.openxmlformats.org/drawingml/2006/main" noGrp="1"/>
          </p:cNvSpPr>
          <p:nvPr/>
        </p:nvSpPr>
        <p:spPr>
          <a:xfrm xmlns:a="http://schemas.openxmlformats.org/drawingml/2006/main">
            <a:off x="7315200" y="2609850"/>
            <a:ext cx="4419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7000FF"/>
                </a:solidFill>
                <a:latin typeface="Mulish"/>
                <a:ea typeface="Mulish"/>
                <a:cs typeface="Mulish"/>
              </a:defRPr>
            </a:pPr>
            <a:r>
              <a:rPr sz="1600" b="1">
                <a:solidFill>
                  <a:srgbClr val="7000FF"/>
                </a:solidFill>
                <a:latin typeface="Mulish"/>
                <a:ea typeface="Mulish"/>
                <a:cs typeface="Mulish"/>
              </a:rPr>
              <a:t>NEXT-GENERATION DIRECTION</a:t>
            </a:r>
          </a:p>
        </p:txBody>
      </p:sp>
      <p:sp>
        <p:nvSpPr>
          <p:cNvPr id="8" name="stage-1">
            <a:extLst xmlns:a="http://schemas.openxmlformats.org/drawingml/2006/main">
              <a:ext uri="{FF2B5EF4-FFF2-40B4-BE49-F238E27FC236}">
                <a16:creationId xmlns:a16="http://schemas.microsoft.com/office/drawing/2014/main" id="{B1BBC9BA-2AD7-4074-810A-228B7F3FBDAC}"/>
              </a:ext>
            </a:extLst>
          </p:cNvPr>
          <p:cNvSpPr>
            <a:spLocks xmlns:a="http://schemas.openxmlformats.org/drawingml/2006/main" noGrp="1"/>
          </p:cNvSpPr>
          <p:nvPr/>
        </p:nvSpPr>
        <p:spPr>
          <a:xfrm xmlns:a="http://schemas.openxmlformats.org/drawingml/2006/main">
            <a:off x="457200" y="3009900"/>
            <a:ext cx="381000" cy="381000"/>
          </a:xfrm>
          <a:prstGeom xmlns:a="http://schemas.openxmlformats.org/drawingml/2006/main" prst="ellipse">
            <a:avLst/>
          </a:prstGeom>
          <a:solidFill xmlns:a="http://schemas.openxmlformats.org/drawingml/2006/main">
            <a:srgbClr val="1D0090"/>
          </a:solidFill>
          <a:ln xmlns:a="http://schemas.openxmlformats.org/drawingml/2006/main" w="0">
            <a:noFill/>
          </a:ln>
        </p:spPr>
      </p:sp>
      <p:sp>
        <p:nvSpPr>
          <p:cNvPr id="9" name="text-28">
            <a:extLst xmlns:a="http://schemas.openxmlformats.org/drawingml/2006/main">
              <a:ext uri="{FF2B5EF4-FFF2-40B4-BE49-F238E27FC236}">
                <a16:creationId xmlns:a16="http://schemas.microsoft.com/office/drawing/2014/main" id="{DB3CD15B-1EAA-415C-901E-04FBAE8CC283}"/>
              </a:ext>
            </a:extLst>
          </p:cNvPr>
          <p:cNvSpPr>
            <a:spLocks xmlns:a="http://schemas.openxmlformats.org/drawingml/2006/main" noGrp="1"/>
          </p:cNvSpPr>
          <p:nvPr/>
        </p:nvSpPr>
        <p:spPr>
          <a:xfrm xmlns:a="http://schemas.openxmlformats.org/drawingml/2006/main">
            <a:off x="457200" y="3067050"/>
            <a:ext cx="381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FFFFFF"/>
                </a:solidFill>
                <a:latin typeface="Mulish"/>
                <a:ea typeface="Mulish"/>
                <a:cs typeface="Mulish"/>
              </a:defRPr>
            </a:pPr>
            <a:r>
              <a:rPr sz="1650" b="1">
                <a:solidFill>
                  <a:srgbClr val="FFFFFF"/>
                </a:solidFill>
                <a:latin typeface="Mulish"/>
                <a:ea typeface="Mulish"/>
                <a:cs typeface="Mulish"/>
              </a:rPr>
              <a:t>1</a:t>
            </a:r>
          </a:p>
        </p:txBody>
      </p:sp>
      <p:sp>
        <p:nvSpPr>
          <p:cNvPr id="10" name="stage-2">
            <a:extLst xmlns:a="http://schemas.openxmlformats.org/drawingml/2006/main">
              <a:ext uri="{FF2B5EF4-FFF2-40B4-BE49-F238E27FC236}">
                <a16:creationId xmlns:a16="http://schemas.microsoft.com/office/drawing/2014/main" id="{D68E8200-E907-43A5-B299-2364FAC76B1C}"/>
              </a:ext>
            </a:extLst>
          </p:cNvPr>
          <p:cNvSpPr>
            <a:spLocks xmlns:a="http://schemas.openxmlformats.org/drawingml/2006/main" noGrp="1"/>
          </p:cNvSpPr>
          <p:nvPr/>
        </p:nvSpPr>
        <p:spPr>
          <a:xfrm xmlns:a="http://schemas.openxmlformats.org/drawingml/2006/main">
            <a:off x="2743200" y="3009900"/>
            <a:ext cx="381000" cy="381000"/>
          </a:xfrm>
          <a:prstGeom xmlns:a="http://schemas.openxmlformats.org/drawingml/2006/main" prst="ellipse">
            <a:avLst/>
          </a:prstGeom>
          <a:solidFill xmlns:a="http://schemas.openxmlformats.org/drawingml/2006/main">
            <a:srgbClr val="1D0090"/>
          </a:solidFill>
          <a:ln xmlns:a="http://schemas.openxmlformats.org/drawingml/2006/main" w="0">
            <a:noFill/>
          </a:ln>
        </p:spPr>
      </p:sp>
      <p:sp>
        <p:nvSpPr>
          <p:cNvPr id="11" name="text-29">
            <a:extLst xmlns:a="http://schemas.openxmlformats.org/drawingml/2006/main">
              <a:ext uri="{FF2B5EF4-FFF2-40B4-BE49-F238E27FC236}">
                <a16:creationId xmlns:a16="http://schemas.microsoft.com/office/drawing/2014/main" id="{C7ABC6EF-55C0-4A9B-80B2-F50EC0CA639E}"/>
              </a:ext>
            </a:extLst>
          </p:cNvPr>
          <p:cNvSpPr>
            <a:spLocks xmlns:a="http://schemas.openxmlformats.org/drawingml/2006/main" noGrp="1"/>
          </p:cNvSpPr>
          <p:nvPr/>
        </p:nvSpPr>
        <p:spPr>
          <a:xfrm xmlns:a="http://schemas.openxmlformats.org/drawingml/2006/main">
            <a:off x="2743200" y="3067050"/>
            <a:ext cx="381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FFFFFF"/>
                </a:solidFill>
                <a:latin typeface="Mulish"/>
                <a:ea typeface="Mulish"/>
                <a:cs typeface="Mulish"/>
              </a:defRPr>
            </a:pPr>
            <a:r>
              <a:rPr sz="1650" b="1">
                <a:solidFill>
                  <a:srgbClr val="FFFFFF"/>
                </a:solidFill>
                <a:latin typeface="Mulish"/>
                <a:ea typeface="Mulish"/>
                <a:cs typeface="Mulish"/>
              </a:rPr>
              <a:t>2</a:t>
            </a:r>
          </a:p>
        </p:txBody>
      </p:sp>
      <p:sp>
        <p:nvSpPr>
          <p:cNvPr id="12" name="stage-3">
            <a:extLst xmlns:a="http://schemas.openxmlformats.org/drawingml/2006/main">
              <a:ext uri="{FF2B5EF4-FFF2-40B4-BE49-F238E27FC236}">
                <a16:creationId xmlns:a16="http://schemas.microsoft.com/office/drawing/2014/main" id="{58B0E26B-9F79-46B8-AE55-3F7CD4EC5CED}"/>
              </a:ext>
            </a:extLst>
          </p:cNvPr>
          <p:cNvSpPr>
            <a:spLocks xmlns:a="http://schemas.openxmlformats.org/drawingml/2006/main" noGrp="1"/>
          </p:cNvSpPr>
          <p:nvPr/>
        </p:nvSpPr>
        <p:spPr>
          <a:xfrm xmlns:a="http://schemas.openxmlformats.org/drawingml/2006/main">
            <a:off x="5029200" y="3009900"/>
            <a:ext cx="381000" cy="381000"/>
          </a:xfrm>
          <a:prstGeom xmlns:a="http://schemas.openxmlformats.org/drawingml/2006/main" prst="ellipse">
            <a:avLst/>
          </a:prstGeom>
          <a:solidFill xmlns:a="http://schemas.openxmlformats.org/drawingml/2006/main">
            <a:srgbClr val="1D0090"/>
          </a:solidFill>
          <a:ln xmlns:a="http://schemas.openxmlformats.org/drawingml/2006/main" w="0">
            <a:noFill/>
          </a:ln>
        </p:spPr>
      </p:sp>
      <p:sp>
        <p:nvSpPr>
          <p:cNvPr id="13" name="text-30">
            <a:extLst xmlns:a="http://schemas.openxmlformats.org/drawingml/2006/main">
              <a:ext uri="{FF2B5EF4-FFF2-40B4-BE49-F238E27FC236}">
                <a16:creationId xmlns:a16="http://schemas.microsoft.com/office/drawing/2014/main" id="{A7E65441-9DBC-413F-AAE0-CA13AC9274C7}"/>
              </a:ext>
            </a:extLst>
          </p:cNvPr>
          <p:cNvSpPr>
            <a:spLocks xmlns:a="http://schemas.openxmlformats.org/drawingml/2006/main" noGrp="1"/>
          </p:cNvSpPr>
          <p:nvPr/>
        </p:nvSpPr>
        <p:spPr>
          <a:xfrm xmlns:a="http://schemas.openxmlformats.org/drawingml/2006/main">
            <a:off x="5029200" y="3067050"/>
            <a:ext cx="381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FFFFFF"/>
                </a:solidFill>
                <a:latin typeface="Mulish"/>
                <a:ea typeface="Mulish"/>
                <a:cs typeface="Mulish"/>
              </a:defRPr>
            </a:pPr>
            <a:r>
              <a:rPr sz="1650" b="1">
                <a:solidFill>
                  <a:srgbClr val="FFFFFF"/>
                </a:solidFill>
                <a:latin typeface="Mulish"/>
                <a:ea typeface="Mulish"/>
                <a:cs typeface="Mulish"/>
              </a:rPr>
              <a:t>3</a:t>
            </a:r>
          </a:p>
        </p:txBody>
      </p:sp>
      <p:sp>
        <p:nvSpPr>
          <p:cNvPr id="14" name="stage-4">
            <a:extLst xmlns:a="http://schemas.openxmlformats.org/drawingml/2006/main">
              <a:ext uri="{FF2B5EF4-FFF2-40B4-BE49-F238E27FC236}">
                <a16:creationId xmlns:a16="http://schemas.microsoft.com/office/drawing/2014/main" id="{60028510-E895-46E3-8F09-AB2D66EF35BD}"/>
              </a:ext>
            </a:extLst>
          </p:cNvPr>
          <p:cNvSpPr>
            <a:spLocks xmlns:a="http://schemas.openxmlformats.org/drawingml/2006/main" noGrp="1"/>
          </p:cNvSpPr>
          <p:nvPr/>
        </p:nvSpPr>
        <p:spPr>
          <a:xfrm xmlns:a="http://schemas.openxmlformats.org/drawingml/2006/main">
            <a:off x="7315200" y="3009900"/>
            <a:ext cx="381000" cy="381000"/>
          </a:xfrm>
          <a:prstGeom xmlns:a="http://schemas.openxmlformats.org/drawingml/2006/main" prst="ellipse">
            <a:avLst/>
          </a:prstGeom>
          <a:solidFill xmlns:a="http://schemas.openxmlformats.org/drawingml/2006/main">
            <a:srgbClr val="7000FF"/>
          </a:solidFill>
          <a:ln xmlns:a="http://schemas.openxmlformats.org/drawingml/2006/main" w="0">
            <a:noFill/>
          </a:ln>
        </p:spPr>
      </p:sp>
      <p:sp>
        <p:nvSpPr>
          <p:cNvPr id="15" name="text-31">
            <a:extLst xmlns:a="http://schemas.openxmlformats.org/drawingml/2006/main">
              <a:ext uri="{FF2B5EF4-FFF2-40B4-BE49-F238E27FC236}">
                <a16:creationId xmlns:a16="http://schemas.microsoft.com/office/drawing/2014/main" id="{A4932F65-0540-4B23-A454-3C4C1D9B69BA}"/>
              </a:ext>
            </a:extLst>
          </p:cNvPr>
          <p:cNvSpPr>
            <a:spLocks xmlns:a="http://schemas.openxmlformats.org/drawingml/2006/main" noGrp="1"/>
          </p:cNvSpPr>
          <p:nvPr/>
        </p:nvSpPr>
        <p:spPr>
          <a:xfrm xmlns:a="http://schemas.openxmlformats.org/drawingml/2006/main">
            <a:off x="7315200" y="3067050"/>
            <a:ext cx="381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FFFFFF"/>
                </a:solidFill>
                <a:latin typeface="Mulish"/>
                <a:ea typeface="Mulish"/>
                <a:cs typeface="Mulish"/>
              </a:defRPr>
            </a:pPr>
            <a:r>
              <a:rPr sz="1650" b="1">
                <a:solidFill>
                  <a:srgbClr val="FFFFFF"/>
                </a:solidFill>
                <a:latin typeface="Mulish"/>
                <a:ea typeface="Mulish"/>
                <a:cs typeface="Mulish"/>
              </a:rPr>
              <a:t>4</a:t>
            </a:r>
          </a:p>
        </p:txBody>
      </p:sp>
      <p:sp>
        <p:nvSpPr>
          <p:cNvPr id="16" name="stage-5">
            <a:extLst xmlns:a="http://schemas.openxmlformats.org/drawingml/2006/main">
              <a:ext uri="{FF2B5EF4-FFF2-40B4-BE49-F238E27FC236}">
                <a16:creationId xmlns:a16="http://schemas.microsoft.com/office/drawing/2014/main" id="{5B00DB67-DB7A-4EB1-B643-F14ACD579BE1}"/>
              </a:ext>
            </a:extLst>
          </p:cNvPr>
          <p:cNvSpPr>
            <a:spLocks xmlns:a="http://schemas.openxmlformats.org/drawingml/2006/main" noGrp="1"/>
          </p:cNvSpPr>
          <p:nvPr/>
        </p:nvSpPr>
        <p:spPr>
          <a:xfrm xmlns:a="http://schemas.openxmlformats.org/drawingml/2006/main">
            <a:off x="9601200" y="3009900"/>
            <a:ext cx="381000" cy="381000"/>
          </a:xfrm>
          <a:prstGeom xmlns:a="http://schemas.openxmlformats.org/drawingml/2006/main" prst="ellipse">
            <a:avLst/>
          </a:prstGeom>
          <a:solidFill xmlns:a="http://schemas.openxmlformats.org/drawingml/2006/main">
            <a:srgbClr val="7000FF"/>
          </a:solidFill>
          <a:ln xmlns:a="http://schemas.openxmlformats.org/drawingml/2006/main" w="0">
            <a:noFill/>
          </a:ln>
        </p:spPr>
      </p:sp>
      <p:sp>
        <p:nvSpPr>
          <p:cNvPr id="17" name="text-32">
            <a:extLst xmlns:a="http://schemas.openxmlformats.org/drawingml/2006/main">
              <a:ext uri="{FF2B5EF4-FFF2-40B4-BE49-F238E27FC236}">
                <a16:creationId xmlns:a16="http://schemas.microsoft.com/office/drawing/2014/main" id="{987F5DF4-FF3B-4E0F-BDE3-0B674EDB55E4}"/>
              </a:ext>
            </a:extLst>
          </p:cNvPr>
          <p:cNvSpPr>
            <a:spLocks xmlns:a="http://schemas.openxmlformats.org/drawingml/2006/main" noGrp="1"/>
          </p:cNvSpPr>
          <p:nvPr/>
        </p:nvSpPr>
        <p:spPr>
          <a:xfrm xmlns:a="http://schemas.openxmlformats.org/drawingml/2006/main">
            <a:off x="9601200" y="3067050"/>
            <a:ext cx="381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FFFFFF"/>
                </a:solidFill>
                <a:latin typeface="Mulish"/>
                <a:ea typeface="Mulish"/>
                <a:cs typeface="Mulish"/>
              </a:defRPr>
            </a:pPr>
            <a:r>
              <a:rPr sz="1650" b="1">
                <a:solidFill>
                  <a:srgbClr val="FFFFFF"/>
                </a:solidFill>
                <a:latin typeface="Mulish"/>
                <a:ea typeface="Mulish"/>
                <a:cs typeface="Mulish"/>
              </a:rPr>
              <a:t>5</a:t>
            </a:r>
          </a:p>
        </p:txBody>
      </p:sp>
      <p:sp>
        <p:nvSpPr>
          <p:cNvPr id="22" name="text-33">
            <a:extLst xmlns:a="http://schemas.openxmlformats.org/drawingml/2006/main">
              <a:ext uri="{FF2B5EF4-FFF2-40B4-BE49-F238E27FC236}">
                <a16:creationId xmlns:a16="http://schemas.microsoft.com/office/drawing/2014/main" id="{29A5FAD8-E837-4972-9EED-75279EA221F1}"/>
              </a:ext>
            </a:extLst>
          </p:cNvPr>
          <p:cNvSpPr>
            <a:spLocks xmlns:a="http://schemas.openxmlformats.org/drawingml/2006/main" noGrp="1"/>
          </p:cNvSpPr>
          <p:nvPr/>
        </p:nvSpPr>
        <p:spPr>
          <a:xfrm xmlns:a="http://schemas.openxmlformats.org/drawingml/2006/main">
            <a:off x="457200" y="3581400"/>
            <a:ext cx="21336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D0090"/>
                </a:solidFill>
                <a:latin typeface="Mulish"/>
                <a:ea typeface="Mulish"/>
                <a:cs typeface="Mulish"/>
              </a:defRPr>
            </a:pPr>
            <a:r>
              <a:rPr sz="1800" b="1">
                <a:solidFill>
                  <a:srgbClr val="1D0090"/>
                </a:solidFill>
                <a:latin typeface="Mulish"/>
                <a:ea typeface="Mulish"/>
                <a:cs typeface="Mulish"/>
              </a:rPr>
              <a:t>Digital</a:t>
            </a:r>
          </a:p>
          <a:p xmlns:a="http://schemas.openxmlformats.org/drawingml/2006/main">
            <a:pPr algn="l">
              <a:defRPr sz="1800" b="1">
                <a:solidFill>
                  <a:srgbClr val="1D0090"/>
                </a:solidFill>
                <a:latin typeface="Mulish"/>
                <a:ea typeface="Mulish"/>
                <a:cs typeface="Mulish"/>
              </a:defRPr>
            </a:pPr>
            <a:r>
              <a:rPr sz="1800" b="1">
                <a:solidFill>
                  <a:srgbClr val="1D0090"/>
                </a:solidFill>
                <a:latin typeface="Mulish"/>
                <a:ea typeface="Mulish"/>
                <a:cs typeface="Mulish"/>
              </a:rPr>
              <a:t>Signatures</a:t>
            </a:r>
          </a:p>
        </p:txBody>
      </p:sp>
      <p:sp>
        <p:nvSpPr>
          <p:cNvPr id="23" name="text-34">
            <a:extLst xmlns:a="http://schemas.openxmlformats.org/drawingml/2006/main">
              <a:ext uri="{FF2B5EF4-FFF2-40B4-BE49-F238E27FC236}">
                <a16:creationId xmlns:a16="http://schemas.microsoft.com/office/drawing/2014/main" id="{24EF2B35-4107-4055-865C-F3D7251D9631}"/>
              </a:ext>
            </a:extLst>
          </p:cNvPr>
          <p:cNvSpPr>
            <a:spLocks xmlns:a="http://schemas.openxmlformats.org/drawingml/2006/main" noGrp="1"/>
          </p:cNvSpPr>
          <p:nvPr/>
        </p:nvSpPr>
        <p:spPr>
          <a:xfrm xmlns:a="http://schemas.openxmlformats.org/drawingml/2006/main">
            <a:off x="457200" y="4314825"/>
            <a:ext cx="2133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Identity, signing</a:t>
            </a:r>
          </a:p>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and timestamps</a:t>
            </a:r>
          </a:p>
        </p:txBody>
      </p:sp>
      <p:sp>
        <p:nvSpPr>
          <p:cNvPr id="24" name="text-35">
            <a:extLst xmlns:a="http://schemas.openxmlformats.org/drawingml/2006/main">
              <a:ext uri="{FF2B5EF4-FFF2-40B4-BE49-F238E27FC236}">
                <a16:creationId xmlns:a16="http://schemas.microsoft.com/office/drawing/2014/main" id="{B99E382F-E32B-476F-9AFD-D180FE0F8CEC}"/>
              </a:ext>
            </a:extLst>
          </p:cNvPr>
          <p:cNvSpPr>
            <a:spLocks xmlns:a="http://schemas.openxmlformats.org/drawingml/2006/main" noGrp="1"/>
          </p:cNvSpPr>
          <p:nvPr/>
        </p:nvSpPr>
        <p:spPr>
          <a:xfrm xmlns:a="http://schemas.openxmlformats.org/drawingml/2006/main">
            <a:off x="2743200" y="3581400"/>
            <a:ext cx="21336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D0090"/>
                </a:solidFill>
                <a:latin typeface="Mulish"/>
                <a:ea typeface="Mulish"/>
                <a:cs typeface="Mulish"/>
              </a:defRPr>
            </a:pPr>
            <a:r>
              <a:rPr sz="1800" b="1">
                <a:solidFill>
                  <a:srgbClr val="1D0090"/>
                </a:solidFill>
                <a:latin typeface="Mulish"/>
                <a:ea typeface="Mulish"/>
                <a:cs typeface="Mulish"/>
              </a:rPr>
              <a:t>Trusted</a:t>
            </a:r>
          </a:p>
          <a:p xmlns:a="http://schemas.openxmlformats.org/drawingml/2006/main">
            <a:pPr algn="l">
              <a:defRPr sz="1800" b="1">
                <a:solidFill>
                  <a:srgbClr val="1D0090"/>
                </a:solidFill>
                <a:latin typeface="Mulish"/>
                <a:ea typeface="Mulish"/>
                <a:cs typeface="Mulish"/>
              </a:defRPr>
            </a:pPr>
            <a:r>
              <a:rPr sz="1800" b="1">
                <a:solidFill>
                  <a:srgbClr val="1D0090"/>
                </a:solidFill>
                <a:latin typeface="Mulish"/>
                <a:ea typeface="Mulish"/>
                <a:cs typeface="Mulish"/>
              </a:rPr>
              <a:t>Collaboration</a:t>
            </a:r>
          </a:p>
        </p:txBody>
      </p:sp>
      <p:sp>
        <p:nvSpPr>
          <p:cNvPr id="25" name="text-36">
            <a:extLst xmlns:a="http://schemas.openxmlformats.org/drawingml/2006/main">
              <a:ext uri="{FF2B5EF4-FFF2-40B4-BE49-F238E27FC236}">
                <a16:creationId xmlns:a16="http://schemas.microsoft.com/office/drawing/2014/main" id="{F11AF95E-4566-4D12-ACCE-1B5C4342C577}"/>
              </a:ext>
            </a:extLst>
          </p:cNvPr>
          <p:cNvSpPr>
            <a:spLocks xmlns:a="http://schemas.openxmlformats.org/drawingml/2006/main" noGrp="1"/>
          </p:cNvSpPr>
          <p:nvPr/>
        </p:nvSpPr>
        <p:spPr>
          <a:xfrm xmlns:a="http://schemas.openxmlformats.org/drawingml/2006/main">
            <a:off x="2743200" y="4314825"/>
            <a:ext cx="2133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Approvals, workflows</a:t>
            </a:r>
          </a:p>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and multi-party</a:t>
            </a:r>
          </a:p>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transactions</a:t>
            </a:r>
          </a:p>
        </p:txBody>
      </p:sp>
      <p:sp>
        <p:nvSpPr>
          <p:cNvPr id="26" name="text-37">
            <a:extLst xmlns:a="http://schemas.openxmlformats.org/drawingml/2006/main">
              <a:ext uri="{FF2B5EF4-FFF2-40B4-BE49-F238E27FC236}">
                <a16:creationId xmlns:a16="http://schemas.microsoft.com/office/drawing/2014/main" id="{B802DE64-5316-4B25-A466-0448168A8C84}"/>
              </a:ext>
            </a:extLst>
          </p:cNvPr>
          <p:cNvSpPr>
            <a:spLocks xmlns:a="http://schemas.openxmlformats.org/drawingml/2006/main" noGrp="1"/>
          </p:cNvSpPr>
          <p:nvPr/>
        </p:nvSpPr>
        <p:spPr>
          <a:xfrm xmlns:a="http://schemas.openxmlformats.org/drawingml/2006/main">
            <a:off x="5029200" y="3581400"/>
            <a:ext cx="21336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D0090"/>
                </a:solidFill>
                <a:latin typeface="Mulish"/>
                <a:ea typeface="Mulish"/>
                <a:cs typeface="Mulish"/>
              </a:defRPr>
            </a:pPr>
            <a:r>
              <a:rPr sz="1800" b="1">
                <a:solidFill>
                  <a:srgbClr val="1D0090"/>
                </a:solidFill>
                <a:latin typeface="Mulish"/>
                <a:ea typeface="Mulish"/>
                <a:cs typeface="Mulish"/>
              </a:rPr>
              <a:t>Sovereign Trust</a:t>
            </a:r>
          </a:p>
          <a:p xmlns:a="http://schemas.openxmlformats.org/drawingml/2006/main">
            <a:pPr algn="l">
              <a:defRPr sz="1800" b="1">
                <a:solidFill>
                  <a:srgbClr val="1D0090"/>
                </a:solidFill>
                <a:latin typeface="Mulish"/>
                <a:ea typeface="Mulish"/>
                <a:cs typeface="Mulish"/>
              </a:defRPr>
            </a:pPr>
            <a:r>
              <a:rPr sz="1800" b="1">
                <a:solidFill>
                  <a:srgbClr val="1D0090"/>
                </a:solidFill>
                <a:latin typeface="Mulish"/>
                <a:ea typeface="Mulish"/>
                <a:cs typeface="Mulish"/>
              </a:rPr>
              <a:t>Infrastructure</a:t>
            </a:r>
          </a:p>
        </p:txBody>
      </p:sp>
      <p:sp>
        <p:nvSpPr>
          <p:cNvPr id="27" name="text-38">
            <a:extLst xmlns:a="http://schemas.openxmlformats.org/drawingml/2006/main">
              <a:ext uri="{FF2B5EF4-FFF2-40B4-BE49-F238E27FC236}">
                <a16:creationId xmlns:a16="http://schemas.microsoft.com/office/drawing/2014/main" id="{251D353C-F88D-4A23-A74C-DF20630DB195}"/>
              </a:ext>
            </a:extLst>
          </p:cNvPr>
          <p:cNvSpPr>
            <a:spLocks xmlns:a="http://schemas.openxmlformats.org/drawingml/2006/main" noGrp="1"/>
          </p:cNvSpPr>
          <p:nvPr/>
        </p:nvSpPr>
        <p:spPr>
          <a:xfrm xmlns:a="http://schemas.openxmlformats.org/drawingml/2006/main">
            <a:off x="5029200" y="4314825"/>
            <a:ext cx="2133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Government services</a:t>
            </a:r>
          </a:p>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and identity</a:t>
            </a:r>
          </a:p>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integration, evidence</a:t>
            </a:r>
          </a:p>
        </p:txBody>
      </p:sp>
      <p:sp>
        <p:nvSpPr>
          <p:cNvPr id="28" name="text-39">
            <a:extLst xmlns:a="http://schemas.openxmlformats.org/drawingml/2006/main">
              <a:ext uri="{FF2B5EF4-FFF2-40B4-BE49-F238E27FC236}">
                <a16:creationId xmlns:a16="http://schemas.microsoft.com/office/drawing/2014/main" id="{D27906CB-00EB-4F89-BF64-03F9EAD33932}"/>
              </a:ext>
            </a:extLst>
          </p:cNvPr>
          <p:cNvSpPr>
            <a:spLocks xmlns:a="http://schemas.openxmlformats.org/drawingml/2006/main" noGrp="1"/>
          </p:cNvSpPr>
          <p:nvPr/>
        </p:nvSpPr>
        <p:spPr>
          <a:xfrm xmlns:a="http://schemas.openxmlformats.org/drawingml/2006/main">
            <a:off x="7315200" y="3581400"/>
            <a:ext cx="21336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7000FF"/>
                </a:solidFill>
                <a:latin typeface="Mulish"/>
                <a:ea typeface="Mulish"/>
                <a:cs typeface="Mulish"/>
              </a:defRPr>
            </a:pPr>
            <a:r>
              <a:rPr sz="1800" b="1">
                <a:solidFill>
                  <a:srgbClr val="7000FF"/>
                </a:solidFill>
                <a:latin typeface="Mulish"/>
                <a:ea typeface="Mulish"/>
                <a:cs typeface="Mulish"/>
              </a:rPr>
              <a:t>Trusted</a:t>
            </a:r>
          </a:p>
          <a:p xmlns:a="http://schemas.openxmlformats.org/drawingml/2006/main">
            <a:pPr algn="l">
              <a:defRPr sz="1800" b="1">
                <a:solidFill>
                  <a:srgbClr val="7000FF"/>
                </a:solidFill>
                <a:latin typeface="Mulish"/>
                <a:ea typeface="Mulish"/>
                <a:cs typeface="Mulish"/>
              </a:defRPr>
            </a:pPr>
            <a:r>
              <a:rPr sz="1800" b="1">
                <a:solidFill>
                  <a:srgbClr val="7000FF"/>
                </a:solidFill>
                <a:latin typeface="Mulish"/>
                <a:ea typeface="Mulish"/>
                <a:cs typeface="Mulish"/>
              </a:rPr>
              <a:t>Execution</a:t>
            </a:r>
          </a:p>
        </p:txBody>
      </p:sp>
      <p:sp>
        <p:nvSpPr>
          <p:cNvPr id="29" name="text-40">
            <a:extLst xmlns:a="http://schemas.openxmlformats.org/drawingml/2006/main">
              <a:ext uri="{FF2B5EF4-FFF2-40B4-BE49-F238E27FC236}">
                <a16:creationId xmlns:a16="http://schemas.microsoft.com/office/drawing/2014/main" id="{B475DBBA-A374-4297-B694-133C1FFEBEA0}"/>
              </a:ext>
            </a:extLst>
          </p:cNvPr>
          <p:cNvSpPr>
            <a:spLocks xmlns:a="http://schemas.openxmlformats.org/drawingml/2006/main" noGrp="1"/>
          </p:cNvSpPr>
          <p:nvPr/>
        </p:nvSpPr>
        <p:spPr>
          <a:xfrm xmlns:a="http://schemas.openxmlformats.org/drawingml/2006/main">
            <a:off x="7315200" y="4314825"/>
            <a:ext cx="2133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Authority, policy</a:t>
            </a:r>
          </a:p>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and execution,</a:t>
            </a:r>
          </a:p>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institutional records</a:t>
            </a:r>
          </a:p>
        </p:txBody>
      </p:sp>
      <p:sp>
        <p:nvSpPr>
          <p:cNvPr id="30" name="text-41">
            <a:extLst xmlns:a="http://schemas.openxmlformats.org/drawingml/2006/main">
              <a:ext uri="{FF2B5EF4-FFF2-40B4-BE49-F238E27FC236}">
                <a16:creationId xmlns:a16="http://schemas.microsoft.com/office/drawing/2014/main" id="{376A442D-3D10-4614-84F8-6445DA6B385F}"/>
              </a:ext>
            </a:extLst>
          </p:cNvPr>
          <p:cNvSpPr>
            <a:spLocks xmlns:a="http://schemas.openxmlformats.org/drawingml/2006/main" noGrp="1"/>
          </p:cNvSpPr>
          <p:nvPr/>
        </p:nvSpPr>
        <p:spPr>
          <a:xfrm xmlns:a="http://schemas.openxmlformats.org/drawingml/2006/main">
            <a:off x="9601200" y="3581400"/>
            <a:ext cx="21336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7000FF"/>
                </a:solidFill>
                <a:latin typeface="Mulish"/>
                <a:ea typeface="Mulish"/>
                <a:cs typeface="Mulish"/>
              </a:defRPr>
            </a:pPr>
            <a:r>
              <a:rPr sz="1800" b="1">
                <a:solidFill>
                  <a:srgbClr val="7000FF"/>
                </a:solidFill>
                <a:latin typeface="Mulish"/>
                <a:ea typeface="Mulish"/>
                <a:cs typeface="Mulish"/>
              </a:rPr>
              <a:t>Agentic Trusted</a:t>
            </a:r>
          </a:p>
          <a:p xmlns:a="http://schemas.openxmlformats.org/drawingml/2006/main">
            <a:pPr algn="l">
              <a:defRPr sz="1800" b="1">
                <a:solidFill>
                  <a:srgbClr val="7000FF"/>
                </a:solidFill>
                <a:latin typeface="Mulish"/>
                <a:ea typeface="Mulish"/>
                <a:cs typeface="Mulish"/>
              </a:defRPr>
            </a:pPr>
            <a:r>
              <a:rPr sz="1800" b="1">
                <a:solidFill>
                  <a:srgbClr val="7000FF"/>
                </a:solidFill>
                <a:latin typeface="Mulish"/>
                <a:ea typeface="Mulish"/>
                <a:cs typeface="Mulish"/>
              </a:rPr>
              <a:t>Execution</a:t>
            </a:r>
          </a:p>
        </p:txBody>
      </p:sp>
      <p:sp>
        <p:nvSpPr>
          <p:cNvPr id="31" name="text-42">
            <a:extLst xmlns:a="http://schemas.openxmlformats.org/drawingml/2006/main">
              <a:ext uri="{FF2B5EF4-FFF2-40B4-BE49-F238E27FC236}">
                <a16:creationId xmlns:a16="http://schemas.microsoft.com/office/drawing/2014/main" id="{E32A96BF-457F-40FF-ABB2-C6D8C406F152}"/>
              </a:ext>
            </a:extLst>
          </p:cNvPr>
          <p:cNvSpPr>
            <a:spLocks xmlns:a="http://schemas.openxmlformats.org/drawingml/2006/main" noGrp="1"/>
          </p:cNvSpPr>
          <p:nvPr/>
        </p:nvSpPr>
        <p:spPr>
          <a:xfrm xmlns:a="http://schemas.openxmlformats.org/drawingml/2006/main">
            <a:off x="9601200" y="4314825"/>
            <a:ext cx="2133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Humans and AI agents</a:t>
            </a:r>
          </a:p>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acting under</a:t>
            </a:r>
          </a:p>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governed authority</a:t>
            </a:r>
          </a:p>
        </p:txBody>
      </p:sp>
      <p:sp>
        <p:nvSpPr>
          <p:cNvPr id="32" name="divider">
            <a:extLst xmlns:a="http://schemas.openxmlformats.org/drawingml/2006/main">
              <a:ext uri="{FF2B5EF4-FFF2-40B4-BE49-F238E27FC236}">
                <a16:creationId xmlns:a16="http://schemas.microsoft.com/office/drawing/2014/main" id="{49C04323-3AB1-42B2-A92E-7BE0567420AD}"/>
              </a:ext>
            </a:extLst>
          </p:cNvPr>
          <p:cNvSpPr>
            <a:spLocks xmlns:a="http://schemas.openxmlformats.org/drawingml/2006/main" noGrp="1"/>
          </p:cNvSpPr>
          <p:nvPr/>
        </p:nvSpPr>
        <p:spPr>
          <a:xfrm xmlns:a="http://schemas.openxmlformats.org/drawingml/2006/main">
            <a:off x="457200" y="5267325"/>
            <a:ext cx="11277600" cy="9525"/>
          </a:xfrm>
          <a:prstGeom xmlns:a="http://schemas.openxmlformats.org/drawingml/2006/main" prst="rect">
            <a:avLst/>
          </a:prstGeom>
          <a:solidFill xmlns:a="http://schemas.openxmlformats.org/drawingml/2006/main">
            <a:srgbClr val="E4E7EC"/>
          </a:solidFill>
          <a:ln xmlns:a="http://schemas.openxmlformats.org/drawingml/2006/main" w="0">
            <a:noFill/>
            <a:prstDash val="solid"/>
          </a:ln>
        </p:spPr>
      </p:sp>
      <p:sp>
        <p:nvSpPr>
          <p:cNvPr id="33" name="text-43">
            <a:extLst xmlns:a="http://schemas.openxmlformats.org/drawingml/2006/main">
              <a:ext uri="{FF2B5EF4-FFF2-40B4-BE49-F238E27FC236}">
                <a16:creationId xmlns:a16="http://schemas.microsoft.com/office/drawing/2014/main" id="{B1702864-C75D-48A7-A876-47D5C63EACAC}"/>
              </a:ext>
            </a:extLst>
          </p:cNvPr>
          <p:cNvSpPr>
            <a:spLocks xmlns:a="http://schemas.openxmlformats.org/drawingml/2006/main" noGrp="1"/>
          </p:cNvSpPr>
          <p:nvPr/>
        </p:nvSpPr>
        <p:spPr>
          <a:xfrm xmlns:a="http://schemas.openxmlformats.org/drawingml/2006/main">
            <a:off x="457200" y="5429250"/>
            <a:ext cx="552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Deployment foundations</a:t>
            </a:r>
          </a:p>
        </p:txBody>
      </p:sp>
      <p:sp>
        <p:nvSpPr>
          <p:cNvPr id="34" name="text-44">
            <a:extLst xmlns:a="http://schemas.openxmlformats.org/drawingml/2006/main">
              <a:ext uri="{FF2B5EF4-FFF2-40B4-BE49-F238E27FC236}">
                <a16:creationId xmlns:a16="http://schemas.microsoft.com/office/drawing/2014/main" id="{A0F4F84C-F49F-42C0-940C-DBFC6D0842F2}"/>
              </a:ext>
            </a:extLst>
          </p:cNvPr>
          <p:cNvSpPr>
            <a:spLocks xmlns:a="http://schemas.openxmlformats.org/drawingml/2006/main" noGrp="1"/>
          </p:cNvSpPr>
          <p:nvPr/>
        </p:nvSpPr>
        <p:spPr>
          <a:xfrm xmlns:a="http://schemas.openxmlformats.org/drawingml/2006/main">
            <a:off x="7734300" y="545782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600" b="0">
                <a:solidFill>
                  <a:srgbClr val="667085"/>
                </a:solidFill>
                <a:latin typeface="Mulish"/>
                <a:ea typeface="Mulish"/>
                <a:cs typeface="Mulish"/>
              </a:defRPr>
            </a:pPr>
            <a:r>
              <a:rPr sz="1600" b="0">
                <a:solidFill>
                  <a:srgbClr val="667085"/>
                </a:solidFill>
                <a:latin typeface="Mulish"/>
                <a:ea typeface="Mulish"/>
                <a:cs typeface="Mulish"/>
              </a:rPr>
              <a:t>Management-reported</a:t>
            </a:r>
          </a:p>
        </p:txBody>
      </p:sp>
      <p:sp>
        <p:nvSpPr>
          <p:cNvPr id="35" name="text-45">
            <a:extLst xmlns:a="http://schemas.openxmlformats.org/drawingml/2006/main">
              <a:ext uri="{FF2B5EF4-FFF2-40B4-BE49-F238E27FC236}">
                <a16:creationId xmlns:a16="http://schemas.microsoft.com/office/drawing/2014/main" id="{01D2DA13-18DF-42FA-BF7C-D91D76C611D5}"/>
              </a:ext>
            </a:extLst>
          </p:cNvPr>
          <p:cNvSpPr>
            <a:spLocks xmlns:a="http://schemas.openxmlformats.org/drawingml/2006/main" noGrp="1"/>
          </p:cNvSpPr>
          <p:nvPr/>
        </p:nvSpPr>
        <p:spPr>
          <a:xfrm xmlns:a="http://schemas.openxmlformats.org/drawingml/2006/main">
            <a:off x="457200" y="5857875"/>
            <a:ext cx="21336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D0090"/>
                </a:solidFill>
                <a:latin typeface="Mulish"/>
                <a:ea typeface="Mulish"/>
                <a:cs typeface="Mulish"/>
              </a:defRPr>
            </a:pPr>
            <a:r>
              <a:rPr sz="1650" b="1">
                <a:solidFill>
                  <a:srgbClr val="1D0090"/>
                </a:solidFill>
                <a:latin typeface="Mulish"/>
                <a:ea typeface="Mulish"/>
                <a:cs typeface="Mulish"/>
              </a:rPr>
              <a:t>TDRA GovSign</a:t>
            </a:r>
          </a:p>
        </p:txBody>
      </p:sp>
      <p:sp>
        <p:nvSpPr>
          <p:cNvPr id="36" name="text-46">
            <a:extLst xmlns:a="http://schemas.openxmlformats.org/drawingml/2006/main">
              <a:ext uri="{FF2B5EF4-FFF2-40B4-BE49-F238E27FC236}">
                <a16:creationId xmlns:a16="http://schemas.microsoft.com/office/drawing/2014/main" id="{28FF9A88-87B1-4494-A4B9-ACEBC9D2FCCF}"/>
              </a:ext>
            </a:extLst>
          </p:cNvPr>
          <p:cNvSpPr>
            <a:spLocks xmlns:a="http://schemas.openxmlformats.org/drawingml/2006/main" noGrp="1"/>
          </p:cNvSpPr>
          <p:nvPr/>
        </p:nvSpPr>
        <p:spPr>
          <a:xfrm xmlns:a="http://schemas.openxmlformats.org/drawingml/2006/main">
            <a:off x="2743200" y="5857875"/>
            <a:ext cx="21336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D0090"/>
                </a:solidFill>
                <a:latin typeface="Mulish"/>
                <a:ea typeface="Mulish"/>
                <a:cs typeface="Mulish"/>
              </a:defRPr>
            </a:pPr>
            <a:r>
              <a:rPr sz="1650" b="1">
                <a:solidFill>
                  <a:srgbClr val="1D0090"/>
                </a:solidFill>
                <a:latin typeface="Mulish"/>
                <a:ea typeface="Mulish"/>
                <a:cs typeface="Mulish"/>
              </a:rPr>
              <a:t>Digital Dubai</a:t>
            </a:r>
          </a:p>
          <a:p xmlns:a="http://schemas.openxmlformats.org/drawingml/2006/main">
            <a:pPr algn="l">
              <a:defRPr sz="1650" b="1">
                <a:solidFill>
                  <a:srgbClr val="1D0090"/>
                </a:solidFill>
                <a:latin typeface="Mulish"/>
                <a:ea typeface="Mulish"/>
                <a:cs typeface="Mulish"/>
              </a:defRPr>
            </a:pPr>
            <a:r>
              <a:rPr sz="1650" b="1">
                <a:solidFill>
                  <a:srgbClr val="1D0090"/>
                </a:solidFill>
                <a:latin typeface="Mulish"/>
                <a:ea typeface="Mulish"/>
                <a:cs typeface="Mulish"/>
              </a:rPr>
              <a:t>DigiSign</a:t>
            </a:r>
          </a:p>
        </p:txBody>
      </p:sp>
      <p:sp>
        <p:nvSpPr>
          <p:cNvPr id="37" name="text-47">
            <a:extLst xmlns:a="http://schemas.openxmlformats.org/drawingml/2006/main">
              <a:ext uri="{FF2B5EF4-FFF2-40B4-BE49-F238E27FC236}">
                <a16:creationId xmlns:a16="http://schemas.microsoft.com/office/drawing/2014/main" id="{64317D44-03C1-4F66-B7AB-C74FE37C4141}"/>
              </a:ext>
            </a:extLst>
          </p:cNvPr>
          <p:cNvSpPr>
            <a:spLocks xmlns:a="http://schemas.openxmlformats.org/drawingml/2006/main" noGrp="1"/>
          </p:cNvSpPr>
          <p:nvPr/>
        </p:nvSpPr>
        <p:spPr>
          <a:xfrm xmlns:a="http://schemas.openxmlformats.org/drawingml/2006/main">
            <a:off x="5029200" y="5857875"/>
            <a:ext cx="21336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D0090"/>
                </a:solidFill>
                <a:latin typeface="Mulish"/>
                <a:ea typeface="Mulish"/>
                <a:cs typeface="Mulish"/>
              </a:defRPr>
            </a:pPr>
            <a:r>
              <a:rPr sz="1650" b="1">
                <a:solidFill>
                  <a:srgbClr val="1D0090"/>
                </a:solidFill>
                <a:latin typeface="Mulish"/>
                <a:ea typeface="Mulish"/>
                <a:cs typeface="Mulish"/>
              </a:rPr>
              <a:t>Sharjah Sign</a:t>
            </a:r>
          </a:p>
        </p:txBody>
      </p:sp>
      <p:sp>
        <p:nvSpPr>
          <p:cNvPr id="38" name="text-48">
            <a:extLst xmlns:a="http://schemas.openxmlformats.org/drawingml/2006/main">
              <a:ext uri="{FF2B5EF4-FFF2-40B4-BE49-F238E27FC236}">
                <a16:creationId xmlns:a16="http://schemas.microsoft.com/office/drawing/2014/main" id="{9637C081-4444-40BE-B561-11F464EFA888}"/>
              </a:ext>
            </a:extLst>
          </p:cNvPr>
          <p:cNvSpPr>
            <a:spLocks xmlns:a="http://schemas.openxmlformats.org/drawingml/2006/main" noGrp="1"/>
          </p:cNvSpPr>
          <p:nvPr/>
        </p:nvSpPr>
        <p:spPr>
          <a:xfrm xmlns:a="http://schemas.openxmlformats.org/drawingml/2006/main">
            <a:off x="7315200" y="5857875"/>
            <a:ext cx="21336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D0090"/>
                </a:solidFill>
                <a:latin typeface="Mulish"/>
                <a:ea typeface="Mulish"/>
                <a:cs typeface="Mulish"/>
              </a:defRPr>
            </a:pPr>
            <a:r>
              <a:rPr sz="1650" b="1">
                <a:solidFill>
                  <a:srgbClr val="1D0090"/>
                </a:solidFill>
                <a:latin typeface="Mulish"/>
                <a:ea typeface="Mulish"/>
                <a:cs typeface="Mulish"/>
              </a:rPr>
              <a:t>e&amp;</a:t>
            </a:r>
          </a:p>
        </p:txBody>
      </p:sp>
      <p:sp>
        <p:nvSpPr>
          <p:cNvPr id="39" name="text-49">
            <a:extLst xmlns:a="http://schemas.openxmlformats.org/drawingml/2006/main">
              <a:ext uri="{FF2B5EF4-FFF2-40B4-BE49-F238E27FC236}">
                <a16:creationId xmlns:a16="http://schemas.microsoft.com/office/drawing/2014/main" id="{80D63D9B-8011-4CB6-BE08-5BDEAC10329D}"/>
              </a:ext>
            </a:extLst>
          </p:cNvPr>
          <p:cNvSpPr>
            <a:spLocks xmlns:a="http://schemas.openxmlformats.org/drawingml/2006/main" noGrp="1"/>
          </p:cNvSpPr>
          <p:nvPr/>
        </p:nvSpPr>
        <p:spPr>
          <a:xfrm xmlns:a="http://schemas.openxmlformats.org/drawingml/2006/main">
            <a:off x="9601200" y="5857875"/>
            <a:ext cx="21336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D0090"/>
                </a:solidFill>
                <a:latin typeface="Mulish"/>
                <a:ea typeface="Mulish"/>
                <a:cs typeface="Mulish"/>
              </a:defRPr>
            </a:pPr>
            <a:r>
              <a:rPr sz="1650" b="1">
                <a:solidFill>
                  <a:srgbClr val="1D0090"/>
                </a:solidFill>
                <a:latin typeface="Mulish"/>
                <a:ea typeface="Mulish"/>
                <a:cs typeface="Mulish"/>
              </a:rPr>
              <a:t>KSA / Nafath</a:t>
            </a:r>
          </a:p>
        </p:txBody>
      </p:sp>
    </p:spTree>
    <p:extLst>
      <p:ext uri="{BB962C8B-B14F-4D97-AF65-F5344CB8AC3E}">
        <p14:creationId xmlns:p14="http://schemas.microsoft.com/office/powerpoint/2010/main" val="20302033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2026-09-29T08:41:38.9310000Z</dcterms:created>
  <dcterms:modified xsi:type="dcterms:W3CDTF">2026-09-29T08:41:38.9310000Z</dcterms:modified>
</coreProperties>
</file>