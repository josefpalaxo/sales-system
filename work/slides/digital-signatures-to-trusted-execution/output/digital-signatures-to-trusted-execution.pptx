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f19df308f4c91" /><Relationship Type="http://schemas.openxmlformats.org/officeDocument/2006/relationships/extended-properties" Target="/docProps/app.xml" Id="R9f822fff8bcc4b98" /><Relationship Type="http://schemas.openxmlformats.org/officeDocument/2006/relationships/officeDocument" Target="/ppt/presentation.xml" Id="Re08907e60e83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a248aa0a74069"/>
  </p:sldMasterIdLst>
  <p:notesMasterIdLst>
    <p:notesMasterId xmlns:r="http://schemas.openxmlformats.org/officeDocument/2006/relationships" r:id="Rc0bf46955a1c48e2"/>
  </p:notesMasterIdLst>
  <p:sldIdLst>
    <p:sldId xmlns:r="http://schemas.openxmlformats.org/officeDocument/2006/relationships" id="256" r:id="Rd0e0243b09164c28"/>
    <p:sldId xmlns:r="http://schemas.openxmlformats.org/officeDocument/2006/relationships" id="257" r:id="R3d03f4d76bd84dd8"/>
    <p:sldId xmlns:r="http://schemas.openxmlformats.org/officeDocument/2006/relationships" id="258" r:id="R09be8694cbfc45c0"/>
    <p:sldId xmlns:r="http://schemas.openxmlformats.org/officeDocument/2006/relationships" id="259" r:id="R17b34651c4f648bc"/>
    <p:sldId xmlns:r="http://schemas.openxmlformats.org/officeDocument/2006/relationships" id="260" r:id="Rc77780bf67384fda"/>
    <p:sldId xmlns:r="http://schemas.openxmlformats.org/officeDocument/2006/relationships" id="261" r:id="R9ecf33e363b04ac0"/>
    <p:sldId xmlns:r="http://schemas.openxmlformats.org/officeDocument/2006/relationships" id="262" r:id="Refaff3c8988a45f1"/>
    <p:sldId xmlns:r="http://schemas.openxmlformats.org/officeDocument/2006/relationships" id="263" r:id="Rb70c3c1769ad43b1"/>
    <p:sldId xmlns:r="http://schemas.openxmlformats.org/officeDocument/2006/relationships" id="264" r:id="R29c5410714404cc5"/>
    <p:sldId xmlns:r="http://schemas.openxmlformats.org/officeDocument/2006/relationships" id="265" r:id="Re1f10dc97ded4842"/>
    <p:sldId xmlns:r="http://schemas.openxmlformats.org/officeDocument/2006/relationships" id="266" r:id="Rf23792add9ea4c96"/>
    <p:sldId xmlns:r="http://schemas.openxmlformats.org/officeDocument/2006/relationships" id="267" r:id="R283871888e7c4889"/>
    <p:sldId xmlns:r="http://schemas.openxmlformats.org/officeDocument/2006/relationships" id="268" r:id="R22717459b1ff44aa"/>
    <p:sldId xmlns:r="http://schemas.openxmlformats.org/officeDocument/2006/relationships" id="269" r:id="R462bcd1743904d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bdebe405b94304" /><Relationship Type="http://schemas.openxmlformats.org/officeDocument/2006/relationships/slideMaster" Target="/ppt/slideMasters/slideMaster1.xml" Id="R186a248aa0a74069" /><Relationship Type="http://schemas.openxmlformats.org/officeDocument/2006/relationships/notesMaster" Target="/ppt/notesMasters/notesMaster1.xml" Id="Rc0bf46955a1c48e2" /><Relationship Type="http://schemas.openxmlformats.org/officeDocument/2006/relationships/presProps" Target="/ppt/presProps.xml" Id="Re7038b9a4be94d01" /><Relationship Type="http://schemas.openxmlformats.org/officeDocument/2006/relationships/tableStyles" Target="/ppt/tableStyles.xml" Id="R960565f4c9bc479d" /><Relationship Type="http://schemas.openxmlformats.org/officeDocument/2006/relationships/slide" Target="/ppt/slides/slide1.xml" Id="Rd0e0243b09164c28" /><Relationship Type="http://schemas.openxmlformats.org/officeDocument/2006/relationships/slide" Target="/ppt/slides/slide2.xml" Id="R3d03f4d76bd84dd8" /><Relationship Type="http://schemas.openxmlformats.org/officeDocument/2006/relationships/slide" Target="/ppt/slides/slide3.xml" Id="R09be8694cbfc45c0" /><Relationship Type="http://schemas.openxmlformats.org/officeDocument/2006/relationships/slide" Target="/ppt/slides/slide4.xml" Id="R17b34651c4f648bc" /><Relationship Type="http://schemas.openxmlformats.org/officeDocument/2006/relationships/slide" Target="/ppt/slides/slide5.xml" Id="Rc77780bf67384fda" /><Relationship Type="http://schemas.openxmlformats.org/officeDocument/2006/relationships/slide" Target="/ppt/slides/slide6.xml" Id="R9ecf33e363b04ac0" /><Relationship Type="http://schemas.openxmlformats.org/officeDocument/2006/relationships/slide" Target="/ppt/slides/slide7.xml" Id="Refaff3c8988a45f1" /><Relationship Type="http://schemas.openxmlformats.org/officeDocument/2006/relationships/slide" Target="/ppt/slides/slide8.xml" Id="Rb70c3c1769ad43b1" /><Relationship Type="http://schemas.openxmlformats.org/officeDocument/2006/relationships/slide" Target="/ppt/slides/slide9.xml" Id="R29c5410714404cc5" /><Relationship Type="http://schemas.openxmlformats.org/officeDocument/2006/relationships/slide" Target="/ppt/slides/slide10.xml" Id="Re1f10dc97ded4842" /><Relationship Type="http://schemas.openxmlformats.org/officeDocument/2006/relationships/slide" Target="/ppt/slides/slide11.xml" Id="Rf23792add9ea4c96" /><Relationship Type="http://schemas.openxmlformats.org/officeDocument/2006/relationships/slide" Target="/ppt/slides/slide12.xml" Id="R283871888e7c4889" /><Relationship Type="http://schemas.openxmlformats.org/officeDocument/2006/relationships/slide" Target="/ppt/slides/slide13.xml" Id="R22717459b1ff44aa" /><Relationship Type="http://schemas.openxmlformats.org/officeDocument/2006/relationships/slide" Target="/ppt/slides/slide14.xml" Id="R462bcd1743904d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9e4dd926c6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6948ba8bd4296" /><Relationship Type="http://schemas.openxmlformats.org/officeDocument/2006/relationships/notesMaster" Target="/ppt/notesMasters/notesMaster1.xml" Id="Rc28f6cb460f3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12ad79ba5a4a79" /><Relationship Type="http://schemas.openxmlformats.org/officeDocument/2006/relationships/notesMaster" Target="/ppt/notesMasters/notesMaster1.xml" Id="R4b02e442699044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40457fc0004c82" /><Relationship Type="http://schemas.openxmlformats.org/officeDocument/2006/relationships/notesMaster" Target="/ppt/notesMasters/notesMaster1.xml" Id="R7f703cb707dd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de50db95c460e" /><Relationship Type="http://schemas.openxmlformats.org/officeDocument/2006/relationships/notesMaster" Target="/ppt/notesMasters/notesMaster1.xml" Id="R8c0095f335704e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f2aad733143d1" /><Relationship Type="http://schemas.openxmlformats.org/officeDocument/2006/relationships/notesMaster" Target="/ppt/notesMasters/notesMaster1.xml" Id="R4091f25d4e97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46fd1967664c15" /><Relationship Type="http://schemas.openxmlformats.org/officeDocument/2006/relationships/notesMaster" Target="/ppt/notesMasters/notesMaster1.xml" Id="Rdad4bb458ecb48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9935e7eaa2414e" /><Relationship Type="http://schemas.openxmlformats.org/officeDocument/2006/relationships/notesMaster" Target="/ppt/notesMasters/notesMaster1.xml" Id="Rafc11e14f6f940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337a2ff3c54806" /><Relationship Type="http://schemas.openxmlformats.org/officeDocument/2006/relationships/notesMaster" Target="/ppt/notesMasters/notesMaster1.xml" Id="R6a51411be58247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395cc87e634715" /><Relationship Type="http://schemas.openxmlformats.org/officeDocument/2006/relationships/notesMaster" Target="/ppt/notesMasters/notesMaster1.xml" Id="R0e476d33a99647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dd4f45d10043d7" /><Relationship Type="http://schemas.openxmlformats.org/officeDocument/2006/relationships/notesMaster" Target="/ppt/notesMasters/notesMaster1.xml" Id="Rd5a8b6910d0a45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0e0e77997d4f59" /><Relationship Type="http://schemas.openxmlformats.org/officeDocument/2006/relationships/notesMaster" Target="/ppt/notesMasters/notesMaster1.xml" Id="Re275cd2c046943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1861ca128440ed" /><Relationship Type="http://schemas.openxmlformats.org/officeDocument/2006/relationships/notesMaster" Target="/ppt/notesMasters/notesMaster1.xml" Id="Rf52c6c54c1b64c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34def75b764530" /><Relationship Type="http://schemas.openxmlformats.org/officeDocument/2006/relationships/notesMaster" Target="/ppt/notesMasters/notesMaster1.xml" Id="Ra4922cfdbf7946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fa5243f4e24569" /><Relationship Type="http://schemas.openxmlformats.org/officeDocument/2006/relationships/notesMaster" Target="/ppt/notesMasters/notesMaster1.xml" Id="Rc506f131e12c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work/slides/digital-signatures-to-trusted-execution/assets/icons/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work/slides/digital-signatures-to-trusted-execution/assets/icons/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work/slides/digital-signatures-to-trusted-execution/assets/icons/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work/slides/digital-signatures-to-trusted-execution/assets/icons/sovereign-ai.png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work/ideas/From Digital Signatures to Trusted Execution.md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d712f0aa64c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0a2c10f0249e1" /><Relationship Type="http://schemas.openxmlformats.org/officeDocument/2006/relationships/slideLayout" Target="/ppt/slideLayouts/slideLayout1.xml" Id="R45ea835ff594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ea835ff594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d29d3a4d74d1a" /><Relationship Type="http://schemas.openxmlformats.org/officeDocument/2006/relationships/image" Target="/ppt/media/image.png" Id="R5226ad384b544efc" /><Relationship Type="http://schemas.openxmlformats.org/officeDocument/2006/relationships/image" Target="/ppt/media/image2.png" Id="Rfbe89604a5b04a24" /><Relationship Type="http://schemas.openxmlformats.org/officeDocument/2006/relationships/image" Target="/ppt/media/image3.png" Id="R180e140ced8b44b0" /><Relationship Type="http://schemas.openxmlformats.org/officeDocument/2006/relationships/image" Target="/ppt/media/image4.png" Id="R98fc4ff13d9245ab" /><Relationship Type="http://schemas.openxmlformats.org/officeDocument/2006/relationships/notesSlide" Target="/ppt/notesSlides/notesSlide1.xml" Id="R2806a9fe98fe42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ee3cd36f2408c" /><Relationship Type="http://schemas.openxmlformats.org/officeDocument/2006/relationships/image" Target="/ppt/media/image5.png" Id="R52799241435b423d" /><Relationship Type="http://schemas.openxmlformats.org/officeDocument/2006/relationships/image" Target="/ppt/media/image6.png" Id="R60104aae093d4c08" /><Relationship Type="http://schemas.openxmlformats.org/officeDocument/2006/relationships/image" Target="/ppt/media/image7.png" Id="R4438a681e1f7405d" /><Relationship Type="http://schemas.openxmlformats.org/officeDocument/2006/relationships/image" Target="/ppt/media/image8.png" Id="R8e0b97183b424782" /><Relationship Type="http://schemas.openxmlformats.org/officeDocument/2006/relationships/image" Target="/ppt/media/image9.png" Id="R64bbf930dd774574" /><Relationship Type="http://schemas.openxmlformats.org/officeDocument/2006/relationships/notesSlide" Target="/ppt/notesSlides/notesSlide2.xml" Id="Rc2a8d27ddab7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83cb639154cce" /><Relationship Type="http://schemas.openxmlformats.org/officeDocument/2006/relationships/image" Target="/ppt/media/image10.png" Id="Rbb160257aab54116" /><Relationship Type="http://schemas.openxmlformats.org/officeDocument/2006/relationships/notesSlide" Target="/ppt/notesSlides/notesSlide3.xml" Id="R891b3f1498264f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e25878ef24a4d" /><Relationship Type="http://schemas.openxmlformats.org/officeDocument/2006/relationships/image" Target="/ppt/media/image11.png" Id="Rf8f18c8a1da64209" /><Relationship Type="http://schemas.openxmlformats.org/officeDocument/2006/relationships/image" Target="/ppt/media/image12.png" Id="R575da8afac534955" /><Relationship Type="http://schemas.openxmlformats.org/officeDocument/2006/relationships/image" Target="/ppt/media/image13.png" Id="R74bea2c481064768" /><Relationship Type="http://schemas.openxmlformats.org/officeDocument/2006/relationships/image" Target="/ppt/media/image14.png" Id="Rec3926df4d3d4836" /><Relationship Type="http://schemas.openxmlformats.org/officeDocument/2006/relationships/image" Target="/ppt/media/image15.png" Id="R6dd9d8ccf2594565" /><Relationship Type="http://schemas.openxmlformats.org/officeDocument/2006/relationships/image" Target="/ppt/media/image16.png" Id="R4ccf1b9455e741d3" /><Relationship Type="http://schemas.openxmlformats.org/officeDocument/2006/relationships/image" Target="/ppt/media/image17.png" Id="R9ffa6c50236f4f25" /><Relationship Type="http://schemas.openxmlformats.org/officeDocument/2006/relationships/notesSlide" Target="/ppt/notesSlides/notesSlide4.xml" Id="R1e36bf711d9040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29d034d5d45b0" /><Relationship Type="http://schemas.openxmlformats.org/officeDocument/2006/relationships/image" Target="/ppt/media/image18.png" Id="Re4d232a74a23425e" /><Relationship Type="http://schemas.openxmlformats.org/officeDocument/2006/relationships/notesSlide" Target="/ppt/notesSlides/notesSlide5.xml" Id="R7b2c172e5960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088ff88244c78" /><Relationship Type="http://schemas.openxmlformats.org/officeDocument/2006/relationships/image" Target="/ppt/media/image19.png" Id="Rd9d678b47b1341bb" /><Relationship Type="http://schemas.openxmlformats.org/officeDocument/2006/relationships/notesSlide" Target="/ppt/notesSlides/notesSlide6.xml" Id="R19e1bfee801043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85917625a4366" /><Relationship Type="http://schemas.openxmlformats.org/officeDocument/2006/relationships/image" Target="/ppt/media/image20.png" Id="Raecc189b8db94190" /><Relationship Type="http://schemas.openxmlformats.org/officeDocument/2006/relationships/notesSlide" Target="/ppt/notesSlides/notesSlide7.xml" Id="R3681dcec05b7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0ca695ddc4245" /><Relationship Type="http://schemas.openxmlformats.org/officeDocument/2006/relationships/image" Target="/ppt/media/image21.png" Id="R89e5a7da3e2e4534" /><Relationship Type="http://schemas.openxmlformats.org/officeDocument/2006/relationships/notesSlide" Target="/ppt/notesSlides/notesSlide8.xml" Id="Rd5c8adee373c44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e832a532f4b2c" /><Relationship Type="http://schemas.openxmlformats.org/officeDocument/2006/relationships/image" Target="/ppt/media/image22.png" Id="R4d49a6d2d8234e55" /><Relationship Type="http://schemas.openxmlformats.org/officeDocument/2006/relationships/image" Target="/ppt/media/image23.png" Id="Rb3817934a0734ac3" /><Relationship Type="http://schemas.openxmlformats.org/officeDocument/2006/relationships/notesSlide" Target="/ppt/notesSlides/notesSlide9.xml" Id="R79a423d9d8604d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1bc172d6545ef" /><Relationship Type="http://schemas.openxmlformats.org/officeDocument/2006/relationships/image" Target="/ppt/media/image24.png" Id="R5539f72de21d4d19" /><Relationship Type="http://schemas.openxmlformats.org/officeDocument/2006/relationships/notesSlide" Target="/ppt/notesSlides/notesSlide10.xml" Id="R7c489ee24eca45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c7c199614b5b" /><Relationship Type="http://schemas.openxmlformats.org/officeDocument/2006/relationships/image" Target="/ppt/media/image25.png" Id="R9cf019d41d8c42cb" /><Relationship Type="http://schemas.openxmlformats.org/officeDocument/2006/relationships/notesSlide" Target="/ppt/notesSlides/notesSlide11.xml" Id="R63646af0b2704c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86466a0044922" /><Relationship Type="http://schemas.openxmlformats.org/officeDocument/2006/relationships/image" Target="/ppt/media/image26.png" Id="R2ee1e7aff5ac4998" /><Relationship Type="http://schemas.openxmlformats.org/officeDocument/2006/relationships/notesSlide" Target="/ppt/notesSlides/notesSlide12.xml" Id="R1f3af282774a4e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b66cab296441a" /><Relationship Type="http://schemas.openxmlformats.org/officeDocument/2006/relationships/image" Target="/ppt/media/image27.png" Id="R40d7c2da367f4003" /><Relationship Type="http://schemas.openxmlformats.org/officeDocument/2006/relationships/notesSlide" Target="/ppt/notesSlides/notesSlide13.xml" Id="Ra9cfae3b30674c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c4d2398b24c07" /><Relationship Type="http://schemas.openxmlformats.org/officeDocument/2006/relationships/image" Target="/ppt/media/image28.png" Id="R073cbb70afe84051" /><Relationship Type="http://schemas.openxmlformats.org/officeDocument/2006/relationships/notesSlide" Target="/ppt/notesSlides/notesSlide14.xml" Id="R956771f7adc644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6ad384b544ef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4EFE54-1CB4-47CA-BB4D-C5752338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3C5D754-0658-4102-9A83-37977C1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230EFE2-5315-4B73-ABF6-EAA0E68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447189C5-8A35-4574-9842-E921CF61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cover-path">
            <a:extLst xmlns:a="http://schemas.openxmlformats.org/drawingml/2006/main">
              <a:ext uri="{FF2B5EF4-FFF2-40B4-BE49-F238E27FC236}">
                <a16:creationId xmlns:a16="http://schemas.microsoft.com/office/drawing/2014/main" id="{E0982C21-1383-44ED-B887-A360B74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413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0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path-accent">
            <a:extLst xmlns:a="http://schemas.openxmlformats.org/drawingml/2006/main">
              <a:ext uri="{FF2B5EF4-FFF2-40B4-BE49-F238E27FC236}">
                <a16:creationId xmlns:a16="http://schemas.microsoft.com/office/drawing/2014/main" id="{FE786100-780E-4C53-BEDC-E896B52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210C297-F5CF-4E3E-AE33-FE0FBB5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From Digital Signatures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to Trusted Execution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9AD5765-A70F-4279-864E-9424DA1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 shared narrative for Circularo teams and partners</a:t>
            </a:r>
          </a:p>
        </p:txBody>
      </p:sp>
      <p:sp>
        <p:nvSpPr>
          <p:cNvPr id="10" name="cover-icon-path-1">
            <a:extLst xmlns:a="http://schemas.openxmlformats.org/drawingml/2006/main">
              <a:ext uri="{FF2B5EF4-FFF2-40B4-BE49-F238E27FC236}">
                <a16:creationId xmlns:a16="http://schemas.microsoft.com/office/drawing/2014/main" id="{249F0662-D40F-4E37-B1B0-F043C517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24100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icon-path-2">
            <a:extLst xmlns:a="http://schemas.openxmlformats.org/drawingml/2006/main">
              <a:ext uri="{FF2B5EF4-FFF2-40B4-BE49-F238E27FC236}">
                <a16:creationId xmlns:a16="http://schemas.microsoft.com/office/drawing/2014/main" id="{4E55EB3F-D632-4F56-A639-1D3FEB15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933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icon-frame-sovereign-sign">
            <a:extLst xmlns:a="http://schemas.openxmlformats.org/drawingml/2006/main">
              <a:ext uri="{FF2B5EF4-FFF2-40B4-BE49-F238E27FC236}">
                <a16:creationId xmlns:a16="http://schemas.microsoft.com/office/drawing/2014/main" id="{B2B287E7-2F14-4F90-B5A4-0803630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9700"/>
            <a:ext cx="1257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89604a5b04a24"/>
          <a:stretch xmlns:a="http://schemas.openxmlformats.org/drawingml/2006/main"/>
        </p:blipFill>
        <p:spPr>
          <a:xfrm xmlns:a="http://schemas.openxmlformats.org/drawingml/2006/main">
            <a:off x="8677275" y="164782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4" name="cover-icon-frame-gear">
            <a:extLst xmlns:a="http://schemas.openxmlformats.org/drawingml/2006/main">
              <a:ext uri="{FF2B5EF4-FFF2-40B4-BE49-F238E27FC236}">
                <a16:creationId xmlns:a16="http://schemas.microsoft.com/office/drawing/2014/main" id="{EB3454B7-8DF1-4C59-A79F-D6C0CA67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71800"/>
            <a:ext cx="1257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e140ced8b44b0"/>
          <a:stretch xmlns:a="http://schemas.openxmlformats.org/drawingml/2006/main"/>
        </p:blipFill>
        <p:spPr>
          <a:xfrm xmlns:a="http://schemas.openxmlformats.org/drawingml/2006/main">
            <a:off x="10220325" y="320992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6" name="cover-icon-frame-shield">
            <a:extLst xmlns:a="http://schemas.openxmlformats.org/drawingml/2006/main">
              <a:ext uri="{FF2B5EF4-FFF2-40B4-BE49-F238E27FC236}">
                <a16:creationId xmlns:a16="http://schemas.microsoft.com/office/drawing/2014/main" id="{B16185BF-C154-490C-8F92-0A7B5160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33900"/>
            <a:ext cx="1257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c4ff13d9245ab"/>
          <a:stretch xmlns:a="http://schemas.openxmlformats.org/drawingml/2006/main"/>
        </p:blipFill>
        <p:spPr>
          <a:xfrm xmlns:a="http://schemas.openxmlformats.org/drawingml/2006/main">
            <a:off x="8677275" y="4772025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BD326EE4-6EF8-47FC-8192-DDF94044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IDENTITY · AUTHORITY · EXECUTION · EVIDENCE</a:t>
            </a:r>
          </a:p>
        </p:txBody>
      </p:sp>
    </p:spTree>
    <p:extLst>
      <p:ext uri="{BB962C8B-B14F-4D97-AF65-F5344CB8AC3E}">
        <p14:creationId xmlns:p14="http://schemas.microsoft.com/office/powerpoint/2010/main" val="1513136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99241435b423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839C4B-B284-49EC-B7D8-DE62935B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C6B0B09-83EF-4F5D-8D26-F351C698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F4B7BB9-D09A-465C-B094-D4FC6900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E5747C62-48B4-42DC-91D5-18FC07A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DA2A52-B36D-481F-B32C-F64D8A10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operating model is changing again</a:t>
            </a:r>
          </a:p>
        </p:txBody>
      </p:sp>
      <p:sp>
        <p:nvSpPr>
          <p:cNvPr id="7" name="operating-line">
            <a:extLst xmlns:a="http://schemas.openxmlformats.org/drawingml/2006/main">
              <a:ext uri="{FF2B5EF4-FFF2-40B4-BE49-F238E27FC236}">
                <a16:creationId xmlns:a16="http://schemas.microsoft.com/office/drawing/2014/main" id="{5E3231EF-060C-4F47-A8AB-09648F4B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10058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frame-1">
            <a:extLst xmlns:a="http://schemas.openxmlformats.org/drawingml/2006/main">
              <a:ext uri="{FF2B5EF4-FFF2-40B4-BE49-F238E27FC236}">
                <a16:creationId xmlns:a16="http://schemas.microsoft.com/office/drawing/2014/main" id="{7577CEE9-9036-4C57-9D8C-32F92B31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D6C1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04aae093d4c08"/>
          <a:stretch xmlns:a="http://schemas.openxmlformats.org/drawingml/2006/main"/>
        </p:blipFill>
        <p:spPr>
          <a:xfrm xmlns:a="http://schemas.openxmlformats.org/drawingml/2006/main">
            <a:off x="1724891" y="2800350"/>
            <a:ext cx="588818" cy="647700"/>
          </a:xfrm>
          <a:prstGeom xmlns:a="http://schemas.openxmlformats.org/drawingml/2006/main" prst="rect">
            <a:avLst/>
          </a:prstGeom>
        </p:spPr>
      </p:pic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CDC1059A-7EB9-4FE3-A1DE-65389A6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Documents</a:t>
            </a:r>
          </a:p>
        </p:txBody>
      </p:sp>
      <p:sp>
        <p:nvSpPr>
          <p:cNvPr id="11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6780DB51-1A59-4994-914C-5A54A1A4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Electronic</a:t>
            </a:r>
          </a:p>
        </p:txBody>
      </p:sp>
      <p:sp>
        <p:nvSpPr>
          <p:cNvPr id="12" name="stage-frame-2">
            <a:extLst xmlns:a="http://schemas.openxmlformats.org/drawingml/2006/main">
              <a:ext uri="{FF2B5EF4-FFF2-40B4-BE49-F238E27FC236}">
                <a16:creationId xmlns:a16="http://schemas.microsoft.com/office/drawing/2014/main" id="{B2CB0D68-982C-428B-87AD-611A87C7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D6C1F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8a681e1f7405d"/>
          <a:stretch xmlns:a="http://schemas.openxmlformats.org/drawingml/2006/main"/>
        </p:blipFill>
        <p:spPr>
          <a:xfrm xmlns:a="http://schemas.openxmlformats.org/drawingml/2006/main">
            <a:off x="4514850" y="28003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613756C5-499F-454A-88D0-D0602422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814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Approvals</a:t>
            </a:r>
          </a:p>
        </p:txBody>
      </p:sp>
      <p:sp>
        <p:nvSpPr>
          <p:cNvPr id="15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DB9EB2C1-FF05-427C-8151-D4CB0F2C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577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Workflow-driven</a:t>
            </a:r>
          </a:p>
        </p:txBody>
      </p:sp>
      <p:sp>
        <p:nvSpPr>
          <p:cNvPr id="16" name="stage-frame-3">
            <a:extLst xmlns:a="http://schemas.openxmlformats.org/drawingml/2006/main">
              <a:ext uri="{FF2B5EF4-FFF2-40B4-BE49-F238E27FC236}">
                <a16:creationId xmlns:a16="http://schemas.microsoft.com/office/drawing/2014/main" id="{24940D35-0A0C-49B1-920D-29554AF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D6C1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b97183b424782"/>
          <a:stretch xmlns:a="http://schemas.openxmlformats.org/drawingml/2006/main"/>
        </p:blipFill>
        <p:spPr>
          <a:xfrm xmlns:a="http://schemas.openxmlformats.org/drawingml/2006/main">
            <a:off x="7334250" y="28003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168EEFCF-57DA-4F8B-BC46-D594354F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Signatures</a:t>
            </a:r>
          </a:p>
        </p:txBody>
      </p:sp>
      <p:sp>
        <p:nvSpPr>
          <p:cNvPr id="19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96F12C7E-4242-48B1-80CE-BA61438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20" name="stage-frame-4">
            <a:extLst xmlns:a="http://schemas.openxmlformats.org/drawingml/2006/main">
              <a:ext uri="{FF2B5EF4-FFF2-40B4-BE49-F238E27FC236}">
                <a16:creationId xmlns:a16="http://schemas.microsoft.com/office/drawing/2014/main" id="{AE61F5F7-F42B-4092-BCD0-B52DE3B3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1066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bf930dd774574"/>
          <a:stretch xmlns:a="http://schemas.openxmlformats.org/drawingml/2006/main"/>
        </p:blipFill>
        <p:spPr>
          <a:xfrm xmlns:a="http://schemas.openxmlformats.org/drawingml/2006/main">
            <a:off x="10153650" y="2854325"/>
            <a:ext cx="647700" cy="539750"/>
          </a:xfrm>
          <a:prstGeom xmlns:a="http://schemas.openxmlformats.org/drawingml/2006/main" prst="rect">
            <a:avLst/>
          </a:prstGeom>
        </p:spPr>
      </p:pic>
      <p:sp>
        <p:nvSpPr>
          <p:cNvPr id="22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C3748805-462C-46FB-816B-BE0C7F9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</a:t>
            </a:r>
          </a:p>
        </p:txBody>
      </p:sp>
      <p:sp>
        <p:nvSpPr>
          <p:cNvPr id="23" name="stage-detail-4">
            <a:extLst xmlns:a="http://schemas.openxmlformats.org/drawingml/2006/main">
              <a:ext uri="{FF2B5EF4-FFF2-40B4-BE49-F238E27FC236}">
                <a16:creationId xmlns:a16="http://schemas.microsoft.com/office/drawing/2014/main" id="{8F95E4E5-E540-4599-9A26-EF27081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Agent-assisted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B7295E1F-20DB-4923-AA77-BC64B0F5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9A0C0C79-F323-4FC5-BE4E-1A3D7003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question is no longer only who signed—it is who or what was authorized to act.</a:t>
            </a:r>
          </a:p>
        </p:txBody>
      </p:sp>
    </p:spTree>
    <p:extLst>
      <p:ext uri="{BB962C8B-B14F-4D97-AF65-F5344CB8AC3E}">
        <p14:creationId xmlns:p14="http://schemas.microsoft.com/office/powerpoint/2010/main" val="352042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60257aab5411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21FA17-75CD-4E23-BFAE-F7FB162D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C0A6F6B-FEDE-47B9-BBAF-60E72653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7502FCF-B444-4D99-8337-46E3C9DD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3F81463E-57E8-48DE-A17A-36B47BB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0B3442-AA83-4326-80E1-D0B9866A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Value is moving from access to trusted execution</a:t>
            </a:r>
          </a:p>
        </p:txBody>
      </p:sp>
      <p:sp>
        <p:nvSpPr>
          <p:cNvPr id="7" name="access-label">
            <a:extLst xmlns:a="http://schemas.openxmlformats.org/drawingml/2006/main">
              <a:ext uri="{FF2B5EF4-FFF2-40B4-BE49-F238E27FC236}">
                <a16:creationId xmlns:a16="http://schemas.microsoft.com/office/drawing/2014/main" id="{133E765C-B615-49D8-97E3-320D149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TRADITIONAL VALUE SIGNAL</a:t>
            </a:r>
          </a:p>
        </p:txBody>
      </p:sp>
      <p:sp>
        <p:nvSpPr>
          <p:cNvPr id="8" name="access-title">
            <a:extLst xmlns:a="http://schemas.openxmlformats.org/drawingml/2006/main">
              <a:ext uri="{FF2B5EF4-FFF2-40B4-BE49-F238E27FC236}">
                <a16:creationId xmlns:a16="http://schemas.microsoft.com/office/drawing/2014/main" id="{94C8D660-E165-40DF-BB3E-A023784E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Access</a:t>
            </a:r>
          </a:p>
        </p:txBody>
      </p:sp>
      <p:sp>
        <p:nvSpPr>
          <p:cNvPr id="9" name="access-body">
            <a:extLst xmlns:a="http://schemas.openxmlformats.org/drawingml/2006/main">
              <a:ext uri="{FF2B5EF4-FFF2-40B4-BE49-F238E27FC236}">
                <a16:creationId xmlns:a16="http://schemas.microsoft.com/office/drawing/2014/main" id="{BE35B675-725E-46E0-BFC3-15B34797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Users · Accounts · Seats · Licenses</a:t>
            </a:r>
          </a:p>
        </p:txBody>
      </p:sp>
      <p:sp>
        <p:nvSpPr>
          <p:cNvPr id="10" name="value-divider">
            <a:extLst xmlns:a="http://schemas.openxmlformats.org/drawingml/2006/main">
              <a:ext uri="{FF2B5EF4-FFF2-40B4-BE49-F238E27FC236}">
                <a16:creationId xmlns:a16="http://schemas.microsoft.com/office/drawing/2014/main" id="{DCB2720E-43CE-4221-9649-71FAEADD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85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ecution-label">
            <a:extLst xmlns:a="http://schemas.openxmlformats.org/drawingml/2006/main">
              <a:ext uri="{FF2B5EF4-FFF2-40B4-BE49-F238E27FC236}">
                <a16:creationId xmlns:a16="http://schemas.microsoft.com/office/drawing/2014/main" id="{4ACD58E7-26FE-42A7-A0F5-A8FF3393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62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EMERGING VALUE SIGNAL</a:t>
            </a:r>
          </a:p>
        </p:txBody>
      </p:sp>
      <p:sp>
        <p:nvSpPr>
          <p:cNvPr id="12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A7330F6A-2557-438E-A627-A56F86C4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execution</a:t>
            </a:r>
          </a:p>
        </p:txBody>
      </p:sp>
      <p:sp>
        <p:nvSpPr>
          <p:cNvPr id="13" name="execution-body">
            <a:extLst xmlns:a="http://schemas.openxmlformats.org/drawingml/2006/main">
              <a:ext uri="{FF2B5EF4-FFF2-40B4-BE49-F238E27FC236}">
                <a16:creationId xmlns:a16="http://schemas.microsoft.com/office/drawing/2014/main" id="{B6A0E619-F7AE-494F-9B7F-E3A54A5F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38550"/>
            <a:ext cx="5715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Identity · Authority · Approval · Integrity · Evidence · Compliance</a:t>
            </a:r>
          </a:p>
        </p:txBody>
      </p:sp>
      <p:sp>
        <p:nvSpPr>
          <p:cNvPr id="1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20AF4C2E-F821-4945-9B36-6AF6F2A9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0D73CA98-4384-4CAC-B15E-C15B1912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Human participation may decrease while meaningful platform execution increases.</a:t>
            </a:r>
          </a:p>
        </p:txBody>
      </p:sp>
    </p:spTree>
    <p:extLst>
      <p:ext uri="{BB962C8B-B14F-4D97-AF65-F5344CB8AC3E}">
        <p14:creationId xmlns:p14="http://schemas.microsoft.com/office/powerpoint/2010/main" val="1556981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18c8a1da6420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EACF2B-BB9D-4DB8-B884-78EB31A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85F0737-BBD1-48F8-B675-F503EBCD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AE799697-32C3-4BDC-A14F-4DB95D98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A5FAC1EA-CCDB-49B7-9BA8-B404163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76E5FB-971D-4B5E-8BF2-2DEB79A8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Trusted Execution is the customer’s business outcome</a:t>
            </a:r>
          </a:p>
        </p:txBody>
      </p:sp>
      <p:sp>
        <p:nvSpPr>
          <p:cNvPr id="7" name="outcome-icon-frame-1">
            <a:extLst xmlns:a="http://schemas.openxmlformats.org/drawingml/2006/main">
              <a:ext uri="{FF2B5EF4-FFF2-40B4-BE49-F238E27FC236}">
                <a16:creationId xmlns:a16="http://schemas.microsoft.com/office/drawing/2014/main" id="{6EC14E48-59B8-4B87-896C-FA7B9EB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da8afac534955"/>
          <a:stretch xmlns:a="http://schemas.openxmlformats.org/drawingml/2006/main"/>
        </p:blipFill>
        <p:spPr>
          <a:xfrm xmlns:a="http://schemas.openxmlformats.org/drawingml/2006/main">
            <a:off x="828675" y="2428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9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A70DC0D3-575E-44DC-A596-9CDA827C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669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a decision</a:t>
            </a:r>
          </a:p>
        </p:txBody>
      </p:sp>
      <p:sp>
        <p:nvSpPr>
          <p:cNvPr id="10" name="outcome-icon-frame-2">
            <a:extLst xmlns:a="http://schemas.openxmlformats.org/drawingml/2006/main">
              <a:ext uri="{FF2B5EF4-FFF2-40B4-BE49-F238E27FC236}">
                <a16:creationId xmlns:a16="http://schemas.microsoft.com/office/drawing/2014/main" id="{4DA47231-C5A7-49D1-B8AC-70A1D118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ea2c481064768"/>
          <a:stretch xmlns:a="http://schemas.openxmlformats.org/drawingml/2006/main"/>
        </p:blipFill>
        <p:spPr>
          <a:xfrm xmlns:a="http://schemas.openxmlformats.org/drawingml/2006/main">
            <a:off x="4562475" y="2428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51F3655D-DA1A-4CF9-85D6-B768B83C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669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Execute an agreement</a:t>
            </a:r>
          </a:p>
        </p:txBody>
      </p:sp>
      <p:sp>
        <p:nvSpPr>
          <p:cNvPr id="13" name="outcome-icon-frame-3">
            <a:extLst xmlns:a="http://schemas.openxmlformats.org/drawingml/2006/main">
              <a:ext uri="{FF2B5EF4-FFF2-40B4-BE49-F238E27FC236}">
                <a16:creationId xmlns:a16="http://schemas.microsoft.com/office/drawing/2014/main" id="{CC37FE2A-FBA1-494F-8C63-8380A2EA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926df4d3d4836"/>
          <a:stretch xmlns:a="http://schemas.openxmlformats.org/drawingml/2006/main"/>
        </p:blipFill>
        <p:spPr>
          <a:xfrm xmlns:a="http://schemas.openxmlformats.org/drawingml/2006/main">
            <a:off x="8319655" y="2428875"/>
            <a:ext cx="467591" cy="514350"/>
          </a:xfrm>
          <a:prstGeom xmlns:a="http://schemas.openxmlformats.org/drawingml/2006/main" prst="rect">
            <a:avLst/>
          </a:prstGeom>
        </p:spPr>
      </p:pic>
      <p:sp>
        <p:nvSpPr>
          <p:cNvPr id="15" name="outcome-label-3">
            <a:extLst xmlns:a="http://schemas.openxmlformats.org/drawingml/2006/main">
              <a:ext uri="{FF2B5EF4-FFF2-40B4-BE49-F238E27FC236}">
                <a16:creationId xmlns:a16="http://schemas.microsoft.com/office/drawing/2014/main" id="{DA017B9E-631C-415A-A7DB-171B7B85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669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Issue an official record</a:t>
            </a:r>
          </a:p>
        </p:txBody>
      </p:sp>
      <p:sp>
        <p:nvSpPr>
          <p:cNvPr id="16" name="outcome-icon-frame-4">
            <a:extLst xmlns:a="http://schemas.openxmlformats.org/drawingml/2006/main">
              <a:ext uri="{FF2B5EF4-FFF2-40B4-BE49-F238E27FC236}">
                <a16:creationId xmlns:a16="http://schemas.microsoft.com/office/drawing/2014/main" id="{4AA2CE1B-E07D-4AC4-B9B0-FCD711A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9d8ccf2594565"/>
          <a:stretch xmlns:a="http://schemas.openxmlformats.org/drawingml/2006/main"/>
        </p:blipFill>
        <p:spPr>
          <a:xfrm xmlns:a="http://schemas.openxmlformats.org/drawingml/2006/main">
            <a:off x="828675" y="39338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8" name="outcome-label-4">
            <a:extLst xmlns:a="http://schemas.openxmlformats.org/drawingml/2006/main">
              <a:ext uri="{FF2B5EF4-FFF2-40B4-BE49-F238E27FC236}">
                <a16:creationId xmlns:a16="http://schemas.microsoft.com/office/drawing/2014/main" id="{92153EE8-044C-457D-BB2E-588C559F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719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Validate an identity</a:t>
            </a:r>
          </a:p>
        </p:txBody>
      </p:sp>
      <p:sp>
        <p:nvSpPr>
          <p:cNvPr id="19" name="outcome-icon-frame-5">
            <a:extLst xmlns:a="http://schemas.openxmlformats.org/drawingml/2006/main">
              <a:ext uri="{FF2B5EF4-FFF2-40B4-BE49-F238E27FC236}">
                <a16:creationId xmlns:a16="http://schemas.microsoft.com/office/drawing/2014/main" id="{E11D311C-C76D-49B1-82B6-77859EF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7190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f1b9455e741d3"/>
          <a:stretch xmlns:a="http://schemas.openxmlformats.org/drawingml/2006/main"/>
        </p:blipFill>
        <p:spPr>
          <a:xfrm xmlns:a="http://schemas.openxmlformats.org/drawingml/2006/main">
            <a:off x="4562475" y="39338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1" name="outcome-label-5">
            <a:extLst xmlns:a="http://schemas.openxmlformats.org/drawingml/2006/main">
              <a:ext uri="{FF2B5EF4-FFF2-40B4-BE49-F238E27FC236}">
                <a16:creationId xmlns:a16="http://schemas.microsoft.com/office/drawing/2014/main" id="{D7569C20-CDC8-46D9-9FBD-293F1F6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719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Apply an organizational seal</a:t>
            </a:r>
          </a:p>
        </p:txBody>
      </p:sp>
      <p:sp>
        <p:nvSpPr>
          <p:cNvPr id="22" name="outcome-icon-frame-6">
            <a:extLst xmlns:a="http://schemas.openxmlformats.org/drawingml/2006/main">
              <a:ext uri="{FF2B5EF4-FFF2-40B4-BE49-F238E27FC236}">
                <a16:creationId xmlns:a16="http://schemas.microsoft.com/office/drawing/2014/main" id="{B62113ED-795C-4D12-896E-87C2B55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a6c50236f4f25"/>
          <a:stretch xmlns:a="http://schemas.openxmlformats.org/drawingml/2006/main"/>
        </p:blipFill>
        <p:spPr>
          <a:xfrm xmlns:a="http://schemas.openxmlformats.org/drawingml/2006/main">
            <a:off x="8296275" y="3976688"/>
            <a:ext cx="514350" cy="428625"/>
          </a:xfrm>
          <a:prstGeom xmlns:a="http://schemas.openxmlformats.org/drawingml/2006/main" prst="rect">
            <a:avLst/>
          </a:prstGeom>
        </p:spPr>
      </p:pic>
      <p:sp>
        <p:nvSpPr>
          <p:cNvPr id="24" name="outcome-label-6">
            <a:extLst xmlns:a="http://schemas.openxmlformats.org/drawingml/2006/main">
              <a:ext uri="{FF2B5EF4-FFF2-40B4-BE49-F238E27FC236}">
                <a16:creationId xmlns:a16="http://schemas.microsoft.com/office/drawing/2014/main" id="{11303738-E5F4-4C5C-8210-FC25D89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7192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Authorize an agent action</a:t>
            </a:r>
          </a:p>
        </p:txBody>
      </p:sp>
      <p:sp>
        <p:nvSpPr>
          <p:cNvPr id="2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B7052345-2A33-4B5B-BE66-DBFD79CA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6DBA16E9-3DF0-49B0-8868-6FBD266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Customers buy the business action—not the cryptographic operations underneath it.</a:t>
            </a:r>
          </a:p>
        </p:txBody>
      </p:sp>
    </p:spTree>
    <p:extLst>
      <p:ext uri="{BB962C8B-B14F-4D97-AF65-F5344CB8AC3E}">
        <p14:creationId xmlns:p14="http://schemas.microsoft.com/office/powerpoint/2010/main" val="1146461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232a74a23425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B3B39A-1D00-44C0-8FEB-70250D1E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8BE0016-1BFE-49CB-AF87-6448F5D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7EDD4AD-651D-4C61-BE3D-84FAFC2A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3578DBB7-F545-4DE4-AF91-82A93C03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8B6D58-9951-43F8-9DF5-814B1F8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Trusted Execution can orchestrate many Trust Events</a:t>
            </a:r>
          </a:p>
        </p:txBody>
      </p:sp>
      <p:sp>
        <p:nvSpPr>
          <p:cNvPr id="7" name="employment-outcome">
            <a:extLst xmlns:a="http://schemas.openxmlformats.org/drawingml/2006/main">
              <a:ext uri="{FF2B5EF4-FFF2-40B4-BE49-F238E27FC236}">
                <a16:creationId xmlns:a16="http://schemas.microsoft.com/office/drawing/2014/main" id="{B6DFF149-35BD-44AA-8077-0A49DDCC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586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EMPLOYMENT AGREEMENT EXECUTED</a:t>
            </a:r>
          </a:p>
        </p:txBody>
      </p:sp>
      <p:sp>
        <p:nvSpPr>
          <p:cNvPr id="8" name="events-spine">
            <a:extLst xmlns:a="http://schemas.openxmlformats.org/drawingml/2006/main">
              <a:ext uri="{FF2B5EF4-FFF2-40B4-BE49-F238E27FC236}">
                <a16:creationId xmlns:a16="http://schemas.microsoft.com/office/drawing/2014/main" id="{102FB826-BEA4-49A9-8E57-1D7FB04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ent-node-1">
            <a:extLst xmlns:a="http://schemas.openxmlformats.org/drawingml/2006/main">
              <a:ext uri="{FF2B5EF4-FFF2-40B4-BE49-F238E27FC236}">
                <a16:creationId xmlns:a16="http://schemas.microsoft.com/office/drawing/2014/main" id="{5458B200-E2CC-4E74-9BDF-1574855B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9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ent-label-1">
            <a:extLst xmlns:a="http://schemas.openxmlformats.org/drawingml/2006/main">
              <a:ext uri="{FF2B5EF4-FFF2-40B4-BE49-F238E27FC236}">
                <a16:creationId xmlns:a16="http://schemas.microsoft.com/office/drawing/2014/main" id="{095C3722-72A7-453B-89A0-0FCDEB0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914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1" name="event-node-2">
            <a:extLst xmlns:a="http://schemas.openxmlformats.org/drawingml/2006/main">
              <a:ext uri="{FF2B5EF4-FFF2-40B4-BE49-F238E27FC236}">
                <a16:creationId xmlns:a16="http://schemas.microsoft.com/office/drawing/2014/main" id="{68C25057-19F5-4A7C-8659-C3136215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56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ent-label-2">
            <a:extLst xmlns:a="http://schemas.openxmlformats.org/drawingml/2006/main">
              <a:ext uri="{FF2B5EF4-FFF2-40B4-BE49-F238E27FC236}">
                <a16:creationId xmlns:a16="http://schemas.microsoft.com/office/drawing/2014/main" id="{28D70388-43B1-4A13-B7C6-B9DB552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4057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</a:t>
            </a:r>
          </a:p>
        </p:txBody>
      </p:sp>
      <p:sp>
        <p:nvSpPr>
          <p:cNvPr id="13" name="event-node-3">
            <a:extLst xmlns:a="http://schemas.openxmlformats.org/drawingml/2006/main">
              <a:ext uri="{FF2B5EF4-FFF2-40B4-BE49-F238E27FC236}">
                <a16:creationId xmlns:a16="http://schemas.microsoft.com/office/drawing/2014/main" id="{50B07818-5108-48AF-9570-765C25A4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044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ent-label-3">
            <a:extLst xmlns:a="http://schemas.openxmlformats.org/drawingml/2006/main">
              <a:ext uri="{FF2B5EF4-FFF2-40B4-BE49-F238E27FC236}">
                <a16:creationId xmlns:a16="http://schemas.microsoft.com/office/drawing/2014/main" id="{58C89479-9E78-4BA1-A2AA-415CDC8C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OTP</a:t>
            </a:r>
          </a:p>
        </p:txBody>
      </p:sp>
      <p:sp>
        <p:nvSpPr>
          <p:cNvPr id="15" name="event-node-4">
            <a:extLst xmlns:a="http://schemas.openxmlformats.org/drawingml/2006/main">
              <a:ext uri="{FF2B5EF4-FFF2-40B4-BE49-F238E27FC236}">
                <a16:creationId xmlns:a16="http://schemas.microsoft.com/office/drawing/2014/main" id="{F5BF9D8E-4A78-459D-8794-43E4C8C6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031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ent-label-4">
            <a:extLst xmlns:a="http://schemas.openxmlformats.org/drawingml/2006/main">
              <a:ext uri="{FF2B5EF4-FFF2-40B4-BE49-F238E27FC236}">
                <a16:creationId xmlns:a16="http://schemas.microsoft.com/office/drawing/2014/main" id="{60457643-8892-442A-BB14-9E2F742A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4057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Signature</a:t>
            </a:r>
          </a:p>
        </p:txBody>
      </p:sp>
      <p:sp>
        <p:nvSpPr>
          <p:cNvPr id="17" name="event-node-5">
            <a:extLst xmlns:a="http://schemas.openxmlformats.org/drawingml/2006/main">
              <a:ext uri="{FF2B5EF4-FFF2-40B4-BE49-F238E27FC236}">
                <a16:creationId xmlns:a16="http://schemas.microsoft.com/office/drawing/2014/main" id="{3CDBA818-6B6E-4433-BFE0-FBD11CD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019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ent-label-5">
            <a:extLst xmlns:a="http://schemas.openxmlformats.org/drawingml/2006/main">
              <a:ext uri="{FF2B5EF4-FFF2-40B4-BE49-F238E27FC236}">
                <a16:creationId xmlns:a16="http://schemas.microsoft.com/office/drawing/2014/main" id="{28A14E82-F302-48E1-A554-2761D52C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14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Seal</a:t>
            </a:r>
          </a:p>
        </p:txBody>
      </p:sp>
      <p:sp>
        <p:nvSpPr>
          <p:cNvPr id="19" name="event-node-6">
            <a:extLst xmlns:a="http://schemas.openxmlformats.org/drawingml/2006/main">
              <a:ext uri="{FF2B5EF4-FFF2-40B4-BE49-F238E27FC236}">
                <a16:creationId xmlns:a16="http://schemas.microsoft.com/office/drawing/2014/main" id="{CE8F2125-0C81-484C-8B34-F5B9FD1F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006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ent-label-6">
            <a:extLst xmlns:a="http://schemas.openxmlformats.org/drawingml/2006/main">
              <a:ext uri="{FF2B5EF4-FFF2-40B4-BE49-F238E27FC236}">
                <a16:creationId xmlns:a16="http://schemas.microsoft.com/office/drawing/2014/main" id="{8EE3611C-6DDB-4EB0-86B4-07EFFFA9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4057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Timestamp</a:t>
            </a:r>
          </a:p>
        </p:txBody>
      </p:sp>
      <p:sp>
        <p:nvSpPr>
          <p:cNvPr id="21" name="event-node-7">
            <a:extLst xmlns:a="http://schemas.openxmlformats.org/drawingml/2006/main">
              <a:ext uri="{FF2B5EF4-FFF2-40B4-BE49-F238E27FC236}">
                <a16:creationId xmlns:a16="http://schemas.microsoft.com/office/drawing/2014/main" id="{539223D0-4E72-4512-9A3E-708BDB2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994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vent-label-7">
            <a:extLst xmlns:a="http://schemas.openxmlformats.org/drawingml/2006/main">
              <a:ext uri="{FF2B5EF4-FFF2-40B4-BE49-F238E27FC236}">
                <a16:creationId xmlns:a16="http://schemas.microsoft.com/office/drawing/2014/main" id="{E1065CAE-7FFB-4EB8-965C-E8A6423D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14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3" name="event-node-8">
            <a:extLst xmlns:a="http://schemas.openxmlformats.org/drawingml/2006/main">
              <a:ext uri="{FF2B5EF4-FFF2-40B4-BE49-F238E27FC236}">
                <a16:creationId xmlns:a16="http://schemas.microsoft.com/office/drawing/2014/main" id="{F3586C27-9FFF-4C4F-9D79-5D12151E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981" y="342900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ent-label-8">
            <a:extLst xmlns:a="http://schemas.openxmlformats.org/drawingml/2006/main">
              <a:ext uri="{FF2B5EF4-FFF2-40B4-BE49-F238E27FC236}">
                <a16:creationId xmlns:a16="http://schemas.microsoft.com/office/drawing/2014/main" id="{6CF333CA-E965-4445-A25E-F29F3D7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4057650"/>
            <a:ext cx="1366838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25" name="execution-value-label">
            <a:extLst xmlns:a="http://schemas.openxmlformats.org/drawingml/2006/main">
              <a:ext uri="{FF2B5EF4-FFF2-40B4-BE49-F238E27FC236}">
                <a16:creationId xmlns:a16="http://schemas.microsoft.com/office/drawing/2014/main" id="{B016CEC8-D3C6-444F-94B2-C8F582D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Execution = customer value</a:t>
            </a:r>
          </a:p>
        </p:txBody>
      </p:sp>
      <p:sp>
        <p:nvSpPr>
          <p:cNvPr id="26" name="event-operations-label">
            <a:extLst xmlns:a="http://schemas.openxmlformats.org/drawingml/2006/main">
              <a:ext uri="{FF2B5EF4-FFF2-40B4-BE49-F238E27FC236}">
                <a16:creationId xmlns:a16="http://schemas.microsoft.com/office/drawing/2014/main" id="{CE3E60BD-F41E-468A-9DB6-69549900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 Events = underlying operations</a:t>
            </a:r>
          </a:p>
        </p:txBody>
      </p:sp>
      <p:sp>
        <p:nvSpPr>
          <p:cNvPr id="27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092DF8B5-BC00-4CE1-979A-D7B23917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29ECFACE-6321-4D92-BEAC-7E7CE2C3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exact event recipe depends on the required assurance, jurisdiction, and scenario.</a:t>
            </a:r>
          </a:p>
        </p:txBody>
      </p:sp>
    </p:spTree>
    <p:extLst>
      <p:ext uri="{BB962C8B-B14F-4D97-AF65-F5344CB8AC3E}">
        <p14:creationId xmlns:p14="http://schemas.microsoft.com/office/powerpoint/2010/main" val="18006919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678b47b1341b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1EFDDA-84B7-4D44-86C1-C6C8AA50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A220962-C0B5-4E0B-B6A4-7888960C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D7B9013-8B17-48AE-A69F-B0EA43C9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C65A4F86-D129-4DC6-898D-F53B9827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C766F4-725F-4D6A-B9B0-E56F2104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Assurance is a business decision</a:t>
            </a:r>
          </a:p>
        </p:txBody>
      </p:sp>
      <p:sp>
        <p:nvSpPr>
          <p:cNvPr id="7" name="assurance-question">
            <a:extLst xmlns:a="http://schemas.openxmlformats.org/drawingml/2006/main">
              <a:ext uri="{FF2B5EF4-FFF2-40B4-BE49-F238E27FC236}">
                <a16:creationId xmlns:a16="http://schemas.microsoft.com/office/drawing/2014/main" id="{4CBECF9A-1CC9-4F73-880A-6AE725A2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What are you trying to execute—and how much assurance does it require?</a:t>
            </a:r>
          </a:p>
        </p:txBody>
      </p:sp>
      <p:sp>
        <p:nvSpPr>
          <p:cNvPr id="8" name="assurance-baseline">
            <a:extLst xmlns:a="http://schemas.openxmlformats.org/drawingml/2006/main">
              <a:ext uri="{FF2B5EF4-FFF2-40B4-BE49-F238E27FC236}">
                <a16:creationId xmlns:a16="http://schemas.microsoft.com/office/drawing/2014/main" id="{569D4ED7-EF31-4C25-B1CC-852E6DEB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1021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surance-node-1">
            <a:extLst xmlns:a="http://schemas.openxmlformats.org/drawingml/2006/main">
              <a:ext uri="{FF2B5EF4-FFF2-40B4-BE49-F238E27FC236}">
                <a16:creationId xmlns:a16="http://schemas.microsoft.com/office/drawing/2014/main" id="{F0A2FD8C-1D4E-4B71-965C-A0134837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ssurance-number-1">
            <a:extLst xmlns:a="http://schemas.openxmlformats.org/drawingml/2006/main">
              <a:ext uri="{FF2B5EF4-FFF2-40B4-BE49-F238E27FC236}">
                <a16:creationId xmlns:a16="http://schemas.microsoft.com/office/drawing/2014/main" id="{02E59FD2-5D97-4951-86B1-65206E6B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05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1" name="assurance-title-1">
            <a:extLst xmlns:a="http://schemas.openxmlformats.org/drawingml/2006/main">
              <a:ext uri="{FF2B5EF4-FFF2-40B4-BE49-F238E27FC236}">
                <a16:creationId xmlns:a16="http://schemas.microsoft.com/office/drawing/2014/main" id="{EB9CC53D-78EB-4AA0-8603-CEBB1A83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Standard</a:t>
            </a:r>
          </a:p>
        </p:txBody>
      </p:sp>
      <p:sp>
        <p:nvSpPr>
          <p:cNvPr id="12" name="assurance-detail-1">
            <a:extLst xmlns:a="http://schemas.openxmlformats.org/drawingml/2006/main">
              <a:ext uri="{FF2B5EF4-FFF2-40B4-BE49-F238E27FC236}">
                <a16:creationId xmlns:a16="http://schemas.microsoft.com/office/drawing/2014/main" id="{FE4EBCD4-CCBD-425B-A75F-5159022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Authenticated access + audit</a:t>
            </a:r>
          </a:p>
        </p:txBody>
      </p:sp>
      <p:sp>
        <p:nvSpPr>
          <p:cNvPr id="13" name="assurance-node-2">
            <a:extLst xmlns:a="http://schemas.openxmlformats.org/drawingml/2006/main">
              <a:ext uri="{FF2B5EF4-FFF2-40B4-BE49-F238E27FC236}">
                <a16:creationId xmlns:a16="http://schemas.microsoft.com/office/drawing/2014/main" id="{F2683529-AEE7-4681-8C89-89BE4F8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470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surance-number-2">
            <a:extLst xmlns:a="http://schemas.openxmlformats.org/drawingml/2006/main">
              <a:ext uri="{FF2B5EF4-FFF2-40B4-BE49-F238E27FC236}">
                <a16:creationId xmlns:a16="http://schemas.microsoft.com/office/drawing/2014/main" id="{CB4B590C-5378-4E4E-8A0F-35A14BE1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05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5" name="assurance-title-2">
            <a:extLst xmlns:a="http://schemas.openxmlformats.org/drawingml/2006/main">
              <a:ext uri="{FF2B5EF4-FFF2-40B4-BE49-F238E27FC236}">
                <a16:creationId xmlns:a16="http://schemas.microsoft.com/office/drawing/2014/main" id="{F2C004BA-BC68-46B3-A1AF-D447E6EA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672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Verified</a:t>
            </a:r>
          </a:p>
        </p:txBody>
      </p:sp>
      <p:sp>
        <p:nvSpPr>
          <p:cNvPr id="16" name="assurance-detail-2">
            <a:extLst xmlns:a="http://schemas.openxmlformats.org/drawingml/2006/main">
              <a:ext uri="{FF2B5EF4-FFF2-40B4-BE49-F238E27FC236}">
                <a16:creationId xmlns:a16="http://schemas.microsoft.com/office/drawing/2014/main" id="{39F8C382-FE1D-4469-8D05-D7678F48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8155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Stronger signer assurance</a:t>
            </a:r>
          </a:p>
        </p:txBody>
      </p:sp>
      <p:sp>
        <p:nvSpPr>
          <p:cNvPr id="17" name="assurance-node-3">
            <a:extLst xmlns:a="http://schemas.openxmlformats.org/drawingml/2006/main">
              <a:ext uri="{FF2B5EF4-FFF2-40B4-BE49-F238E27FC236}">
                <a16:creationId xmlns:a16="http://schemas.microsoft.com/office/drawing/2014/main" id="{C91DAF3F-1AAC-4471-A413-5F855A01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ssurance-number-3">
            <a:extLst xmlns:a="http://schemas.openxmlformats.org/drawingml/2006/main">
              <a:ext uri="{FF2B5EF4-FFF2-40B4-BE49-F238E27FC236}">
                <a16:creationId xmlns:a16="http://schemas.microsoft.com/office/drawing/2014/main" id="{98413D71-0AA7-48C4-B59B-F3AFAEE7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05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19" name="assurance-title-3">
            <a:extLst xmlns:a="http://schemas.openxmlformats.org/drawingml/2006/main">
              <a:ext uri="{FF2B5EF4-FFF2-40B4-BE49-F238E27FC236}">
                <a16:creationId xmlns:a16="http://schemas.microsoft.com/office/drawing/2014/main" id="{9B221546-CF98-43A6-A1B8-9A02A72D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verified</a:t>
            </a:r>
          </a:p>
        </p:txBody>
      </p:sp>
      <p:sp>
        <p:nvSpPr>
          <p:cNvPr id="20" name="assurance-detail-3">
            <a:extLst xmlns:a="http://schemas.openxmlformats.org/drawingml/2006/main">
              <a:ext uri="{FF2B5EF4-FFF2-40B4-BE49-F238E27FC236}">
                <a16:creationId xmlns:a16="http://schemas.microsoft.com/office/drawing/2014/main" id="{B463A9B7-C7F1-488F-8DC9-43A3328D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Verified identity evidence</a:t>
            </a:r>
          </a:p>
        </p:txBody>
      </p:sp>
      <p:sp>
        <p:nvSpPr>
          <p:cNvPr id="21" name="assurance-node-4">
            <a:extLst xmlns:a="http://schemas.openxmlformats.org/drawingml/2006/main">
              <a:ext uri="{FF2B5EF4-FFF2-40B4-BE49-F238E27FC236}">
                <a16:creationId xmlns:a16="http://schemas.microsoft.com/office/drawing/2014/main" id="{ED2CFB37-7D8C-4227-85EB-41B4B217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ssurance-number-4">
            <a:extLst xmlns:a="http://schemas.openxmlformats.org/drawingml/2006/main">
              <a:ext uri="{FF2B5EF4-FFF2-40B4-BE49-F238E27FC236}">
                <a16:creationId xmlns:a16="http://schemas.microsoft.com/office/drawing/2014/main" id="{DD7D4B8E-DE25-4A3C-A5CF-ED1FB3E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05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3" name="assurance-title-4">
            <a:extLst xmlns:a="http://schemas.openxmlformats.org/drawingml/2006/main">
              <a:ext uri="{FF2B5EF4-FFF2-40B4-BE49-F238E27FC236}">
                <a16:creationId xmlns:a16="http://schemas.microsoft.com/office/drawing/2014/main" id="{83329BA6-6C9C-4476-92C7-9108B64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6720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Qualified</a:t>
            </a:r>
          </a:p>
        </p:txBody>
      </p:sp>
      <p:sp>
        <p:nvSpPr>
          <p:cNvPr id="24" name="assurance-detail-4">
            <a:extLst xmlns:a="http://schemas.openxmlformats.org/drawingml/2006/main">
              <a:ext uri="{FF2B5EF4-FFF2-40B4-BE49-F238E27FC236}">
                <a16:creationId xmlns:a16="http://schemas.microsoft.com/office/drawing/2014/main" id="{8432853D-CA18-48E4-B053-7675B249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2362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Jurisdiction-specific qualified services</a:t>
            </a:r>
          </a:p>
        </p:txBody>
      </p:sp>
      <p:sp>
        <p:nvSpPr>
          <p:cNvPr id="25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B712B564-33FA-461A-B06C-3C14A4F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57B70161-8A18-4DE5-8FEE-1069C522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Illustrative model—validate the required assurance for each market and use case.</a:t>
            </a:r>
          </a:p>
        </p:txBody>
      </p:sp>
    </p:spTree>
    <p:extLst>
      <p:ext uri="{BB962C8B-B14F-4D97-AF65-F5344CB8AC3E}">
        <p14:creationId xmlns:p14="http://schemas.microsoft.com/office/powerpoint/2010/main" val="1192160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c189b8db9419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02820F-7BDA-4418-B557-496F2639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32D4327D-A3CD-4E2C-BAE9-A17DC08A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11ED087-B8B1-497B-9B28-C4167A5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A2F7DB4F-6D21-4F3F-A339-EBA0325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5B0F04-4554-4405-9922-28F35371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Execution Profiles adapt the trust recipe without changing the proposition</a:t>
            </a:r>
          </a:p>
        </p:txBody>
      </p:sp>
      <p:sp>
        <p:nvSpPr>
          <p:cNvPr id="7" name="profile-layer-1">
            <a:extLst xmlns:a="http://schemas.openxmlformats.org/drawingml/2006/main">
              <a:ext uri="{FF2B5EF4-FFF2-40B4-BE49-F238E27FC236}">
                <a16:creationId xmlns:a16="http://schemas.microsoft.com/office/drawing/2014/main" id="{47F97972-8060-46AC-839B-C1E8F6B8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191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8" name="profile-label-1">
            <a:extLst xmlns:a="http://schemas.openxmlformats.org/drawingml/2006/main">
              <a:ext uri="{FF2B5EF4-FFF2-40B4-BE49-F238E27FC236}">
                <a16:creationId xmlns:a16="http://schemas.microsoft.com/office/drawing/2014/main" id="{0C5B99E3-06CC-42C8-8E0D-7FCC5CC0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BUSINESS ACTION</a:t>
            </a:r>
          </a:p>
        </p:txBody>
      </p:sp>
      <p:sp>
        <p:nvSpPr>
          <p:cNvPr id="9" name="profile-detail-1">
            <a:extLst xmlns:a="http://schemas.openxmlformats.org/drawingml/2006/main">
              <a:ext uri="{FF2B5EF4-FFF2-40B4-BE49-F238E27FC236}">
                <a16:creationId xmlns:a16="http://schemas.microsoft.com/office/drawing/2014/main" id="{2FAE884C-4938-4D14-A10C-E003BBE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the customer needs to accomplish</a:t>
            </a:r>
          </a:p>
        </p:txBody>
      </p:sp>
      <p:sp>
        <p:nvSpPr>
          <p:cNvPr id="10" name="profile-layer-2">
            <a:extLst xmlns:a="http://schemas.openxmlformats.org/drawingml/2006/main">
              <a:ext uri="{FF2B5EF4-FFF2-40B4-BE49-F238E27FC236}">
                <a16:creationId xmlns:a16="http://schemas.microsoft.com/office/drawing/2014/main" id="{111D5DF5-4DFE-478F-8B8B-4E2AA11B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9296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11" name="profile-label-2">
            <a:extLst xmlns:a="http://schemas.openxmlformats.org/drawingml/2006/main">
              <a:ext uri="{FF2B5EF4-FFF2-40B4-BE49-F238E27FC236}">
                <a16:creationId xmlns:a16="http://schemas.microsoft.com/office/drawing/2014/main" id="{3A469D88-4AA5-4C3A-B0E1-F483899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ASSURANCE LEVEL</a:t>
            </a:r>
          </a:p>
        </p:txBody>
      </p:sp>
      <p:sp>
        <p:nvSpPr>
          <p:cNvPr id="12" name="profile-detail-2">
            <a:extLst xmlns:a="http://schemas.openxmlformats.org/drawingml/2006/main">
              <a:ext uri="{FF2B5EF4-FFF2-40B4-BE49-F238E27FC236}">
                <a16:creationId xmlns:a16="http://schemas.microsoft.com/office/drawing/2014/main" id="{B52F2841-2CEC-4BA8-AC0F-26EF10AC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1D0090"/>
                </a:solidFill>
                <a:latin typeface="Mulish"/>
                <a:ea typeface="Mulish"/>
                <a:cs typeface="Mulish"/>
              </a:rPr>
              <a:t>How much trust the action requires</a:t>
            </a:r>
          </a:p>
        </p:txBody>
      </p:sp>
      <p:sp>
        <p:nvSpPr>
          <p:cNvPr id="13" name="profile-layer-3">
            <a:extLst xmlns:a="http://schemas.openxmlformats.org/drawingml/2006/main">
              <a:ext uri="{FF2B5EF4-FFF2-40B4-BE49-F238E27FC236}">
                <a16:creationId xmlns:a16="http://schemas.microsoft.com/office/drawing/2014/main" id="{2E57BDAC-2063-4627-9A72-BF33758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84010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file-label-3">
            <a:extLst xmlns:a="http://schemas.openxmlformats.org/drawingml/2006/main">
              <a:ext uri="{FF2B5EF4-FFF2-40B4-BE49-F238E27FC236}">
                <a16:creationId xmlns:a16="http://schemas.microsoft.com/office/drawing/2014/main" id="{56488BF0-BFEF-44D1-8518-26A6E77F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 PROFILE</a:t>
            </a:r>
          </a:p>
        </p:txBody>
      </p:sp>
      <p:sp>
        <p:nvSpPr>
          <p:cNvPr id="15" name="profile-detail-3">
            <a:extLst xmlns:a="http://schemas.openxmlformats.org/drawingml/2006/main">
              <a:ext uri="{FF2B5EF4-FFF2-40B4-BE49-F238E27FC236}">
                <a16:creationId xmlns:a16="http://schemas.microsoft.com/office/drawing/2014/main" id="{1B7DDBA2-E3FA-4B18-B04B-CDD286F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576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jurisdictional and provider-specific recipe</a:t>
            </a:r>
          </a:p>
        </p:txBody>
      </p:sp>
      <p:sp>
        <p:nvSpPr>
          <p:cNvPr id="16" name="profile-layer-4">
            <a:extLst xmlns:a="http://schemas.openxmlformats.org/drawingml/2006/main">
              <a:ext uri="{FF2B5EF4-FFF2-40B4-BE49-F238E27FC236}">
                <a16:creationId xmlns:a16="http://schemas.microsoft.com/office/drawing/2014/main" id="{E188DEC3-20DA-48A5-9E38-8469185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7505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file-label-4">
            <a:extLst xmlns:a="http://schemas.openxmlformats.org/drawingml/2006/main">
              <a:ext uri="{FF2B5EF4-FFF2-40B4-BE49-F238E27FC236}">
                <a16:creationId xmlns:a16="http://schemas.microsoft.com/office/drawing/2014/main" id="{8C4E9E2E-EF5B-4FE7-8558-87C9BF11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EVENTS</a:t>
            </a:r>
          </a:p>
        </p:txBody>
      </p:sp>
      <p:sp>
        <p:nvSpPr>
          <p:cNvPr id="18" name="profile-detail-4">
            <a:extLst xmlns:a="http://schemas.openxmlformats.org/drawingml/2006/main">
              <a:ext uri="{FF2B5EF4-FFF2-40B4-BE49-F238E27FC236}">
                <a16:creationId xmlns:a16="http://schemas.microsoft.com/office/drawing/2014/main" id="{662FACBB-32DD-472B-BDB5-824CDA37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569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Signature · Seal · Time · Evidence · Archive</a:t>
            </a:r>
          </a:p>
        </p:txBody>
      </p:sp>
      <p:sp>
        <p:nvSpPr>
          <p:cNvPr id="1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A9984ECB-BEE0-4BF5-B1E3-58629398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AB158D76-2642-45E3-A10F-9FEDD550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customer-facing outcome stays simple while the execution recipe adapts.</a:t>
            </a:r>
          </a:p>
        </p:txBody>
      </p:sp>
    </p:spTree>
    <p:extLst>
      <p:ext uri="{BB962C8B-B14F-4D97-AF65-F5344CB8AC3E}">
        <p14:creationId xmlns:p14="http://schemas.microsoft.com/office/powerpoint/2010/main" val="1815229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5a7da3e2e453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45DC3B-212B-473B-A9D9-7E85CA3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CD45645-2F71-414F-87BC-CC8CBC1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D131F11-1D8B-4A43-B3EF-CF94928B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C3FB6C99-DFF6-4C27-8ECC-FF2897D6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C5C0B8-BEA4-4A73-800A-205024D5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connects the complete trust chain</a:t>
            </a:r>
          </a:p>
        </p:txBody>
      </p:sp>
      <p:sp>
        <p:nvSpPr>
          <p:cNvPr id="7" name="layer-line-1">
            <a:extLst xmlns:a="http://schemas.openxmlformats.org/drawingml/2006/main">
              <a:ext uri="{FF2B5EF4-FFF2-40B4-BE49-F238E27FC236}">
                <a16:creationId xmlns:a16="http://schemas.microsoft.com/office/drawing/2014/main" id="{4D85FC49-F649-4D78-BEAF-AA0B63C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yer-line-2">
            <a:extLst xmlns:a="http://schemas.openxmlformats.org/drawingml/2006/main">
              <a:ext uri="{FF2B5EF4-FFF2-40B4-BE49-F238E27FC236}">
                <a16:creationId xmlns:a16="http://schemas.microsoft.com/office/drawing/2014/main" id="{B11F4AA8-89DB-481A-8B27-0D264600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yer-actors">
            <a:extLst xmlns:a="http://schemas.openxmlformats.org/drawingml/2006/main">
              <a:ext uri="{FF2B5EF4-FFF2-40B4-BE49-F238E27FC236}">
                <a16:creationId xmlns:a16="http://schemas.microsoft.com/office/drawing/2014/main" id="{59234CB2-3EF9-4A3A-9062-FAD54E7B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PEOPLE · ORGANIZATIONS · APPLICATIONS · AI AGENTS</a:t>
            </a:r>
          </a:p>
        </p:txBody>
      </p:sp>
      <p:sp>
        <p:nvSpPr>
          <p:cNvPr id="10" name="trusted-layer">
            <a:extLst xmlns:a="http://schemas.openxmlformats.org/drawingml/2006/main">
              <a:ext uri="{FF2B5EF4-FFF2-40B4-BE49-F238E27FC236}">
                <a16:creationId xmlns:a16="http://schemas.microsoft.com/office/drawing/2014/main" id="{87D329C0-0599-40F8-B656-3BCDD74D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050"/>
            <a:ext cx="9067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usted-layer-label">
            <a:extLst xmlns:a="http://schemas.openxmlformats.org/drawingml/2006/main">
              <a:ext uri="{FF2B5EF4-FFF2-40B4-BE49-F238E27FC236}">
                <a16:creationId xmlns:a16="http://schemas.microsoft.com/office/drawing/2014/main" id="{6744805A-50D9-49EE-91FA-CA3244EC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TRUSTED EXECUTION LAYER</a:t>
            </a:r>
          </a:p>
        </p:txBody>
      </p:sp>
      <p:sp>
        <p:nvSpPr>
          <p:cNvPr id="12" name="trust-chain">
            <a:extLst xmlns:a="http://schemas.openxmlformats.org/drawingml/2006/main">
              <a:ext uri="{FF2B5EF4-FFF2-40B4-BE49-F238E27FC236}">
                <a16:creationId xmlns:a16="http://schemas.microsoft.com/office/drawing/2014/main" id="{47C56752-589D-4ED0-8651-5E75CB1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10058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Workflow · Approval · Sign / Seal · Trust Services · Evidence · Audit · Trusted Records</a:t>
            </a:r>
          </a:p>
        </p:txBody>
      </p:sp>
      <p:sp>
        <p:nvSpPr>
          <p:cNvPr id="1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5D475647-9419-4845-92D9-867CDB4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122DC1A0-FF13-4E13-A555-7E317B6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establishes trust in the entire execution—not only the signature.</a:t>
            </a:r>
          </a:p>
        </p:txBody>
      </p:sp>
    </p:spTree>
    <p:extLst>
      <p:ext uri="{BB962C8B-B14F-4D97-AF65-F5344CB8AC3E}">
        <p14:creationId xmlns:p14="http://schemas.microsoft.com/office/powerpoint/2010/main" val="577368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9a6d2d8234e5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03107B-702C-41D6-96DE-68E1223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441921D-1FA0-4D02-AA2D-B9762D13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FA97C44-9D1A-4DB3-A949-809182A6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0D6FDF4F-FB99-4103-99B9-A6454892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A74BAA-EFAD-4544-A9D5-8E3CF47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Agentic work raises the burden of proof</a:t>
            </a:r>
          </a:p>
        </p:txBody>
      </p:sp>
      <p:sp>
        <p:nvSpPr>
          <p:cNvPr id="7" name="agent-icon-frame">
            <a:extLst xmlns:a="http://schemas.openxmlformats.org/drawingml/2006/main">
              <a:ext uri="{FF2B5EF4-FFF2-40B4-BE49-F238E27FC236}">
                <a16:creationId xmlns:a16="http://schemas.microsoft.com/office/drawing/2014/main" id="{31593C38-80D3-493D-AC18-E61CE7B3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476500" cy="3238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17934a0734ac3"/>
          <a:stretch xmlns:a="http://schemas.openxmlformats.org/drawingml/2006/main"/>
        </p:blipFill>
        <p:spPr>
          <a:xfrm xmlns:a="http://schemas.openxmlformats.org/drawingml/2006/main">
            <a:off x="1095375" y="2671763"/>
            <a:ext cx="1428750" cy="1190625"/>
          </a:xfrm>
          <a:prstGeom xmlns:a="http://schemas.openxmlformats.org/drawingml/2006/main" prst="rect">
            <a:avLst/>
          </a:prstGeom>
        </p:spPr>
      </p:pic>
      <p:sp>
        <p:nvSpPr>
          <p:cNvPr id="9" name="agent-caption">
            <a:extLst xmlns:a="http://schemas.openxmlformats.org/drawingml/2006/main">
              <a:ext uri="{FF2B5EF4-FFF2-40B4-BE49-F238E27FC236}">
                <a16:creationId xmlns:a16="http://schemas.microsoft.com/office/drawing/2014/main" id="{EF14A706-4256-41A5-B777-CB71DF51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209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increases the importance of identity, authority, policy, and evidence.</a:t>
            </a:r>
          </a:p>
        </p:txBody>
      </p:sp>
      <p:sp>
        <p:nvSpPr>
          <p:cNvPr id="10" name="agent-question-dot-1">
            <a:extLst xmlns:a="http://schemas.openxmlformats.org/drawingml/2006/main">
              <a:ext uri="{FF2B5EF4-FFF2-40B4-BE49-F238E27FC236}">
                <a16:creationId xmlns:a16="http://schemas.microsoft.com/office/drawing/2014/main" id="{8E346B1A-A348-4004-B73A-B6A0BB2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question-1">
            <a:extLst xmlns:a="http://schemas.openxmlformats.org/drawingml/2006/main">
              <a:ext uri="{FF2B5EF4-FFF2-40B4-BE49-F238E27FC236}">
                <a16:creationId xmlns:a16="http://schemas.microsoft.com/office/drawing/2014/main" id="{798D7458-E6C6-4464-8B40-DF7C6E0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479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agent acted—and on whose behalf?</a:t>
            </a:r>
          </a:p>
        </p:txBody>
      </p:sp>
      <p:sp>
        <p:nvSpPr>
          <p:cNvPr id="12" name="agent-question-dot-2">
            <a:extLst xmlns:a="http://schemas.openxmlformats.org/drawingml/2006/main">
              <a:ext uri="{FF2B5EF4-FFF2-40B4-BE49-F238E27FC236}">
                <a16:creationId xmlns:a16="http://schemas.microsoft.com/office/drawing/2014/main" id="{1CEE9BBF-6B8A-4C97-B073-D8C48D4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gent-question-2">
            <a:extLst xmlns:a="http://schemas.openxmlformats.org/drawingml/2006/main">
              <a:ext uri="{FF2B5EF4-FFF2-40B4-BE49-F238E27FC236}">
                <a16:creationId xmlns:a16="http://schemas.microsoft.com/office/drawing/2014/main" id="{D59410F1-609E-4A07-8421-62A48387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authority and policies governed it?</a:t>
            </a:r>
          </a:p>
        </p:txBody>
      </p:sp>
      <p:sp>
        <p:nvSpPr>
          <p:cNvPr id="14" name="agent-question-dot-3">
            <a:extLst xmlns:a="http://schemas.openxmlformats.org/drawingml/2006/main">
              <a:ext uri="{FF2B5EF4-FFF2-40B4-BE49-F238E27FC236}">
                <a16:creationId xmlns:a16="http://schemas.microsoft.com/office/drawing/2014/main" id="{E1B5B44D-EFAE-4026-A2FE-BE439017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48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question-3">
            <a:extLst xmlns:a="http://schemas.openxmlformats.org/drawingml/2006/main">
              <a:ext uri="{FF2B5EF4-FFF2-40B4-BE49-F238E27FC236}">
                <a16:creationId xmlns:a16="http://schemas.microsoft.com/office/drawing/2014/main" id="{CA63E38F-B03E-4A92-89C8-8D12964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528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information did it rely on?</a:t>
            </a:r>
          </a:p>
        </p:txBody>
      </p:sp>
      <p:sp>
        <p:nvSpPr>
          <p:cNvPr id="16" name="agent-question-dot-4">
            <a:extLst xmlns:a="http://schemas.openxmlformats.org/drawingml/2006/main">
              <a:ext uri="{FF2B5EF4-FFF2-40B4-BE49-F238E27FC236}">
                <a16:creationId xmlns:a16="http://schemas.microsoft.com/office/drawing/2014/main" id="{5E32F2DC-3099-4D14-9056-00BCAF1B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00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gent-question-4">
            <a:extLst xmlns:a="http://schemas.openxmlformats.org/drawingml/2006/main">
              <a:ext uri="{FF2B5EF4-FFF2-40B4-BE49-F238E27FC236}">
                <a16:creationId xmlns:a16="http://schemas.microsoft.com/office/drawing/2014/main" id="{C40A4D7E-3F15-4C6B-82DD-04E4AB9C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052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trust services were applied?</a:t>
            </a:r>
          </a:p>
        </p:txBody>
      </p:sp>
      <p:sp>
        <p:nvSpPr>
          <p:cNvPr id="18" name="agent-question-dot-5">
            <a:extLst xmlns:a="http://schemas.openxmlformats.org/drawingml/2006/main">
              <a:ext uri="{FF2B5EF4-FFF2-40B4-BE49-F238E27FC236}">
                <a16:creationId xmlns:a16="http://schemas.microsoft.com/office/drawing/2014/main" id="{4C533928-2BC6-4867-8067-3067E166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question-5">
            <a:extLst xmlns:a="http://schemas.openxmlformats.org/drawingml/2006/main">
              <a:ext uri="{FF2B5EF4-FFF2-40B4-BE49-F238E27FC236}">
                <a16:creationId xmlns:a16="http://schemas.microsoft.com/office/drawing/2014/main" id="{C833ABAD-65B5-4EC2-96B7-EFCCE4D7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577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exactly happened?</a:t>
            </a:r>
          </a:p>
        </p:txBody>
      </p:sp>
      <p:sp>
        <p:nvSpPr>
          <p:cNvPr id="20" name="agent-question-dot-6">
            <a:extLst xmlns:a="http://schemas.openxmlformats.org/drawingml/2006/main">
              <a:ext uri="{FF2B5EF4-FFF2-40B4-BE49-F238E27FC236}">
                <a16:creationId xmlns:a16="http://schemas.microsoft.com/office/drawing/2014/main" id="{5A5AB138-EECF-4D73-86B0-BD445440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05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gent-question-6">
            <a:extLst xmlns:a="http://schemas.openxmlformats.org/drawingml/2006/main">
              <a:ext uri="{FF2B5EF4-FFF2-40B4-BE49-F238E27FC236}">
                <a16:creationId xmlns:a16="http://schemas.microsoft.com/office/drawing/2014/main" id="{89116764-C719-4C80-866C-8982EDC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0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Can the execution be proven afterwards?</a:t>
            </a:r>
          </a:p>
        </p:txBody>
      </p:sp>
      <p:sp>
        <p:nvSpPr>
          <p:cNvPr id="22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0D2222B2-69D8-415A-9FC0-77F7798F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F359D192-BC46-4FC9-815E-9D608F68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More autonomous work makes trusted execution infrastructure more important—not less.</a:t>
            </a:r>
          </a:p>
        </p:txBody>
      </p:sp>
    </p:spTree>
    <p:extLst>
      <p:ext uri="{BB962C8B-B14F-4D97-AF65-F5344CB8AC3E}">
        <p14:creationId xmlns:p14="http://schemas.microsoft.com/office/powerpoint/2010/main" val="1889674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9f72de21d4d1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3F9783-C762-4CE8-826F-A08FF9EF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83EB32B-BA8D-491C-AC5F-54FA28E4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1C4C862-91BD-440D-8304-47C3BEE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E10E7EA1-E3F8-4035-AC66-71DD853E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881B3A-5A37-4634-864B-D5171F30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Digital trust platforms are entering a fourth generation</a:t>
            </a:r>
          </a:p>
        </p:txBody>
      </p:sp>
      <p:sp>
        <p:nvSpPr>
          <p:cNvPr id="7" name="generation-block-1">
            <a:extLst xmlns:a="http://schemas.openxmlformats.org/drawingml/2006/main">
              <a:ext uri="{FF2B5EF4-FFF2-40B4-BE49-F238E27FC236}">
                <a16:creationId xmlns:a16="http://schemas.microsoft.com/office/drawing/2014/main" id="{8ED8391F-3A28-45CD-A0F4-8D2D7CF3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2495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8" name="generation-number-1">
            <a:extLst xmlns:a="http://schemas.openxmlformats.org/drawingml/2006/main">
              <a:ext uri="{FF2B5EF4-FFF2-40B4-BE49-F238E27FC236}">
                <a16:creationId xmlns:a16="http://schemas.microsoft.com/office/drawing/2014/main" id="{79BF273A-FF3B-437B-B872-71501118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9" name="generation-title-1">
            <a:extLst xmlns:a="http://schemas.openxmlformats.org/drawingml/2006/main">
              <a:ext uri="{FF2B5EF4-FFF2-40B4-BE49-F238E27FC236}">
                <a16:creationId xmlns:a16="http://schemas.microsoft.com/office/drawing/2014/main" id="{FD7D6B95-F558-433F-954A-7673397C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Electronic signature</a:t>
            </a:r>
          </a:p>
        </p:txBody>
      </p:sp>
      <p:sp>
        <p:nvSpPr>
          <p:cNvPr id="10" name="generation-body-1">
            <a:extLst xmlns:a="http://schemas.openxmlformats.org/drawingml/2006/main">
              <a:ext uri="{FF2B5EF4-FFF2-40B4-BE49-F238E27FC236}">
                <a16:creationId xmlns:a16="http://schemas.microsoft.com/office/drawing/2014/main" id="{E98A6F8A-50AA-40EC-AD1A-90DA6C2A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Digitize the signature</a:t>
            </a:r>
          </a:p>
        </p:txBody>
      </p:sp>
      <p:sp>
        <p:nvSpPr>
          <p:cNvPr id="11" name="generation-block-2">
            <a:extLst xmlns:a="http://schemas.openxmlformats.org/drawingml/2006/main">
              <a:ext uri="{FF2B5EF4-FFF2-40B4-BE49-F238E27FC236}">
                <a16:creationId xmlns:a16="http://schemas.microsoft.com/office/drawing/2014/main" id="{D5C44B5B-4661-4E61-A5ED-F97C3A4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24955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D6C1FF"/>
            </a:solidFill>
            <a:prstDash val="solid"/>
          </a:ln>
        </p:spPr>
      </p:sp>
      <p:sp>
        <p:nvSpPr>
          <p:cNvPr id="12" name="generation-number-2">
            <a:extLst xmlns:a="http://schemas.openxmlformats.org/drawingml/2006/main">
              <a:ext uri="{FF2B5EF4-FFF2-40B4-BE49-F238E27FC236}">
                <a16:creationId xmlns:a16="http://schemas.microsoft.com/office/drawing/2014/main" id="{651D205F-91EA-4002-B598-4F4BB2B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67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3" name="generation-title-2">
            <a:extLst xmlns:a="http://schemas.openxmlformats.org/drawingml/2006/main">
              <a:ext uri="{FF2B5EF4-FFF2-40B4-BE49-F238E27FC236}">
                <a16:creationId xmlns:a16="http://schemas.microsoft.com/office/drawing/2014/main" id="{486B5224-C048-4FB9-BB2D-5703A7C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 workflow</a:t>
            </a:r>
          </a:p>
        </p:txBody>
      </p:sp>
      <p:sp>
        <p:nvSpPr>
          <p:cNvPr id="14" name="generation-body-2">
            <a:extLst xmlns:a="http://schemas.openxmlformats.org/drawingml/2006/main">
              <a:ext uri="{FF2B5EF4-FFF2-40B4-BE49-F238E27FC236}">
                <a16:creationId xmlns:a16="http://schemas.microsoft.com/office/drawing/2014/main" id="{A7F748C0-D853-4326-BCD2-D0A912AF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19600"/>
            <a:ext cx="2114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Digitize the process</a:t>
            </a:r>
          </a:p>
        </p:txBody>
      </p:sp>
      <p:sp>
        <p:nvSpPr>
          <p:cNvPr id="15" name="generation-block-3">
            <a:extLst xmlns:a="http://schemas.openxmlformats.org/drawingml/2006/main">
              <a:ext uri="{FF2B5EF4-FFF2-40B4-BE49-F238E27FC236}">
                <a16:creationId xmlns:a16="http://schemas.microsoft.com/office/drawing/2014/main" id="{25DDF4AF-9E3D-4901-A270-345AA537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955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eneration-number-3">
            <a:extLst xmlns:a="http://schemas.openxmlformats.org/drawingml/2006/main">
              <a:ext uri="{FF2B5EF4-FFF2-40B4-BE49-F238E27FC236}">
                <a16:creationId xmlns:a16="http://schemas.microsoft.com/office/drawing/2014/main" id="{B9BD84EF-8914-47C9-A415-DEF6AA80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7" name="generation-title-3">
            <a:extLst xmlns:a="http://schemas.openxmlformats.org/drawingml/2006/main">
              <a:ext uri="{FF2B5EF4-FFF2-40B4-BE49-F238E27FC236}">
                <a16:creationId xmlns:a16="http://schemas.microsoft.com/office/drawing/2014/main" id="{0A80F33A-8CEB-40E4-AE5E-E76ACC0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Unified digital trust</a:t>
            </a:r>
          </a:p>
        </p:txBody>
      </p:sp>
      <p:sp>
        <p:nvSpPr>
          <p:cNvPr id="18" name="generation-body-3">
            <a:extLst xmlns:a="http://schemas.openxmlformats.org/drawingml/2006/main">
              <a:ext uri="{FF2B5EF4-FFF2-40B4-BE49-F238E27FC236}">
                <a16:creationId xmlns:a16="http://schemas.microsoft.com/office/drawing/2014/main" id="{EB88448F-CA8E-46A6-B6E6-8D1B4696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2114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Connect identity, workflow, trust, and evidence</a:t>
            </a:r>
          </a:p>
        </p:txBody>
      </p:sp>
      <p:sp>
        <p:nvSpPr>
          <p:cNvPr id="19" name="generation-block-4">
            <a:extLst xmlns:a="http://schemas.openxmlformats.org/drawingml/2006/main">
              <a:ext uri="{FF2B5EF4-FFF2-40B4-BE49-F238E27FC236}">
                <a16:creationId xmlns:a16="http://schemas.microsoft.com/office/drawing/2014/main" id="{3325B0BC-4163-4ADD-8045-8465C4CA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4955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eneration-number-4">
            <a:extLst xmlns:a="http://schemas.openxmlformats.org/drawingml/2006/main">
              <a:ext uri="{FF2B5EF4-FFF2-40B4-BE49-F238E27FC236}">
                <a16:creationId xmlns:a16="http://schemas.microsoft.com/office/drawing/2014/main" id="{49C017FB-BBFD-4C7C-AC99-E3C3A7A1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04</a:t>
            </a:r>
          </a:p>
        </p:txBody>
      </p:sp>
      <p:sp>
        <p:nvSpPr>
          <p:cNvPr id="21" name="generation-title-4">
            <a:extLst xmlns:a="http://schemas.openxmlformats.org/drawingml/2006/main">
              <a:ext uri="{FF2B5EF4-FFF2-40B4-BE49-F238E27FC236}">
                <a16:creationId xmlns:a16="http://schemas.microsoft.com/office/drawing/2014/main" id="{C09BD6AA-0793-4FB3-AA0D-983499FC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autonomous execution</a:t>
            </a:r>
          </a:p>
        </p:txBody>
      </p:sp>
      <p:sp>
        <p:nvSpPr>
          <p:cNvPr id="22" name="generation-body-4">
            <a:extLst xmlns:a="http://schemas.openxmlformats.org/drawingml/2006/main">
              <a:ext uri="{FF2B5EF4-FFF2-40B4-BE49-F238E27FC236}">
                <a16:creationId xmlns:a16="http://schemas.microsoft.com/office/drawing/2014/main" id="{B1EE492F-E91D-40DC-A87F-F206B282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21145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Govern people, systems, and AI agents</a:t>
            </a:r>
          </a:p>
        </p:txBody>
      </p:sp>
      <p:sp>
        <p:nvSpPr>
          <p:cNvPr id="23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6B86901D-5451-43A0-8599-93D50E9E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F1B638A9-1EDE-44EA-9AC7-EB823313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Circularo’s strategic direction spans unified digital trust and trusted autonomous execution.</a:t>
            </a:r>
          </a:p>
        </p:txBody>
      </p:sp>
    </p:spTree>
    <p:extLst>
      <p:ext uri="{BB962C8B-B14F-4D97-AF65-F5344CB8AC3E}">
        <p14:creationId xmlns:p14="http://schemas.microsoft.com/office/powerpoint/2010/main" val="9570805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019d41d8c42c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A7E870-E068-4B40-82B6-7E75D95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326B918-EB58-408E-A482-C90E843B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654A06E-C2D0-479D-BBFD-26A79B88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622625F2-D40B-46B6-B69C-CC1F8D46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265D8E-8B1C-4898-80CC-9EC22DC5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Access, execution, and trust form one strategic proposition</a:t>
            </a:r>
          </a:p>
        </p:txBody>
      </p:sp>
      <p:sp>
        <p:nvSpPr>
          <p:cNvPr id="7" name="proposition-band-1">
            <a:extLst xmlns:a="http://schemas.openxmlformats.org/drawingml/2006/main">
              <a:ext uri="{FF2B5EF4-FFF2-40B4-BE49-F238E27FC236}">
                <a16:creationId xmlns:a16="http://schemas.microsoft.com/office/drawing/2014/main" id="{9F52E0D5-F296-47F9-A412-3DFE5E2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2776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proposition-label-1">
            <a:extLst xmlns:a="http://schemas.openxmlformats.org/drawingml/2006/main">
              <a:ext uri="{FF2B5EF4-FFF2-40B4-BE49-F238E27FC236}">
                <a16:creationId xmlns:a16="http://schemas.microsoft.com/office/drawing/2014/main" id="{ABDC2779-94D6-4C2A-8D84-C7F5C67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ACCESS</a:t>
            </a:r>
          </a:p>
        </p:txBody>
      </p:sp>
      <p:sp>
        <p:nvSpPr>
          <p:cNvPr id="9" name="proposition-title-1">
            <a:extLst xmlns:a="http://schemas.openxmlformats.org/drawingml/2006/main">
              <a:ext uri="{FF2B5EF4-FFF2-40B4-BE49-F238E27FC236}">
                <a16:creationId xmlns:a16="http://schemas.microsoft.com/office/drawing/2014/main" id="{F18E90B2-FDE8-4875-9067-8D125123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Make participation easy</a:t>
            </a:r>
          </a:p>
        </p:txBody>
      </p:sp>
      <p:sp>
        <p:nvSpPr>
          <p:cNvPr id="10" name="proposition-detail-1">
            <a:extLst xmlns:a="http://schemas.openxmlformats.org/drawingml/2006/main">
              <a:ext uri="{FF2B5EF4-FFF2-40B4-BE49-F238E27FC236}">
                <a16:creationId xmlns:a16="http://schemas.microsoft.com/office/drawing/2014/main" id="{8919AC6F-A3B7-42EB-BF14-0E8DFFA4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People · Organizations · Applications · External participants</a:t>
            </a:r>
          </a:p>
        </p:txBody>
      </p:sp>
      <p:sp>
        <p:nvSpPr>
          <p:cNvPr id="11" name="proposition-band-2">
            <a:extLst xmlns:a="http://schemas.openxmlformats.org/drawingml/2006/main">
              <a:ext uri="{FF2B5EF4-FFF2-40B4-BE49-F238E27FC236}">
                <a16:creationId xmlns:a16="http://schemas.microsoft.com/office/drawing/2014/main" id="{3FCB6A9E-2CFD-4E1A-81F2-2D642A93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112776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roposition-label-2">
            <a:extLst xmlns:a="http://schemas.openxmlformats.org/drawingml/2006/main">
              <a:ext uri="{FF2B5EF4-FFF2-40B4-BE49-F238E27FC236}">
                <a16:creationId xmlns:a16="http://schemas.microsoft.com/office/drawing/2014/main" id="{D343F6EB-D835-4CA3-A066-AF07E8A7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13" name="proposition-title-2">
            <a:extLst xmlns:a="http://schemas.openxmlformats.org/drawingml/2006/main">
              <a:ext uri="{FF2B5EF4-FFF2-40B4-BE49-F238E27FC236}">
                <a16:creationId xmlns:a16="http://schemas.microsoft.com/office/drawing/2014/main" id="{01126DFE-3A14-4B8D-89B0-5F95FF20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Make digital work intelligent</a:t>
            </a:r>
          </a:p>
        </p:txBody>
      </p:sp>
      <p:sp>
        <p:nvSpPr>
          <p:cNvPr id="14" name="proposition-detail-2">
            <a:extLst xmlns:a="http://schemas.openxmlformats.org/drawingml/2006/main">
              <a:ext uri="{FF2B5EF4-FFF2-40B4-BE49-F238E27FC236}">
                <a16:creationId xmlns:a16="http://schemas.microsoft.com/office/drawing/2014/main" id="{C48038D3-4B3A-4F8B-AC01-EAA952EC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Workflows · Documents · APIs · Automation · AI</a:t>
            </a:r>
          </a:p>
        </p:txBody>
      </p:sp>
      <p:sp>
        <p:nvSpPr>
          <p:cNvPr id="15" name="proposition-band-3">
            <a:extLst xmlns:a="http://schemas.openxmlformats.org/drawingml/2006/main">
              <a:ext uri="{FF2B5EF4-FFF2-40B4-BE49-F238E27FC236}">
                <a16:creationId xmlns:a16="http://schemas.microsoft.com/office/drawing/2014/main" id="{867D2208-5BA1-49AE-BFBE-288212C0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12776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6" name="proposition-label-3">
            <a:extLst xmlns:a="http://schemas.openxmlformats.org/drawingml/2006/main">
              <a:ext uri="{FF2B5EF4-FFF2-40B4-BE49-F238E27FC236}">
                <a16:creationId xmlns:a16="http://schemas.microsoft.com/office/drawing/2014/main" id="{7BC7026D-7DF1-4D50-AE37-97A6F3B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</a:t>
            </a:r>
          </a:p>
        </p:txBody>
      </p:sp>
      <p:sp>
        <p:nvSpPr>
          <p:cNvPr id="17" name="proposition-title-3">
            <a:extLst xmlns:a="http://schemas.openxmlformats.org/drawingml/2006/main">
              <a:ext uri="{FF2B5EF4-FFF2-40B4-BE49-F238E27FC236}">
                <a16:creationId xmlns:a16="http://schemas.microsoft.com/office/drawing/2014/main" id="{E5C45307-4D9F-43ED-A933-E4820761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Make the outcome verifiable</a:t>
            </a:r>
          </a:p>
        </p:txBody>
      </p:sp>
      <p:sp>
        <p:nvSpPr>
          <p:cNvPr id="18" name="proposition-detail-3">
            <a:extLst xmlns:a="http://schemas.openxmlformats.org/drawingml/2006/main">
              <a:ext uri="{FF2B5EF4-FFF2-40B4-BE49-F238E27FC236}">
                <a16:creationId xmlns:a16="http://schemas.microsoft.com/office/drawing/2014/main" id="{91FFEB8A-223C-4DB5-9CF8-84297AE7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Identity · Authority · Signatures · Seals · Evidence · Records</a:t>
            </a:r>
          </a:p>
        </p:txBody>
      </p:sp>
      <p:sp>
        <p:nvSpPr>
          <p:cNvPr id="1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1C60033F-8401-4393-A003-A0F65633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926AE199-6346-4FAE-857F-8991AB30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Make access easy. Make execution intelligent. Make trust verifiable.</a:t>
            </a:r>
          </a:p>
        </p:txBody>
      </p:sp>
    </p:spTree>
    <p:extLst>
      <p:ext uri="{BB962C8B-B14F-4D97-AF65-F5344CB8AC3E}">
        <p14:creationId xmlns:p14="http://schemas.microsoft.com/office/powerpoint/2010/main" val="1361689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1e7aff5ac499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4DDBF2-D0AE-49CE-833B-5A9E74F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0B53231-69BB-40D6-9C01-9C18860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FFEC7FE-8AF0-4DFE-B09D-0C736AE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34E87C60-DBA4-4E62-9357-4CD3476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FDF8E3-9AC0-45F0-A574-00B8F06F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trusted execution model supports three delivery routes</a:t>
            </a:r>
          </a:p>
        </p:txBody>
      </p:sp>
      <p:sp>
        <p:nvSpPr>
          <p:cNvPr id="7" name="route-number-1">
            <a:extLst xmlns:a="http://schemas.openxmlformats.org/drawingml/2006/main">
              <a:ext uri="{FF2B5EF4-FFF2-40B4-BE49-F238E27FC236}">
                <a16:creationId xmlns:a16="http://schemas.microsoft.com/office/drawing/2014/main" id="{B1D9AF04-5468-4A11-A823-FABE6C0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8" name="route-rule-1">
            <a:extLst xmlns:a="http://schemas.openxmlformats.org/drawingml/2006/main">
              <a:ext uri="{FF2B5EF4-FFF2-40B4-BE49-F238E27FC236}">
                <a16:creationId xmlns:a16="http://schemas.microsoft.com/office/drawing/2014/main" id="{1479514A-978D-48B2-A82B-71279258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ute-title-1">
            <a:extLst xmlns:a="http://schemas.openxmlformats.org/drawingml/2006/main">
              <a:ext uri="{FF2B5EF4-FFF2-40B4-BE49-F238E27FC236}">
                <a16:creationId xmlns:a16="http://schemas.microsoft.com/office/drawing/2014/main" id="{C58FCF40-D4F9-4597-BA3C-40B2CAB2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10" name="route-body-1">
            <a:extLst xmlns:a="http://schemas.openxmlformats.org/drawingml/2006/main">
              <a:ext uri="{FF2B5EF4-FFF2-40B4-BE49-F238E27FC236}">
                <a16:creationId xmlns:a16="http://schemas.microsoft.com/office/drawing/2014/main" id="{664B5CE5-ADF1-4160-949F-36F7502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Managed trusted execution for enterprise adoption</a:t>
            </a:r>
          </a:p>
        </p:txBody>
      </p:sp>
      <p:sp>
        <p:nvSpPr>
          <p:cNvPr id="11" name="route-number-2">
            <a:extLst xmlns:a="http://schemas.openxmlformats.org/drawingml/2006/main">
              <a:ext uri="{FF2B5EF4-FFF2-40B4-BE49-F238E27FC236}">
                <a16:creationId xmlns:a16="http://schemas.microsoft.com/office/drawing/2014/main" id="{F72031FB-C566-46AF-8D02-15B72BAC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2" name="route-rule-2">
            <a:extLst xmlns:a="http://schemas.openxmlformats.org/drawingml/2006/main">
              <a:ext uri="{FF2B5EF4-FFF2-40B4-BE49-F238E27FC236}">
                <a16:creationId xmlns:a16="http://schemas.microsoft.com/office/drawing/2014/main" id="{870887B3-67CB-463C-8047-3BBBDB49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ute-title-2">
            <a:extLst xmlns:a="http://schemas.openxmlformats.org/drawingml/2006/main">
              <a:ext uri="{FF2B5EF4-FFF2-40B4-BE49-F238E27FC236}">
                <a16:creationId xmlns:a16="http://schemas.microsoft.com/office/drawing/2014/main" id="{D45169BF-D788-4542-97FF-CB349D29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 deployments</a:t>
            </a:r>
          </a:p>
        </p:txBody>
      </p:sp>
      <p:sp>
        <p:nvSpPr>
          <p:cNvPr id="14" name="route-body-2">
            <a:extLst xmlns:a="http://schemas.openxmlformats.org/drawingml/2006/main">
              <a:ext uri="{FF2B5EF4-FFF2-40B4-BE49-F238E27FC236}">
                <a16:creationId xmlns:a16="http://schemas.microsoft.com/office/drawing/2014/main" id="{97FB1C95-4B48-4689-A2C7-2D409B87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Customer-controlled execution within a defined boundary</a:t>
            </a:r>
          </a:p>
        </p:txBody>
      </p:sp>
      <p:sp>
        <p:nvSpPr>
          <p:cNvPr id="15" name="route-number-3">
            <a:extLst xmlns:a="http://schemas.openxmlformats.org/drawingml/2006/main">
              <a:ext uri="{FF2B5EF4-FFF2-40B4-BE49-F238E27FC236}">
                <a16:creationId xmlns:a16="http://schemas.microsoft.com/office/drawing/2014/main" id="{6E0F9A13-70C3-4BEF-8D2F-2117C83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6" name="route-rule-3">
            <a:extLst xmlns:a="http://schemas.openxmlformats.org/drawingml/2006/main">
              <a:ext uri="{FF2B5EF4-FFF2-40B4-BE49-F238E27FC236}">
                <a16:creationId xmlns:a16="http://schemas.microsoft.com/office/drawing/2014/main" id="{469BEC45-722C-4D58-BBD9-F87C408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ute-title-3">
            <a:extLst xmlns:a="http://schemas.openxmlformats.org/drawingml/2006/main">
              <a:ext uri="{FF2B5EF4-FFF2-40B4-BE49-F238E27FC236}">
                <a16:creationId xmlns:a16="http://schemas.microsoft.com/office/drawing/2014/main" id="{29ACAF63-91B2-4195-86F5-FA2E83CB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Government shared services</a:t>
            </a:r>
          </a:p>
        </p:txBody>
      </p:sp>
      <p:sp>
        <p:nvSpPr>
          <p:cNvPr id="18" name="route-body-3">
            <a:extLst xmlns:a="http://schemas.openxmlformats.org/drawingml/2006/main">
              <a:ext uri="{FF2B5EF4-FFF2-40B4-BE49-F238E27FC236}">
                <a16:creationId xmlns:a16="http://schemas.microsoft.com/office/drawing/2014/main" id="{C8A469F4-E755-4C1C-A5DD-FA9BC3A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Reusable trusted execution across public entities</a:t>
            </a:r>
          </a:p>
        </p:txBody>
      </p:sp>
      <p:sp>
        <p:nvSpPr>
          <p:cNvPr id="19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4FB1158B-1695-4ECA-944A-1CD340B0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23D6ECF2-B583-46CF-935C-7439EB67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Delivery varies; authority, assurance, execution, and evidence remain consistent.</a:t>
            </a:r>
          </a:p>
        </p:txBody>
      </p:sp>
    </p:spTree>
    <p:extLst>
      <p:ext uri="{BB962C8B-B14F-4D97-AF65-F5344CB8AC3E}">
        <p14:creationId xmlns:p14="http://schemas.microsoft.com/office/powerpoint/2010/main" val="19688015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7c2da367f400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43AA7E-CBDB-4EDF-8DC3-814C4CF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A7161EB-7187-45FF-A28F-624AA8D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C156C14-6691-4646-953A-4F1229AC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CFDD80CD-70E9-4E08-B22B-D20E7D12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DADC89-9150-425E-B6E4-88A8EB8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Partners can turn the model into a repeatable engagement</a:t>
            </a:r>
          </a:p>
        </p:txBody>
      </p:sp>
      <p:sp>
        <p:nvSpPr>
          <p:cNvPr id="7" name="partner-path">
            <a:extLst xmlns:a="http://schemas.openxmlformats.org/drawingml/2006/main">
              <a:ext uri="{FF2B5EF4-FFF2-40B4-BE49-F238E27FC236}">
                <a16:creationId xmlns:a16="http://schemas.microsoft.com/office/drawing/2014/main" id="{223BC824-BDD1-475C-8922-3C1451A3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rtner-node-1">
            <a:extLst xmlns:a="http://schemas.openxmlformats.org/drawingml/2006/main">
              <a:ext uri="{FF2B5EF4-FFF2-40B4-BE49-F238E27FC236}">
                <a16:creationId xmlns:a16="http://schemas.microsoft.com/office/drawing/2014/main" id="{29FE172D-ABA0-4AF9-85A7-3326725C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813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tner-number-1">
            <a:extLst xmlns:a="http://schemas.openxmlformats.org/drawingml/2006/main">
              <a:ext uri="{FF2B5EF4-FFF2-40B4-BE49-F238E27FC236}">
                <a16:creationId xmlns:a16="http://schemas.microsoft.com/office/drawing/2014/main" id="{18399892-D459-4BBD-B3D0-88BC44D2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0" name="partner-title-1">
            <a:extLst xmlns:a="http://schemas.openxmlformats.org/drawingml/2006/main">
              <a:ext uri="{FF2B5EF4-FFF2-40B4-BE49-F238E27FC236}">
                <a16:creationId xmlns:a16="http://schemas.microsoft.com/office/drawing/2014/main" id="{B4E1FA59-6E89-4929-8FF1-3D437DE1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Identify the business action</a:t>
            </a:r>
          </a:p>
        </p:txBody>
      </p:sp>
      <p:sp>
        <p:nvSpPr>
          <p:cNvPr id="11" name="partner-body-1">
            <a:extLst xmlns:a="http://schemas.openxmlformats.org/drawingml/2006/main">
              <a:ext uri="{FF2B5EF4-FFF2-40B4-BE49-F238E27FC236}">
                <a16:creationId xmlns:a16="http://schemas.microsoft.com/office/drawing/2014/main" id="{068AE792-9B4E-495F-B41B-C86DA81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What outcome must execute?</a:t>
            </a:r>
          </a:p>
        </p:txBody>
      </p:sp>
      <p:sp>
        <p:nvSpPr>
          <p:cNvPr id="12" name="partner-node-2">
            <a:extLst xmlns:a="http://schemas.openxmlformats.org/drawingml/2006/main">
              <a:ext uri="{FF2B5EF4-FFF2-40B4-BE49-F238E27FC236}">
                <a16:creationId xmlns:a16="http://schemas.microsoft.com/office/drawing/2014/main" id="{C41ED82B-BAF6-42EC-A37B-DEE3BAB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rtner-number-2">
            <a:extLst xmlns:a="http://schemas.openxmlformats.org/drawingml/2006/main">
              <a:ext uri="{FF2B5EF4-FFF2-40B4-BE49-F238E27FC236}">
                <a16:creationId xmlns:a16="http://schemas.microsoft.com/office/drawing/2014/main" id="{55E59AE2-F786-438C-8F94-FE8D3EB8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4" name="partner-title-2">
            <a:extLst xmlns:a="http://schemas.openxmlformats.org/drawingml/2006/main">
              <a:ext uri="{FF2B5EF4-FFF2-40B4-BE49-F238E27FC236}">
                <a16:creationId xmlns:a16="http://schemas.microsoft.com/office/drawing/2014/main" id="{9555BA0C-6508-48E9-8534-4F90A2AA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719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Define assurance</a:t>
            </a:r>
          </a:p>
        </p:txBody>
      </p:sp>
      <p:sp>
        <p:nvSpPr>
          <p:cNvPr id="15" name="partner-body-2">
            <a:extLst xmlns:a="http://schemas.openxmlformats.org/drawingml/2006/main">
              <a:ext uri="{FF2B5EF4-FFF2-40B4-BE49-F238E27FC236}">
                <a16:creationId xmlns:a16="http://schemas.microsoft.com/office/drawing/2014/main" id="{92BB9215-46AC-40BA-8109-F9B28EE5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768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How much trust does it require?</a:t>
            </a:r>
          </a:p>
        </p:txBody>
      </p:sp>
      <p:sp>
        <p:nvSpPr>
          <p:cNvPr id="16" name="partner-node-3">
            <a:extLst xmlns:a="http://schemas.openxmlformats.org/drawingml/2006/main">
              <a:ext uri="{FF2B5EF4-FFF2-40B4-BE49-F238E27FC236}">
                <a16:creationId xmlns:a16="http://schemas.microsoft.com/office/drawing/2014/main" id="{A7F3DC74-58D7-4E19-AC2A-E25A73FC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ner-number-3">
            <a:extLst xmlns:a="http://schemas.openxmlformats.org/drawingml/2006/main">
              <a:ext uri="{FF2B5EF4-FFF2-40B4-BE49-F238E27FC236}">
                <a16:creationId xmlns:a16="http://schemas.microsoft.com/office/drawing/2014/main" id="{96DE2A32-B87C-4A89-8766-5D4C1DA6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90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18" name="partner-title-3">
            <a:extLst xmlns:a="http://schemas.openxmlformats.org/drawingml/2006/main">
              <a:ext uri="{FF2B5EF4-FFF2-40B4-BE49-F238E27FC236}">
                <a16:creationId xmlns:a16="http://schemas.microsoft.com/office/drawing/2014/main" id="{BFA74482-F6AF-477F-A4DF-946B09F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Map the profile</a:t>
            </a:r>
          </a:p>
        </p:txBody>
      </p:sp>
      <p:sp>
        <p:nvSpPr>
          <p:cNvPr id="19" name="partner-body-3">
            <a:extLst xmlns:a="http://schemas.openxmlformats.org/drawingml/2006/main">
              <a:ext uri="{FF2B5EF4-FFF2-40B4-BE49-F238E27FC236}">
                <a16:creationId xmlns:a16="http://schemas.microsoft.com/office/drawing/2014/main" id="{3EF28A81-1564-4E54-94E5-2BE5B32F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Which jurisdiction, providers, and events apply?</a:t>
            </a:r>
          </a:p>
        </p:txBody>
      </p:sp>
      <p:sp>
        <p:nvSpPr>
          <p:cNvPr id="20" name="partner-node-4">
            <a:extLst xmlns:a="http://schemas.openxmlformats.org/drawingml/2006/main">
              <a:ext uri="{FF2B5EF4-FFF2-40B4-BE49-F238E27FC236}">
                <a16:creationId xmlns:a16="http://schemas.microsoft.com/office/drawing/2014/main" id="{2519E304-9ABA-4C27-A6A0-4B3A51F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rtner-number-4">
            <a:extLst xmlns:a="http://schemas.openxmlformats.org/drawingml/2006/main">
              <a:ext uri="{FF2B5EF4-FFF2-40B4-BE49-F238E27FC236}">
                <a16:creationId xmlns:a16="http://schemas.microsoft.com/office/drawing/2014/main" id="{9D0E552C-29BA-4F65-922F-4922CA70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90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2" name="partner-title-4">
            <a:extLst xmlns:a="http://schemas.openxmlformats.org/drawingml/2006/main">
              <a:ext uri="{FF2B5EF4-FFF2-40B4-BE49-F238E27FC236}">
                <a16:creationId xmlns:a16="http://schemas.microsoft.com/office/drawing/2014/main" id="{655894DD-BF80-4212-8BF0-48D0BD9D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Prove the execution</a:t>
            </a:r>
          </a:p>
        </p:txBody>
      </p:sp>
      <p:sp>
        <p:nvSpPr>
          <p:cNvPr id="23" name="partner-body-4">
            <a:extLst xmlns:a="http://schemas.openxmlformats.org/drawingml/2006/main">
              <a:ext uri="{FF2B5EF4-FFF2-40B4-BE49-F238E27FC236}">
                <a16:creationId xmlns:a16="http://schemas.microsoft.com/office/drawing/2014/main" id="{ABC208C5-327D-4D66-BB57-324C25C2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362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13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What evidence and measurable outcome remain?</a:t>
            </a:r>
          </a:p>
        </p:txBody>
      </p:sp>
      <p:sp>
        <p:nvSpPr>
          <p:cNvPr id="24" name="takeaway-accent">
            <a:extLst xmlns:a="http://schemas.openxmlformats.org/drawingml/2006/main">
              <a:ext uri="{FF2B5EF4-FFF2-40B4-BE49-F238E27FC236}">
                <a16:creationId xmlns:a16="http://schemas.microsoft.com/office/drawing/2014/main" id="{12ACBFA6-4472-47BD-A546-4182F9D0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0D8FC6C-F451-4D7E-A89C-8BE0EB61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Lead with the outcome. Use assurance and Trust Events to design the solution.</a:t>
            </a:r>
          </a:p>
        </p:txBody>
      </p:sp>
    </p:spTree>
    <p:extLst>
      <p:ext uri="{BB962C8B-B14F-4D97-AF65-F5344CB8AC3E}">
        <p14:creationId xmlns:p14="http://schemas.microsoft.com/office/powerpoint/2010/main" val="15143997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cbb70afe84051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F71FA9-5447-49DF-A155-3C49779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0BD4A08-36FF-491A-BE92-6E3CE24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FC76D58-EB38-42DB-B7FF-871EB678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FROM DIGITAL SIGNATURES TO TRUSTED EXECUTION</a:t>
            </a:r>
          </a:p>
        </p:txBody>
      </p:sp>
      <p:sp>
        <p:nvSpPr>
          <p:cNvPr id="5" name="partner-enablement-mark">
            <a:extLst xmlns:a="http://schemas.openxmlformats.org/drawingml/2006/main">
              <a:ext uri="{FF2B5EF4-FFF2-40B4-BE49-F238E27FC236}">
                <a16:creationId xmlns:a16="http://schemas.microsoft.com/office/drawing/2014/main" id="{BDB6C3D9-8697-4ACD-B99C-ECA77EF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8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</a:p>
        </p:txBody>
      </p:sp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F0E7933-3DDC-43FF-B0C8-B8E98332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CORE MESSAGE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B2A6DE2-DAD8-4E4F-A943-B3B4027D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the entire execution.</a:t>
            </a:r>
          </a:p>
        </p:txBody>
      </p:sp>
      <p:sp>
        <p:nvSpPr>
          <p:cNvPr id="8" name="close-signature">
            <a:extLst xmlns:a="http://schemas.openxmlformats.org/drawingml/2006/main">
              <a:ext uri="{FF2B5EF4-FFF2-40B4-BE49-F238E27FC236}">
                <a16:creationId xmlns:a16="http://schemas.microsoft.com/office/drawing/2014/main" id="{06227AFB-3C4B-43B0-914F-0C18DB0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Digital signatures establish trust in a signature.</a:t>
            </a:r>
          </a:p>
        </p:txBody>
      </p:sp>
      <p:sp>
        <p:nvSpPr>
          <p:cNvPr id="9" name="close-execution">
            <a:extLst xmlns:a="http://schemas.openxmlformats.org/drawingml/2006/main">
              <a:ext uri="{FF2B5EF4-FFF2-40B4-BE49-F238E27FC236}">
                <a16:creationId xmlns:a16="http://schemas.microsoft.com/office/drawing/2014/main" id="{3DC3293A-56EC-4383-9A5B-8BA2711B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038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establishes trust in the complete execution—who or what acted, under which authority, what happened, and what can be proven afterwards.</a:t>
            </a:r>
          </a:p>
        </p:txBody>
      </p:sp>
      <p:sp>
        <p:nvSpPr>
          <p:cNvPr id="10" name="close-path">
            <a:extLst xmlns:a="http://schemas.openxmlformats.org/drawingml/2006/main">
              <a:ext uri="{FF2B5EF4-FFF2-40B4-BE49-F238E27FC236}">
                <a16:creationId xmlns:a16="http://schemas.microsoft.com/office/drawing/2014/main" id="{54B6466E-8078-4749-9BAB-AACA775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64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66558730-4446-418F-81C6-C7B147E3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AUTHORIZED · EXECUTED CORRECTLY · TRUSTED · PROVABLE</a:t>
            </a:r>
          </a:p>
        </p:txBody>
      </p:sp>
    </p:spTree>
    <p:extLst>
      <p:ext uri="{BB962C8B-B14F-4D97-AF65-F5344CB8AC3E}">
        <p14:creationId xmlns:p14="http://schemas.microsoft.com/office/powerpoint/2010/main" val="1557044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2026-08-29T10:34:51.5420000Z</dcterms:created>
  <dcterms:modified xsi:type="dcterms:W3CDTF">2026-08-29T10:34:51.5420000Z</dcterms:modified>
</coreProperties>
</file>